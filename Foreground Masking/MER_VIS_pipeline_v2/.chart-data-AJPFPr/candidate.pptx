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79b02d59494229" /><Relationship Type="http://schemas.openxmlformats.org/officeDocument/2006/relationships/extended-properties" Target="/docProps/app.xml" Id="R48e7c8b427a146f1" /><Relationship Type="http://schemas.openxmlformats.org/officeDocument/2006/relationships/officeDocument" Target="/ppt/presentation.xml" Id="Rc752112df1cd4f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adfbd4add143d0"/>
  </p:sldMasterIdLst>
  <p:notesMasterIdLst>
    <p:notesMasterId xmlns:r="http://schemas.openxmlformats.org/officeDocument/2006/relationships" r:id="R0043e3ca6a9d45c0"/>
  </p:notesMasterIdLst>
  <p:sldIdLst>
    <p:sldId xmlns:r="http://schemas.openxmlformats.org/officeDocument/2006/relationships" id="256" r:id="Rd9dcde5c86c74af0"/>
    <p:sldId xmlns:r="http://schemas.openxmlformats.org/officeDocument/2006/relationships" id="257" r:id="Rc400de109c884046"/>
    <p:sldId xmlns:r="http://schemas.openxmlformats.org/officeDocument/2006/relationships" id="258" r:id="R3e7efda7e3164a36"/>
    <p:sldId xmlns:r="http://schemas.openxmlformats.org/officeDocument/2006/relationships" id="259" r:id="Rea4fcbc9f3b34604"/>
    <p:sldId xmlns:r="http://schemas.openxmlformats.org/officeDocument/2006/relationships" id="260" r:id="Rfbbb70d3ff6849b9"/>
    <p:sldId xmlns:r="http://schemas.openxmlformats.org/officeDocument/2006/relationships" id="261" r:id="R3b5dda89a2764ef5"/>
    <p:sldId xmlns:r="http://schemas.openxmlformats.org/officeDocument/2006/relationships" id="262" r:id="R518c7677ab1f465f"/>
    <p:sldId xmlns:r="http://schemas.openxmlformats.org/officeDocument/2006/relationships" id="263" r:id="Rdc5f285d18614372"/>
    <p:sldId xmlns:r="http://schemas.openxmlformats.org/officeDocument/2006/relationships" id="264" r:id="Rfaecc401f5b54ae4"/>
    <p:sldId xmlns:r="http://schemas.openxmlformats.org/officeDocument/2006/relationships" id="265" r:id="R70ee5a3ec80e4f57"/>
    <p:sldId xmlns:r="http://schemas.openxmlformats.org/officeDocument/2006/relationships" id="266" r:id="R0aa3674640614551"/>
    <p:sldId xmlns:r="http://schemas.openxmlformats.org/officeDocument/2006/relationships" id="267" r:id="R6e4625b599894eef"/>
    <p:sldId xmlns:r="http://schemas.openxmlformats.org/officeDocument/2006/relationships" id="268" r:id="Rd21c3d0e9d834e7c"/>
    <p:sldId xmlns:r="http://schemas.openxmlformats.org/officeDocument/2006/relationships" id="269" r:id="R74f9000098b64d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59eb26861c4f80" /><Relationship Type="http://schemas.openxmlformats.org/officeDocument/2006/relationships/slideMaster" Target="/ppt/slideMasters/slideMaster1.xml" Id="R2badfbd4add143d0" /><Relationship Type="http://schemas.openxmlformats.org/officeDocument/2006/relationships/notesMaster" Target="/ppt/notesMasters/notesMaster1.xml" Id="R0043e3ca6a9d45c0" /><Relationship Type="http://schemas.openxmlformats.org/officeDocument/2006/relationships/presProps" Target="/ppt/presProps.xml" Id="R87b4c18e2e4841bd" /><Relationship Type="http://schemas.openxmlformats.org/officeDocument/2006/relationships/tableStyles" Target="/ppt/tableStyles.xml" Id="R949227d1eaae417c" /><Relationship Type="http://schemas.openxmlformats.org/officeDocument/2006/relationships/slide" Target="/ppt/slides/slide1.xml" Id="Rd9dcde5c86c74af0" /><Relationship Type="http://schemas.openxmlformats.org/officeDocument/2006/relationships/slide" Target="/ppt/slides/slide2.xml" Id="Rc400de109c884046" /><Relationship Type="http://schemas.openxmlformats.org/officeDocument/2006/relationships/slide" Target="/ppt/slides/slide3.xml" Id="R3e7efda7e3164a36" /><Relationship Type="http://schemas.openxmlformats.org/officeDocument/2006/relationships/slide" Target="/ppt/slides/slide4.xml" Id="Rea4fcbc9f3b34604" /><Relationship Type="http://schemas.openxmlformats.org/officeDocument/2006/relationships/slide" Target="/ppt/slides/slide5.xml" Id="Rfbbb70d3ff6849b9" /><Relationship Type="http://schemas.openxmlformats.org/officeDocument/2006/relationships/slide" Target="/ppt/slides/slide6.xml" Id="R3b5dda89a2764ef5" /><Relationship Type="http://schemas.openxmlformats.org/officeDocument/2006/relationships/slide" Target="/ppt/slides/slide7.xml" Id="R518c7677ab1f465f" /><Relationship Type="http://schemas.openxmlformats.org/officeDocument/2006/relationships/slide" Target="/ppt/slides/slide8.xml" Id="Rdc5f285d18614372" /><Relationship Type="http://schemas.openxmlformats.org/officeDocument/2006/relationships/slide" Target="/ppt/slides/slide9.xml" Id="Rfaecc401f5b54ae4" /><Relationship Type="http://schemas.openxmlformats.org/officeDocument/2006/relationships/slide" Target="/ppt/slides/slide10.xml" Id="R70ee5a3ec80e4f57" /><Relationship Type="http://schemas.openxmlformats.org/officeDocument/2006/relationships/slide" Target="/ppt/slides/slide11.xml" Id="R0aa3674640614551" /><Relationship Type="http://schemas.openxmlformats.org/officeDocument/2006/relationships/slide" Target="/ppt/slides/slide12.xml" Id="R6e4625b599894eef" /><Relationship Type="http://schemas.openxmlformats.org/officeDocument/2006/relationships/slide" Target="/ppt/slides/slide13.xml" Id="Rd21c3d0e9d834e7c" /><Relationship Type="http://schemas.openxmlformats.org/officeDocument/2006/relationships/slide" Target="/ppt/slides/slide14.xml" Id="R74f9000098b64d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9a2f0bb45240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f25f37204d45d9" /><Relationship Type="http://schemas.openxmlformats.org/officeDocument/2006/relationships/notesMaster" Target="/ppt/notesMasters/notesMaster1.xml" Id="Rd04705afc16b46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0f209ceeed459d" /><Relationship Type="http://schemas.openxmlformats.org/officeDocument/2006/relationships/notesMaster" Target="/ppt/notesMasters/notesMaster1.xml" Id="Re0fae11d6fa14b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74c71a5013450e" /><Relationship Type="http://schemas.openxmlformats.org/officeDocument/2006/relationships/notesMaster" Target="/ppt/notesMasters/notesMaster1.xml" Id="R7de79f4c21c841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4f3b0f6f234d08" /><Relationship Type="http://schemas.openxmlformats.org/officeDocument/2006/relationships/notesMaster" Target="/ppt/notesMasters/notesMaster1.xml" Id="R37cdc29e656c4d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a56aa82ed3476c" /><Relationship Type="http://schemas.openxmlformats.org/officeDocument/2006/relationships/notesMaster" Target="/ppt/notesMasters/notesMaster1.xml" Id="R75e75938738b48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efc5ec7fe5412f" /><Relationship Type="http://schemas.openxmlformats.org/officeDocument/2006/relationships/notesMaster" Target="/ppt/notesMasters/notesMaster1.xml" Id="R89ab3120268641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6b1b3a51dd4a9a" /><Relationship Type="http://schemas.openxmlformats.org/officeDocument/2006/relationships/notesMaster" Target="/ppt/notesMasters/notesMaster1.xml" Id="Rbe04b62b04234c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8433593a684ac4" /><Relationship Type="http://schemas.openxmlformats.org/officeDocument/2006/relationships/notesMaster" Target="/ppt/notesMasters/notesMaster1.xml" Id="R014edb8253a346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dbfe472fef40ca" /><Relationship Type="http://schemas.openxmlformats.org/officeDocument/2006/relationships/notesMaster" Target="/ppt/notesMasters/notesMaster1.xml" Id="Rc9545d1118744d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1852258c8b462f" /><Relationship Type="http://schemas.openxmlformats.org/officeDocument/2006/relationships/notesMaster" Target="/ppt/notesMasters/notesMaster1.xml" Id="R0b76628c2fe64d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843d071e354732" /><Relationship Type="http://schemas.openxmlformats.org/officeDocument/2006/relationships/notesMaster" Target="/ppt/notesMasters/notesMaster1.xml" Id="R5dca34eaef1c4a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c050a9b526423c" /><Relationship Type="http://schemas.openxmlformats.org/officeDocument/2006/relationships/notesMaster" Target="/ppt/notesMasters/notesMaster1.xml" Id="Rba62cdc63ceb4c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ec746afb004aed" /><Relationship Type="http://schemas.openxmlformats.org/officeDocument/2006/relationships/notesMaster" Target="/ppt/notesMasters/notesMaster1.xml" Id="Re5dd22b58daf4b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9feb9ef07944aa" /><Relationship Type="http://schemas.openxmlformats.org/officeDocument/2006/relationships/notesMaster" Target="/ppt/notesMasters/notesMaster1.xml" Id="Raf50e45095c34f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Flags overlap. Chart shows the eleven most frequent issues; the Word report and manifest retain every flag. A no_bar_detected warning does not invalidate the disc estimate. Individual PA scatter is not a formal independent uncertainty.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Supplied fitted-manifest comparison: {"disc":{"n":2773,"median_abs":2.76077815661057,"median_signed":0.021808524369362203,"within10":2169},"bar":{"n":2292,"median_abs":0.4539355276748722,"median_signed":-0.0040814688521066955,"within10":2237},"inclination":{"n":2773,"median_abs":2.3744889759578527,"median_signed":-0.9662639215711621,"within10":2428}}. Supplied inclination uses intrinsic q0=.2; ours remains q0=0. Euclid whole-object shapes are proxies, not independent outer-disc measurements. No Euclid bar PA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Centre example (multiple flags, not an isolated-flag demonstration): {"id":"2700376345666189458","image":"C:\\Users\\gordo\\Documents\\Github\\PythonScripts\\Foreground Masking\\MER_VIS_pipeline_v2\\current_report\\images\\2700376345666189458.png","full_card":"D:\\Dropbox\\Public Documents\\UCLAN\\MSc Research\\Euclid\\MER_VIS_galaxy_reports\\all_2777\\png_QI\\2448_Euclid_2700376345666189458_MER_VIS_geometry_report_QI.png","disc":101.52336049391899,"bar":101.48498053450594,"inc":71.05369315170853,"centre_offset":17.320432011634527,"method":"recentred","flags":["centre_offset_large","disc_axis_ratio_unstable","disc_PA_sparse_sampling"],"bar_status":"detected_A","error":"","n_good":"43","n_disc":"5","n_bar":"4","disc_scatter":0.9310092684915722,"disc_span":0.3545431996625442,"bar_end":19.181222769615243,"information":"","detail_image":"C:\\Users\\gordo\\Documents\\Github\\PythonScripts\\Foreground Masking\\MER_VIS_pipeline_v2\\current_report\\images\\centre_detail.png"}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Isolated example counts (full coverage): {"no_bar_detected":57,"disc_PA_unstable":30,"disc_axis_ratio_unstable":38,"small_bar_sensitive_to_resolution":176,"disc_PA_sparse_sampling":262,"disc_range_fallback":0,"bar_disc_ranges_close":0,"small_disc":0,"weak_ellipse_bar_signature":5,"centre_offset_large":1,"relaxed_fit":0,"iteration_limited_samples":0,"star_mask_removed":0,"neighbour_mask_removed":0,"centre_unstable":0,"short_accepted_profile":0,"high_inclination":0}. Flags without two isolated cases are not represented as single-flag examples. Bar acceptance requires a stable PA plateau.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{"key":"disc_PA_sparse_sampling","title":"Sparse disc sampling","kind":"isolated_flag","examples":[{"id":"-518633776290631360","image":"C:\\Users\\gordo\\Documents\\Github\\PythonScripts\\Foreground Masking\\MER_VIS_pipeline_v2\\current_report\\images\\-518633776290631360.png","full_card":"D:\\Dropbox\\Public Documents\\UCLAN\\MSc Research\\Euclid\\MER_VIS_galaxy_reports\\all_2777\\png_QI\\0005_Euclid_-518633776290631360_MER_VIS_geometry_report_QI.png","disc":113.69021016263804,"bar":113.86950382756103,"inc":49.47781434213959,"centre_offset":0.15091616609311526,"method":"standard","flags":["disc_PA_sparse_sampling"],"bar_status":"detected_A","error":"","n_good":"28","n_disc":"3","n_bar":"11","disc_scatter":17.55097022310975,"disc_span":0.06326608973174502,"bar_end":1.7950070214699363,"information":""},{"id":"-591772188508612550","image":"C:\\Users\\gordo\\Documents\\Github\\PythonScripts\\Foreground Masking\\MER_VIS_pipeline_v2\\current_report\\images\\-591772188508612550.png","full_card":"D:\\Dropbox\\Public Documents\\UCLAN\\MSc Research\\Euclid\\MER_VIS_galaxy_reports\\all_2777\\png_QI\\0052_Euclid_-591772188508612550_MER_VIS_geometry_report_QI.png","disc":86.43656085258868,"bar":164.63490061547776,"inc":35.695330342099226,"centre_offset":0.02832371713181012,"method":"standard","flags":["disc_PA_sparse_sampling"],"bar_status":"detected_A","error":"","n_good":"23","n_disc":"4","n_bar":"7","disc_scatter":5.250885360677478,"disc_span":0.1029346552749289,"bar_end":1.6382758850469108,"information":""}],"available":262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{"key":"small_bar_sensitive_to_resolution","title":"Bar identification uncertain: small interval","kind":"isolated_flag","examples":[{"id":"-518659917291205827","image":"C:\\Users\\gordo\\Documents\\Github\\PythonScripts\\Foreground Masking\\MER_VIS_pipeline_v2\\current_report\\images\\-518659917291205827.png","full_card":"D:\\Dropbox\\Public Documents\\UCLAN\\MSc Research\\Euclid\\MER_VIS_galaxy_reports\\all_2777\\png_QI\\0004_Euclid_-518659917291205827_MER_VIS_geometry_report_QI.png","disc":67.98049109589249,"bar":63.85453266313511,"inc":47.29360925833979,"centre_offset":0.06901554767367604,"method":"standard","flags":["small_bar_sensitive_to_resolution"],"bar_status":"detected_A","error":"","n_good":"31","n_disc":"6","n_bar":"6","disc_scatter":6.536223807890531,"disc_span":0.1305755018371826,"bar_end":1.3365451794213465,"information":""},{"id":"-518003489287870292","image":"C:\\Users\\gordo\\Documents\\Github\\PythonScripts\\Foreground Masking\\MER_VIS_pipeline_v2\\current_report\\images\\-518003489287870292.png","full_card":"D:\\Dropbox\\Public Documents\\UCLAN\\MSc Research\\Euclid\\MER_VIS_galaxy_reports\\all_2777\\png_QI\\0007_Euclid_-518003489287870292_MER_VIS_geometry_report_QI.png","disc":87.46210239608925,"bar":167.22729398125324,"inc":31.574961051993903,"centre_offset":0.043422001129307254,"method":"standard","flags":["small_bar_sensitive_to_resolution"],"bar_status":"detected_A","error":"","n_good":"22","n_disc":"6","n_bar":"4","disc_scatter":5.924727031910115,"disc_span":0.11007119226523457,"bar_end":1.3673627605688643,"information":""}],"available":176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{"key":"disc_PA_unstable","title":"Disc PA varies across radius","kind":"isolated_flag","examples":[{"id":"-601121275504424227","image":"C:\\Users\\gordo\\Documents\\Github\\PythonScripts\\Foreground Masking\\MER_VIS_pipeline_v2\\current_report\\images\\-601121275504424227.png","full_card":"D:\\Dropbox\\Public Documents\\UCLAN\\MSc Research\\Euclid\\MER_VIS_galaxy_reports\\all_2777\\png_QI\\0118_Euclid_-601121275504424227_MER_VIS_geometry_report_QI.png","disc":60.75482419435342,"bar":20.23373226136634,"inc":40.93111225561656,"centre_offset":0.038965526533334946,"method":"standard","flags":["disc_PA_unstable"],"bar_status":"detected_A","error":"","n_good":"33","n_disc":"7","n_bar":"6","disc_scatter":15.878385450188937,"disc_span":0.08169376743863846,"bar_end":1.5289036078363487,"information":""},{"id":"-610687143492806705","image":"C:\\Users\\gordo\\Documents\\Github\\PythonScripts\\Foreground Masking\\MER_VIS_pipeline_v2\\current_report\\images\\-610687143492806705.png","full_card":"D:\\Dropbox\\Public Documents\\UCLAN\\MSc Research\\Euclid\\MER_VIS_galaxy_reports\\all_2777\\png_QI\\0333_Euclid_-610687143492806705_MER_VIS_geometry_report_QI.png","disc":158.36096695742282,"bar":125.22937713244133,"inc":47.29362942331274,"centre_offset":0.2338082376742416,"method":"standard","flags":["disc_PA_unstable"],"bar_status":"detected_A","error":"","n_good":"31","n_disc":"7","n_bar":"4","disc_scatter":25.28294471714209,"disc_span":0.07966992794101968,"bar_end":1.9994762262228183,"information":""}],"available":30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{"key":"disc_axis_ratio_unstable","title":"Changing disc ellipticity","kind":"isolated_flag","examples":[{"id":"-591287408514481131","image":"C:\\Users\\gordo\\Documents\\Github\\PythonScripts\\Foreground Masking\\MER_VIS_pipeline_v2\\current_report\\images\\-591287408514481131.png","full_card":"D:\\Dropbox\\Public Documents\\UCLAN\\MSc Research\\Euclid\\MER_VIS_galaxy_reports\\all_2777\\png_QI\\0034_Euclid_-591287408514481131_MER_VIS_geometry_report_QI.png","disc":17.53323680563758,"bar":22.81336189671468,"inc":36.63266403692604,"centre_offset":0.11119406232473457,"method":"standard","flags":["disc_axis_ratio_unstable"],"bar_status":"detected_A","error":"","n_good":"34","n_disc":"6","n_bar":"4","disc_scatter":7.239400804142461,"disc_span":0.16838843455844482,"bar_end":2.1798696595074465,"information":""},{"id":"-566750185501100067","image":"C:\\Users\\gordo\\Documents\\Github\\PythonScripts\\Foreground Masking\\MER_VIS_pipeline_v2\\current_report\\images\\-566750185501100067.png","full_card":"D:\\Dropbox\\Public Documents\\UCLAN\\MSc Research\\Euclid\\MER_VIS_galaxy_reports\\all_2777\\png_QI\\0159_Euclid_-566750185501100067_MER_VIS_geometry_report_QI.png","disc":102.79246432693091,"bar":96.42893198907605,"inc":52.53634125610519,"centre_offset":0.08662419418159002,"method":"standard","flags":["disc_axis_ratio_unstable"],"bar_status":"detected_A","error":"","n_good":"32","n_disc":"7","n_bar":"6","disc_scatter":3.9332905839691543,"disc_span":0.15097490297862415,"bar_end":1.593205928470762,"information":""}],"available":38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{"key":"weak_ellipse_bar_signature","title":"Weaker accepted bar signature","kind":"isolated_flag","examples":[{"id":"-555209522496440415","image":"C:\\Users\\gordo\\Documents\\Github\\PythonScripts\\Foreground Masking\\MER_VIS_pipeline_v2\\current_report\\images\\-555209522496440415.png","full_card":"D:\\Dropbox\\Public Documents\\UCLAN\\MSc Research\\Euclid\\MER_VIS_galaxy_reports\\all_2777\\png_QI\\0261_Euclid_-555209522496440415_MER_VIS_geometry_report_QI.png","disc":100.26081295628182,"bar":105.11218163316383,"inc":42.90154861988472,"centre_offset":0.0903332976252752,"method":"standard","flags":["weak_ellipse_bar_signature"],"bar_status":"detected_B","error":"","n_good":"37","n_disc":"7","n_bar":"5","disc_scatter":7.517163372934988,"disc_span":0.13826008157628691,"bar_end":1.6744832428633671,"information":""},{"id":"-567651923481293863","image":"C:\\Users\\gordo\\Documents\\Github\\PythonScripts\\Foreground Masking\\MER_VIS_pipeline_v2\\current_report\\images\\-567651923481293863.png","full_card":"D:\\Dropbox\\Public Documents\\UCLAN\\MSc Research\\Euclid\\MER_VIS_galaxy_reports\\all_2777\\png_QI\\0728_Euclid_-567651923481293863_MER_VIS_geometry_report_QI.png","disc":133.5783320289558,"bar":23.001901678884632,"inc":25.238239011239592,"centre_offset":0.17164453119414078,"method":"standard","flags":["weak_ellipse_bar_signature"],"bar_status":"detected_B","error":"","n_good":"28","n_disc":"3","n_bar":"13","disc_scatter":6.795861954450147,"disc_span":0.01434370836758432,"bar_end":3.1004653606061714,"information":"nearly_face_on_disc_PA_uncertain"}],"available":5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{"key":"no_bar_detected","title":"No accepted bar; disc retained","kind":"isolated_flag","examples":[{"id":"2693239635649457485","image":"C:\\Users\\gordo\\Documents\\Github\\PythonScripts\\Foreground Masking\\MER_VIS_pipeline_v2\\current_report\\images\\2693239635649457485.png","full_card":"D:\\Dropbox\\Public Documents\\UCLAN\\MSc Research\\Euclid\\MER_VIS_galaxy_reports\\all_2777\\png_QI\\0030_Euclid_2693239635649457485_MER_VIS_geometry_report_QI.png","disc":115.27426229228769,"bar":null,"inc":57.10822351022106,"centre_offset":0.20803110605860703,"method":"standard","flags":["no_bar_detected"],"bar_status":"no_bar_detected","error":"","n_good":"28","n_disc":"6","n_bar":"","disc_scatter":1.534821119062622,"disc_span":0.07954589557362018,"bar_end":null,"information":""},{"id":"-600909396508240903","image":"C:\\Users\\gordo\\Documents\\Github\\PythonScripts\\Foreground Masking\\MER_VIS_pipeline_v2\\current_report\\images\\-600909396508240903.png","full_card":"D:\\Dropbox\\Public Documents\\UCLAN\\MSc Research\\Euclid\\MER_VIS_galaxy_reports\\all_2777\\png_QI\\0061_Euclid_-600909396508240903_MER_VIS_geometry_report_QI.png","disc":95.78575386450234,"bar":null,"inc":55.30004037390356,"centre_offset":0.11559495870650695,"method":"standard","flags":["no_bar_detected"],"bar_status":"no_bar_detected","error":"","n_good":"25","n_disc":"6","n_bar":"","disc_scatter":9.116555930006143,"disc_span":0.08951454268036535,"bar_end":null,"information":""}],"available":57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{"key":"failure","title":"Remaining fit failures","kind":"failure","examples":[{"id":"-586374330510251740","image":"C:\\Users\\gordo\\Documents\\Github\\PythonScripts\\Foreground Masking\\MER_VIS_pipeline_v2\\current_report\\images\\-586374330510251740.png","full_card":"D:\\Dropbox\\Public Documents\\UCLAN\\MSc Research\\Euclid\\MER_VIS_galaxy_reports\\all_2777\\png_QI\\0057_Euclid_-586374330510251740_MER_VIS_geometry_report_QI.png","disc":null,"bar":null,"inc":null,"centre_offset":null,"method":"smoothed_relaxed","flags":[],"bar_status":"not_measured","error":"ValueError: Only 0 accepted isophotes after recovery; need at least 3","n_good":"0","n_disc":"","n_bar":"","disc_scatter":null,"disc_span":null,"bar_end":null,"information":""},{"id":"-524824554283124036","image":"C:\\Users\\gordo\\Documents\\Github\\PythonScripts\\Foreground Masking\\MER_VIS_pipeline_v2\\current_report\\images\\-524824554283124036.png","full_card":"D:\\Dropbox\\Public Documents\\UCLAN\\MSc Research\\Euclid\\MER_VIS_galaxy_reports\\all_2777\\png_QI\\1557_Euclid_-524824554283124036_MER_VIS_geometry_report_QI.png","disc":null,"bar":null,"inc":null,"centre_offset":null,"method":"extended_light_centre_recovery","flags":[],"bar_status":"not_measured","error":"Visual review: broader peak search switched to a saturated foreground star with diffraction spikes; no valid target-disc geometry adopted.","n_good":"0","n_disc":"6","n_bar":"","disc_scatter":null,"disc_span":0.05319752342879874,"bar_end":null,"information":""}],"available":4}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verified adaptive v2 MER_VIS_local_geometry_manifest.csv, MER_VIS_v2_summary.json, MER_VIS_report_verification.json. Pipeline version MER_VIS_adaptive_v2_2026-10-20 plus explicit failure-only centre recovery. Raw science images unchanged. PA is North towards East modulo180. Numbers refer to the current sample. Example records: {"key":"failure","title":"Remaining fit failures","kind":"failure","examples":[{"id":"2645436353651870062","image":"C:\\Users\\gordo\\Documents\\Github\\PythonScripts\\Foreground Masking\\MER_VIS_pipeline_v2\\current_report\\images\\2645436353651870062.png","full_card":"D:\\Dropbox\\Public Documents\\UCLAN\\MSc Research\\Euclid\\MER_VIS_galaxy_reports\\all_2777\\png_QI\\2079_Euclid_2645436353651870062_MER_VIS_geometry_report_QI.png","disc":null,"bar":null,"inc":null,"centre_offset":null,"method":"smoothed_relaxed","flags":[],"bar_status":"not_measured","error":"ValueError: Only 0 accepted isophotes after recovery; need at least 3","n_good":"0","n_disc":"","n_bar":"","disc_scatter":null,"disc_span":null,"bar_end":null,"information":""},{"id":"2697242050653408730","image":"C:\\Users\\gordo\\Documents\\Github\\PythonScripts\\Foreground Masking\\MER_VIS_pipeline_v2\\current_report\\images\\2697242050653408730.png","full_card":"D:\\Dropbox\\Public Documents\\UCLAN\\MSc Research\\Euclid\\MER_VIS_galaxy_reports\\all_2777\\png_QI\\2221_Euclid_2697242050653408730_MER_VIS_geometry_report_QI.png","disc":null,"bar":null,"inc":null,"centre_offset":null,"method":"extended_light_centre_recovery","flags":[],"bar_status":"not_measured","error":"Visual review: accepted contours cover only the unresolved central region below 0.5 arcsec; no resolved disc geometry adopted.","n_good":"0","n_disc":"7","n_bar":"","disc_scatter":null,"disc_span":0.1968873533678872,"bar_end":null,"information":""}],"available":4}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ae0b6aa2146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bf964340c4a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8e1e1fefe041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d80f2366245a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a1285b60d49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4718637a94c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A0FEA7-E146-427F-A93D-756A6D165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83478B-2C9F-404E-A88E-9D596EA7B1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463AAF4-7A46-4ABC-AFA6-0FBF29E7A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6CE289-106F-4896-AD60-CF4C5D571A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956750-F387-4B20-9A79-28938DB156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D3997A-6196-4E15-9AFA-982DB0A8F6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109000-97C9-454C-BD07-AA1D7981BF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0CEC27D-1486-4AA5-BB98-73F75E3CF3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AFB8EE-D817-450C-AB15-26CC35D2D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34E30E-3F43-4EAC-9195-21DEB6F97C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f4a793ecea493f" /><Relationship Type="http://schemas.openxmlformats.org/officeDocument/2006/relationships/slideLayout" Target="/ppt/slideLayouts/slideLayout1.xml" Id="R78552e02a1144b52" /><Relationship Type="http://schemas.openxmlformats.org/officeDocument/2006/relationships/slideLayout" Target="/ppt/slideLayouts/slideLayout2.xml" Id="R56f2a721a51c4b06" /><Relationship Type="http://schemas.openxmlformats.org/officeDocument/2006/relationships/slideLayout" Target="/ppt/slideLayouts/slideLayout3.xml" Id="Ra7469f43daa34c2c" /><Relationship Type="http://schemas.openxmlformats.org/officeDocument/2006/relationships/slideLayout" Target="/ppt/slideLayouts/slideLayout4.xml" Id="R5326106368d449da" /><Relationship Type="http://schemas.openxmlformats.org/officeDocument/2006/relationships/slideLayout" Target="/ppt/slideLayouts/slideLayout5.xml" Id="R87bcdc8190fd4ee0" /><Relationship Type="http://schemas.openxmlformats.org/officeDocument/2006/relationships/slideLayout" Target="/ppt/slideLayouts/slideLayout6.xml" Id="R13a8de09851345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552e02a1144b52"/>
    <p:sldLayoutId xmlns:r="http://schemas.openxmlformats.org/officeDocument/2006/relationships" id="2147483650" r:id="R56f2a721a51c4b06"/>
    <p:sldLayoutId xmlns:r="http://schemas.openxmlformats.org/officeDocument/2006/relationships" id="2147483651" r:id="Ra7469f43daa34c2c"/>
    <p:sldLayoutId xmlns:r="http://schemas.openxmlformats.org/officeDocument/2006/relationships" id="2147483652" r:id="R5326106368d449da"/>
    <p:sldLayoutId xmlns:r="http://schemas.openxmlformats.org/officeDocument/2006/relationships" id="2147483653" r:id="R87bcdc8190fd4ee0"/>
    <p:sldLayoutId xmlns:r="http://schemas.openxmlformats.org/officeDocument/2006/relationships" id="2147483654" r:id="R13a8de09851345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2e36d6f3f44f62" /><Relationship Type="http://schemas.openxmlformats.org/officeDocument/2006/relationships/notesSlide" Target="/ppt/notesSlides/notesSlide1.xml" Id="R52a9b8d2379d47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0fe37e7044b04" /><Relationship Type="http://schemas.openxmlformats.org/officeDocument/2006/relationships/chart" Target="/ppt/slides/charts/chart1.xml" Id="Rae78edb471ac4db2" /><Relationship Type="http://schemas.openxmlformats.org/officeDocument/2006/relationships/notesSlide" Target="/ppt/notesSlides/notesSlide2.xml" Id="Rca5a354690714a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9346d3d2634d8c" /><Relationship Type="http://schemas.openxmlformats.org/officeDocument/2006/relationships/chart" Target="/ppt/slides/charts/chart2.xml" Id="R4406578dc73c4892" /><Relationship Type="http://schemas.openxmlformats.org/officeDocument/2006/relationships/notesSlide" Target="/ppt/notesSlides/notesSlide3.xml" Id="Rc458c2fc586546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b0c2a0611f468d" /><Relationship Type="http://schemas.openxmlformats.org/officeDocument/2006/relationships/notesSlide" Target="/ppt/notesSlides/notesSlide4.xml" Id="Rb281fe163bac45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8ea7dbb7a4fe4" /><Relationship Type="http://schemas.openxmlformats.org/officeDocument/2006/relationships/image" Target="/ppt/media/image.png" Id="Re4f46f9d852342ef" /><Relationship Type="http://schemas.openxmlformats.org/officeDocument/2006/relationships/notesSlide" Target="/ppt/notesSlides/notesSlide5.xml" Id="Rde2ddee719f942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92ccbaf09f41f6" /><Relationship Type="http://schemas.openxmlformats.org/officeDocument/2006/relationships/notesSlide" Target="/ppt/notesSlides/notesSlide6.xml" Id="R516f9c5273eb4b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21a58ff6c4865" /><Relationship Type="http://schemas.openxmlformats.org/officeDocument/2006/relationships/image" Target="/ppt/media/image2.png" Id="R53057b761b3742df" /><Relationship Type="http://schemas.openxmlformats.org/officeDocument/2006/relationships/image" Target="/ppt/media/image3.png" Id="R59b0f99bbcf24373" /><Relationship Type="http://schemas.openxmlformats.org/officeDocument/2006/relationships/notesSlide" Target="/ppt/notesSlides/notesSlide7.xml" Id="R6f055129b2fe4a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ff25a0ca84d10" /><Relationship Type="http://schemas.openxmlformats.org/officeDocument/2006/relationships/image" Target="/ppt/media/image4.png" Id="Re5471e30935a4caf" /><Relationship Type="http://schemas.openxmlformats.org/officeDocument/2006/relationships/image" Target="/ppt/media/image5.png" Id="R430903f79e7142af" /><Relationship Type="http://schemas.openxmlformats.org/officeDocument/2006/relationships/notesSlide" Target="/ppt/notesSlides/notesSlide8.xml" Id="Rd787cf85eeae49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ff7704dd4476d" /><Relationship Type="http://schemas.openxmlformats.org/officeDocument/2006/relationships/image" Target="/ppt/media/image6.png" Id="Rf4a0b9cd74da43e4" /><Relationship Type="http://schemas.openxmlformats.org/officeDocument/2006/relationships/image" Target="/ppt/media/image7.png" Id="Rd48c1d423a9a4839" /><Relationship Type="http://schemas.openxmlformats.org/officeDocument/2006/relationships/notesSlide" Target="/ppt/notesSlides/notesSlide9.xml" Id="Rf86e2207009145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d2d02a6c848f4" /><Relationship Type="http://schemas.openxmlformats.org/officeDocument/2006/relationships/image" Target="/ppt/media/image8.png" Id="R5d89c10965374be3" /><Relationship Type="http://schemas.openxmlformats.org/officeDocument/2006/relationships/image" Target="/ppt/media/image9.png" Id="Rfbbf775663c54618" /><Relationship Type="http://schemas.openxmlformats.org/officeDocument/2006/relationships/notesSlide" Target="/ppt/notesSlides/notesSlide10.xml" Id="Re0d4b3a4f7484f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6fd316c92497f" /><Relationship Type="http://schemas.openxmlformats.org/officeDocument/2006/relationships/image" Target="/ppt/media/image10.png" Id="R163e57c8bda2403e" /><Relationship Type="http://schemas.openxmlformats.org/officeDocument/2006/relationships/image" Target="/ppt/media/image11.png" Id="Rc72a166458634c3e" /><Relationship Type="http://schemas.openxmlformats.org/officeDocument/2006/relationships/notesSlide" Target="/ppt/notesSlides/notesSlide11.xml" Id="R032467a8a67e45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b3596a654483c" /><Relationship Type="http://schemas.openxmlformats.org/officeDocument/2006/relationships/image" Target="/ppt/media/image12.png" Id="Rb38ab7fa380a43e9" /><Relationship Type="http://schemas.openxmlformats.org/officeDocument/2006/relationships/image" Target="/ppt/media/image13.png" Id="R5960a4a290494157" /><Relationship Type="http://schemas.openxmlformats.org/officeDocument/2006/relationships/notesSlide" Target="/ppt/notesSlides/notesSlide12.xml" Id="R672f7caa45cb4b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b5eef10cb4a57" /><Relationship Type="http://schemas.openxmlformats.org/officeDocument/2006/relationships/image" Target="/ppt/media/image14.png" Id="R29073fbec64043a7" /><Relationship Type="http://schemas.openxmlformats.org/officeDocument/2006/relationships/image" Target="/ppt/media/image15.png" Id="Rd5bc88a3135e4222" /><Relationship Type="http://schemas.openxmlformats.org/officeDocument/2006/relationships/notesSlide" Target="/ppt/notesSlides/notesSlide13.xml" Id="Rdbfeb4057dee46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1f8c8f66e842ab" /><Relationship Type="http://schemas.openxmlformats.org/officeDocument/2006/relationships/image" Target="/ppt/media/image16.png" Id="R59ccc2a3720b4d10" /><Relationship Type="http://schemas.openxmlformats.org/officeDocument/2006/relationships/image" Target="/ppt/media/image17.png" Id="Rd0ad8f39bfea4fdc" /><Relationship Type="http://schemas.openxmlformats.org/officeDocument/2006/relationships/notesSlide" Target="/ppt/notesSlides/notesSlide14.xml" Id="Rd0f6fd31c0de43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No flags</c:v>
          </c:tx>
          <c:spPr>
            <a:solidFill xmlns:a="http://schemas.openxmlformats.org/drawingml/2006/main">
              <a:srgbClr val="367A8C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0.033489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1 flags</c:v>
          </c:tx>
          <c:spPr>
            <a:solidFill xmlns:a="http://schemas.openxmlformats.org/drawingml/2006/main">
              <a:srgbClr val="E5BB66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</c:v>
                </c:pt>
                <c:pt idx="1">
                  <c:v>0.21282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v>2 flags</c:v>
          </c:tx>
          <c:spPr>
            <a:solidFill xmlns:a="http://schemas.openxmlformats.org/drawingml/2006/main">
              <a:srgbClr val="CC9637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</c:v>
                </c:pt>
                <c:pt idx="1">
                  <c:v>0.335254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v>3 flags</c:v>
          </c:tx>
          <c:spPr>
            <a:solidFill xmlns:a="http://schemas.openxmlformats.org/drawingml/2006/main">
              <a:srgbClr val="A66B24"/>
            </a:solidFill>
          </c:spPr>
          <c:invertIfNegative val="0"/>
          <c:cat>
            <c:strRef>
              <c:f>'Chart Data'!$G$2:$G$4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Data'!$H$2:$H$4</c:f>
              <c:numCache>
                <c:formatCode>0%</c:formatCode>
                <c:ptCount val="3"/>
                <c:pt idx="0">
                  <c:v>0</c:v>
                </c:pt>
                <c:pt idx="1">
                  <c:v>0.269355</c:v>
                </c:pt>
                <c:pt idx="2">
                  <c:v>0</c:v>
                </c:pt>
              </c:numCache>
            </c:numRef>
          </c:val>
        </c:ser>
        <c:ser>
          <c:idx val="4"/>
          <c:order val="4"/>
          <c:tx>
            <c:v>4 flags</c:v>
          </c:tx>
          <c:spPr>
            <a:solidFill xmlns:a="http://schemas.openxmlformats.org/drawingml/2006/main">
              <a:srgbClr val="72441C"/>
            </a:solidFill>
          </c:spPr>
          <c:invertIfNegative val="0"/>
          <c:cat>
            <c:strRef>
              <c:f>'Chart Data'!$I$2:$I$4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Data'!$J$2:$J$4</c:f>
              <c:numCache>
                <c:formatCode>0%</c:formatCode>
                <c:ptCount val="3"/>
                <c:pt idx="0">
                  <c:v>0</c:v>
                </c:pt>
                <c:pt idx="1">
                  <c:v>0.10695</c:v>
                </c:pt>
                <c:pt idx="2">
                  <c:v>0</c:v>
                </c:pt>
              </c:numCache>
            </c:numRef>
          </c:val>
        </c:ser>
        <c:ser>
          <c:idx val="5"/>
          <c:order val="5"/>
          <c:tx>
            <c:v>5 flags</c:v>
          </c:tx>
          <c:spPr>
            <a:solidFill xmlns:a="http://schemas.openxmlformats.org/drawingml/2006/main">
              <a:srgbClr val="754E79"/>
            </a:solidFill>
          </c:spPr>
          <c:invertIfNegative val="0"/>
          <c:cat>
            <c:strRef>
              <c:f>'Chart Data'!$K$2:$K$4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Data'!$L$2:$L$4</c:f>
              <c:numCache>
                <c:formatCode>0%</c:formatCode>
                <c:ptCount val="3"/>
                <c:pt idx="0">
                  <c:v>0</c:v>
                </c:pt>
                <c:pt idx="1">
                  <c:v>0.024127</c:v>
                </c:pt>
                <c:pt idx="2">
                  <c:v>0</c:v>
                </c:pt>
              </c:numCache>
            </c:numRef>
          </c:val>
        </c:ser>
        <c:ser>
          <c:idx val="6"/>
          <c:order val="6"/>
          <c:tx>
            <c:v>6 flags</c:v>
          </c:tx>
          <c:spPr>
            <a:solidFill xmlns:a="http://schemas.openxmlformats.org/drawingml/2006/main">
              <a:srgbClr val="563B60"/>
            </a:solidFill>
          </c:spPr>
          <c:invertIfNegative val="0"/>
          <c:cat>
            <c:strRef>
              <c:f>'Chart Data'!$M$2:$M$4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Data'!$N$2:$N$4</c:f>
              <c:numCache>
                <c:formatCode>0%</c:formatCode>
                <c:ptCount val="3"/>
                <c:pt idx="0">
                  <c:v>0</c:v>
                </c:pt>
                <c:pt idx="1">
                  <c:v>0.014044</c:v>
                </c:pt>
                <c:pt idx="2">
                  <c:v>0</c:v>
                </c:pt>
              </c:numCache>
            </c:numRef>
          </c:val>
        </c:ser>
        <c:ser>
          <c:idx val="7"/>
          <c:order val="7"/>
          <c:tx>
            <c:v>7 flags</c:v>
          </c:tx>
          <c:spPr>
            <a:solidFill xmlns:a="http://schemas.openxmlformats.org/drawingml/2006/main">
              <a:srgbClr val="4A587A"/>
            </a:solidFill>
          </c:spPr>
          <c:invertIfNegative val="0"/>
          <c:cat>
            <c:strRef>
              <c:f>'Chart Data'!$O$2:$O$4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Data'!$P$2:$P$4</c:f>
              <c:numCache>
                <c:formatCode>0%</c:formatCode>
                <c:ptCount val="3"/>
                <c:pt idx="0">
                  <c:v>0</c:v>
                </c:pt>
                <c:pt idx="1">
                  <c:v>0.002161</c:v>
                </c:pt>
                <c:pt idx="2">
                  <c:v>0</c:v>
                </c:pt>
              </c:numCache>
            </c:numRef>
          </c:val>
        </c:ser>
        <c:ser>
          <c:idx val="8"/>
          <c:order val="8"/>
          <c:tx>
            <c:v>9 flags</c:v>
          </c:tx>
          <c:spPr>
            <a:solidFill xmlns:a="http://schemas.openxmlformats.org/drawingml/2006/main">
              <a:srgbClr val="A85050"/>
            </a:solidFill>
          </c:spPr>
          <c:invertIfNegative val="0"/>
          <c:cat>
            <c:strRef>
              <c:f>'Chart Data'!$Q$2:$Q$4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Data'!$R$2:$R$4</c:f>
              <c:numCache>
                <c:formatCode>0%</c:formatCode>
                <c:ptCount val="3"/>
                <c:pt idx="0">
                  <c:v>0</c:v>
                </c:pt>
                <c:pt idx="1">
                  <c:v>0.00036</c:v>
                </c:pt>
                <c:pt idx="2">
                  <c:v>0</c:v>
                </c:pt>
              </c:numCache>
            </c:numRef>
          </c:val>
        </c:ser>
        <c:ser>
          <c:idx val="9"/>
          <c:order val="9"/>
          <c:tx>
            <c:v>Failed</c:v>
          </c:tx>
          <c:spPr>
            <a:solidFill xmlns:a="http://schemas.openxmlformats.org/drawingml/2006/main">
              <a:srgbClr val="AC4B47"/>
            </a:solidFill>
          </c:spPr>
          <c:invertIfNegative val="0"/>
          <c:cat>
            <c:strRef>
              <c:f>'Chart Data'!$S$2:$S$4</c:f>
              <c:strCache>
                <c:ptCount val="3"/>
                <c:pt idx="0">
                  <c:v>No counted flags</c:v>
                </c:pt>
                <c:pt idx="1">
                  <c:v>Flagged geometry</c:v>
                </c:pt>
                <c:pt idx="2">
                  <c:v>Failed fit</c:v>
                </c:pt>
              </c:strCache>
            </c:strRef>
          </c:cat>
          <c:val>
            <c:numRef>
              <c:f>'Chart Data'!$T$2:$T$4</c:f>
              <c:numCache>
                <c:formatCode>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0.00144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9E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Galaxies</c:v>
          </c:tx>
          <c:spPr>
            <a:solidFill xmlns:a="http://schemas.openxmlformats.org/drawingml/2006/main">
              <a:srgbClr val="C18B28"/>
            </a:solidFill>
          </c:spPr>
          <c:invertIfNegative val="0"/>
          <c:cat>
            <c:strRef>
              <c:f>'Chart Data'!$A$2:$A$12</c:f>
              <c:strCache>
                <c:ptCount val="11"/>
                <c:pt idx="0">
                  <c:v>Sparse disc sampling</c:v>
                </c:pt>
                <c:pt idx="1">
                  <c:v>Bar identification uncertain: small interval</c:v>
                </c:pt>
                <c:pt idx="2">
                  <c:v>Changing disc ellipticity</c:v>
                </c:pt>
                <c:pt idx="3">
                  <c:v>Disc PA varies across radius</c:v>
                </c:pt>
                <c:pt idx="4">
                  <c:v>No accepted bar; disc retained</c:v>
                </c:pt>
                <c:pt idx="5">
                  <c:v>Small disc</c:v>
                </c:pt>
                <c:pt idx="6">
                  <c:v>Disc interval fallback</c:v>
                </c:pt>
                <c:pt idx="7">
                  <c:v>Weaker accepted bar signature</c:v>
                </c:pt>
                <c:pt idx="8">
                  <c:v>Bar and disc intervals close</c:v>
                </c:pt>
                <c:pt idx="9">
                  <c:v>Large centre offset</c:v>
                </c:pt>
                <c:pt idx="10">
                  <c:v>Star mask removed in retry</c:v>
                </c:pt>
              </c:strCache>
            </c:strRef>
          </c:cat>
          <c:val>
            <c:numRef>
              <c:f>'Chart Data'!$B$2:$B$12</c:f>
              <c:numCache>
                <c:formatCode>0</c:formatCode>
                <c:ptCount val="11"/>
                <c:pt idx="0">
                  <c:v>1669</c:v>
                </c:pt>
                <c:pt idx="1">
                  <c:v>1447</c:v>
                </c:pt>
                <c:pt idx="2">
                  <c:v>1355</c:v>
                </c:pt>
                <c:pt idx="3">
                  <c:v>476</c:v>
                </c:pt>
                <c:pt idx="4">
                  <c:v>453</c:v>
                </c:pt>
                <c:pt idx="5">
                  <c:v>298</c:v>
                </c:pt>
                <c:pt idx="6">
                  <c:v>269</c:v>
                </c:pt>
                <c:pt idx="7">
                  <c:v>231</c:v>
                </c:pt>
                <c:pt idx="8">
                  <c:v>211</c:v>
                </c:pt>
                <c:pt idx="9">
                  <c:v>44</c:v>
                </c:pt>
                <c:pt idx="10">
                  <c:v>18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1145A-37F7-487A-A820-F2C12627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Euclid MER VIS adaptive geometry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4EF27-41AA-4A66-BA6B-43CF3F28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DE998-472A-4640-94D8-10D0835B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2,777 galaxy cutouts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3AD4C-516D-4114-A538-2B1D225F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2773 disc measurements; 4 failures or exclusions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4E24D-DECD-40D5-A94D-9626B551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2320 accepted candidate bar measurements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91D23-D4E6-48C5-BCA8-49CFB3F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Centres checked from the images. Disc and bar outcomes reported separately.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936C7-0676-4986-B8D6-B1D66B38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Current run 20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61805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80FCD-6362-41BA-93BA-BEE7BD7E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Fitting outcomes by counted quality flags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48FAF-F305-4B66-AF74-24FF90A6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0B585-0ED2-49BA-9E8A-4CF139C9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Percentage of all 2,777 galaxies. Face-on is informational.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FDDF770-17B8-47BB-AA5F-67410B0C70EC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78edb471ac4db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586E-DD19-4D16-AFB9-D47149DE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86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No flags: 93 (3.3%)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3B17B-7B67-4681-A6F1-870A4788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5BB6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BB66"/>
                </a:solidFill>
                <a:latin typeface="Arial"/>
                <a:ea typeface="Arial"/>
                <a:cs typeface="Arial"/>
              </a:rPr>
              <a:t>1 flag: 591 (21.3%)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B3C9E-D56B-46AB-B615-DE51FC86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C96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C9637"/>
                </a:solidFill>
                <a:latin typeface="Arial"/>
                <a:ea typeface="Arial"/>
                <a:cs typeface="Arial"/>
              </a:rPr>
              <a:t>2 flags: 931 (33.5%)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CE4DD-6E36-4938-8EBF-3B8290E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04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66B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6B24"/>
                </a:solidFill>
                <a:latin typeface="Arial"/>
                <a:ea typeface="Arial"/>
                <a:cs typeface="Arial"/>
              </a:rPr>
              <a:t>3 flags: 748 (26.9%)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AC22B-B05A-40CB-9317-17AEB699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244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2441C"/>
                </a:solidFill>
                <a:latin typeface="Arial"/>
                <a:ea typeface="Arial"/>
                <a:cs typeface="Arial"/>
              </a:rPr>
              <a:t>4 flags: 297 (10.7%)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11718-66D1-4D80-8DED-C2784283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54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54E79"/>
                </a:solidFill>
                <a:latin typeface="Arial"/>
                <a:ea typeface="Arial"/>
                <a:cs typeface="Arial"/>
              </a:rPr>
              <a:t>5 flags: 67 (2.4%)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080D4-EC71-492A-818B-C1D9531F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563B6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63B60"/>
                </a:solidFill>
                <a:latin typeface="Arial"/>
                <a:ea typeface="Arial"/>
                <a:cs typeface="Arial"/>
              </a:rPr>
              <a:t>6 flags: 39 (1.4%)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336A6-AB5E-400C-8C3A-CC0202C1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4A58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A587A"/>
                </a:solidFill>
                <a:latin typeface="Arial"/>
                <a:ea typeface="Arial"/>
                <a:cs typeface="Arial"/>
              </a:rPr>
              <a:t>7 flags: 6 (0.2%)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4721F-6FE9-4384-89F8-ACBD2A52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8505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5050"/>
                </a:solidFill>
                <a:latin typeface="Arial"/>
                <a:ea typeface="Arial"/>
                <a:cs typeface="Arial"/>
              </a:rPr>
              <a:t>9 flags: 1 (&lt;0.1%)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C4E44-6402-4EAD-97ED-CBA471F5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43C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43C38"/>
                </a:solidFill>
                <a:latin typeface="Arial"/>
                <a:ea typeface="Arial"/>
                <a:cs typeface="Arial"/>
              </a:rPr>
              <a:t>Failed: 4 (0.1%)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E20A1-340E-4051-91CE-EA0C7A9E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Recovery and missing-bar warnings are counted. QI also includes partial cutout coverage.</a:t>
            </a:r>
          </a:p>
        </p:txBody>
      </p:sp>
    </p:spTree>
    <p:extLst>
      <p:ext uri="{BB962C8B-B14F-4D97-AF65-F5344CB8AC3E}">
        <p14:creationId xmlns:p14="http://schemas.microsoft.com/office/powerpoint/2010/main" val="292485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287CA-F7E8-4C7F-91BA-63B9C041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Current quality issues and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4D815-0AFE-402A-B498-28AAC039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3 / 14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830E540-8B62-4AC5-88EC-8DC62FC27DC0}"/>
              </a:ext>
            </a:extLst>
          </p:cNvPr>
          <p:cNvGraphicFramePr/>
          <p:nvPr/>
        </p:nvGraphicFramePr>
        <p:xfrm>
          <a:off xmlns:a="http://schemas.openxmlformats.org/drawingml/2006/main" x="457200" y="1666875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06578dc73c489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95BD0-5BFA-48CE-98CE-C1306C83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59 nearly face-on fits: informational, not a defect. Disc PA instability is ignored for them.</a:t>
            </a:r>
          </a:p>
        </p:txBody>
      </p:sp>
    </p:spTree>
    <p:extLst>
      <p:ext uri="{BB962C8B-B14F-4D97-AF65-F5344CB8AC3E}">
        <p14:creationId xmlns:p14="http://schemas.microsoft.com/office/powerpoint/2010/main" val="244461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9D9B4-1616-47A3-B53B-7BBDB4C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Comparison with Euclid 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78034-C153-4A3D-A8BD-7FAFF5F3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4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8CAAB-89D1-4F3D-A314-3EF0ADCBDC2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537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337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Median absolute difference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Current run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Adjusted Euclid detection PA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8.05°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Detection inclination proxy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6.52°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Sérsic inclination proxy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5.50°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21F78-DCC5-4E79-832A-808EFDF9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Codex PA: North towards East. N = 0°, E = 90°, modulo 180°.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60D33-7F63-4120-8E1C-4E240A0B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Counterclockwise on a North-up, East-left image. WCS handles local orientation.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6A439-1458-4DD9-8885-1A2F445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Euclid comparison retains the adopted additional +90° after WCS conversion. A detection-image y-axis reference is plausible but unconfirmed.</a:t>
            </a:r>
          </a:p>
        </p:txBody>
      </p:sp>
    </p:spTree>
    <p:extLst>
      <p:ext uri="{BB962C8B-B14F-4D97-AF65-F5344CB8AC3E}">
        <p14:creationId xmlns:p14="http://schemas.microsoft.com/office/powerpoint/2010/main" val="2065109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48DCA-FA8E-478F-8F57-66F265F0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centres are measured and checked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1D03A-942D-451F-A349-969B88B7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3F599-8870-4C52-BCCD-D623757D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 catalogue position can lie on off-centre light rather than the galaxy centre.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EFE7D-FD74-4857-A957-DC1479C678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46f9d852342ef"/>
          <a:stretch xmlns:a="http://schemas.openxmlformats.org/drawingml/2006/main"/>
        </p:blipFill>
        <p:spPr>
          <a:xfrm xmlns:a="http://schemas.openxmlformats.org/drawingml/2006/main">
            <a:off x="1231167" y="1952625"/>
            <a:ext cx="4567115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8ED6C-A830-4397-B7B6-0E4FFD22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White x: catalogue position.</a:t>
            </a:r>
          </a:p>
          <a:p xmlns:a="http://schemas.openxmlformats.org/drawingml/2006/main">
            <a:pPr>
              <a:defRPr sz="210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Red +: fitted disc centre.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697D0-42C5-4D29-96ED-A6686EDD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This example: 17.32 arcsec shift.</a:t>
            </a:r>
          </a:p>
          <a:p xmlns:a="http://schemas.openxmlformats.org/drawingml/2006/main">
            <a:pPr>
              <a:defRPr sz="21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Sample median: 0.083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12AA0-714E-48B1-81A7-5D992EA1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Large offsets and centre changes across radius remain flagged for review. The catalogue and fitted positions are both retained.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28C36-D987-4611-802D-70F192C8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Synthetic check recovered the known centre within 0.01 pixel and PA/inclination within 0.01°.</a:t>
            </a:r>
          </a:p>
        </p:txBody>
      </p:sp>
    </p:spTree>
    <p:extLst>
      <p:ext uri="{BB962C8B-B14F-4D97-AF65-F5344CB8AC3E}">
        <p14:creationId xmlns:p14="http://schemas.microsoft.com/office/powerpoint/2010/main" val="1390139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1AA02-1E98-49C2-A0E9-FDFA1640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review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F5503-AB2D-4354-861B-5777019F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6 / 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C2439-745F-4439-B601-D69949B6A367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53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0"/>
                <a:gridCol w="3333750"/>
              </a:tblGrid>
              <a:tr h="54768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Review group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PNG reports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T w="6668">
                      <a:solidFill>
                        <a:srgbClr val="D6E0E5"/>
                      </a:solidFill>
                      <a:prstDash val="solid"/>
                    </a:lnT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E8F0F4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QI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2694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NoQI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83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6E0E5"/>
                      </a:solidFill>
                      <a:prstDash val="solid"/>
                    </a:lnL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3"/>
                          </a:solidFill>
                          <a:latin typeface="Arial"/>
                          <a:ea typeface="Arial"/>
                          <a:cs typeface="Arial"/>
                        </a:rPr>
                        <a:t>2777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6E0E5"/>
                      </a:solidFill>
                      <a:prstDash val="solid"/>
                    </a:lnR>
                    <a:lnB w="6668">
                      <a:solidFill>
                        <a:srgbClr val="D6E0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17D42-0B2F-4BC9-8662-031CC4E1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47 PDFs; 463 pages; six galaxies per page.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C5B3D-BD92-4871-A980-FE68FCE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Each card includes selected ellipses, profiles, angles, Euclid deltas, centre offset and recovery method. No accepted bar leaves bar PA blank.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67492-101B-421B-851C-22210B09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Examples show individual review issues. Isolated examples are used where available.</a:t>
            </a:r>
          </a:p>
        </p:txBody>
      </p:sp>
    </p:spTree>
    <p:extLst>
      <p:ext uri="{BB962C8B-B14F-4D97-AF65-F5344CB8AC3E}">
        <p14:creationId xmlns:p14="http://schemas.microsoft.com/office/powerpoint/2010/main" val="1433636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07620-6175-4500-BDFC-CAF000F3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Sparse disc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F0CA9-EEAE-42A8-9772-319AB249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7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84290-4A16-4339-9421-E632C77A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01194-86B5-461A-982B-BDD07C23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-518633776290631360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B6262-6841-4307-8CD0-867BD67FEB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57b761b3742df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9D5CB-0104-4EA9-B72D-D118CFE0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113.69°; bar 113.87°; i 49.48°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3 accepted disc ellipses; centre shift 0.15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9D9FF-D22B-4030-A115-C6A4A4EC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-591772188508612550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26C10-C775-4B1B-AF71-A5DD92AB8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0f99bbcf24373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EA396-C07D-43F6-AB3B-E12FB1EF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86.44°; bar 164.63°; i 35.70°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4 accepted disc ellipses; centre shift 0.03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39DF5-C29F-420D-84F2-CDA64AE5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Too few accepted disc samples (&lt;6), or a radial gap &gt;50% of span. PA scatter is retained, but no instability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13186113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CFB56-DDE4-4DF4-99D3-968BEEB9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Bar identification uncertain: small interval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6315C-CF7D-4F04-B042-BABA978B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8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B6C4B-4C8F-401D-8778-0599170F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B2FBA-E655-422C-AE07-2B0A7E7D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-518659917291205827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B2966-B6C1-4AA3-B165-213B62E7F9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71e30935a4caf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4C17C-CEA7-4A92-B928-A7134C0A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67.98°; bar 63.85°; i 47.29°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0.07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02937-F031-48A8-A1EB-92651781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-518003489287870292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56AB0-C4C0-4090-95F5-B4C6C50A7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903f79e7142af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ABEDA-1017-4463-8549-F9A9DA8B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87.46°; bar 167.23°; i 31.57°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0.04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2D36D-DAB2-447E-A73B-B994882F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Candidate interval ends below 1.5 arcsec. This may be an unresolved bar or a different structure; bar identification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15072981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63A28-6FD8-4187-B1F8-1C16BA32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PA varies across radius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D8045-1F38-4643-9732-5C7BBD26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9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A5AAE-8718-46F6-9C80-A96336AE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D749A-B795-48C0-97FA-41468A92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-601121275504424227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1F13E-23E9-432C-AE93-E16A3741C9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0b9cd74da43e4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75B5C-30C0-4B95-8FD3-AC38C6FA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60.75°; bar 20.23°; i 40.93°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0.04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E6A3C-862A-4D44-974B-B87203B2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-610687143492806705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051F6-C0CE-4470-AA7A-A953071280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c1d423a9a4839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CF15F-1B22-4255-925B-1BE5D71E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158.36°; bar 125.23°; i 47.29°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0.23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32AEA-AEC3-49FE-85BE-46F46EFC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At least 6 accepted disc ellipses, no radial gap &gt;50% of span, and PA scatter &gt;10°. Correlated samples: a review screen, not a confidence test.</a:t>
            </a:r>
          </a:p>
        </p:txBody>
      </p:sp>
    </p:spTree>
    <p:extLst>
      <p:ext uri="{BB962C8B-B14F-4D97-AF65-F5344CB8AC3E}">
        <p14:creationId xmlns:p14="http://schemas.microsoft.com/office/powerpoint/2010/main" val="2030423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2C255-09ED-4567-A0CC-71845DF2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Changing disc ellipticity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91318-9318-411A-B56A-46145FCF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14C12-129A-4677-9EFB-8FE0B09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8E5E3-BB2D-4FE1-AA94-79808C4E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-591287408514481131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6691C-07BA-4489-90BC-C9ACE14F7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9c10965374be3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34CD5-E36A-47F1-BB25-634E61C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17.53°; bar 22.81°; i 36.63°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0.11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A22E8-8C30-4E2C-A80F-19AC2C7F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-566750185501100067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C7A99-2542-4FFE-9F4B-1A0231603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f775663c54618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DCE76-B4E5-4AC0-BE8A-47969B42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102.79°; bar 96.43°; i 52.54°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0.09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CEA55-D238-4B37-A25B-905DA7FC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38 isolated cases available. Orange: selected bar. Green: selected disc. Blue: accepted samples. Grey: rejected samples.</a:t>
            </a:r>
          </a:p>
        </p:txBody>
      </p:sp>
    </p:spTree>
    <p:extLst>
      <p:ext uri="{BB962C8B-B14F-4D97-AF65-F5344CB8AC3E}">
        <p14:creationId xmlns:p14="http://schemas.microsoft.com/office/powerpoint/2010/main" val="5888985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94B9D-F462-4421-AF1D-CA02605A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Weaker accepted bar signature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C88C1-0D76-4FB2-8A3A-507DBEF7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62725-C384-4DFE-9EAB-7599463B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1CA78-CBDD-4ADE-A3D9-131E50BE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-555209522496440415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E28EC-6DDE-4DCF-995C-BF3A45D682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e57c8bda2403e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708D3-76A3-4536-AD5F-1142EAC7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100.26°; bar 105.11°; i 42.90°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7 accepted disc ellipses; centre shift 0.09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3FCD4-6336-472D-B81A-3EA61107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-567651923481293863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9A4AD-0DE6-4510-AE3F-54721E358B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a166458634c3e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2213E-D4D8-479A-861A-187E71F2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133.58°; bar 23.00°; i 25.24°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3 accepted disc ellipses; centre shift 0.17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C8B6E-52C9-4245-A4B3-4BD63968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Class A: peak ellipticity ≥0.30, drop ≥0.10, PA scatter ≤5°. Class B passes the broader test but misses ≥1 A threshold. Neither confirms a bar.</a:t>
            </a:r>
          </a:p>
        </p:txBody>
      </p:sp>
    </p:spTree>
    <p:extLst>
      <p:ext uri="{BB962C8B-B14F-4D97-AF65-F5344CB8AC3E}">
        <p14:creationId xmlns:p14="http://schemas.microsoft.com/office/powerpoint/2010/main" val="9017492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72CDC-C6D5-4B09-AA14-9B33A6A0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bar; disc retained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0DF81-C2DC-49F3-B4F3-3EFB8675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FA6A8-009F-4D44-9C53-494D6275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Exactly one counted quality flag in each example; full cutout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C5785-5FDA-4D3C-98E7-988C30AB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2693239635649457485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2BFC9-3D45-41BD-8833-C97E004E6E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ab7fa380a43e9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34D7A-2A75-49E6-AD4D-A2F560CE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115.27°; bar unavailable; i 57.11°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0.21 arcsec.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EE9C8-F264-4F1C-A8FC-FBF2C08F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-600909396508240903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2A868-51C7-4B0D-BCD1-F9D0459F70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0a4a290494157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B5458-FAB2-40CF-88A0-128B371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Disc 95.79°; bar unavailable; i 55.30°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6 accepted disc ellipses; centre shift 0.12 arcsec.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BE7FE-2ADE-4E57-B928-2B2905A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57 isolated cases available. Orange: selected bar. Green: selected disc. Blue: accepted samples. Grey: rejected samples.</a:t>
            </a:r>
          </a:p>
        </p:txBody>
      </p:sp>
    </p:spTree>
    <p:extLst>
      <p:ext uri="{BB962C8B-B14F-4D97-AF65-F5344CB8AC3E}">
        <p14:creationId xmlns:p14="http://schemas.microsoft.com/office/powerpoint/2010/main" val="228052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D8A82-E6F2-426A-A2D6-61D10805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Remaining fit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45AB9-58A5-45CC-9C09-698518F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235E1-180E-43C2-B9A0-C038B6F1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Actual failures or exclusions. No geometry is invented to fill missing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F65D2-4045-4282-9FE7-09EE608D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-586374330510251740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587C8-A675-483E-AD90-04C088A64C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73fbec64043a7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23287-2A08-4B5B-A32C-89836BB6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ellipse fit after retries.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C3C57-DFE5-4CC7-8697-46916BCC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-524824554283124036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244AD-2A12-4B39-982E-F7EFD5C4F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c88a3135e4222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117DE-CA80-4B9B-8066-55ADE843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Rejected trial centred on a foreground star.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301D2-1DCB-4707-B1E7-EC080387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Foreground stars, unresolved cores or failed fitting prevent adopted geometry. Individual review is required.</a:t>
            </a:r>
          </a:p>
        </p:txBody>
      </p:sp>
    </p:spTree>
    <p:extLst>
      <p:ext uri="{BB962C8B-B14F-4D97-AF65-F5344CB8AC3E}">
        <p14:creationId xmlns:p14="http://schemas.microsoft.com/office/powerpoint/2010/main" val="8351518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4C576-5661-4603-928C-7F78328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Remaining fit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0D539-561F-409B-B2D3-6B5DEEA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A962C-04CF-4B6D-B05E-026CC11A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05F7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05F7A"/>
                </a:solidFill>
                <a:latin typeface="Arial"/>
                <a:ea typeface="Arial"/>
                <a:cs typeface="Arial"/>
              </a:rPr>
              <a:t>Actual failures or exclusions. No geometry is invented to fill missing values.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120B1-6053-457E-B4CA-C13860D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2645436353651870062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24138-D6EC-440D-8828-AEA5FD9E54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cc2a3720b4d10"/>
          <a:stretch xmlns:a="http://schemas.openxmlformats.org/drawingml/2006/main"/>
        </p:blipFill>
        <p:spPr>
          <a:xfrm xmlns:a="http://schemas.openxmlformats.org/drawingml/2006/main">
            <a:off x="6152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45D88-70DA-46B2-9E86-C4D276B8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accepted ellipse fit after retries.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529DA-6B60-44B7-AE5C-F261AFEA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633"/>
                </a:solidFill>
                <a:latin typeface="Arial"/>
                <a:ea typeface="Arial"/>
                <a:cs typeface="Arial"/>
              </a:rPr>
              <a:t>Galaxy 2697242050653408730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E4367-9E1B-49FC-A3EA-84BCFFE61A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ad8f39bfea4fdc"/>
          <a:stretch xmlns:a="http://schemas.openxmlformats.org/drawingml/2006/main"/>
        </p:blipFill>
        <p:spPr>
          <a:xfrm xmlns:a="http://schemas.openxmlformats.org/drawingml/2006/main">
            <a:off x="6177803" y="2333625"/>
            <a:ext cx="5322794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68457-C3E8-4983-A556-C5934204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No disc or bar geometry adopted.</a:t>
            </a:r>
          </a:p>
          <a:p xmlns:a="http://schemas.openxmlformats.org/drawingml/2006/main">
            <a:pPr>
              <a:defRPr sz="1650" b="0">
                <a:solidFill>
                  <a:srgbClr val="1426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3"/>
                </a:solidFill>
                <a:latin typeface="Arial"/>
                <a:ea typeface="Arial"/>
                <a:cs typeface="Arial"/>
              </a:rPr>
              <a:t>Only an unresolved core was fitted.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0E0BB-94FB-4EBD-873E-CB09B4D2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673"/>
                </a:solidFill>
                <a:latin typeface="Arial"/>
                <a:ea typeface="Arial"/>
                <a:cs typeface="Arial"/>
              </a:rPr>
              <a:t>Foreground stars, unresolved cores or failed fitting prevent adopted geometry. Individual review is required.</a:t>
            </a:r>
          </a:p>
        </p:txBody>
      </p:sp>
    </p:spTree>
    <p:extLst>
      <p:ext uri="{BB962C8B-B14F-4D97-AF65-F5344CB8AC3E}">
        <p14:creationId xmlns:p14="http://schemas.microsoft.com/office/powerpoint/2010/main" val="555117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2026-10-20T17:05:01.9820000Z</dcterms:created>
  <dcterms:modified xsi:type="dcterms:W3CDTF">2026-10-20T17:05:01.9820000Z</dcterms:modified>
</coreProperties>
</file>