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599f7f01f4285" /><Relationship Type="http://schemas.openxmlformats.org/officeDocument/2006/relationships/extended-properties" Target="/docProps/app.xml" Id="Rb393ec0bc3454258" /><Relationship Type="http://schemas.openxmlformats.org/officeDocument/2006/relationships/officeDocument" Target="/ppt/presentation.xml" Id="Rfdc39c994dc5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67d93cd884565"/>
  </p:sldMasterIdLst>
  <p:notesMasterIdLst>
    <p:notesMasterId xmlns:r="http://schemas.openxmlformats.org/officeDocument/2006/relationships" r:id="R1444dd37c6bd44ec"/>
  </p:notesMasterIdLst>
  <p:sldIdLst>
    <p:sldId xmlns:r="http://schemas.openxmlformats.org/officeDocument/2006/relationships" id="256" r:id="R721df3a0ea4d42c0"/>
    <p:sldId xmlns:r="http://schemas.openxmlformats.org/officeDocument/2006/relationships" id="257" r:id="R9f49fe002bd24f63"/>
    <p:sldId xmlns:r="http://schemas.openxmlformats.org/officeDocument/2006/relationships" id="258" r:id="R10945a70479a436e"/>
    <p:sldId xmlns:r="http://schemas.openxmlformats.org/officeDocument/2006/relationships" id="259" r:id="R96065b997d2d4707"/>
    <p:sldId xmlns:r="http://schemas.openxmlformats.org/officeDocument/2006/relationships" id="260" r:id="Rabec164396994039"/>
    <p:sldId xmlns:r="http://schemas.openxmlformats.org/officeDocument/2006/relationships" id="261" r:id="Rfacee4cebf324b34"/>
    <p:sldId xmlns:r="http://schemas.openxmlformats.org/officeDocument/2006/relationships" id="262" r:id="R9abc51c898b24c53"/>
    <p:sldId xmlns:r="http://schemas.openxmlformats.org/officeDocument/2006/relationships" id="263" r:id="R04137a4ff4cf4efe"/>
    <p:sldId xmlns:r="http://schemas.openxmlformats.org/officeDocument/2006/relationships" id="264" r:id="R4aac2ae17ad848a0"/>
    <p:sldId xmlns:r="http://schemas.openxmlformats.org/officeDocument/2006/relationships" id="265" r:id="Ra5b202ebb6e948a4"/>
    <p:sldId xmlns:r="http://schemas.openxmlformats.org/officeDocument/2006/relationships" id="266" r:id="Rcb4f5dba411b4c75"/>
    <p:sldId xmlns:r="http://schemas.openxmlformats.org/officeDocument/2006/relationships" id="267" r:id="R3e20e0ec551b4080"/>
    <p:sldId xmlns:r="http://schemas.openxmlformats.org/officeDocument/2006/relationships" id="268" r:id="R7db6c69de3fa40a8"/>
    <p:sldId xmlns:r="http://schemas.openxmlformats.org/officeDocument/2006/relationships" id="269" r:id="Re2b0d89a574447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d697af50a4bd3" /><Relationship Type="http://schemas.openxmlformats.org/officeDocument/2006/relationships/slideMaster" Target="/ppt/slideMasters/slideMaster1.xml" Id="R17167d93cd884565" /><Relationship Type="http://schemas.openxmlformats.org/officeDocument/2006/relationships/notesMaster" Target="/ppt/notesMasters/notesMaster1.xml" Id="R1444dd37c6bd44ec" /><Relationship Type="http://schemas.openxmlformats.org/officeDocument/2006/relationships/presProps" Target="/ppt/presProps.xml" Id="R7b59b4891f524ad6" /><Relationship Type="http://schemas.openxmlformats.org/officeDocument/2006/relationships/tableStyles" Target="/ppt/tableStyles.xml" Id="R533bd72242e44f3b" /><Relationship Type="http://schemas.openxmlformats.org/officeDocument/2006/relationships/slide" Target="/ppt/slides/slide1.xml" Id="R721df3a0ea4d42c0" /><Relationship Type="http://schemas.openxmlformats.org/officeDocument/2006/relationships/slide" Target="/ppt/slides/slide2.xml" Id="R9f49fe002bd24f63" /><Relationship Type="http://schemas.openxmlformats.org/officeDocument/2006/relationships/slide" Target="/ppt/slides/slide3.xml" Id="R10945a70479a436e" /><Relationship Type="http://schemas.openxmlformats.org/officeDocument/2006/relationships/slide" Target="/ppt/slides/slide4.xml" Id="R96065b997d2d4707" /><Relationship Type="http://schemas.openxmlformats.org/officeDocument/2006/relationships/slide" Target="/ppt/slides/slide5.xml" Id="Rabec164396994039" /><Relationship Type="http://schemas.openxmlformats.org/officeDocument/2006/relationships/slide" Target="/ppt/slides/slide6.xml" Id="Rfacee4cebf324b34" /><Relationship Type="http://schemas.openxmlformats.org/officeDocument/2006/relationships/slide" Target="/ppt/slides/slide7.xml" Id="R9abc51c898b24c53" /><Relationship Type="http://schemas.openxmlformats.org/officeDocument/2006/relationships/slide" Target="/ppt/slides/slide8.xml" Id="R04137a4ff4cf4efe" /><Relationship Type="http://schemas.openxmlformats.org/officeDocument/2006/relationships/slide" Target="/ppt/slides/slide9.xml" Id="R4aac2ae17ad848a0" /><Relationship Type="http://schemas.openxmlformats.org/officeDocument/2006/relationships/slide" Target="/ppt/slides/slide10.xml" Id="Ra5b202ebb6e948a4" /><Relationship Type="http://schemas.openxmlformats.org/officeDocument/2006/relationships/slide" Target="/ppt/slides/slide11.xml" Id="Rcb4f5dba411b4c75" /><Relationship Type="http://schemas.openxmlformats.org/officeDocument/2006/relationships/slide" Target="/ppt/slides/slide12.xml" Id="R3e20e0ec551b4080" /><Relationship Type="http://schemas.openxmlformats.org/officeDocument/2006/relationships/slide" Target="/ppt/slides/slide13.xml" Id="R7db6c69de3fa40a8" /><Relationship Type="http://schemas.openxmlformats.org/officeDocument/2006/relationships/slide" Target="/ppt/slides/slide14.xml" Id="Re2b0d89a5744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94ac642274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24d4981b94981" /><Relationship Type="http://schemas.openxmlformats.org/officeDocument/2006/relationships/notesMaster" Target="/ppt/notesMasters/notesMaster1.xml" Id="Ra70bd2af3460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a65fa1e8514f8b" /><Relationship Type="http://schemas.openxmlformats.org/officeDocument/2006/relationships/notesMaster" Target="/ppt/notesMasters/notesMaster1.xml" Id="R270a133ff3b043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f615c66cd40ed" /><Relationship Type="http://schemas.openxmlformats.org/officeDocument/2006/relationships/notesMaster" Target="/ppt/notesMasters/notesMaster1.xml" Id="Rd8461267fde5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8c89bac0a14c7c" /><Relationship Type="http://schemas.openxmlformats.org/officeDocument/2006/relationships/notesMaster" Target="/ppt/notesMasters/notesMaster1.xml" Id="R6c03b79d9f5c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a0ed5fc7b49b7" /><Relationship Type="http://schemas.openxmlformats.org/officeDocument/2006/relationships/notesMaster" Target="/ppt/notesMasters/notesMaster1.xml" Id="R962795a006b6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a1e6ca1c744315" /><Relationship Type="http://schemas.openxmlformats.org/officeDocument/2006/relationships/notesMaster" Target="/ppt/notesMasters/notesMaster1.xml" Id="R0161717e7e754a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c216664404fec" /><Relationship Type="http://schemas.openxmlformats.org/officeDocument/2006/relationships/notesMaster" Target="/ppt/notesMasters/notesMaster1.xml" Id="R482fe6de9eb148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2190c3e22247e2" /><Relationship Type="http://schemas.openxmlformats.org/officeDocument/2006/relationships/notesMaster" Target="/ppt/notesMasters/notesMaster1.xml" Id="R646e185233cd4f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d36379bb884b4f" /><Relationship Type="http://schemas.openxmlformats.org/officeDocument/2006/relationships/notesMaster" Target="/ppt/notesMasters/notesMaster1.xml" Id="R8f595de0eed047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af28d886d24e76" /><Relationship Type="http://schemas.openxmlformats.org/officeDocument/2006/relationships/notesMaster" Target="/ppt/notesMasters/notesMaster1.xml" Id="R72c5020a903c47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e164b346f542bd" /><Relationship Type="http://schemas.openxmlformats.org/officeDocument/2006/relationships/notesMaster" Target="/ppt/notesMasters/notesMaster1.xml" Id="Re36eeb5c171f4d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b3d5f5c9fe451b" /><Relationship Type="http://schemas.openxmlformats.org/officeDocument/2006/relationships/notesMaster" Target="/ppt/notesMasters/notesMaster1.xml" Id="R77d778da764b46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fb477b8d954eb8" /><Relationship Type="http://schemas.openxmlformats.org/officeDocument/2006/relationships/notesMaster" Target="/ppt/notesMasters/notesMaster1.xml" Id="R9991da7ec9c94f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2b4af9ab594ba2" /><Relationship Type="http://schemas.openxmlformats.org/officeDocument/2006/relationships/notesMaster" Target="/ppt/notesMasters/notesMaster1.xml" Id="Re43051f882b9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Flags overlap. Chart shows the eleven most frequent issues; the Word report and manifest retain every flag. A no_bar_detected warning does not invalidate the disc estimate. Individual PA scatter is not a formal independent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Supplied fitted-manifest comparison: {"disc":{"n":2773,"median_abs":2.76077815661057,"median_signed":0.021808524369362203,"within10":2169},"bar":{"n":2292,"median_abs":0.4539355276748722,"median_signed":-0.0040814688521066955,"within10":2237},"inclination":{"n":2773,"median_abs":2.3744889759578527,"median_signed":-0.9662639215711621,"within10":2428}}. Supplied inclination uses intrinsic q0=.2; ours remains q0=0. Euclid whole-object shapes are proxies, not independent outer-disc measurements. No Euclid bar PA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Centre example (multiple flags, not an isolated-flag demonstration): {"id":"2700376345666189458","image":"C:\\Users\\gordo\\Documents\\Github\\PythonScripts\\Foreground Masking\\MER_VIS_pipeline_v2\\current_report\\images\\2700376345666189458.png","full_card":"D:\\Dropbox\\Public Documents\\UCLAN\\MSc Research\\Euclid\\MER_VIS_galaxy_reports\\all_2777\\png_QI\\2448_Euclid_2700376345666189458_MER_VIS_geometry_report_QI.png","disc":101.52336049391899,"bar":101.48498053450594,"inc":71.05369315170853,"centre_offset":17.320432011634527,"method":"recentred","flags":["centre_offset_large","disc_axis_ratio_unstable","disc_PA_sparse_sampling"],"bar_status":"detected_A","error":"","n_good":"43","n_disc":"5","n_bar":"4","disc_scatter":0.9310092684915722,"disc_span":0.3545431996625442,"bar_end":19.181222769615243,"information":"","detail_image":"C:\\Users\\gordo\\Documents\\Github\\PythonScripts\\Foreground Masking\\MER_VIS_pipeline_v2\\current_report\\images\\centre_detail.png"}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Isolated example counts (full coverage): {"no_bar_detected":57,"disc_PA_unstable":30,"disc_axis_ratio_unstable":38,"small_bar_sensitive_to_resolution":176,"disc_PA_sparse_sampling":262,"disc_range_fallback":0,"bar_disc_ranges_close":0,"small_disc":0,"weak_ellipse_bar_signature":5,"centre_offset_large":1,"relaxed_fit":0,"iteration_limited_samples":0,"star_mask_removed":0,"neighbour_mask_removed":0,"centre_unstable":0,"short_accepted_profile":0,"high_inclination":0}. Flags without two isolated cases are not represented as single-flag examples. Bar acceptance requires a stable PA 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{"key":"disc_PA_sparse_sampling","title":"Sparse disc sampling","kind":"isolated_flag","examples":[{"id":"-518633776290631360","image":"C:\\Users\\gordo\\Documents\\Github\\PythonScripts\\Foreground Masking\\MER_VIS_pipeline_v2\\current_report\\images\\-518633776290631360.png","full_card":"D:\\Dropbox\\Public Documents\\UCLAN\\MSc Research\\Euclid\\MER_VIS_galaxy_reports\\all_2777\\png_QI\\0005_Euclid_-518633776290631360_MER_VIS_geometry_report_QI.png","disc":113.69021016263804,"bar":113.86950382756103,"inc":49.47781434213959,"centre_offset":0.15091616609311526,"method":"standard","flags":["disc_PA_sparse_sampling"],"bar_status":"detected_A","error":"","n_good":"28","n_disc":"3","n_bar":"11","disc_scatter":17.55097022310975,"disc_span":0.06326608973174502,"bar_end":1.7950070214699363,"information":""},{"id":"-591772188508612550","image":"C:\\Users\\gordo\\Documents\\Github\\PythonScripts\\Foreground Masking\\MER_VIS_pipeline_v2\\current_report\\images\\-591772188508612550.png","full_card":"D:\\Dropbox\\Public Documents\\UCLAN\\MSc Research\\Euclid\\MER_VIS_galaxy_reports\\all_2777\\png_QI\\0052_Euclid_-591772188508612550_MER_VIS_geometry_report_QI.png","disc":86.43656085258868,"bar":164.63490061547776,"inc":35.695330342099226,"centre_offset":0.02832371713181012,"method":"standard","flags":["disc_PA_sparse_sampling"],"bar_status":"detected_A","error":"","n_good":"23","n_disc":"4","n_bar":"7","disc_scatter":5.250885360677478,"disc_span":0.1029346552749289,"bar_end":1.6382758850469108,"information":""}],"available":262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{"key":"small_bar_sensitive_to_resolution","title":"Bar identification uncertain: small interval","kind":"isolated_flag","examples":[{"id":"-518659917291205827","image":"C:\\Users\\gordo\\Documents\\Github\\PythonScripts\\Foreground Masking\\MER_VIS_pipeline_v2\\current_report\\images\\-518659917291205827.png","full_card":"D:\\Dropbox\\Public Documents\\UCLAN\\MSc Research\\Euclid\\MER_VIS_galaxy_reports\\all_2777\\png_QI\\0004_Euclid_-518659917291205827_MER_VIS_geometry_report_QI.png","disc":67.98049109589249,"bar":63.85453266313511,"inc":47.29360925833979,"centre_offset":0.06901554767367604,"method":"standard","flags":["small_bar_sensitive_to_resolution"],"bar_status":"detected_A","error":"","n_good":"31","n_disc":"6","n_bar":"6","disc_scatter":6.536223807890531,"disc_span":0.1305755018371826,"bar_end":1.3365451794213465,"information":""},{"id":"-518003489287870292","image":"C:\\Users\\gordo\\Documents\\Github\\PythonScripts\\Foreground Masking\\MER_VIS_pipeline_v2\\current_report\\images\\-518003489287870292.png","full_card":"D:\\Dropbox\\Public Documents\\UCLAN\\MSc Research\\Euclid\\MER_VIS_galaxy_reports\\all_2777\\png_QI\\0007_Euclid_-518003489287870292_MER_VIS_geometry_report_QI.png","disc":87.46210239608925,"bar":167.22729398125324,"inc":31.574961051993903,"centre_offset":0.043422001129307254,"method":"standard","flags":["small_bar_sensitive_to_resolution"],"bar_status":"detected_A","error":"","n_good":"22","n_disc":"6","n_bar":"4","disc_scatter":5.924727031910115,"disc_span":0.11007119226523457,"bar_end":1.3673627605688643,"information":""}],"available":176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{"key":"disc_PA_unstable","title":"Disc PA varies across radius","kind":"isolated_flag","examples":[{"id":"-601121275504424227","image":"C:\\Users\\gordo\\Documents\\Github\\PythonScripts\\Foreground Masking\\MER_VIS_pipeline_v2\\current_report\\images\\-601121275504424227.png","full_card":"D:\\Dropbox\\Public Documents\\UCLAN\\MSc Research\\Euclid\\MER_VIS_galaxy_reports\\all_2777\\png_QI\\0118_Euclid_-601121275504424227_MER_VIS_geometry_report_QI.png","disc":60.75482419435342,"bar":20.23373226136634,"inc":40.93111225561656,"centre_offset":0.038965526533334946,"method":"standard","flags":["disc_PA_unstable"],"bar_status":"detected_A","error":"","n_good":"33","n_disc":"7","n_bar":"6","disc_scatter":15.878385450188937,"disc_span":0.08169376743863846,"bar_end":1.5289036078363487,"information":""},{"id":"-610687143492806705","image":"C:\\Users\\gordo\\Documents\\Github\\PythonScripts\\Foreground Masking\\MER_VIS_pipeline_v2\\current_report\\images\\-610687143492806705.png","full_card":"D:\\Dropbox\\Public Documents\\UCLAN\\MSc Research\\Euclid\\MER_VIS_galaxy_reports\\all_2777\\png_QI\\0333_Euclid_-610687143492806705_MER_VIS_geometry_report_QI.png","disc":158.36096695742282,"bar":125.22937713244133,"inc":47.29362942331274,"centre_offset":0.2338082376742416,"method":"standard","flags":["disc_PA_unstable"],"bar_status":"detected_A","error":"","n_good":"31","n_disc":"7","n_bar":"4","disc_scatter":25.28294471714209,"disc_span":0.07966992794101968,"bar_end":1.9994762262228183,"information":""}],"available":30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{"key":"disc_axis_ratio_unstable","title":"Changing disc ellipticity","kind":"isolated_flag","examples":[{"id":"-591287408514481131","image":"C:\\Users\\gordo\\Documents\\Github\\PythonScripts\\Foreground Masking\\MER_VIS_pipeline_v2\\current_report\\images\\-591287408514481131.png","full_card":"D:\\Dropbox\\Public Documents\\UCLAN\\MSc Research\\Euclid\\MER_VIS_galaxy_reports\\all_2777\\png_QI\\0034_Euclid_-591287408514481131_MER_VIS_geometry_report_QI.png","disc":17.53323680563758,"bar":22.81336189671468,"inc":36.63266403692604,"centre_offset":0.11119406232473457,"method":"standard","flags":["disc_axis_ratio_unstable"],"bar_status":"detected_A","error":"","n_good":"34","n_disc":"6","n_bar":"4","disc_scatter":7.239400804142461,"disc_span":0.16838843455844482,"bar_end":2.1798696595074465,"information":""},{"id":"-566750185501100067","image":"C:\\Users\\gordo\\Documents\\Github\\PythonScripts\\Foreground Masking\\MER_VIS_pipeline_v2\\current_report\\images\\-566750185501100067.png","full_card":"D:\\Dropbox\\Public Documents\\UCLAN\\MSc Research\\Euclid\\MER_VIS_galaxy_reports\\all_2777\\png_QI\\0159_Euclid_-566750185501100067_MER_VIS_geometry_report_QI.png","disc":102.79246432693091,"bar":96.42893198907605,"inc":52.53634125610519,"centre_offset":0.08662419418159002,"method":"standard","flags":["disc_axis_ratio_unstable"],"bar_status":"detected_A","error":"","n_good":"32","n_disc":"7","n_bar":"6","disc_scatter":3.9332905839691543,"disc_span":0.15097490297862415,"bar_end":1.593205928470762,"information":""}],"available":38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{"key":"weak_ellipse_bar_signature","title":"Weaker accepted bar signature","kind":"isolated_flag","examples":[{"id":"-555209522496440415","image":"C:\\Users\\gordo\\Documents\\Github\\PythonScripts\\Foreground Masking\\MER_VIS_pipeline_v2\\current_report\\images\\-555209522496440415.png","full_card":"D:\\Dropbox\\Public Documents\\UCLAN\\MSc Research\\Euclid\\MER_VIS_galaxy_reports\\all_2777\\png_QI\\0261_Euclid_-555209522496440415_MER_VIS_geometry_report_QI.png","disc":100.26081295628182,"bar":105.11218163316383,"inc":42.90154861988472,"centre_offset":0.0903332976252752,"method":"standard","flags":["weak_ellipse_bar_signature"],"bar_status":"detected_B","error":"","n_good":"37","n_disc":"7","n_bar":"5","disc_scatter":7.517163372934988,"disc_span":0.13826008157628691,"bar_end":1.6744832428633671,"information":""},{"id":"-567651923481293863","image":"C:\\Users\\gordo\\Documents\\Github\\PythonScripts\\Foreground Masking\\MER_VIS_pipeline_v2\\current_report\\images\\-567651923481293863.png","full_card":"D:\\Dropbox\\Public Documents\\UCLAN\\MSc Research\\Euclid\\MER_VIS_galaxy_reports\\all_2777\\png_QI\\0728_Euclid_-567651923481293863_MER_VIS_geometry_report_QI.png","disc":133.5783320289558,"bar":23.001901678884632,"inc":25.238239011239592,"centre_offset":0.17164453119414078,"method":"standard","flags":["weak_ellipse_bar_signature"],"bar_status":"detected_B","error":"","n_good":"28","n_disc":"3","n_bar":"13","disc_scatter":6.795861954450147,"disc_span":0.01434370836758432,"bar_end":3.1004653606061714,"information":"nearly_face_on_disc_PA_uncertain"}],"available":5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{"key":"no_bar_detected","title":"No accepted bar; disc retained","kind":"isolated_flag","examples":[{"id":"2693239635649457485","image":"C:\\Users\\gordo\\Documents\\Github\\PythonScripts\\Foreground Masking\\MER_VIS_pipeline_v2\\current_report\\images\\2693239635649457485.png","full_card":"D:\\Dropbox\\Public Documents\\UCLAN\\MSc Research\\Euclid\\MER_VIS_galaxy_reports\\all_2777\\png_QI\\0030_Euclid_2693239635649457485_MER_VIS_geometry_report_QI.png","disc":115.27426229228769,"bar":null,"inc":57.10822351022106,"centre_offset":0.20803110605860703,"method":"standard","flags":["no_bar_detected"],"bar_status":"no_bar_detected","error":"","n_good":"28","n_disc":"6","n_bar":"","disc_scatter":1.534821119062622,"disc_span":0.07954589557362018,"bar_end":null,"information":""},{"id":"-600909396508240903","image":"C:\\Users\\gordo\\Documents\\Github\\PythonScripts\\Foreground Masking\\MER_VIS_pipeline_v2\\current_report\\images\\-600909396508240903.png","full_card":"D:\\Dropbox\\Public Documents\\UCLAN\\MSc Research\\Euclid\\MER_VIS_galaxy_reports\\all_2777\\png_QI\\0061_Euclid_-600909396508240903_MER_VIS_geometry_report_QI.png","disc":95.78575386450234,"bar":null,"inc":55.30004037390356,"centre_offset":0.11559495870650695,"method":"standard","flags":["no_bar_detected"],"bar_status":"no_bar_detected","error":"","n_good":"25","n_disc":"6","n_bar":"","disc_scatter":9.116555930006143,"disc_span":0.08951454268036535,"bar_end":null,"information":""}],"available":57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failures","kind":"failure","examples":[{"id":"-586374330510251740","image":"C:\\Users\\gordo\\Documents\\Github\\PythonScripts\\Foreground Masking\\MER_VIS_pipeline_v2\\current_report\\images\\-586374330510251740.png","full_card":"D:\\Dropbox\\Public Documents\\UCLAN\\MSc Research\\Euclid\\MER_VIS_galaxy_reports\\all_2777\\png_QI\\0057_Euclid_-586374330510251740_MER_VIS_geometry_report_QI.png","disc":null,"bar":null,"inc":null,"centre_offset":null,"method":"smoothed_relaxed","flags":[],"bar_status":"not_measured","error":"ValueError: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3","n_good":"0","n_disc":"","n_bar":"","disc_scatter":null,"disc_span":null,"bar_end":null,"information":""},{"id":"-524824554283124036","image":"C:\\Users\\gordo\\Documents\\Github\\PythonScripts\\Foreground Masking\\MER_VIS_pipeline_v2\\current_report\\images\\-524824554283124036.png","full_card":"D:\\Dropbox\\Public Documents\\UCLAN\\MSc Research\\Euclid\\MER_VIS_galaxy_reports\\all_2777\\png_QI\\1557_Euclid_-524824554283124036_MER_VIS_geometry_report_QI.png","disc":null,"bar":null,"inc":null,"centre_offset":null,"method":"extended_light_centre_recovery","flags":[],"bar_status":"not_measured","error":"Visual review: broader peak search switched to a saturated foreground star with diffraction spikes; no valid target-disc geometry adopted.","n_good":"0","n_disc":"6","n_bar":"","disc_scatter":null,"disc_span":0.05319752342879874,"bar_end":null,"information":""}],"available":4}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failures","kind":"failure","examples":[{"id":"2645436353651870062","image":"C:\\Users\\gordo\\Documents\\Github\\PythonScripts\\Foreground Masking\\MER_VIS_pipeline_v2\\current_report\\images\\2645436353651870062.png","full_card":"D:\\Dropbox\\Public Documents\\UCLAN\\MSc Research\\Euclid\\MER_VIS_galaxy_reports\\all_2777\\png_QI\\2079_Euclid_2645436353651870062_MER_VIS_geometry_report_QI.png","disc":null,"bar":null,"inc":null,"centre_offset":null,"method":"smoothed_relaxed","flags":[],"bar_status":"not_measured","error":"ValueError: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3","n_good":"0","n_disc":"","n_bar":"","disc_scatter":null,"disc_span":null,"bar_end":null,"information":""},{"id":"2697242050653408730","image":"C:\\Users\\gordo\\Documents\\Github\\PythonScripts\\Foreground Masking\\MER_VIS_pipeline_v2\\current_report\\images\\2697242050653408730.png","full_card":"D:\\Dropbox\\Public Documents\\UCLAN\\MSc Research\\Euclid\\MER_VIS_galaxy_reports\\all_2777\\png_QI\\2221_Euclid_2697242050653408730_MER_VIS_geometry_report_QI.png","disc":null,"bar":null,"inc":null,"centre_offset":null,"method":"extended_light_centre_recovery","flags":[],"bar_status":"not_measured","error":"Visual review: accepted contours cover only the unresolved central region below 0.5 arcsec; no resolved disc geometry adopted.","n_good":"0","n_disc":"7","n_bar":"","disc_scatter":null,"disc_span":0.1968873533678872,"bar_end":null,"information":""}],"available":4}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a6bca5e5341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77a5eac0449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c3403d43742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3753785b04b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1e166c0af47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e8491208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3C01CF-18D3-4E1E-B433-538A77F20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691F1F-1DA1-4CBD-A62A-1D76BA61E5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1E8624-E8D7-45A0-929D-0BB3165C5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A8163-9C92-4FD0-A945-0700C1EB7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86664E-52B2-48E8-B997-D974983A6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7694A5-1468-40D2-8E11-78111849A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C7C2F0-FC17-49FD-90B2-AA4026E7A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E69E24-D058-4C27-9A50-1C32B64C22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290AED-990F-4427-82AF-AAC703DAE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5897EF-8B19-4D9C-988B-890555B36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3257c867246f4" /><Relationship Type="http://schemas.openxmlformats.org/officeDocument/2006/relationships/slideLayout" Target="/ppt/slideLayouts/slideLayout1.xml" Id="Rab86ebc6069a41d1" /><Relationship Type="http://schemas.openxmlformats.org/officeDocument/2006/relationships/slideLayout" Target="/ppt/slideLayouts/slideLayout2.xml" Id="R85692fa8735f44a4" /><Relationship Type="http://schemas.openxmlformats.org/officeDocument/2006/relationships/slideLayout" Target="/ppt/slideLayouts/slideLayout3.xml" Id="Rd29202578bc64b0b" /><Relationship Type="http://schemas.openxmlformats.org/officeDocument/2006/relationships/slideLayout" Target="/ppt/slideLayouts/slideLayout4.xml" Id="Rbda2b9d9bd2a45fa" /><Relationship Type="http://schemas.openxmlformats.org/officeDocument/2006/relationships/slideLayout" Target="/ppt/slideLayouts/slideLayout5.xml" Id="R143b127ab13148f0" /><Relationship Type="http://schemas.openxmlformats.org/officeDocument/2006/relationships/slideLayout" Target="/ppt/slideLayouts/slideLayout6.xml" Id="R003e15445821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6ebc6069a41d1"/>
    <p:sldLayoutId xmlns:r="http://schemas.openxmlformats.org/officeDocument/2006/relationships" id="2147483650" r:id="R85692fa8735f44a4"/>
    <p:sldLayoutId xmlns:r="http://schemas.openxmlformats.org/officeDocument/2006/relationships" id="2147483651" r:id="Rd29202578bc64b0b"/>
    <p:sldLayoutId xmlns:r="http://schemas.openxmlformats.org/officeDocument/2006/relationships" id="2147483652" r:id="Rbda2b9d9bd2a45fa"/>
    <p:sldLayoutId xmlns:r="http://schemas.openxmlformats.org/officeDocument/2006/relationships" id="2147483653" r:id="R143b127ab13148f0"/>
    <p:sldLayoutId xmlns:r="http://schemas.openxmlformats.org/officeDocument/2006/relationships" id="2147483654" r:id="R003e15445821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4d7effca64db5" /><Relationship Type="http://schemas.openxmlformats.org/officeDocument/2006/relationships/notesSlide" Target="/ppt/notesSlides/notesSlide1.xml" Id="R50d2473dfe0a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d8ed0f27a4a5b" /><Relationship Type="http://schemas.openxmlformats.org/officeDocument/2006/relationships/chart" Target="/ppt/slides/charts/chart1.xml" Id="R6dd43e894b0c47ea" /><Relationship Type="http://schemas.openxmlformats.org/officeDocument/2006/relationships/notesSlide" Target="/ppt/notesSlides/notesSlide2.xml" Id="R4607241e9ea4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0e4726b714d51" /><Relationship Type="http://schemas.openxmlformats.org/officeDocument/2006/relationships/chart" Target="/ppt/slides/charts/chart2.xml" Id="R071f4d78d5224d81" /><Relationship Type="http://schemas.openxmlformats.org/officeDocument/2006/relationships/notesSlide" Target="/ppt/notesSlides/notesSlide3.xml" Id="Rd96410803eb9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0be70dab54e62" /><Relationship Type="http://schemas.openxmlformats.org/officeDocument/2006/relationships/notesSlide" Target="/ppt/notesSlides/notesSlide4.xml" Id="R1d5e876a1b9d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3e426896741d1" /><Relationship Type="http://schemas.openxmlformats.org/officeDocument/2006/relationships/image" Target="/ppt/media/image.png" Id="R26768ea1cf5c4db4" /><Relationship Type="http://schemas.openxmlformats.org/officeDocument/2006/relationships/notesSlide" Target="/ppt/notesSlides/notesSlide5.xml" Id="R7ac5440f954943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4065ed96e40ae" /><Relationship Type="http://schemas.openxmlformats.org/officeDocument/2006/relationships/notesSlide" Target="/ppt/notesSlides/notesSlide6.xml" Id="R70b282d3a363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fd7c341474ef0" /><Relationship Type="http://schemas.openxmlformats.org/officeDocument/2006/relationships/image" Target="/ppt/media/image2.png" Id="Ra8de5fff866042c4" /><Relationship Type="http://schemas.openxmlformats.org/officeDocument/2006/relationships/image" Target="/ppt/media/image3.png" Id="Re7a1c4573af2464e" /><Relationship Type="http://schemas.openxmlformats.org/officeDocument/2006/relationships/notesSlide" Target="/ppt/notesSlides/notesSlide7.xml" Id="Rddb50491301e48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429f35e304d1c" /><Relationship Type="http://schemas.openxmlformats.org/officeDocument/2006/relationships/image" Target="/ppt/media/image4.png" Id="Rb510971ad31542ff" /><Relationship Type="http://schemas.openxmlformats.org/officeDocument/2006/relationships/image" Target="/ppt/media/image5.png" Id="Rd2a546759d164ffa" /><Relationship Type="http://schemas.openxmlformats.org/officeDocument/2006/relationships/notesSlide" Target="/ppt/notesSlides/notesSlide8.xml" Id="Reedd95093fda4e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ad68bc9e442c7" /><Relationship Type="http://schemas.openxmlformats.org/officeDocument/2006/relationships/image" Target="/ppt/media/image6.png" Id="R8ba6f7af345c47a7" /><Relationship Type="http://schemas.openxmlformats.org/officeDocument/2006/relationships/image" Target="/ppt/media/image7.png" Id="R53e28caf108a4d1d" /><Relationship Type="http://schemas.openxmlformats.org/officeDocument/2006/relationships/notesSlide" Target="/ppt/notesSlides/notesSlide9.xml" Id="Ra23a72f3dbbd4a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11c25124d4e6b" /><Relationship Type="http://schemas.openxmlformats.org/officeDocument/2006/relationships/image" Target="/ppt/media/image8.png" Id="R78b1e53c63de4a02" /><Relationship Type="http://schemas.openxmlformats.org/officeDocument/2006/relationships/image" Target="/ppt/media/image9.png" Id="R71bbc8aeb3a84b69" /><Relationship Type="http://schemas.openxmlformats.org/officeDocument/2006/relationships/notesSlide" Target="/ppt/notesSlides/notesSlide10.xml" Id="Rdda450f20a3f43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2eaf49a134a5d" /><Relationship Type="http://schemas.openxmlformats.org/officeDocument/2006/relationships/image" Target="/ppt/media/image10.png" Id="Re7888cfd6fa947b1" /><Relationship Type="http://schemas.openxmlformats.org/officeDocument/2006/relationships/image" Target="/ppt/media/image11.png" Id="R877d374e9339446e" /><Relationship Type="http://schemas.openxmlformats.org/officeDocument/2006/relationships/notesSlide" Target="/ppt/notesSlides/notesSlide11.xml" Id="R01cf3aea895c47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6c515bf7e492c" /><Relationship Type="http://schemas.openxmlformats.org/officeDocument/2006/relationships/image" Target="/ppt/media/image12.png" Id="R4b28ae97ed524a5a" /><Relationship Type="http://schemas.openxmlformats.org/officeDocument/2006/relationships/image" Target="/ppt/media/image13.png" Id="R70e1d5dfc422419a" /><Relationship Type="http://schemas.openxmlformats.org/officeDocument/2006/relationships/notesSlide" Target="/ppt/notesSlides/notesSlide12.xml" Id="Rafb083c06bbe46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28d3cacb74038" /><Relationship Type="http://schemas.openxmlformats.org/officeDocument/2006/relationships/image" Target="/ppt/media/image14.png" Id="R05b664bb5ef942ca" /><Relationship Type="http://schemas.openxmlformats.org/officeDocument/2006/relationships/image" Target="/ppt/media/image15.png" Id="R192b35b8143340d2" /><Relationship Type="http://schemas.openxmlformats.org/officeDocument/2006/relationships/notesSlide" Target="/ppt/notesSlides/notesSlide13.xml" Id="R9cd01b38176a45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b66c9528742ab" /><Relationship Type="http://schemas.openxmlformats.org/officeDocument/2006/relationships/image" Target="/ppt/media/image16.png" Id="R33deca2f7b8a4819" /><Relationship Type="http://schemas.openxmlformats.org/officeDocument/2006/relationships/image" Target="/ppt/media/image17.png" Id="R411b7eec3e91442f" /><Relationship Type="http://schemas.openxmlformats.org/officeDocument/2006/relationships/notesSlide" Target="/ppt/notesSlides/notesSlide14.xml" Id="R4c6071a39825410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No flags</c:v>
          </c:tx>
          <c:spPr>
            <a:solidFill xmlns:a="http://schemas.openxmlformats.org/drawingml/2006/main">
              <a:srgbClr val="367A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0.033489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1 flags</c:v>
          </c:tx>
          <c:spPr>
            <a:solidFill xmlns:a="http://schemas.openxmlformats.org/drawingml/2006/main">
              <a:srgbClr val="E5BB6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</c:v>
                </c:pt>
                <c:pt idx="1">
                  <c:v>0.21282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2 flags</c:v>
          </c:tx>
          <c:spPr>
            <a:solidFill xmlns:a="http://schemas.openxmlformats.org/drawingml/2006/main">
              <a:srgbClr val="CC9637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</c:v>
                </c:pt>
                <c:pt idx="1">
                  <c:v>0.335254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v>3 flags</c:v>
          </c:tx>
          <c:spPr>
            <a:solidFill xmlns:a="http://schemas.openxmlformats.org/drawingml/2006/main">
              <a:srgbClr val="A66B24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</c:v>
                </c:pt>
                <c:pt idx="1">
                  <c:v>0.269355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v>4 flags</c:v>
          </c:tx>
          <c:spPr>
            <a:solidFill xmlns:a="http://schemas.openxmlformats.org/drawingml/2006/main">
              <a:srgbClr val="72441C"/>
            </a:solidFill>
          </c:spPr>
          <c:invertIfNegative val="0"/>
          <c:cat>
            <c:strRef>
              <c:f>'Chart Data'!$I$2:$I$4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Data'!$J$2:$J$4</c:f>
              <c:numCache>
                <c:formatCode>0%</c:formatCode>
                <c:ptCount val="3"/>
                <c:pt idx="0">
                  <c:v>0</c:v>
                </c:pt>
                <c:pt idx="1">
                  <c:v>0.10695</c:v>
                </c:pt>
                <c:pt idx="2">
                  <c:v>0</c:v>
                </c:pt>
              </c:numCache>
            </c:numRef>
          </c:val>
        </c:ser>
        <c:ser>
          <c:idx val="5"/>
          <c:order val="5"/>
          <c:tx>
            <c:v>5 flags</c:v>
          </c:tx>
          <c:spPr>
            <a:solidFill xmlns:a="http://schemas.openxmlformats.org/drawingml/2006/main">
              <a:srgbClr val="754E79"/>
            </a:solidFill>
          </c:spPr>
          <c:invertIfNegative val="0"/>
          <c:cat>
            <c:strRef>
              <c:f>'Chart Data'!$K$2:$K$4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Data'!$L$2:$L$4</c:f>
              <c:numCache>
                <c:formatCode>0%</c:formatCode>
                <c:ptCount val="3"/>
                <c:pt idx="0">
                  <c:v>0</c:v>
                </c:pt>
                <c:pt idx="1">
                  <c:v>0.024127</c:v>
                </c:pt>
                <c:pt idx="2">
                  <c:v>0</c:v>
                </c:pt>
              </c:numCache>
            </c:numRef>
          </c:val>
        </c:ser>
        <c:ser>
          <c:idx val="6"/>
          <c:order val="6"/>
          <c:tx>
            <c:v>6 flags</c:v>
          </c:tx>
          <c:spPr>
            <a:solidFill xmlns:a="http://schemas.openxmlformats.org/drawingml/2006/main">
              <a:srgbClr val="563B60"/>
            </a:solidFill>
          </c:spPr>
          <c:invertIfNegative val="0"/>
          <c:cat>
            <c:strRef>
              <c:f>'Chart Data'!$M$2:$M$4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Data'!$N$2:$N$4</c:f>
              <c:numCache>
                <c:formatCode>0%</c:formatCode>
                <c:ptCount val="3"/>
                <c:pt idx="0">
                  <c:v>0</c:v>
                </c:pt>
                <c:pt idx="1">
                  <c:v>0.014044</c:v>
                </c:pt>
                <c:pt idx="2">
                  <c:v>0</c:v>
                </c:pt>
              </c:numCache>
            </c:numRef>
          </c:val>
        </c:ser>
        <c:ser>
          <c:idx val="7"/>
          <c:order val="7"/>
          <c:tx>
            <c:v>7 flags</c:v>
          </c:tx>
          <c:spPr>
            <a:solidFill xmlns:a="http://schemas.openxmlformats.org/drawingml/2006/main">
              <a:srgbClr val="4A587A"/>
            </a:solidFill>
          </c:spPr>
          <c:invertIfNegative val="0"/>
          <c:cat>
            <c:strRef>
              <c:f>'Chart Data'!$O$2:$O$4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Data'!$P$2:$P$4</c:f>
              <c:numCache>
                <c:formatCode>0%</c:formatCode>
                <c:ptCount val="3"/>
                <c:pt idx="0">
                  <c:v>0</c:v>
                </c:pt>
                <c:pt idx="1">
                  <c:v>0.002161</c:v>
                </c:pt>
                <c:pt idx="2">
                  <c:v>0</c:v>
                </c:pt>
              </c:numCache>
            </c:numRef>
          </c:val>
        </c:ser>
        <c:ser>
          <c:idx val="8"/>
          <c:order val="8"/>
          <c:tx>
            <c:v>9 flags</c:v>
          </c:tx>
          <c:spPr>
            <a:solidFill xmlns:a="http://schemas.openxmlformats.org/drawingml/2006/main">
              <a:srgbClr val="A85050"/>
            </a:solidFill>
          </c:spPr>
          <c:invertIfNegative val="0"/>
          <c:cat>
            <c:strRef>
              <c:f>'Chart Data'!$Q$2:$Q$4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Data'!$R$2:$R$4</c:f>
              <c:numCache>
                <c:formatCode>0%</c:formatCode>
                <c:ptCount val="3"/>
                <c:pt idx="0">
                  <c:v>0</c:v>
                </c:pt>
                <c:pt idx="1">
                  <c:v>0.00036</c:v>
                </c:pt>
                <c:pt idx="2">
                  <c:v>0</c:v>
                </c:pt>
              </c:numCache>
            </c:numRef>
          </c:val>
        </c:ser>
        <c:ser>
          <c:idx val="9"/>
          <c:order val="9"/>
          <c:tx>
            <c:v>Failed</c:v>
          </c:tx>
          <c:spPr>
            <a:solidFill xmlns:a="http://schemas.openxmlformats.org/drawingml/2006/main">
              <a:srgbClr val="AC4B47"/>
            </a:solidFill>
          </c:spPr>
          <c:invertIfNegative val="0"/>
          <c:cat>
            <c:strRef>
              <c:f>'Chart Data'!$S$2:$S$4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Data'!$T$2:$T$4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0.00144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Galaxies</c:v>
          </c:tx>
          <c:spPr>
            <a:solidFill xmlns:a="http://schemas.openxmlformats.org/drawingml/2006/main">
              <a:srgbClr val="C18B28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Sparse disc sampling</c:v>
                </c:pt>
                <c:pt idx="1">
                  <c:v>Bar identification uncertain: small interval</c:v>
                </c:pt>
                <c:pt idx="2">
                  <c:v>Changing disc ellipticity</c:v>
                </c:pt>
                <c:pt idx="3">
                  <c:v>Disc PA varies across radius</c:v>
                </c:pt>
                <c:pt idx="4">
                  <c:v>No accepted bar; disc retained</c:v>
                </c:pt>
                <c:pt idx="5">
                  <c:v>Small disc</c:v>
                </c:pt>
                <c:pt idx="6">
                  <c:v>Disc interval fallback</c:v>
                </c:pt>
                <c:pt idx="7">
                  <c:v>Weaker accepted bar signature</c:v>
                </c:pt>
                <c:pt idx="8">
                  <c:v>Bar and disc intervals close</c:v>
                </c:pt>
                <c:pt idx="9">
                  <c:v>Large centre offset</c:v>
                </c:pt>
                <c:pt idx="10">
                  <c:v>Star mask removed in retry</c:v>
                </c:pt>
              </c:strCache>
            </c:str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1669</c:v>
                </c:pt>
                <c:pt idx="1">
                  <c:v>1447</c:v>
                </c:pt>
                <c:pt idx="2">
                  <c:v>1355</c:v>
                </c:pt>
                <c:pt idx="3">
                  <c:v>476</c:v>
                </c:pt>
                <c:pt idx="4">
                  <c:v>453</c:v>
                </c:pt>
                <c:pt idx="5">
                  <c:v>298</c:v>
                </c:pt>
                <c:pt idx="6">
                  <c:v>269</c:v>
                </c:pt>
                <c:pt idx="7">
                  <c:v>231</c:v>
                </c:pt>
                <c:pt idx="8">
                  <c:v>211</c:v>
                </c:pt>
                <c:pt idx="9">
                  <c:v>44</c:v>
                </c:pt>
                <c:pt idx="10">
                  <c:v>18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382D6-70AB-4756-86CC-3C3876BB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Euclid MER VIS adaptive geometry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DDA02-3A6F-4D1E-BE82-0427529F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E1E-32E3-43E1-8940-FE20AA28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2,777 galaxy cutouts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05342-34BC-431C-9D10-0470F58D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2773 disc measurements; 4 failures or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26FA-14DD-464F-9693-80F60BC3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2320 accepted candidate bar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95B90-BBA0-4A94-8C9D-FA191D59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Centres checked from the images. Disc and bar outcomes reported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316C8-856B-4759-AC1B-8C73D70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Current run 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482203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43F3F-0808-42CE-85B7-C0D66DD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Fitting outcomes by counted quality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B4306-2F77-41CA-BAF3-290A1E04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F7CED-3535-43FC-8D24-AA9E7B28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Percentage of all 2,777 galaxies. Face-on is informational.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3E82412-1C4E-47AB-85F1-96E402DD1A83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d43e894b0c47e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157B8-91D0-4B8C-B0D1-C64BDD67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flags: 93 (3.3%)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D25A5-46DC-4667-A992-7ADAC63A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BB66"/>
                </a:solidFill>
                <a:latin typeface="Arial"/>
                <a:ea typeface="Arial"/>
                <a:cs typeface="Arial"/>
              </a:rPr>
              <a:t>1 flag: 591 (21.3%)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E0646-B806-4F11-AA5A-3FFA8DBD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9637"/>
                </a:solidFill>
                <a:latin typeface="Arial"/>
                <a:ea typeface="Arial"/>
                <a:cs typeface="Arial"/>
              </a:rPr>
              <a:t>2 flags: 931 (33.5%)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74C35-7154-465B-9467-ECADA52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B24"/>
                </a:solidFill>
                <a:latin typeface="Arial"/>
                <a:ea typeface="Arial"/>
                <a:cs typeface="Arial"/>
              </a:rPr>
              <a:t>3 flags: 748 (26.9%)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F5DB2-6B4F-4665-A168-AD567C36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2441C"/>
                </a:solidFill>
                <a:latin typeface="Arial"/>
                <a:ea typeface="Arial"/>
                <a:cs typeface="Arial"/>
              </a:rPr>
              <a:t>4 flags: 297 (10.7%)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58AC8-AC85-4C30-BF17-D4CB88E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4E79"/>
                </a:solidFill>
                <a:latin typeface="Arial"/>
                <a:ea typeface="Arial"/>
                <a:cs typeface="Arial"/>
              </a:rPr>
              <a:t>5 flags: 67 (2.4%)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2D134-E735-48BD-949E-9119348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3B60"/>
                </a:solidFill>
                <a:latin typeface="Arial"/>
                <a:ea typeface="Arial"/>
                <a:cs typeface="Arial"/>
              </a:rPr>
              <a:t>6 flags: 39 (1.4%)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F1846-6380-40BB-BFB9-777A99D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A587A"/>
                </a:solidFill>
                <a:latin typeface="Arial"/>
                <a:ea typeface="Arial"/>
                <a:cs typeface="Arial"/>
              </a:rPr>
              <a:t>7 flags: 6 (0.2%)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C8B28-C90E-4E04-B54C-261FA4FF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050"/>
                </a:solidFill>
                <a:latin typeface="Arial"/>
                <a:ea typeface="Arial"/>
                <a:cs typeface="Arial"/>
              </a:rPr>
              <a:t>9 flags: 1 (&lt;0.1%)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32194-52D8-43ED-8D5C-20956A99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C38"/>
                </a:solidFill>
                <a:latin typeface="Arial"/>
                <a:ea typeface="Arial"/>
                <a:cs typeface="Arial"/>
              </a:rPr>
              <a:t>Failed: 4 (0.1%)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5C800-50D9-42EB-A5A1-46079E50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Recovery and missing-bar warnings are counted. QI also includes partial cutout coverage.</a:t>
            </a:r>
          </a:p>
        </p:txBody>
      </p:sp>
    </p:spTree>
    <p:extLst>
      <p:ext uri="{BB962C8B-B14F-4D97-AF65-F5344CB8AC3E}">
        <p14:creationId xmlns:p14="http://schemas.microsoft.com/office/powerpoint/2010/main" val="816263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F0EA6-27F8-4E7B-A24A-A6D7B6A6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Current quality issues and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0A81A-06EF-4078-84C5-5FD11C32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CFF9F5B-9E20-46BB-BE8D-C43EB940C07F}"/>
              </a:ext>
            </a:extLst>
          </p:cNvPr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1f4d78d5224d8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92B3D-3849-4D8F-B8C4-D2D7A24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59 nearly face-on fits: informational, not a defect. Disc PA instability is ignored for them.</a:t>
            </a:r>
          </a:p>
        </p:txBody>
      </p:sp>
    </p:spTree>
    <p:extLst>
      <p:ext uri="{BB962C8B-B14F-4D97-AF65-F5344CB8AC3E}">
        <p14:creationId xmlns:p14="http://schemas.microsoft.com/office/powerpoint/2010/main" val="494392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7AEEA-7FDE-427A-9D95-7FCC8720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Comparison with Euclid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1CBB-E932-41BA-BAA0-0739FCF5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EC282-13BF-4ADE-B142-5CC93032875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Median absolute difference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Current run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Adjusted Euclid detection PA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8.05°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Detection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6.52°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Sérsic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5.50°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9CE87-39CF-4C0F-8614-2606773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Codex PA: North towards East. N = 0°, E = 90°, modulo 180°.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9CEB8-CF90-432C-AFBD-D778CD64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Counterclockwise on a North-up, East-left image. WCS handles local orientation.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745A4-1A28-4DF6-BB68-18F4080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Euclid comparison retains the adopted additional +90° after WCS conversion. A detection-image y-axis reference is plausible but unconfirmed.</a:t>
            </a:r>
          </a:p>
        </p:txBody>
      </p:sp>
    </p:spTree>
    <p:extLst>
      <p:ext uri="{BB962C8B-B14F-4D97-AF65-F5344CB8AC3E}">
        <p14:creationId xmlns:p14="http://schemas.microsoft.com/office/powerpoint/2010/main" val="1395739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19C30-B1C2-4388-BDD1-C34B3F9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centres are measured and checked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8720-D644-4BCD-83E1-10368D57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7015A-6744-4742-8E0E-632C893E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 catalogue position can lie on off-centre light rather than the galaxy centre.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0668F-8534-4518-823D-3F219F6B8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68ea1cf5c4db4"/>
          <a:stretch xmlns:a="http://schemas.openxmlformats.org/drawingml/2006/main"/>
        </p:blipFill>
        <p:spPr>
          <a:xfrm xmlns:a="http://schemas.openxmlformats.org/drawingml/2006/main">
            <a:off x="1231167" y="1952625"/>
            <a:ext cx="4567115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791B-BD01-4A6B-9E87-FE13C68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White x: catalogue position.</a:t>
            </a:r>
          </a:p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Red +: fitted disc centre.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498A6-F6B6-479F-B56C-6D1EFFD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This example: 17.32 arcsec shift.</a:t>
            </a:r>
          </a:p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Sample median: 0.083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D6913-EB23-4A8E-8204-AE8BD82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Large offsets and centre changes across radius remain flagged for review. The catalogue and fitted positions are both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F35B3-5258-4B04-9B04-FB08D11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Synthetic check recovered the known centre within 0.01 pixel and PA/inclination within 0.01°.</a:t>
            </a:r>
          </a:p>
        </p:txBody>
      </p:sp>
    </p:spTree>
    <p:extLst>
      <p:ext uri="{BB962C8B-B14F-4D97-AF65-F5344CB8AC3E}">
        <p14:creationId xmlns:p14="http://schemas.microsoft.com/office/powerpoint/2010/main" val="588825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B2D08-87A2-4140-A599-BF85D84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review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2796E-C930-4423-A382-23637551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925A0-2230-4943-A121-6A36B911095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Review group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PNG reports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2694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NoQI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2777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B7739-D0C1-4ACA-BAED-9C8F66E7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47 PDFs; 463 pages; six galaxies per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3E6EE-E8C2-4498-A042-54D7DE8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Each card includes selected ellipses, profiles, angles, Euclid deltas, centre offset and recovery method. No accepted bar leaves bar PA blank.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627C4-822B-450B-A8F4-4D6BECD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Examples show individual review issues. Isolated examples are used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2121614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90AB8-CB58-46CC-8D85-C9D380CA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Sparse disc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EA314-F3D5-4B65-BD60-1F249671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130E1-BC4C-471B-8D36-84C5382A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66073-C5DC-4721-8CE2-A439828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-518633776290631360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F2218-23A7-4F4E-8004-6484DDE963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e5fff866042c4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C55EE-8221-4349-82B7-2F0A242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113.69°; bar 113.87°; i 49.48°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0.15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76EAC-36AE-40A8-8103-972DC108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-591772188508612550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26A45-A2DE-470F-9CDA-214A46C66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1c4573af2464e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DB7C3-7394-4B81-8409-E278BD9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86.44°; bar 164.63°; i 35.70°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4 accepted disc ellipses; centre shift 0.03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24FC-731E-491E-8FDF-A04AB0A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Too few accepted disc samples (&lt;6), or a radial gap &gt;50% of span. PA scatter is retained, but no instability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211732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7A925-FE1A-4EA8-A5BD-73FE24B4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Bar identification uncertain: small interval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5F003-C8E7-4CFB-8C89-72C2187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184DD-BC95-494F-A989-EF7A320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06D54-DF1C-4DFF-909A-353886C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-518659917291205827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8BC2D-7E39-4FC3-B8CF-75366462C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0971ad31542ff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16C87-A91E-4717-9001-944B2DA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67.98°; bar 63.85°;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0.07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23DE0-61FE-45D1-AD4D-A583EBBC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-518003489287870292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C4DAD-9E8B-4AD1-8B49-13E3F9762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546759d164ffa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AD0EE-40F8-4623-AF9C-E71B132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87.46°; bar 167.23°; i 31.57°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0.04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BBA51-AD5E-4B9E-ACF1-76BD170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Candidate interval ends below 1.5 arcsec. This may be an unresolved bar or a different structure; bar identification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2078011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E1060-B726-4FA6-9930-C8DB26C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PA varies across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BAE0C-3375-49B1-8192-DD487CB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5B04-60DE-4706-943D-5354F8B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30539-A251-4BE7-AD30-3D8BE44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-601121275504424227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D79DF-CAD1-401E-9B38-C6EEA51B6D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6f7af345c47a7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72902-4F5B-422F-B461-4CB48E28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60.75°; bar 20.23°; i 40.93°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0.04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802B-A8EC-4D16-9978-A2C38252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-610687143492806705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22399-85C3-4A27-AE3B-1C91B5D95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28caf108a4d1d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0F403-A6A1-4804-8CE0-92B491E4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158.36°; bar 125.23°;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0.23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E37BB-A19D-4965-A90B-F81F0051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At least 6 accepted disc ellipses, no radial gap &gt;50% of span, and PA scatter &gt;10°. Correlated samples: a review screen, not a confidence test.</a:t>
            </a:r>
          </a:p>
        </p:txBody>
      </p:sp>
    </p:spTree>
    <p:extLst>
      <p:ext uri="{BB962C8B-B14F-4D97-AF65-F5344CB8AC3E}">
        <p14:creationId xmlns:p14="http://schemas.microsoft.com/office/powerpoint/2010/main" val="848572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81645-C071-4F3C-BE3D-CDD22B7F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Changing disc ellipticity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CAC99-6EC7-4699-9AD5-367862BB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790A0-AB40-4D25-A0AE-F681DA3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8E8A7-77EC-4FBB-B3D8-C5ECB728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-591287408514481131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21939-D692-48E3-AC9A-07B43D807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1e53c63de4a02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A4E73-5B4E-4707-95B8-97BC5B2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17.53°; bar 22.81°; i 36.63°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ACC72-3E6F-4D51-B8ED-405A5CE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-566750185501100067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5CDE3-0156-4549-9DFA-C2770B2D7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bc8aeb3a84b69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5E9D1-30DF-49C7-BE92-B48DC6D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102.79°; bar 96.43°; i 52.54°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0D42-39D1-4263-A35C-F19F2F3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38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1078966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26BAE-8823-4D89-A5F5-C7F46F60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Weaker accepted bar signature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4208B-0087-4C4B-8115-2D9A110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A0B4B-EFC8-4380-89ED-5DCDF17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DF1F0-8FD3-47A9-8493-FA711DE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-555209522496440415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6E331-3392-4A74-BB69-DFA696C48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88cfd6fa947b1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AB9D1-8557-41F7-BF12-EA78563D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100.26°; bar 105.11°; i 42.90°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B09EA-8577-4350-98A3-16EA3AC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-567651923481293863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EC382-EAE3-4F41-AEA3-9987F2201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d374e9339446e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39A58-6EDB-4D9F-8B8A-C6D182D1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133.58°; bar 23.00°; i 25.24°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0.17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E42C9-F981-4CE4-A7CA-A79E9E84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Class A: peak ellipticity ≥0.30, drop ≥0.10, PA scatter ≤5°. Class B passes the broader test but misses ≥1 A threshold. Neither confirms a bar.</a:t>
            </a:r>
          </a:p>
        </p:txBody>
      </p:sp>
    </p:spTree>
    <p:extLst>
      <p:ext uri="{BB962C8B-B14F-4D97-AF65-F5344CB8AC3E}">
        <p14:creationId xmlns:p14="http://schemas.microsoft.com/office/powerpoint/2010/main" val="21409651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2E219-E271-44E9-98D0-DD1B92F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bar; disc retained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53918-C21F-4216-AEE4-B80AC649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C3C79-12EB-465B-B019-F9003C1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99831-B081-4A57-9876-7F608A07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2693239635649457485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F8E70-9684-4549-B026-106CF11A6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8ae97ed524a5a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B232C-0793-429B-886D-ACF9496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115.27°; bar unavailable; i 57.11°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0.21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54865-FE1B-4CB2-9121-CEB5440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-600909396508240903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A5DEC-5BB3-4446-960E-48DFF8B6E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1d5dfc422419a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B331C-B9CE-40F4-B385-F906615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95.79°; bar unavailable; i 55.30°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0.12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DC9CA-CBE4-41D3-ABED-43010E76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57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627574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03826-6847-43D2-BA37-A868F26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864FC-D764-4439-8F22-B107B88B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7837A-6A85-44D7-A996-1354AE0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12E3F-2ABA-4517-9CA4-CDE2B2A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-586374330510251740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C331E-81E5-49C1-A4FA-61EB79E02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664bb5ef942ca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FFC40-374B-45BB-AD99-F5174C14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F2EE4-0086-4833-B7CE-3388A4A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-524824554283124036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364EE-E77E-4356-8D10-E26A5735E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b35b8143340d2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584C0-14B9-4993-A720-AD9D17E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Rejected trial centred on a foreground star.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49BC7-4126-41E3-A50F-C529667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14708508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61E3B-D053-4A6E-BAE7-D062D75C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7EE84-61FC-43C5-8027-D743752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0DCDD-164F-4A77-BEA1-3011B42A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D54BF-D029-49E4-A609-F53688A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2645436353651870062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8306B-7481-483D-9459-98F7BA183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eca2f7b8a4819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85F8E-62EC-468B-984D-573802EA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83732-406C-4261-BF75-C93E78E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2697242050653408730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2E48F-27E5-4FCA-A5BA-043A7AA81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b7eec3e91442f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A9C34-5B19-49E7-B12B-B4ACADB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Only an unresolved core was fitted.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B023F-196E-4509-9106-8D864112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430501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2026-10-20T17:05:22.3810000Z</dcterms:created>
  <dcterms:modified xsi:type="dcterms:W3CDTF">2026-10-20T17:05:22.3810000Z</dcterms:modified>
</coreProperties>
</file>