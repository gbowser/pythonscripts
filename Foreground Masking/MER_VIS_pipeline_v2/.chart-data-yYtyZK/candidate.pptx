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ecae27b921c4d6b" /><Relationship Type="http://schemas.openxmlformats.org/officeDocument/2006/relationships/extended-properties" Target="/docProps/app.xml" Id="R3f625db40e52450c" /><Relationship Type="http://schemas.openxmlformats.org/officeDocument/2006/relationships/officeDocument" Target="/ppt/presentation.xml" Id="Rb73f7ae246564aab" /></Relationships>
</file>

<file path=ppt/presentation.xml><?xml version="1.0" encoding="utf-8"?>
<p:presentation xmlns:p="http://schemas.openxmlformats.org/presentationml/2006/main">
  <p:sldMasterIdLst>
    <p:sldMasterId xmlns:r="http://schemas.openxmlformats.org/officeDocument/2006/relationships" id="2147483648" r:id="R6f91329f2be2461d"/>
  </p:sldMasterIdLst>
  <p:notesMasterIdLst>
    <p:notesMasterId xmlns:r="http://schemas.openxmlformats.org/officeDocument/2006/relationships" r:id="R9c552cda79c9403c"/>
  </p:notesMasterIdLst>
  <p:sldIdLst>
    <p:sldId xmlns:r="http://schemas.openxmlformats.org/officeDocument/2006/relationships" id="256" r:id="R357e5224124c4c52"/>
    <p:sldId xmlns:r="http://schemas.openxmlformats.org/officeDocument/2006/relationships" id="257" r:id="R1a40b7d40d8643cf"/>
    <p:sldId xmlns:r="http://schemas.openxmlformats.org/officeDocument/2006/relationships" id="258" r:id="R102d9d69f29b4765"/>
    <p:sldId xmlns:r="http://schemas.openxmlformats.org/officeDocument/2006/relationships" id="259" r:id="R928445df28284707"/>
    <p:sldId xmlns:r="http://schemas.openxmlformats.org/officeDocument/2006/relationships" id="260" r:id="R861acc403b6945b6"/>
    <p:sldId xmlns:r="http://schemas.openxmlformats.org/officeDocument/2006/relationships" id="261" r:id="Re86698b0308943db"/>
    <p:sldId xmlns:r="http://schemas.openxmlformats.org/officeDocument/2006/relationships" id="262" r:id="R753ce00d90bb4576"/>
    <p:sldId xmlns:r="http://schemas.openxmlformats.org/officeDocument/2006/relationships" id="263" r:id="R4bd03823b2b14fa5"/>
    <p:sldId xmlns:r="http://schemas.openxmlformats.org/officeDocument/2006/relationships" id="264" r:id="R466644d465314e1b"/>
    <p:sldId xmlns:r="http://schemas.openxmlformats.org/officeDocument/2006/relationships" id="265" r:id="R83a83d527ee4412e"/>
    <p:sldId xmlns:r="http://schemas.openxmlformats.org/officeDocument/2006/relationships" id="266" r:id="R5c8bba2771b7430c"/>
    <p:sldId xmlns:r="http://schemas.openxmlformats.org/officeDocument/2006/relationships" id="267" r:id="R71274dfc8bb54e29"/>
    <p:sldId xmlns:r="http://schemas.openxmlformats.org/officeDocument/2006/relationships" id="268" r:id="R7eacc25d35e74058"/>
    <p:sldId xmlns:r="http://schemas.openxmlformats.org/officeDocument/2006/relationships" id="269" r:id="Ra5c3a48abdce4b6f"/>
    <p:sldId xmlns:r="http://schemas.openxmlformats.org/officeDocument/2006/relationships" id="270" r:id="R6478e0539a984c02"/>
    <p:sldId xmlns:r="http://schemas.openxmlformats.org/officeDocument/2006/relationships" id="271" r:id="R6bcf7556233a4b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18412ca97541cc" /><Relationship Type="http://schemas.openxmlformats.org/officeDocument/2006/relationships/slideMaster" Target="/ppt/slideMasters/slideMaster1.xml" Id="R6f91329f2be2461d" /><Relationship Type="http://schemas.openxmlformats.org/officeDocument/2006/relationships/notesMaster" Target="/ppt/notesMasters/notesMaster1.xml" Id="R9c552cda79c9403c" /><Relationship Type="http://schemas.openxmlformats.org/officeDocument/2006/relationships/presProps" Target="/ppt/presProps.xml" Id="R16a8b78b94af4522" /><Relationship Type="http://schemas.openxmlformats.org/officeDocument/2006/relationships/tableStyles" Target="/ppt/tableStyles.xml" Id="Rb66abed5c977418d" /><Relationship Type="http://schemas.openxmlformats.org/officeDocument/2006/relationships/slide" Target="/ppt/slides/slide1.xml" Id="R357e5224124c4c52" /><Relationship Type="http://schemas.openxmlformats.org/officeDocument/2006/relationships/slide" Target="/ppt/slides/slide2.xml" Id="R1a40b7d40d8643cf" /><Relationship Type="http://schemas.openxmlformats.org/officeDocument/2006/relationships/slide" Target="/ppt/slides/slide3.xml" Id="R102d9d69f29b4765" /><Relationship Type="http://schemas.openxmlformats.org/officeDocument/2006/relationships/slide" Target="/ppt/slides/slide4.xml" Id="R928445df28284707" /><Relationship Type="http://schemas.openxmlformats.org/officeDocument/2006/relationships/slide" Target="/ppt/slides/slide5.xml" Id="R861acc403b6945b6" /><Relationship Type="http://schemas.openxmlformats.org/officeDocument/2006/relationships/slide" Target="/ppt/slides/slide6.xml" Id="Re86698b0308943db" /><Relationship Type="http://schemas.openxmlformats.org/officeDocument/2006/relationships/slide" Target="/ppt/slides/slide7.xml" Id="R753ce00d90bb4576" /><Relationship Type="http://schemas.openxmlformats.org/officeDocument/2006/relationships/slide" Target="/ppt/slides/slide8.xml" Id="R4bd03823b2b14fa5" /><Relationship Type="http://schemas.openxmlformats.org/officeDocument/2006/relationships/slide" Target="/ppt/slides/slide9.xml" Id="R466644d465314e1b" /><Relationship Type="http://schemas.openxmlformats.org/officeDocument/2006/relationships/slide" Target="/ppt/slides/slide10.xml" Id="R83a83d527ee4412e" /><Relationship Type="http://schemas.openxmlformats.org/officeDocument/2006/relationships/slide" Target="/ppt/slides/slide11.xml" Id="R5c8bba2771b7430c" /><Relationship Type="http://schemas.openxmlformats.org/officeDocument/2006/relationships/slide" Target="/ppt/slides/slide12.xml" Id="R71274dfc8bb54e29" /><Relationship Type="http://schemas.openxmlformats.org/officeDocument/2006/relationships/slide" Target="/ppt/slides/slide13.xml" Id="R7eacc25d35e74058" /><Relationship Type="http://schemas.openxmlformats.org/officeDocument/2006/relationships/slide" Target="/ppt/slides/slide14.xml" Id="Ra5c3a48abdce4b6f" /><Relationship Type="http://schemas.openxmlformats.org/officeDocument/2006/relationships/slide" Target="/ppt/slides/slide15.xml" Id="R6478e0539a984c02" /><Relationship Type="http://schemas.openxmlformats.org/officeDocument/2006/relationships/slide" Target="/ppt/slides/slide16.xml" Id="R6bcf7556233a4b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52660c945f4d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57e48ed2bb4435" /><Relationship Type="http://schemas.openxmlformats.org/officeDocument/2006/relationships/notesMaster" Target="/ppt/notesMasters/notesMaster1.xml" Id="R428922da14504b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1b09ad50794619" /><Relationship Type="http://schemas.openxmlformats.org/officeDocument/2006/relationships/notesMaster" Target="/ppt/notesMasters/notesMaster1.xml" Id="R5a04a4cff1e645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8d273146144379" /><Relationship Type="http://schemas.openxmlformats.org/officeDocument/2006/relationships/notesMaster" Target="/ppt/notesMasters/notesMaster1.xml" Id="R03f911af6f7b4a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13a7e8e8ee406a" /><Relationship Type="http://schemas.openxmlformats.org/officeDocument/2006/relationships/notesMaster" Target="/ppt/notesMasters/notesMaster1.xml" Id="R71cba012d97744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1edf7660e9479f" /><Relationship Type="http://schemas.openxmlformats.org/officeDocument/2006/relationships/notesMaster" Target="/ppt/notesMasters/notesMaster1.xml" Id="Raa4aecb7efc44d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3937f2de1141b1" /><Relationship Type="http://schemas.openxmlformats.org/officeDocument/2006/relationships/notesMaster" Target="/ppt/notesMasters/notesMaster1.xml" Id="Ra7cf2bb6e18f43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287dd8ade942a1" /><Relationship Type="http://schemas.openxmlformats.org/officeDocument/2006/relationships/notesMaster" Target="/ppt/notesMasters/notesMaster1.xml" Id="Rad84eeb681054c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de4e7fadfe49d6" /><Relationship Type="http://schemas.openxmlformats.org/officeDocument/2006/relationships/notesMaster" Target="/ppt/notesMasters/notesMaster1.xml" Id="Rcbbd0cede21444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54b0ae04874462" /><Relationship Type="http://schemas.openxmlformats.org/officeDocument/2006/relationships/notesMaster" Target="/ppt/notesMasters/notesMaster1.xml" Id="R85ced6f4873147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da8d78a0e1413a" /><Relationship Type="http://schemas.openxmlformats.org/officeDocument/2006/relationships/notesMaster" Target="/ppt/notesMasters/notesMaster1.xml" Id="Rd832665cae2740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64159828d14f4b" /><Relationship Type="http://schemas.openxmlformats.org/officeDocument/2006/relationships/notesMaster" Target="/ppt/notesMasters/notesMaster1.xml" Id="Rdc3960e8a69040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1c4e8b2e1c4ecb" /><Relationship Type="http://schemas.openxmlformats.org/officeDocument/2006/relationships/notesMaster" Target="/ppt/notesMasters/notesMaster1.xml" Id="R4164b049df5a49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abfc145110452f" /><Relationship Type="http://schemas.openxmlformats.org/officeDocument/2006/relationships/notesMaster" Target="/ppt/notesMasters/notesMaster1.xml" Id="Rd7600f3c919442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83b24e51ea4214" /><Relationship Type="http://schemas.openxmlformats.org/officeDocument/2006/relationships/notesMaster" Target="/ppt/notesMasters/notesMaster1.xml" Id="Rf310eae02a4346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1fd32788a14071" /><Relationship Type="http://schemas.openxmlformats.org/officeDocument/2006/relationships/notesMaster" Target="/ppt/notesMasters/notesMaster1.xml" Id="R8c63d506cb7646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4ec6d3392c49a7" /><Relationship Type="http://schemas.openxmlformats.org/officeDocument/2006/relationships/notesMaster" Target="/ppt/notesMasters/notesMaster1.xml" Id="R48eeb6282cfb44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Flags overlap. Chart shows the eleven most frequent issues; the Word report and manifest retain every flag. A no_bar_detected warning does not invalidate the disc estimate. Individual PA scatter is not a formal independent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Supplied fitted-manifest comparison: {"disc":{"n":2773,"median_abs":2.76077815661057,"median_signed":0.021808524369362203,"within10":2169},"bar":{"n":2292,"median_abs":0.4539355276748722,"median_signed":-0.0040814688521066955,"within10":2237},"inclination":{"n":2773,"median_abs":2.3744889759578527,"median_signed":-0.9662639215711621,"within10":2428}}. Supplied inclination uses intrinsic q0=.2; ours remains q0=0. Euclid whole-object shapes are proxies, not independent outer-disc measurements. No Euclid bar PA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Centre example (multiple flags, not an isolated-flag demonstration): {"id":"2700376345666189458","image":"C:\\Users\\gordo\\Documents\\Github\\PythonScripts\\Foreground Masking\\MER_VIS_pipeline_v2\\current_report\\images\\2700376345666189458.png","full_card":"D:\\Dropbox\\Public Documents\\UCLAN\\MSc Research\\Euclid\\MER_VIS_galaxy_reports\\all_2777\\png_QI\\2448_Euclid_2700376345666189458_MER_VIS_geometry_report_QI.png","disc":101.52336049391899,"bar":101.48498053450594,"inc":71.05369315170853,"centre_offset":17.320432011634527,"method":"recentred","flags":["centre_offset_large","disc_axis_ratio_unstable"],"bar_status":"detected_A","error":"","n_good":"43","n_disc":"5","n_bar":"4","disc_scatter":0.9310092684915722,"disc_span":0.3545431996625442,"bar_end":19.181222769615243,"information":"","detail_image":"C:\\Users\\gordo\\Documents\\Github\\PythonScripts\\Foreground Masking\\MER_VIS_pipeline_v2\\current_report\\images\\centre_detail.png"}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Isolated example counts (full coverage): {"disc_PA_unstable":89,"no_bar_detected":101,"disc_axis_ratio_unstable":109,"small_bar_sensitive_to_resolution":316,"disc_range_fallback":1,"bar_disc_ranges_close":0,"small_disc":0,"weak_ellipse_bar_signature":37,"centre_offset_large":3,"relaxed_fit":0,"iteration_limited_samples":0,"star_mask_removed":0,"neighbour_mask_removed":0,"centre_unstable":0,"short_accepted_profile":0,"high_inclination":0}. Flags without two isolated cases are not represented as single-flag examples. Original unstable-bar-PA examples are obsolete because current bar acceptance requires a stable plateau.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{"key":"small_bar_sensitive_to_resolution","title":"Small selected bar interval","kind":"isolated_flag","examples":[{"id":"-518659917291205827","image":"C:\\Users\\gordo\\Documents\\Github\\PythonScripts\\Foreground Masking\\MER_VIS_pipeline_v2\\current_report\\images\\-518659917291205827.png","full_card":"D:\\Dropbox\\Public Documents\\UCLAN\\MSc Research\\Euclid\\MER_VIS_galaxy_reports\\all_2777\\png_QI\\0004_Euclid_-518659917291205827_MER_VIS_geometry_report_QI.png","disc":67.98049109589249,"bar":63.85453266313511,"inc":47.29360925833979,"centre_offset":0.06901554767367604,"method":"standard","flags":["small_bar_sensitive_to_resolution"],"bar_status":"detected_A","error":"","n_good":"31","n_disc":"6","n_bar":"6","disc_scatter":6.536223807890531,"disc_span":0.1305755018371826,"bar_end":1.3365451794213465,"information":""},{"id":"-518003489287870292","image":"C:\\Users\\gordo\\Documents\\Github\\PythonScripts\\Foreground Masking\\MER_VIS_pipeline_v2\\current_report\\images\\-518003489287870292.png","full_card":"D:\\Dropbox\\Public Documents\\UCLAN\\MSc Research\\Euclid\\MER_VIS_galaxy_reports\\all_2777\\png_QI\\0007_Euclid_-518003489287870292_MER_VIS_geometry_report_QI.png","disc":87.46210239608925,"bar":167.22729398125324,"inc":31.574961051993903,"centre_offset":0.043422001129307254,"method":"standard","flags":["small_bar_sensitive_to_resolution"],"bar_status":"detected_A","error":"","n_good":"22","n_disc":"6","n_bar":"4","disc_scatter":5.924727031910115,"disc_span":0.11007119226523457,"bar_end":1.3673627605688643,"information":""}],"available":316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{"key":"disc_PA_unstable","title":"Unstable disc PA","kind":"isolated_flag","examples":[{"id":"-518633776290631360","image":"C:\\Users\\gordo\\Documents\\Github\\PythonScripts\\Foreground Masking\\MER_VIS_pipeline_v2\\current_report\\images\\-518633776290631360.png","full_card":"D:\\Dropbox\\Public Documents\\UCLAN\\MSc Research\\Euclid\\MER_VIS_galaxy_reports\\all_2777\\png_QI\\0005_Euclid_-518633776290631360_MER_VIS_geometry_report_QI.png","disc":113.69021016263804,"bar":113.86950382756103,"inc":49.47781434213959,"centre_offset":0.15091616609311526,"method":"standard","flags":["disc_PA_unstable"],"bar_status":"detected_A","error":"","n_good":"28","n_disc":"3","n_bar":"11","disc_scatter":17.55097022310975,"disc_span":0.06326608973174502,"bar_end":1.7950070214699363,"information":""},{"id":"-601121275504424227","image":"C:\\Users\\gordo\\Documents\\Github\\PythonScripts\\Foreground Masking\\MER_VIS_pipeline_v2\\current_report\\images\\-601121275504424227.png","full_card":"D:\\Dropbox\\Public Documents\\UCLAN\\MSc Research\\Euclid\\MER_VIS_galaxy_reports\\all_2777\\png_QI\\0118_Euclid_-601121275504424227_MER_VIS_geometry_report_QI.png","disc":60.75482419435342,"bar":20.23373226136634,"inc":40.93111225561656,"centre_offset":0.038965526533334946,"method":"standard","flags":["disc_PA_unstable"],"bar_status":"detected_A","error":"","n_good":"33","n_disc":"7","n_bar":"6","disc_scatter":15.878385450188937,"disc_span":0.08169376743863846,"bar_end":1.5289036078363487,"information":""}],"available":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{"key":"disc_axis_ratio_unstable","title":"Changing disc ellipticity","kind":"isolated_flag","examples":[{"id":"-515262325287813002","image":"C:\\Users\\gordo\\Documents\\Github\\PythonScripts\\Foreground Masking\\MER_VIS_pipeline_v2\\current_report\\images\\-515262325287813002.png","full_card":"D:\\Dropbox\\Public Documents\\UCLAN\\MSc Research\\Euclid\\MER_VIS_galaxy_reports\\all_2777\\png_QI\\0011_Euclid_-515262325287813002_MER_VIS_geometry_report_QI.png","disc":66.03707596640753,"bar":68.85970901634602,"inc":64.73095080753262,"centre_offset":0.1353995530576807,"method":"standard","flags":["disc_axis_ratio_unstable"],"bar_status":"detected_A","error":"","n_good":"25","n_disc":"3","n_bar":"7","disc_scatter":1.590904046671006,"disc_span":0.18310711393429147,"bar_end":1.647470680939178,"information":""},{"id":"2696479031648186651","image":"C:\\Users\\gordo\\Documents\\Github\\PythonScripts\\Foreground Masking\\MER_VIS_pipeline_v2\\current_report\\images\\2696479031648186651.png","full_card":"D:\\Dropbox\\Public Documents\\UCLAN\\MSc Research\\Euclid\\MER_VIS_galaxy_reports\\all_2777\\png_QI\\0032_Euclid_2696479031648186651_MER_VIS_geometry_report_QI.png","disc":77.10657289201272,"bar":59.69115649098335,"inc":55.741582582526576,"centre_offset":0.1684548011078397,"method":"standard","flags":["disc_axis_ratio_unstable"],"bar_status":"detected_A","error":"","n_good":"26","n_disc":"5","n_bar":"5","disc_scatter":2.3970908949172394,"disc_span":0.17713086931805122,"bar_end":1.743747455273023,"information":""}],"available":109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{"key":"weak_ellipse_bar_signature","title":"Weaker accepted bar signature","kind":"isolated_flag","examples":[{"id":"-586037871514112362","image":"C:\\Users\\gordo\\Documents\\Github\\PythonScripts\\Foreground Masking\\MER_VIS_pipeline_v2\\current_report\\images\\-586037871514112362.png","full_card":"D:\\Dropbox\\Public Documents\\UCLAN\\MSc Research\\Euclid\\MER_VIS_galaxy_reports\\all_2777\\png_QI\\0038_Euclid_-586037871514112362_MER_VIS_geometry_report_QI.png","disc":9.105889954495566,"bar":34.111648931941794,"inc":62.88522648383609,"centre_offset":0.1989049028260931,"method":"standard","flags":["weak_ellipse_bar_signature"],"bar_status":"detected_B","error":"","n_good":"31","n_disc":"5","n_bar":"8","disc_scatter":4.80374870233757,"disc_span":0.02419444275218674,"bar_end":1.671515786936715,"information":""},{"id":"-593494399504450575","image":"C:\\Users\\gordo\\Documents\\Github\\PythonScripts\\Foreground Masking\\MER_VIS_pipeline_v2\\current_report\\images\\-593494399504450575.png","full_card":"D:\\Dropbox\\Public Documents\\UCLAN\\MSc Research\\Euclid\\MER_VIS_galaxy_reports\\all_2777\\png_QI\\0106_Euclid_-593494399504450575_MER_VIS_geometry_report_QI.png","disc":56.81140276193682,"bar":53.95386470424249,"inc":60.45276653085282,"centre_offset":0.13845623690753606,"method":"standard","flags":["weak_ellipse_bar_signature"],"bar_status":"detected_B","error":"","n_good":"37","n_disc":"4","n_bar":"7","disc_scatter":3.3408151732091875,"disc_span":0.09514957428153942,"bar_end":3.4097589372753903,"information":""}],"available":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{"key":"no_bar_detected","title":"No accepted bar; disc retained","kind":"isolated_flag","examples":[{"id":"-550331516283529196","image":"C:\\Users\\gordo\\Documents\\Github\\PythonScripts\\Foreground Masking\\MER_VIS_pipeline_v2\\current_report\\images\\-550331516283529196.png","full_card":"D:\\Dropbox\\Public Documents\\UCLAN\\MSc Research\\Euclid\\MER_VIS_galaxy_reports\\all_2777\\png_QI\\0015_Euclid_-550331516283529196_MER_VIS_geometry_report_QI.png","disc":13.449994139974416,"bar":null,"inc":53.200259774137066,"centre_offset":0.08195275586604336,"method":"standard","flags":["no_bar_detected"],"bar_status":"no_bar_detected","error":"","n_good":"23","n_disc":"5","n_bar":"","disc_scatter":4.29853966960997,"disc_span":0.026672529924157418,"bar_end":null,"information":""},{"id":"-547491640287288205","image":"C:\\Users\\gordo\\Documents\\Github\\PythonScripts\\Foreground Masking\\MER_VIS_pipeline_v2\\current_report\\images\\-547491640287288205.png","full_card":"D:\\Dropbox\\Public Documents\\UCLAN\\MSc Research\\Euclid\\MER_VIS_galaxy_reports\\all_2777\\png_QI\\0024_Euclid_-547491640287288205_MER_VIS_geometry_report_QI.png","disc":82.0014985516179,"bar":null,"inc":68.37738067314605,"centre_offset":0.34474729988990355,"method":"standard","flags":["no_bar_detected"],"bar_status":"no_bar_detected","error":"","n_good":"35","n_disc":"3","n_bar":"","disc_scatter":0.9701814169712194,"disc_span":0.021516770074129,"bar_end":null,"information":""}],"available":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{"key":"centre_offset_large","title":"Large centre offset","kind":"isolated_flag","examples":[{"id":"-596168966496153208","image":"C:\\Users\\gordo\\Documents\\Github\\PythonScripts\\Foreground Masking\\MER_VIS_pipeline_v2\\current_report\\images\\-596168966496153208.png","full_card":"D:\\Dropbox\\Public Documents\\UCLAN\\MSc Research\\Euclid\\MER_VIS_galaxy_reports\\all_2777\\png_QI\\0311_Euclid_-596168966496153208_MER_VIS_geometry_report_QI.png","disc":54.40104215802481,"bar":60.50292653034644,"inc":61.726307068838516,"centre_offset":1.649476936680464,"method":"standard","flags":["centre_offset_large"],"bar_status":"detected_A","error":"","n_good":"23","n_disc":"3","n_bar":"5","disc_scatter":1.3369802520127432,"disc_span":0.10756910840763029,"bar_end":3.5816608240191705,"information":""},{"id":"-647912843459445604","image":"C:\\Users\\gordo\\Documents\\Github\\PythonScripts\\Foreground Masking\\MER_VIS_pipeline_v2\\current_report\\images\\-647912843459445604.png","full_card":"D:\\Dropbox\\Public Documents\\UCLAN\\MSc Research\\Euclid\\MER_VIS_galaxy_reports\\all_2777\\png_QI\\1337_Euclid_-647912843459445604_MER_VIS_geometry_report_QI.png","disc":24.55400035808897,"bar":147.96450249863796,"inc":44.733672141806856,"centre_offset":0.6455756763639631,"method":"standard","flags":["centre_offset_large"],"bar_status":"detected_A","error":"","n_good":"27","n_disc":"7","n_bar":"6","disc_scatter":5.982459011560956,"disc_span":0.12758824839973812,"bar_end":2.1784393142233225,"information":""}],"availabl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{"key":"Insufficient bar/disc","title":"Recovered interval failures","kind":"recovery","examples":[{"id":"-637379992495894829","image":"C:\\Users\\gordo\\Documents\\Github\\PythonScripts\\Foreground Masking\\MER_VIS_pipeline_v2\\current_report\\images\\-637379992495894829.png","full_card":"D:\\Dropbox\\Public Documents\\UCLAN\\MSc Research\\Euclid\\MER_VIS_galaxy_reports\\all_2777\\png_NoQI\\0388_Euclid_-637379992495894829_MER_VIS_geometry_report.png","disc":83.78837749362367,"bar":88.98374946530096,"inc":70.94767990401837,"centre_offset":0.9601168086879205,"method":"standard","flags":[],"bar_status":"detected_A","error":"","n_good":"38","n_disc":"5","n_bar":"13","disc_scatter":1.6022783154287463,"disc_span":0.040266137755290754,"bar_end":2.7760226627438467,"information":""},{"id":"2660732568647808880","image":"C:\\Users\\gordo\\Documents\\Github\\PythonScripts\\Foreground Masking\\MER_VIS_pipeline_v2\\current_report\\images\\2660732568647808880.png","full_card":"D:\\Dropbox\\Public Documents\\UCLAN\\MSc Research\\Euclid\\MER_VIS_galaxy_reports\\all_2777\\png_NoQI\\2092_Euclid_2660732568647808880_MER_VIS_geometry_report.png","disc":151.03655359834403,"bar":159.57881576983513,"inc":71.14166107576276,"centre_offset":0.2073528623875833,"method":"standard","flags":[],"bar_status":"detected_A","error":"","n_good":"36","n_disc":"5","n_bar":"5","disc_scatter":0.6028207774305036,"disc_span":0.09974640817899039,"bar_end":1.8072562617551795,"information":""}],"available":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{"key":"reliable isophotes","title":"Recovered short-profile failures","kind":"recovery","examples":[{"id":"-649179107478547159","image":"C:\\Users\\gordo\\Documents\\Github\\PythonScripts\\Foreground Masking\\MER_VIS_pipeline_v2\\current_report\\images\\-649179107478547159.png","full_card":"D:\\Dropbox\\Public Documents\\UCLAN\\MSc Research\\Euclid\\MER_VIS_galaxy_reports\\all_2777\\png_NoQI\\0841_Euclid_-649179107478547159_MER_VIS_geometry_report.png","disc":119.73884912427816,"bar":117.80356388580608,"inc":62.257451762046315,"centre_offset":0.39132993633287316,"method":"standard","flags":[],"bar_status":"detected_A","error":"","n_good":"35","n_disc":"3","n_bar":"13","disc_scatter":0.9407053648234712,"disc_span":0.029550652106817843,"bar_end":4.117346878027748,"information":""},{"id":"-559696446492621477","image":"C:\\Users\\gordo\\Documents\\Github\\PythonScripts\\Foreground Masking\\MER_VIS_pipeline_v2\\current_report\\images\\-559696446492621477.png","full_card":"D:\\Dropbox\\Public Documents\\UCLAN\\MSc Research\\Euclid\\MER_VIS_galaxy_reports\\all_2777\\png_NoQI\\0254_Euclid_-559696446492621477_MER_VIS_geometry_report.png","disc":166.57918780702744,"bar":137.1747972212369,"inc":54.96439191687562,"centre_offset":0.21219971153547804,"method":"standard","flags":[],"bar_status":"detected_A","error":"","n_good":"34","n_disc":"5","n_bar":"5","disc_scatter":3.7265982343553294,"disc_span":0.05649696673345611,"bar_end":1.923554092877952,"information":""}],"available":136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failures","kind":"failure","examples":[{"id":"-586374330510251740","image":"C:\\Users\\gordo\\Documents\\Github\\PythonScripts\\Foreground Masking\\MER_VIS_pipeline_v2\\current_report\\images\\-586374330510251740.png","full_card":"D:\\Dropbox\\Public Documents\\UCLAN\\MSc Research\\Euclid\\MER_VIS_galaxy_reports\\all_2777\\png_QI\\0057_Euclid_-586374330510251740_MER_VIS_geometry_report_QI.png","disc":null,"bar":null,"inc":null,"centre_offset":null,"method":"smoothed_relaxed","flags":[],"bar_status":"not_measured","error":"ValueError: Only 0 accepted isophotes after recovery; need at least 3","n_good":"0","n_disc":"","n_bar":"","disc_scatter":null,"disc_span":null,"bar_end":null,"information":""},{"id":"-524824554283124036","image":"C:\\Users\\gordo\\Documents\\Github\\PythonScripts\\Foreground Masking\\MER_VIS_pipeline_v2\\current_report\\images\\-524824554283124036.png","full_card":"D:\\Dropbox\\Public Documents\\UCLAN\\MSc Research\\Euclid\\MER_VIS_galaxy_reports\\all_2777\\png_QI\\1557_Euclid_-524824554283124036_MER_VIS_geometry_report_QI.png","disc":null,"bar":null,"inc":null,"centre_offset":null,"method":"extended_light_centre_recovery","flags":[],"bar_status":"not_measured","error":"Visual review: broader peak search switched to a saturated foreground star with diffraction spikes; no valid target-disc geometry adopted.","n_good":"0","n_disc":"6","n_bar":"","disc_scatter":null,"disc_span":0.05319752342879874,"bar_end":null,"information":""}],"available":4}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failures","kind":"failure","examples":[{"id":"2645436353651870062","image":"C:\\Users\\gordo\\Documents\\Github\\PythonScripts\\Foreground Masking\\MER_VIS_pipeline_v2\\current_report\\images\\2645436353651870062.png","full_card":"D:\\Dropbox\\Public Documents\\UCLAN\\MSc Research\\Euclid\\MER_VIS_galaxy_reports\\all_2777\\png_QI\\2079_Euclid_2645436353651870062_MER_VIS_geometry_report_QI.png","disc":null,"bar":null,"inc":null,"centre_offset":null,"method":"smoothed_relaxed","flags":[],"bar_status":"not_measured","error":"ValueError: Only 0 accepted isophotes after recovery; need at least 3","n_good":"0","n_disc":"","n_bar":"","disc_scatter":null,"disc_span":null,"bar_end":null,"information":""},{"id":"2697242050653408730","image":"C:\\Users\\gordo\\Documents\\Github\\PythonScripts\\Foreground Masking\\MER_VIS_pipeline_v2\\current_report\\images\\2697242050653408730.png","full_card":"D:\\Dropbox\\Public Documents\\UCLAN\\MSc Research\\Euclid\\MER_VIS_galaxy_reports\\all_2777\\png_QI\\2221_Euclid_2697242050653408730_MER_VIS_geometry_report_QI.png","disc":null,"bar":null,"inc":null,"centre_offset":null,"method":"extended_light_centre_recovery","flags":[],"bar_status":"not_measured","error":"Visual review: accepted contours cover only the unresolved central region below 0.5 arcsec; no resolved disc geometry adopted.","n_good":"0","n_disc":"7","n_bar":"","disc_scatter":null,"disc_span":0.1968873533678872,"bar_end":null,"information":""}],"available":4}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4f5fa8191c49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ca948abc3c45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c0300950314f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72e63d209749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a51d7716b242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163771547442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8FE2B1-404F-47C2-B344-CD877FDFA2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4FC5D5-A81E-47AA-960D-6C29F2E8A4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D25775-F0BC-4459-8671-373E429972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B35D7-CCA0-44AC-9BE0-178CEFCE83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ADCF65-32F3-4DA6-A694-83A5563FAF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61C62C-788F-4310-A79B-A533765590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A07341-FFC7-4035-A7E1-7F0839AA7C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B014E2-B4CB-4E2C-B21B-F68996FB60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4ABD8C-83BB-4963-967E-2C02004BE4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09691B-C4C6-4849-99EA-1D3CB6E37B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9e2db78e6f4ada" /><Relationship Type="http://schemas.openxmlformats.org/officeDocument/2006/relationships/slideLayout" Target="/ppt/slideLayouts/slideLayout1.xml" Id="Ra2b08bf0858e43d2" /><Relationship Type="http://schemas.openxmlformats.org/officeDocument/2006/relationships/slideLayout" Target="/ppt/slideLayouts/slideLayout2.xml" Id="R3cdfe7c9e4f84481" /><Relationship Type="http://schemas.openxmlformats.org/officeDocument/2006/relationships/slideLayout" Target="/ppt/slideLayouts/slideLayout3.xml" Id="R806d4f6bbf7c49d8" /><Relationship Type="http://schemas.openxmlformats.org/officeDocument/2006/relationships/slideLayout" Target="/ppt/slideLayouts/slideLayout4.xml" Id="R73455a6d413c4a0d" /><Relationship Type="http://schemas.openxmlformats.org/officeDocument/2006/relationships/slideLayout" Target="/ppt/slideLayouts/slideLayout5.xml" Id="R1e73204942a24df7" /><Relationship Type="http://schemas.openxmlformats.org/officeDocument/2006/relationships/slideLayout" Target="/ppt/slideLayouts/slideLayout6.xml" Id="Re966fd2a6b1d49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b08bf0858e43d2"/>
    <p:sldLayoutId xmlns:r="http://schemas.openxmlformats.org/officeDocument/2006/relationships" id="2147483650" r:id="R3cdfe7c9e4f84481"/>
    <p:sldLayoutId xmlns:r="http://schemas.openxmlformats.org/officeDocument/2006/relationships" id="2147483651" r:id="R806d4f6bbf7c49d8"/>
    <p:sldLayoutId xmlns:r="http://schemas.openxmlformats.org/officeDocument/2006/relationships" id="2147483652" r:id="R73455a6d413c4a0d"/>
    <p:sldLayoutId xmlns:r="http://schemas.openxmlformats.org/officeDocument/2006/relationships" id="2147483653" r:id="R1e73204942a24df7"/>
    <p:sldLayoutId xmlns:r="http://schemas.openxmlformats.org/officeDocument/2006/relationships" id="2147483654" r:id="Re966fd2a6b1d49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dc3968d1494536" /><Relationship Type="http://schemas.openxmlformats.org/officeDocument/2006/relationships/notesSlide" Target="/ppt/notesSlides/notesSlide1.xml" Id="R9210b9ba4d614a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5fa4bc4c1243b7" /><Relationship Type="http://schemas.openxmlformats.org/officeDocument/2006/relationships/chart" Target="/ppt/slides/charts/chart1.xml" Id="Ra0db1e7e21de4f5e" /><Relationship Type="http://schemas.openxmlformats.org/officeDocument/2006/relationships/notesSlide" Target="/ppt/notesSlides/notesSlide2.xml" Id="Ra59e6d1d8fb543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4f81fbba9b42c0" /><Relationship Type="http://schemas.openxmlformats.org/officeDocument/2006/relationships/chart" Target="/ppt/slides/charts/chart2.xml" Id="R99982f840d954a28" /><Relationship Type="http://schemas.openxmlformats.org/officeDocument/2006/relationships/notesSlide" Target="/ppt/notesSlides/notesSlide3.xml" Id="R125d6cc7a71746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551e47c17a4e0d" /><Relationship Type="http://schemas.openxmlformats.org/officeDocument/2006/relationships/notesSlide" Target="/ppt/notesSlides/notesSlide4.xml" Id="R36965a802f3f41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e1b4ab1181435c" /><Relationship Type="http://schemas.openxmlformats.org/officeDocument/2006/relationships/image" Target="/ppt/media/image.png" Id="R501d0680b80e4916" /><Relationship Type="http://schemas.openxmlformats.org/officeDocument/2006/relationships/notesSlide" Target="/ppt/notesSlides/notesSlide5.xml" Id="R6e0776bcf86241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635c614245470f" /><Relationship Type="http://schemas.openxmlformats.org/officeDocument/2006/relationships/notesSlide" Target="/ppt/notesSlides/notesSlide6.xml" Id="Re0d481f85b4148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77677a96614e68" /><Relationship Type="http://schemas.openxmlformats.org/officeDocument/2006/relationships/image" Target="/ppt/media/image2.png" Id="R73c79326da084377" /><Relationship Type="http://schemas.openxmlformats.org/officeDocument/2006/relationships/image" Target="/ppt/media/image3.png" Id="R04de4b9b97544080" /><Relationship Type="http://schemas.openxmlformats.org/officeDocument/2006/relationships/notesSlide" Target="/ppt/notesSlides/notesSlide7.xml" Id="R5b1c3111e34d43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9a79d06ac9468c" /><Relationship Type="http://schemas.openxmlformats.org/officeDocument/2006/relationships/image" Target="/ppt/media/image4.png" Id="Ra731d2fda5dc4815" /><Relationship Type="http://schemas.openxmlformats.org/officeDocument/2006/relationships/image" Target="/ppt/media/image5.png" Id="R4298e3ddea7245c1" /><Relationship Type="http://schemas.openxmlformats.org/officeDocument/2006/relationships/notesSlide" Target="/ppt/notesSlides/notesSlide8.xml" Id="R25a8353abc664d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ef269ace4c34fec" /><Relationship Type="http://schemas.openxmlformats.org/officeDocument/2006/relationships/image" Target="/ppt/media/image6.png" Id="R812352e6aff24097" /><Relationship Type="http://schemas.openxmlformats.org/officeDocument/2006/relationships/image" Target="/ppt/media/image7.png" Id="Rb8c3647301b14cc0" /><Relationship Type="http://schemas.openxmlformats.org/officeDocument/2006/relationships/notesSlide" Target="/ppt/notesSlides/notesSlide9.xml" Id="R1ff8a7709e7e4d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84665547b944cb" /><Relationship Type="http://schemas.openxmlformats.org/officeDocument/2006/relationships/image" Target="/ppt/media/image8.png" Id="Raa806298865a4d4a" /><Relationship Type="http://schemas.openxmlformats.org/officeDocument/2006/relationships/image" Target="/ppt/media/image9.png" Id="R6281641106564129" /><Relationship Type="http://schemas.openxmlformats.org/officeDocument/2006/relationships/notesSlide" Target="/ppt/notesSlides/notesSlide10.xml" Id="R8b092dbaf1cc4c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fef6539f3bd4dea" /><Relationship Type="http://schemas.openxmlformats.org/officeDocument/2006/relationships/image" Target="/ppt/media/image10.png" Id="Rda5f3bdc21a349a6" /><Relationship Type="http://schemas.openxmlformats.org/officeDocument/2006/relationships/image" Target="/ppt/media/image11.png" Id="Rd57bf55fdbe64cb8" /><Relationship Type="http://schemas.openxmlformats.org/officeDocument/2006/relationships/notesSlide" Target="/ppt/notesSlides/notesSlide11.xml" Id="R29d2fbf4fc9747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d24a0e920b14f86" /><Relationship Type="http://schemas.openxmlformats.org/officeDocument/2006/relationships/image" Target="/ppt/media/image12.png" Id="R05c2504b73834a6f" /><Relationship Type="http://schemas.openxmlformats.org/officeDocument/2006/relationships/image" Target="/ppt/media/image13.png" Id="Rbcf0cdd7acff42d0" /><Relationship Type="http://schemas.openxmlformats.org/officeDocument/2006/relationships/notesSlide" Target="/ppt/notesSlides/notesSlide12.xml" Id="R8798c339ecd649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afcbeb875b421f" /><Relationship Type="http://schemas.openxmlformats.org/officeDocument/2006/relationships/image" Target="/ppt/media/image14.png" Id="Rd7e50125a2c64a54" /><Relationship Type="http://schemas.openxmlformats.org/officeDocument/2006/relationships/image" Target="/ppt/media/image15.png" Id="Ra4b9784573324ca7" /><Relationship Type="http://schemas.openxmlformats.org/officeDocument/2006/relationships/notesSlide" Target="/ppt/notesSlides/notesSlide13.xml" Id="Ra8a84488618d43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b20380bdf5945e0" /><Relationship Type="http://schemas.openxmlformats.org/officeDocument/2006/relationships/image" Target="/ppt/media/image16.png" Id="Rcc09ff7749b1419b" /><Relationship Type="http://schemas.openxmlformats.org/officeDocument/2006/relationships/image" Target="/ppt/media/image17.png" Id="Rbfdd6048543048ea" /><Relationship Type="http://schemas.openxmlformats.org/officeDocument/2006/relationships/notesSlide" Target="/ppt/notesSlides/notesSlide14.xml" Id="R3ec40bfd4a7342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2442471b6ce4bbf" /><Relationship Type="http://schemas.openxmlformats.org/officeDocument/2006/relationships/image" Target="/ppt/media/image18.png" Id="R6cd673a125b94503" /><Relationship Type="http://schemas.openxmlformats.org/officeDocument/2006/relationships/image" Target="/ppt/media/image19.png" Id="R03ace104368f44d7" /><Relationship Type="http://schemas.openxmlformats.org/officeDocument/2006/relationships/notesSlide" Target="/ppt/notesSlides/notesSlide15.xml" Id="Rf62a39247a304a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f47af2b3594853" /><Relationship Type="http://schemas.openxmlformats.org/officeDocument/2006/relationships/image" Target="/ppt/media/image20.png" Id="Rd4feac6dcd484c3e" /><Relationship Type="http://schemas.openxmlformats.org/officeDocument/2006/relationships/image" Target="/ppt/media/image21.png" Id="Rff5ba6aafd5940b4" /><Relationship Type="http://schemas.openxmlformats.org/officeDocument/2006/relationships/notesSlide" Target="/ppt/notesSlides/notesSlide16.xml" Id="R1c6e802e380e4a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flags</c:v>
          </c:tx>
          <c:spPr>
            <a:solidFill xmlns:a="http://schemas.openxmlformats.org/drawingml/2006/main">
              <a:srgbClr val="367A8C"/>
            </a:solidFill>
          </c:spPr>
          <c:invertIfNegative val="0"/>
          <c:cat>
            <c:strRef>
              <c:f>'Chart Data'!$A$2:$A$4</c:f>
              <c:strCache>
                <c:ptCount val="3"/>
                <c:pt idx="0">
                  <c:v>No counted flags</c:v>
                </c:pt>
                <c:pt idx="1">
                  <c:v>Flagged geometry</c:v>
                </c:pt>
                <c:pt idx="2">
                  <c:v>Failed fit</c:v>
                </c:pt>
              </c:strCache>
            </c:strRef>
          </c:cat>
          <c:val>
            <c:numRef>
              <c:f>'Chart Data'!$B$2:$B$4</c:f>
              <c:numCache>
                <c:formatCode>0%</c:formatCode>
                <c:ptCount val="3"/>
                <c:pt idx="0">
                  <c:v>0.10803</c:v>
                </c:pt>
                <c:pt idx="1">
                  <c:v>0</c:v>
                </c:pt>
                <c:pt idx="2">
                  <c:v>0</c:v>
                </c:pt>
              </c:numCache>
            </c:numRef>
          </c:val>
        </c:ser>
        <c:ser>
          <c:idx val="1"/>
          <c:order val="1"/>
          <c:tx>
            <c:v>1 flags</c:v>
          </c:tx>
          <c:spPr>
            <a:solidFill xmlns:a="http://schemas.openxmlformats.org/drawingml/2006/main">
              <a:srgbClr val="E5BB66"/>
            </a:solidFill>
          </c:spPr>
          <c:invertIfNegative val="0"/>
          <c:cat>
            <c:strRef>
              <c:f>'Chart Data'!$C$2:$C$4</c:f>
              <c:strCache>
                <c:ptCount val="3"/>
                <c:pt idx="0">
                  <c:v>No counted flags</c:v>
                </c:pt>
                <c:pt idx="1">
                  <c:v>Flagged geometry</c:v>
                </c:pt>
                <c:pt idx="2">
                  <c:v>Failed fit</c:v>
                </c:pt>
              </c:strCache>
            </c:strRef>
          </c:cat>
          <c:val>
            <c:numRef>
              <c:f>'Chart Data'!$D$2:$D$4</c:f>
              <c:numCache>
                <c:formatCode>0%</c:formatCode>
                <c:ptCount val="3"/>
                <c:pt idx="0">
                  <c:v>0</c:v>
                </c:pt>
                <c:pt idx="1">
                  <c:v>0.245949</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geometry</c:v>
                </c:pt>
                <c:pt idx="2">
                  <c:v>Failed fit</c:v>
                </c:pt>
              </c:strCache>
            </c:strRef>
          </c:cat>
          <c:val>
            <c:numRef>
              <c:f>'Chart Data'!$F$2:$F$4</c:f>
              <c:numCache>
                <c:formatCode>0%</c:formatCode>
                <c:ptCount val="3"/>
                <c:pt idx="0">
                  <c:v>0</c:v>
                </c:pt>
                <c:pt idx="1">
                  <c:v>0.303925</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geometry</c:v>
                </c:pt>
                <c:pt idx="2">
                  <c:v>Failed fit</c:v>
                </c:pt>
              </c:strCache>
            </c:strRef>
          </c:cat>
          <c:val>
            <c:numRef>
              <c:f>'Chart Data'!$H$2:$H$4</c:f>
              <c:numCache>
                <c:formatCode>0%</c:formatCode>
                <c:ptCount val="3"/>
                <c:pt idx="0">
                  <c:v>0</c:v>
                </c:pt>
                <c:pt idx="1">
                  <c:v>0.237667</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geometry</c:v>
                </c:pt>
                <c:pt idx="2">
                  <c:v>Failed fit</c:v>
                </c:pt>
              </c:strCache>
            </c:strRef>
          </c:cat>
          <c:val>
            <c:numRef>
              <c:f>'Chart Data'!$J$2:$J$4</c:f>
              <c:numCache>
                <c:formatCode>0%</c:formatCode>
                <c:ptCount val="3"/>
                <c:pt idx="0">
                  <c:v>0</c:v>
                </c:pt>
                <c:pt idx="1">
                  <c:v>0.068779</c:v>
                </c:pt>
                <c:pt idx="2">
                  <c:v>0</c:v>
                </c:pt>
              </c:numCache>
            </c:numRef>
          </c:val>
        </c:ser>
        <c:ser>
          <c:idx val="5"/>
          <c:order val="5"/>
          <c:tx>
            <c:v>5 flags</c:v>
          </c:tx>
          <c:spPr>
            <a:solidFill xmlns:a="http://schemas.openxmlformats.org/drawingml/2006/main">
              <a:srgbClr val="754E79"/>
            </a:solidFill>
          </c:spPr>
          <c:invertIfNegative val="0"/>
          <c:cat>
            <c:strRef>
              <c:f>'Chart Data'!$K$2:$K$4</c:f>
              <c:strCache>
                <c:ptCount val="3"/>
                <c:pt idx="0">
                  <c:v>No counted flags</c:v>
                </c:pt>
                <c:pt idx="1">
                  <c:v>Flagged geometry</c:v>
                </c:pt>
                <c:pt idx="2">
                  <c:v>Failed fit</c:v>
                </c:pt>
              </c:strCache>
            </c:strRef>
          </c:cat>
          <c:val>
            <c:numRef>
              <c:f>'Chart Data'!$L$2:$L$4</c:f>
              <c:numCache>
                <c:formatCode>0%</c:formatCode>
                <c:ptCount val="3"/>
                <c:pt idx="0">
                  <c:v>0</c:v>
                </c:pt>
                <c:pt idx="1">
                  <c:v>0.021246</c:v>
                </c:pt>
                <c:pt idx="2">
                  <c:v>0</c:v>
                </c:pt>
              </c:numCache>
            </c:numRef>
          </c:val>
        </c:ser>
        <c:ser>
          <c:idx val="6"/>
          <c:order val="6"/>
          <c:tx>
            <c:v>6 flags</c:v>
          </c:tx>
          <c:spPr>
            <a:solidFill xmlns:a="http://schemas.openxmlformats.org/drawingml/2006/main">
              <a:srgbClr val="563B60"/>
            </a:solidFill>
          </c:spPr>
          <c:invertIfNegative val="0"/>
          <c:cat>
            <c:strRef>
              <c:f>'Chart Data'!$M$2:$M$4</c:f>
              <c:strCache>
                <c:ptCount val="3"/>
                <c:pt idx="0">
                  <c:v>No counted flags</c:v>
                </c:pt>
                <c:pt idx="1">
                  <c:v>Flagged geometry</c:v>
                </c:pt>
                <c:pt idx="2">
                  <c:v>Failed fit</c:v>
                </c:pt>
              </c:strCache>
            </c:strRef>
          </c:cat>
          <c:val>
            <c:numRef>
              <c:f>'Chart Data'!$N$2:$N$4</c:f>
              <c:numCache>
                <c:formatCode>0%</c:formatCode>
                <c:ptCount val="3"/>
                <c:pt idx="0">
                  <c:v>0</c:v>
                </c:pt>
                <c:pt idx="1">
                  <c:v>0.010803</c:v>
                </c:pt>
                <c:pt idx="2">
                  <c:v>0</c:v>
                </c:pt>
              </c:numCache>
            </c:numRef>
          </c:val>
        </c:ser>
        <c:ser>
          <c:idx val="7"/>
          <c:order val="7"/>
          <c:tx>
            <c:v>7 flags</c:v>
          </c:tx>
          <c:spPr>
            <a:solidFill xmlns:a="http://schemas.openxmlformats.org/drawingml/2006/main">
              <a:srgbClr val="4A587A"/>
            </a:solidFill>
          </c:spPr>
          <c:invertIfNegative val="0"/>
          <c:cat>
            <c:strRef>
              <c:f>'Chart Data'!$O$2:$O$4</c:f>
              <c:strCache>
                <c:ptCount val="3"/>
                <c:pt idx="0">
                  <c:v>No counted flags</c:v>
                </c:pt>
                <c:pt idx="1">
                  <c:v>Flagged geometry</c:v>
                </c:pt>
                <c:pt idx="2">
                  <c:v>Failed fit</c:v>
                </c:pt>
              </c:strCache>
            </c:strRef>
          </c:cat>
          <c:val>
            <c:numRef>
              <c:f>'Chart Data'!$P$2:$P$4</c:f>
              <c:numCache>
                <c:formatCode>0%</c:formatCode>
                <c:ptCount val="3"/>
                <c:pt idx="0">
                  <c:v>0</c:v>
                </c:pt>
                <c:pt idx="1">
                  <c:v>0.001801</c:v>
                </c:pt>
                <c:pt idx="2">
                  <c:v>0</c:v>
                </c:pt>
              </c:numCache>
            </c:numRef>
          </c:val>
        </c:ser>
        <c:ser>
          <c:idx val="8"/>
          <c:order val="8"/>
          <c:tx>
            <c:v>8 flags</c:v>
          </c:tx>
          <c:spPr>
            <a:solidFill xmlns:a="http://schemas.openxmlformats.org/drawingml/2006/main">
              <a:srgbClr val="4E7B71"/>
            </a:solidFill>
          </c:spPr>
          <c:invertIfNegative val="0"/>
          <c:cat>
            <c:strRef>
              <c:f>'Chart Data'!$Q$2:$Q$4</c:f>
              <c:strCache>
                <c:ptCount val="3"/>
                <c:pt idx="0">
                  <c:v>No counted flags</c:v>
                </c:pt>
                <c:pt idx="1">
                  <c:v>Flagged geometry</c:v>
                </c:pt>
                <c:pt idx="2">
                  <c:v>Failed fit</c:v>
                </c:pt>
              </c:strCache>
            </c:strRef>
          </c:cat>
          <c:val>
            <c:numRef>
              <c:f>'Chart Data'!$R$2:$R$4</c:f>
              <c:numCache>
                <c:formatCode>0%</c:formatCode>
                <c:ptCount val="3"/>
                <c:pt idx="0">
                  <c:v>0</c:v>
                </c:pt>
                <c:pt idx="1">
                  <c:v>0.00036</c:v>
                </c:pt>
                <c:pt idx="2">
                  <c:v>0</c:v>
                </c:pt>
              </c:numCache>
            </c:numRef>
          </c:val>
        </c:ser>
        <c:ser>
          <c:idx val="9"/>
          <c:order val="9"/>
          <c:tx>
            <c:v>Failed</c:v>
          </c:tx>
          <c:spPr>
            <a:solidFill xmlns:a="http://schemas.openxmlformats.org/drawingml/2006/main">
              <a:srgbClr val="AC4B47"/>
            </a:solidFill>
          </c:spPr>
          <c:invertIfNegative val="0"/>
          <c:cat>
            <c:strRef>
              <c:f>'Chart Data'!$S$2:$S$4</c:f>
              <c:strCache>
                <c:ptCount val="3"/>
                <c:pt idx="0">
                  <c:v>No counted flags</c:v>
                </c:pt>
                <c:pt idx="1">
                  <c:v>Flagged geometry</c:v>
                </c:pt>
                <c:pt idx="2">
                  <c:v>Failed fit</c:v>
                </c:pt>
              </c:strCache>
            </c:strRef>
          </c:cat>
          <c:val>
            <c:numRef>
              <c:f>'Chart Data'!$T$2:$T$4</c:f>
              <c:numCache>
                <c:formatCode>0%</c:formatCode>
                <c:ptCount val="3"/>
                <c:pt idx="0">
                  <c:v>0</c:v>
                </c:pt>
                <c:pt idx="1">
                  <c:v>0</c:v>
                </c:pt>
                <c:pt idx="2">
                  <c:v>0.00144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Galaxies</c:v>
          </c:tx>
          <c:spPr>
            <a:solidFill xmlns:a="http://schemas.openxmlformats.org/drawingml/2006/main">
              <a:srgbClr val="C18B28"/>
            </a:solidFill>
          </c:spPr>
          <c:invertIfNegative val="0"/>
          <c:cat>
            <c:strRef>
              <c:f>'Chart Data'!$A$2:$A$12</c:f>
              <c:strCache>
                <c:ptCount val="11"/>
                <c:pt idx="0">
                  <c:v>Small selected bar interval</c:v>
                </c:pt>
                <c:pt idx="1">
                  <c:v>Changing disc ellipticity</c:v>
                </c:pt>
                <c:pt idx="2">
                  <c:v>Unstable disc PA</c:v>
                </c:pt>
                <c:pt idx="3">
                  <c:v>No accepted bar; disc retained</c:v>
                </c:pt>
                <c:pt idx="4">
                  <c:v>Small disc</c:v>
                </c:pt>
                <c:pt idx="5">
                  <c:v>Disc interval fallback</c:v>
                </c:pt>
                <c:pt idx="6">
                  <c:v>Weaker accepted bar signature</c:v>
                </c:pt>
                <c:pt idx="7">
                  <c:v>Bar and disc intervals close</c:v>
                </c:pt>
                <c:pt idx="8">
                  <c:v>Large centre offset</c:v>
                </c:pt>
                <c:pt idx="9">
                  <c:v>Star mask removed in retry</c:v>
                </c:pt>
                <c:pt idx="10">
                  <c:v>Relaxed recovery</c:v>
                </c:pt>
              </c:strCache>
            </c:strRef>
          </c:cat>
          <c:val>
            <c:numRef>
              <c:f>'Chart Data'!$B$2:$B$12</c:f>
              <c:numCache>
                <c:formatCode>0</c:formatCode>
                <c:ptCount val="11"/>
                <c:pt idx="0">
                  <c:v>1447</c:v>
                </c:pt>
                <c:pt idx="1">
                  <c:v>1355</c:v>
                </c:pt>
                <c:pt idx="2">
                  <c:v>1273</c:v>
                </c:pt>
                <c:pt idx="3">
                  <c:v>453</c:v>
                </c:pt>
                <c:pt idx="4">
                  <c:v>298</c:v>
                </c:pt>
                <c:pt idx="5">
                  <c:v>269</c:v>
                </c:pt>
                <c:pt idx="6">
                  <c:v>231</c:v>
                </c:pt>
                <c:pt idx="7">
                  <c:v>211</c:v>
                </c:pt>
                <c:pt idx="8">
                  <c:v>44</c:v>
                </c:pt>
                <c:pt idx="9">
                  <c:v>18</c:v>
                </c:pt>
                <c:pt idx="10">
                  <c:v>13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0A4D3D-E4DF-4D35-AF91-51ED24C2C87C}"/>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Euclid MER VIS adaptive geometry outcomes</a:t>
            </a:r>
          </a:p>
        </p:txBody>
      </p:sp>
      <p:sp>
        <p:nvSpPr>
          <p:cNvPr id="2" name="">
            <a:extLst xmlns:a="http://schemas.openxmlformats.org/drawingml/2006/main">
              <a:ext uri="{FF2B5EF4-FFF2-40B4-BE49-F238E27FC236}">
                <a16:creationId xmlns:a16="http://schemas.microsoft.com/office/drawing/2014/main" id="{3DEF91FC-5762-4C8B-9CCD-40DFDA246F7D}"/>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16</a:t>
            </a:r>
          </a:p>
        </p:txBody>
      </p:sp>
      <p:sp>
        <p:nvSpPr>
          <p:cNvPr id="3" name="">
            <a:extLst xmlns:a="http://schemas.openxmlformats.org/drawingml/2006/main">
              <a:ext uri="{FF2B5EF4-FFF2-40B4-BE49-F238E27FC236}">
                <a16:creationId xmlns:a16="http://schemas.microsoft.com/office/drawing/2014/main" id="{24F8BDD7-9DB8-4CDE-ABDC-DF90CB7BB2F2}"/>
              </a:ext>
            </a:extLst>
          </p:cNvPr>
          <p:cNvSpPr>
            <a:spLocks xmlns:a="http://schemas.openxmlformats.org/drawingml/2006/main" noGrp="1"/>
          </p:cNvSpPr>
          <p:nvPr/>
        </p:nvSpPr>
        <p:spPr>
          <a:xfrm xmlns:a="http://schemas.openxmlformats.org/drawingml/2006/main">
            <a:off x="609600" y="1905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205F7A"/>
                </a:solidFill>
                <a:latin typeface="Arial"/>
                <a:ea typeface="Arial"/>
                <a:cs typeface="Arial"/>
              </a:defRPr>
            </a:defPPr>
            <a:lvl1pPr>
              <a:defRPr sz="4125" b="1">
                <a:solidFill>
                  <a:srgbClr val="205F7A"/>
                </a:solidFill>
                <a:latin typeface="Arial"/>
                <a:ea typeface="Arial"/>
                <a:cs typeface="Arial"/>
              </a:defRPr>
            </a:lvl1pPr>
            <a:lvl2pPr>
              <a:defRPr sz="4125" b="1">
                <a:solidFill>
                  <a:srgbClr val="205F7A"/>
                </a:solidFill>
                <a:latin typeface="Arial"/>
                <a:ea typeface="Arial"/>
                <a:cs typeface="Arial"/>
              </a:defRPr>
            </a:lvl2pPr>
            <a:lvl3pPr>
              <a:defRPr sz="4125" b="1">
                <a:solidFill>
                  <a:srgbClr val="205F7A"/>
                </a:solidFill>
                <a:latin typeface="Arial"/>
                <a:ea typeface="Arial"/>
                <a:cs typeface="Arial"/>
              </a:defRPr>
            </a:lvl3pPr>
            <a:lvl4pPr>
              <a:defRPr sz="4125" b="1">
                <a:solidFill>
                  <a:srgbClr val="205F7A"/>
                </a:solidFill>
                <a:latin typeface="Arial"/>
                <a:ea typeface="Arial"/>
                <a:cs typeface="Arial"/>
              </a:defRPr>
            </a:lvl4pPr>
            <a:lvl5pPr>
              <a:defRPr sz="4125" b="1">
                <a:solidFill>
                  <a:srgbClr val="205F7A"/>
                </a:solidFill>
                <a:latin typeface="Arial"/>
                <a:ea typeface="Arial"/>
                <a:cs typeface="Arial"/>
              </a:defRPr>
            </a:lvl5pPr>
            <a:lvl6pPr>
              <a:defRPr sz="4125" b="1">
                <a:solidFill>
                  <a:srgbClr val="205F7A"/>
                </a:solidFill>
                <a:latin typeface="Arial"/>
                <a:ea typeface="Arial"/>
                <a:cs typeface="Arial"/>
              </a:defRPr>
            </a:lvl6pPr>
            <a:lvl7pPr>
              <a:defRPr sz="4125" b="1">
                <a:solidFill>
                  <a:srgbClr val="205F7A"/>
                </a:solidFill>
                <a:latin typeface="Arial"/>
                <a:ea typeface="Arial"/>
                <a:cs typeface="Arial"/>
              </a:defRPr>
            </a:lvl7pPr>
            <a:lvl8pPr>
              <a:defRPr sz="4125" b="1">
                <a:solidFill>
                  <a:srgbClr val="205F7A"/>
                </a:solidFill>
                <a:latin typeface="Arial"/>
                <a:ea typeface="Arial"/>
                <a:cs typeface="Arial"/>
              </a:defRPr>
            </a:lvl8pPr>
            <a:lvl9pPr>
              <a:defRPr sz="4125" b="1">
                <a:solidFill>
                  <a:srgbClr val="205F7A"/>
                </a:solidFill>
                <a:latin typeface="Arial"/>
                <a:ea typeface="Arial"/>
                <a:cs typeface="Arial"/>
              </a:defRPr>
            </a:lvl9pPr>
          </a:lstStyle>
          <a:p xmlns:a="http://schemas.openxmlformats.org/drawingml/2006/main">
            <a:pPr>
              <a:defRPr sz="4125" b="1">
                <a:solidFill>
                  <a:srgbClr val="205F7A"/>
                </a:solidFill>
                <a:latin typeface="Arial"/>
                <a:ea typeface="Arial"/>
                <a:cs typeface="Arial"/>
              </a:defRPr>
            </a:pPr>
            <a:r>
              <a:rPr sz="4125" b="1">
                <a:solidFill>
                  <a:srgbClr val="205F7A"/>
                </a:solidFill>
                <a:latin typeface="Arial"/>
                <a:ea typeface="Arial"/>
                <a:cs typeface="Arial"/>
              </a:rPr>
              <a:t>2,777 galaxies reprocessed</a:t>
            </a:r>
          </a:p>
        </p:txBody>
      </p:sp>
      <p:sp>
        <p:nvSpPr>
          <p:cNvPr id="4" name="">
            <a:extLst xmlns:a="http://schemas.openxmlformats.org/drawingml/2006/main">
              <a:ext uri="{FF2B5EF4-FFF2-40B4-BE49-F238E27FC236}">
                <a16:creationId xmlns:a16="http://schemas.microsoft.com/office/drawing/2014/main" id="{65EA34E3-E6EA-43B1-97FA-770B7D95EB66}"/>
              </a:ext>
            </a:extLst>
          </p:cNvPr>
          <p:cNvSpPr>
            <a:spLocks xmlns:a="http://schemas.openxmlformats.org/drawingml/2006/main" noGrp="1"/>
          </p:cNvSpPr>
          <p:nvPr/>
        </p:nvSpPr>
        <p:spPr>
          <a:xfrm xmlns:a="http://schemas.openxmlformats.org/drawingml/2006/main">
            <a:off x="609600" y="3048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633"/>
                </a:solidFill>
                <a:latin typeface="Arial"/>
                <a:ea typeface="Arial"/>
                <a:cs typeface="Arial"/>
              </a:defRPr>
            </a:defPPr>
            <a:lvl1pPr>
              <a:defRPr sz="2550" b="0">
                <a:solidFill>
                  <a:srgbClr val="142633"/>
                </a:solidFill>
                <a:latin typeface="Arial"/>
                <a:ea typeface="Arial"/>
                <a:cs typeface="Arial"/>
              </a:defRPr>
            </a:lvl1pPr>
            <a:lvl2pPr>
              <a:defRPr sz="2550" b="0">
                <a:solidFill>
                  <a:srgbClr val="142633"/>
                </a:solidFill>
                <a:latin typeface="Arial"/>
                <a:ea typeface="Arial"/>
                <a:cs typeface="Arial"/>
              </a:defRPr>
            </a:lvl2pPr>
            <a:lvl3pPr>
              <a:defRPr sz="2550" b="0">
                <a:solidFill>
                  <a:srgbClr val="142633"/>
                </a:solidFill>
                <a:latin typeface="Arial"/>
                <a:ea typeface="Arial"/>
                <a:cs typeface="Arial"/>
              </a:defRPr>
            </a:lvl3pPr>
            <a:lvl4pPr>
              <a:defRPr sz="2550" b="0">
                <a:solidFill>
                  <a:srgbClr val="142633"/>
                </a:solidFill>
                <a:latin typeface="Arial"/>
                <a:ea typeface="Arial"/>
                <a:cs typeface="Arial"/>
              </a:defRPr>
            </a:lvl4pPr>
            <a:lvl5pPr>
              <a:defRPr sz="2550" b="0">
                <a:solidFill>
                  <a:srgbClr val="142633"/>
                </a:solidFill>
                <a:latin typeface="Arial"/>
                <a:ea typeface="Arial"/>
                <a:cs typeface="Arial"/>
              </a:defRPr>
            </a:lvl5pPr>
            <a:lvl6pPr>
              <a:defRPr sz="2550" b="0">
                <a:solidFill>
                  <a:srgbClr val="142633"/>
                </a:solidFill>
                <a:latin typeface="Arial"/>
                <a:ea typeface="Arial"/>
                <a:cs typeface="Arial"/>
              </a:defRPr>
            </a:lvl6pPr>
            <a:lvl7pPr>
              <a:defRPr sz="2550" b="0">
                <a:solidFill>
                  <a:srgbClr val="142633"/>
                </a:solidFill>
                <a:latin typeface="Arial"/>
                <a:ea typeface="Arial"/>
                <a:cs typeface="Arial"/>
              </a:defRPr>
            </a:lvl7pPr>
            <a:lvl8pPr>
              <a:defRPr sz="2550" b="0">
                <a:solidFill>
                  <a:srgbClr val="142633"/>
                </a:solidFill>
                <a:latin typeface="Arial"/>
                <a:ea typeface="Arial"/>
                <a:cs typeface="Arial"/>
              </a:defRPr>
            </a:lvl8pPr>
            <a:lvl9pPr>
              <a:defRPr sz="2550" b="0">
                <a:solidFill>
                  <a:srgbClr val="142633"/>
                </a:solidFill>
                <a:latin typeface="Arial"/>
                <a:ea typeface="Arial"/>
                <a:cs typeface="Arial"/>
              </a:defRPr>
            </a:lvl9pPr>
          </a:lstStyle>
          <a:p xmlns:a="http://schemas.openxmlformats.org/drawingml/2006/main">
            <a:pPr>
              <a:defRPr sz="2550" b="0">
                <a:solidFill>
                  <a:srgbClr val="142633"/>
                </a:solidFill>
                <a:latin typeface="Arial"/>
                <a:ea typeface="Arial"/>
                <a:cs typeface="Arial"/>
              </a:defRPr>
            </a:pPr>
            <a:r>
              <a:rPr sz="2550" b="0">
                <a:solidFill>
                  <a:srgbClr val="142633"/>
                </a:solidFill>
                <a:latin typeface="Arial"/>
                <a:ea typeface="Arial"/>
                <a:cs typeface="Arial"/>
              </a:rPr>
              <a:t>2773 disc measurements; 4 remaining failures</a:t>
            </a:r>
          </a:p>
        </p:txBody>
      </p:sp>
      <p:sp>
        <p:nvSpPr>
          <p:cNvPr id="5" name="">
            <a:extLst xmlns:a="http://schemas.openxmlformats.org/drawingml/2006/main">
              <a:ext uri="{FF2B5EF4-FFF2-40B4-BE49-F238E27FC236}">
                <a16:creationId xmlns:a16="http://schemas.microsoft.com/office/drawing/2014/main" id="{50B8B623-D923-40A3-98E0-F2939B408292}"/>
              </a:ext>
            </a:extLst>
          </p:cNvPr>
          <p:cNvSpPr>
            <a:spLocks xmlns:a="http://schemas.openxmlformats.org/drawingml/2006/main" noGrp="1"/>
          </p:cNvSpPr>
          <p:nvPr/>
        </p:nvSpPr>
        <p:spPr>
          <a:xfrm xmlns:a="http://schemas.openxmlformats.org/drawingml/2006/main">
            <a:off x="609600" y="3905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567 of 570 original failures recovered</a:t>
            </a:r>
          </a:p>
        </p:txBody>
      </p:sp>
      <p:sp>
        <p:nvSpPr>
          <p:cNvPr id="6" name="">
            <a:extLst xmlns:a="http://schemas.openxmlformats.org/drawingml/2006/main">
              <a:ext uri="{FF2B5EF4-FFF2-40B4-BE49-F238E27FC236}">
                <a16:creationId xmlns:a16="http://schemas.microsoft.com/office/drawing/2014/main" id="{A76F1E65-D63E-4922-A276-44F66AE98CF7}"/>
              </a:ext>
            </a:extLst>
          </p:cNvPr>
          <p:cNvSpPr>
            <a:spLocks xmlns:a="http://schemas.openxmlformats.org/drawingml/2006/main" noGrp="1"/>
          </p:cNvSpPr>
          <p:nvPr/>
        </p:nvSpPr>
        <p:spPr>
          <a:xfrm xmlns:a="http://schemas.openxmlformats.org/drawingml/2006/main">
            <a:off x="609600" y="4810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Centres checked from the images. Disc and bar outcomes reported separately.</a:t>
            </a:r>
          </a:p>
        </p:txBody>
      </p:sp>
      <p:sp>
        <p:nvSpPr>
          <p:cNvPr id="7" name="">
            <a:extLst xmlns:a="http://schemas.openxmlformats.org/drawingml/2006/main">
              <a:ext uri="{FF2B5EF4-FFF2-40B4-BE49-F238E27FC236}">
                <a16:creationId xmlns:a16="http://schemas.microsoft.com/office/drawing/2014/main" id="{C89E7366-E4F6-4BD1-B401-17EBFC0BE71A}"/>
              </a:ext>
            </a:extLst>
          </p:cNvPr>
          <p:cNvSpPr>
            <a:spLocks xmlns:a="http://schemas.openxmlformats.org/drawingml/2006/main" noGrp="1"/>
          </p:cNvSpPr>
          <p:nvPr/>
        </p:nvSpPr>
        <p:spPr>
          <a:xfrm xmlns:a="http://schemas.openxmlformats.org/drawingml/2006/main">
            <a:off x="609600" y="59055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Current run 20 October 2026</a:t>
            </a:r>
          </a:p>
        </p:txBody>
      </p:sp>
    </p:spTree>
    <p:extLst>
      <p:ext uri="{BB962C8B-B14F-4D97-AF65-F5344CB8AC3E}">
        <p14:creationId xmlns:p14="http://schemas.microsoft.com/office/powerpoint/2010/main" val="88591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66F0692-8069-4F01-91F1-02F37027DF58}"/>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Fitting outcomes by counted quality flags</a:t>
            </a:r>
          </a:p>
        </p:txBody>
      </p:sp>
      <p:sp>
        <p:nvSpPr>
          <p:cNvPr id="2" name="">
            <a:extLst xmlns:a="http://schemas.openxmlformats.org/drawingml/2006/main">
              <a:ext uri="{FF2B5EF4-FFF2-40B4-BE49-F238E27FC236}">
                <a16:creationId xmlns:a16="http://schemas.microsoft.com/office/drawing/2014/main" id="{F1A8A116-B8B5-473F-9178-06E0911462CB}"/>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16</a:t>
            </a:r>
          </a:p>
        </p:txBody>
      </p:sp>
      <p:sp>
        <p:nvSpPr>
          <p:cNvPr id="3" name="">
            <a:extLst xmlns:a="http://schemas.openxmlformats.org/drawingml/2006/main">
              <a:ext uri="{FF2B5EF4-FFF2-40B4-BE49-F238E27FC236}">
                <a16:creationId xmlns:a16="http://schemas.microsoft.com/office/drawing/2014/main" id="{275FC1F6-3DC0-4D0F-B997-18963E7F246B}"/>
              </a:ext>
            </a:extLst>
          </p:cNvPr>
          <p:cNvSpPr>
            <a:spLocks xmlns:a="http://schemas.openxmlformats.org/drawingml/2006/main" noGrp="1"/>
          </p:cNvSpPr>
          <p:nvPr/>
        </p:nvSpPr>
        <p:spPr>
          <a:xfrm xmlns:a="http://schemas.openxmlformats.org/drawingml/2006/main">
            <a:off x="609600" y="1285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Percentage of all 2,777 galaxies. Face-on is informational.</a:t>
            </a:r>
          </a:p>
        </p:txBody>
      </p:sp>
      <p:graphicFrame>
        <p:nvGraphicFramePr>
          <p:cNvPr id="4" name="Chart">
            <a:extLst xmlns:a="http://schemas.openxmlformats.org/drawingml/2006/main">
              <a:ext uri="{FF2B5EF4-FFF2-40B4-BE49-F238E27FC236}">
                <a16:creationId xmlns:a16="http://schemas.microsoft.com/office/drawing/2014/main" id="{CCCD1DC2-3D2B-4FB7-8691-FD9FC5153D4B}"/>
              </a:ext>
            </a:extLst>
          </p:cNvPr>
          <p:cNvGraphicFramePr/>
          <p:nvPr/>
        </p:nvGraphicFramePr>
        <p:xfrm>
          <a:off xmlns:a="http://schemas.openxmlformats.org/drawingml/2006/main" x="609600" y="1905000"/>
          <a:ext xmlns:a="http://schemas.openxmlformats.org/drawingml/2006/main" cx="7429500" cy="3619500"/>
        </p:xfrm>
        <a:graphic xmlns:a="http://schemas.openxmlformats.org/drawingml/2006/main">
          <a:graphicData uri="http://schemas.openxmlformats.org/drawingml/2006/chart">
            <c:chart xmlns:r="http://schemas.openxmlformats.org/officeDocument/2006/relationships" xmlns:c="http://schemas.openxmlformats.org/drawingml/2006/chart" r:id="Ra0db1e7e21de4f5e"/>
          </a:graphicData>
        </a:graphic>
      </p:graphicFrame>
      <p:sp>
        <p:nvSpPr>
          <p:cNvPr id="5" name="">
            <a:extLst xmlns:a="http://schemas.openxmlformats.org/drawingml/2006/main">
              <a:ext uri="{FF2B5EF4-FFF2-40B4-BE49-F238E27FC236}">
                <a16:creationId xmlns:a16="http://schemas.microsoft.com/office/drawing/2014/main" id="{5CFAB621-7038-40BB-816E-46F87A112EAD}"/>
              </a:ext>
            </a:extLst>
          </p:cNvPr>
          <p:cNvSpPr>
            <a:spLocks xmlns:a="http://schemas.openxmlformats.org/drawingml/2006/main" noGrp="1"/>
          </p:cNvSpPr>
          <p:nvPr/>
        </p:nvSpPr>
        <p:spPr>
          <a:xfrm xmlns:a="http://schemas.openxmlformats.org/drawingml/2006/main">
            <a:off x="8286750" y="18097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5F7A"/>
                </a:solidFill>
                <a:latin typeface="Arial"/>
                <a:ea typeface="Arial"/>
                <a:cs typeface="Arial"/>
              </a:defRPr>
            </a:defPPr>
            <a:lvl1pPr>
              <a:defRPr sz="1875" b="1">
                <a:solidFill>
                  <a:srgbClr val="205F7A"/>
                </a:solidFill>
                <a:latin typeface="Arial"/>
                <a:ea typeface="Arial"/>
                <a:cs typeface="Arial"/>
              </a:defRPr>
            </a:lvl1pPr>
            <a:lvl2pPr>
              <a:defRPr sz="1875" b="1">
                <a:solidFill>
                  <a:srgbClr val="205F7A"/>
                </a:solidFill>
                <a:latin typeface="Arial"/>
                <a:ea typeface="Arial"/>
                <a:cs typeface="Arial"/>
              </a:defRPr>
            </a:lvl2pPr>
            <a:lvl3pPr>
              <a:defRPr sz="1875" b="1">
                <a:solidFill>
                  <a:srgbClr val="205F7A"/>
                </a:solidFill>
                <a:latin typeface="Arial"/>
                <a:ea typeface="Arial"/>
                <a:cs typeface="Arial"/>
              </a:defRPr>
            </a:lvl3pPr>
            <a:lvl4pPr>
              <a:defRPr sz="1875" b="1">
                <a:solidFill>
                  <a:srgbClr val="205F7A"/>
                </a:solidFill>
                <a:latin typeface="Arial"/>
                <a:ea typeface="Arial"/>
                <a:cs typeface="Arial"/>
              </a:defRPr>
            </a:lvl4pPr>
            <a:lvl5pPr>
              <a:defRPr sz="1875" b="1">
                <a:solidFill>
                  <a:srgbClr val="205F7A"/>
                </a:solidFill>
                <a:latin typeface="Arial"/>
                <a:ea typeface="Arial"/>
                <a:cs typeface="Arial"/>
              </a:defRPr>
            </a:lvl5pPr>
            <a:lvl6pPr>
              <a:defRPr sz="1875" b="1">
                <a:solidFill>
                  <a:srgbClr val="205F7A"/>
                </a:solidFill>
                <a:latin typeface="Arial"/>
                <a:ea typeface="Arial"/>
                <a:cs typeface="Arial"/>
              </a:defRPr>
            </a:lvl6pPr>
            <a:lvl7pPr>
              <a:defRPr sz="1875" b="1">
                <a:solidFill>
                  <a:srgbClr val="205F7A"/>
                </a:solidFill>
                <a:latin typeface="Arial"/>
                <a:ea typeface="Arial"/>
                <a:cs typeface="Arial"/>
              </a:defRPr>
            </a:lvl7pPr>
            <a:lvl8pPr>
              <a:defRPr sz="1875" b="1">
                <a:solidFill>
                  <a:srgbClr val="205F7A"/>
                </a:solidFill>
                <a:latin typeface="Arial"/>
                <a:ea typeface="Arial"/>
                <a:cs typeface="Arial"/>
              </a:defRPr>
            </a:lvl8pPr>
            <a:lvl9pPr>
              <a:defRPr sz="1875" b="1">
                <a:solidFill>
                  <a:srgbClr val="205F7A"/>
                </a:solidFill>
                <a:latin typeface="Arial"/>
                <a:ea typeface="Arial"/>
                <a:cs typeface="Arial"/>
              </a:defRPr>
            </a:lvl9pPr>
          </a:lstStyle>
          <a:p xmlns:a="http://schemas.openxmlformats.org/drawingml/2006/main">
            <a:pPr>
              <a:defRPr sz="1875" b="1">
                <a:solidFill>
                  <a:srgbClr val="205F7A"/>
                </a:solidFill>
                <a:latin typeface="Arial"/>
                <a:ea typeface="Arial"/>
                <a:cs typeface="Arial"/>
              </a:defRPr>
            </a:pPr>
            <a:r>
              <a:rPr sz="1875" b="1">
                <a:solidFill>
                  <a:srgbClr val="205F7A"/>
                </a:solidFill>
                <a:latin typeface="Arial"/>
                <a:ea typeface="Arial"/>
                <a:cs typeface="Arial"/>
              </a:rPr>
              <a:t>No flags: 300 (10.8%)</a:t>
            </a:r>
          </a:p>
        </p:txBody>
      </p:sp>
      <p:sp>
        <p:nvSpPr>
          <p:cNvPr id="6" name="">
            <a:extLst xmlns:a="http://schemas.openxmlformats.org/drawingml/2006/main">
              <a:ext uri="{FF2B5EF4-FFF2-40B4-BE49-F238E27FC236}">
                <a16:creationId xmlns:a16="http://schemas.microsoft.com/office/drawing/2014/main" id="{EE3B2EFB-C081-4051-A7BD-93F409183526}"/>
              </a:ext>
            </a:extLst>
          </p:cNvPr>
          <p:cNvSpPr>
            <a:spLocks xmlns:a="http://schemas.openxmlformats.org/drawingml/2006/main" noGrp="1"/>
          </p:cNvSpPr>
          <p:nvPr/>
        </p:nvSpPr>
        <p:spPr>
          <a:xfrm xmlns:a="http://schemas.openxmlformats.org/drawingml/2006/main">
            <a:off x="8286750" y="24765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E5BB66"/>
                </a:solidFill>
                <a:latin typeface="Arial"/>
                <a:ea typeface="Arial"/>
                <a:cs typeface="Arial"/>
              </a:defRPr>
            </a:defPPr>
            <a:lvl1pPr>
              <a:defRPr sz="1650" b="1">
                <a:solidFill>
                  <a:srgbClr val="E5BB66"/>
                </a:solidFill>
                <a:latin typeface="Arial"/>
                <a:ea typeface="Arial"/>
                <a:cs typeface="Arial"/>
              </a:defRPr>
            </a:lvl1pPr>
            <a:lvl2pPr>
              <a:defRPr sz="1650" b="1">
                <a:solidFill>
                  <a:srgbClr val="E5BB66"/>
                </a:solidFill>
                <a:latin typeface="Arial"/>
                <a:ea typeface="Arial"/>
                <a:cs typeface="Arial"/>
              </a:defRPr>
            </a:lvl2pPr>
            <a:lvl3pPr>
              <a:defRPr sz="1650" b="1">
                <a:solidFill>
                  <a:srgbClr val="E5BB66"/>
                </a:solidFill>
                <a:latin typeface="Arial"/>
                <a:ea typeface="Arial"/>
                <a:cs typeface="Arial"/>
              </a:defRPr>
            </a:lvl3pPr>
            <a:lvl4pPr>
              <a:defRPr sz="1650" b="1">
                <a:solidFill>
                  <a:srgbClr val="E5BB66"/>
                </a:solidFill>
                <a:latin typeface="Arial"/>
                <a:ea typeface="Arial"/>
                <a:cs typeface="Arial"/>
              </a:defRPr>
            </a:lvl4pPr>
            <a:lvl5pPr>
              <a:defRPr sz="1650" b="1">
                <a:solidFill>
                  <a:srgbClr val="E5BB66"/>
                </a:solidFill>
                <a:latin typeface="Arial"/>
                <a:ea typeface="Arial"/>
                <a:cs typeface="Arial"/>
              </a:defRPr>
            </a:lvl5pPr>
            <a:lvl6pPr>
              <a:defRPr sz="1650" b="1">
                <a:solidFill>
                  <a:srgbClr val="E5BB66"/>
                </a:solidFill>
                <a:latin typeface="Arial"/>
                <a:ea typeface="Arial"/>
                <a:cs typeface="Arial"/>
              </a:defRPr>
            </a:lvl6pPr>
            <a:lvl7pPr>
              <a:defRPr sz="1650" b="1">
                <a:solidFill>
                  <a:srgbClr val="E5BB66"/>
                </a:solidFill>
                <a:latin typeface="Arial"/>
                <a:ea typeface="Arial"/>
                <a:cs typeface="Arial"/>
              </a:defRPr>
            </a:lvl7pPr>
            <a:lvl8pPr>
              <a:defRPr sz="1650" b="1">
                <a:solidFill>
                  <a:srgbClr val="E5BB66"/>
                </a:solidFill>
                <a:latin typeface="Arial"/>
                <a:ea typeface="Arial"/>
                <a:cs typeface="Arial"/>
              </a:defRPr>
            </a:lvl8pPr>
            <a:lvl9pPr>
              <a:defRPr sz="1650" b="1">
                <a:solidFill>
                  <a:srgbClr val="E5BB66"/>
                </a:solidFill>
                <a:latin typeface="Arial"/>
                <a:ea typeface="Arial"/>
                <a:cs typeface="Arial"/>
              </a:defRPr>
            </a:lvl9pPr>
          </a:lstStyle>
          <a:p xmlns:a="http://schemas.openxmlformats.org/drawingml/2006/main">
            <a:pPr>
              <a:defRPr sz="1650" b="1">
                <a:solidFill>
                  <a:srgbClr val="E5BB66"/>
                </a:solidFill>
                <a:latin typeface="Arial"/>
                <a:ea typeface="Arial"/>
                <a:cs typeface="Arial"/>
              </a:defRPr>
            </a:pPr>
            <a:r>
              <a:rPr sz="1650" b="1">
                <a:solidFill>
                  <a:srgbClr val="E5BB66"/>
                </a:solidFill>
                <a:latin typeface="Arial"/>
                <a:ea typeface="Arial"/>
                <a:cs typeface="Arial"/>
              </a:rPr>
              <a:t>1 flag: 683 (24.6%)</a:t>
            </a:r>
          </a:p>
        </p:txBody>
      </p:sp>
      <p:sp>
        <p:nvSpPr>
          <p:cNvPr id="7" name="">
            <a:extLst xmlns:a="http://schemas.openxmlformats.org/drawingml/2006/main">
              <a:ext uri="{FF2B5EF4-FFF2-40B4-BE49-F238E27FC236}">
                <a16:creationId xmlns:a16="http://schemas.microsoft.com/office/drawing/2014/main" id="{AB040AEA-B926-4763-B7EB-95B1817FC0B6}"/>
              </a:ext>
            </a:extLst>
          </p:cNvPr>
          <p:cNvSpPr>
            <a:spLocks xmlns:a="http://schemas.openxmlformats.org/drawingml/2006/main" noGrp="1"/>
          </p:cNvSpPr>
          <p:nvPr/>
        </p:nvSpPr>
        <p:spPr>
          <a:xfrm xmlns:a="http://schemas.openxmlformats.org/drawingml/2006/main">
            <a:off x="8286750" y="28384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CC9637"/>
                </a:solidFill>
                <a:latin typeface="Arial"/>
                <a:ea typeface="Arial"/>
                <a:cs typeface="Arial"/>
              </a:defRPr>
            </a:defPPr>
            <a:lvl1pPr>
              <a:defRPr sz="1650" b="1">
                <a:solidFill>
                  <a:srgbClr val="CC9637"/>
                </a:solidFill>
                <a:latin typeface="Arial"/>
                <a:ea typeface="Arial"/>
                <a:cs typeface="Arial"/>
              </a:defRPr>
            </a:lvl1pPr>
            <a:lvl2pPr>
              <a:defRPr sz="1650" b="1">
                <a:solidFill>
                  <a:srgbClr val="CC9637"/>
                </a:solidFill>
                <a:latin typeface="Arial"/>
                <a:ea typeface="Arial"/>
                <a:cs typeface="Arial"/>
              </a:defRPr>
            </a:lvl2pPr>
            <a:lvl3pPr>
              <a:defRPr sz="1650" b="1">
                <a:solidFill>
                  <a:srgbClr val="CC9637"/>
                </a:solidFill>
                <a:latin typeface="Arial"/>
                <a:ea typeface="Arial"/>
                <a:cs typeface="Arial"/>
              </a:defRPr>
            </a:lvl3pPr>
            <a:lvl4pPr>
              <a:defRPr sz="1650" b="1">
                <a:solidFill>
                  <a:srgbClr val="CC9637"/>
                </a:solidFill>
                <a:latin typeface="Arial"/>
                <a:ea typeface="Arial"/>
                <a:cs typeface="Arial"/>
              </a:defRPr>
            </a:lvl4pPr>
            <a:lvl5pPr>
              <a:defRPr sz="1650" b="1">
                <a:solidFill>
                  <a:srgbClr val="CC9637"/>
                </a:solidFill>
                <a:latin typeface="Arial"/>
                <a:ea typeface="Arial"/>
                <a:cs typeface="Arial"/>
              </a:defRPr>
            </a:lvl5pPr>
            <a:lvl6pPr>
              <a:defRPr sz="1650" b="1">
                <a:solidFill>
                  <a:srgbClr val="CC9637"/>
                </a:solidFill>
                <a:latin typeface="Arial"/>
                <a:ea typeface="Arial"/>
                <a:cs typeface="Arial"/>
              </a:defRPr>
            </a:lvl6pPr>
            <a:lvl7pPr>
              <a:defRPr sz="1650" b="1">
                <a:solidFill>
                  <a:srgbClr val="CC9637"/>
                </a:solidFill>
                <a:latin typeface="Arial"/>
                <a:ea typeface="Arial"/>
                <a:cs typeface="Arial"/>
              </a:defRPr>
            </a:lvl7pPr>
            <a:lvl8pPr>
              <a:defRPr sz="1650" b="1">
                <a:solidFill>
                  <a:srgbClr val="CC9637"/>
                </a:solidFill>
                <a:latin typeface="Arial"/>
                <a:ea typeface="Arial"/>
                <a:cs typeface="Arial"/>
              </a:defRPr>
            </a:lvl8pPr>
            <a:lvl9pPr>
              <a:defRPr sz="1650" b="1">
                <a:solidFill>
                  <a:srgbClr val="CC9637"/>
                </a:solidFill>
                <a:latin typeface="Arial"/>
                <a:ea typeface="Arial"/>
                <a:cs typeface="Arial"/>
              </a:defRPr>
            </a:lvl9pPr>
          </a:lstStyle>
          <a:p xmlns:a="http://schemas.openxmlformats.org/drawingml/2006/main">
            <a:pPr>
              <a:defRPr sz="1650" b="1">
                <a:solidFill>
                  <a:srgbClr val="CC9637"/>
                </a:solidFill>
                <a:latin typeface="Arial"/>
                <a:ea typeface="Arial"/>
                <a:cs typeface="Arial"/>
              </a:defRPr>
            </a:pPr>
            <a:r>
              <a:rPr sz="1650" b="1">
                <a:solidFill>
                  <a:srgbClr val="CC9637"/>
                </a:solidFill>
                <a:latin typeface="Arial"/>
                <a:ea typeface="Arial"/>
                <a:cs typeface="Arial"/>
              </a:rPr>
              <a:t>2 flags: 844 (30.4%)</a:t>
            </a:r>
          </a:p>
        </p:txBody>
      </p:sp>
      <p:sp>
        <p:nvSpPr>
          <p:cNvPr id="8" name="">
            <a:extLst xmlns:a="http://schemas.openxmlformats.org/drawingml/2006/main">
              <a:ext uri="{FF2B5EF4-FFF2-40B4-BE49-F238E27FC236}">
                <a16:creationId xmlns:a16="http://schemas.microsoft.com/office/drawing/2014/main" id="{2FDB6C2F-6BEA-48A4-9061-EF205861E4EE}"/>
              </a:ext>
            </a:extLst>
          </p:cNvPr>
          <p:cNvSpPr>
            <a:spLocks xmlns:a="http://schemas.openxmlformats.org/drawingml/2006/main" noGrp="1"/>
          </p:cNvSpPr>
          <p:nvPr/>
        </p:nvSpPr>
        <p:spPr>
          <a:xfrm xmlns:a="http://schemas.openxmlformats.org/drawingml/2006/main">
            <a:off x="8286750" y="32004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A66B24"/>
                </a:solidFill>
                <a:latin typeface="Arial"/>
                <a:ea typeface="Arial"/>
                <a:cs typeface="Arial"/>
              </a:defRPr>
            </a:defPPr>
            <a:lvl1pPr>
              <a:defRPr sz="1650" b="1">
                <a:solidFill>
                  <a:srgbClr val="A66B24"/>
                </a:solidFill>
                <a:latin typeface="Arial"/>
                <a:ea typeface="Arial"/>
                <a:cs typeface="Arial"/>
              </a:defRPr>
            </a:lvl1pPr>
            <a:lvl2pPr>
              <a:defRPr sz="1650" b="1">
                <a:solidFill>
                  <a:srgbClr val="A66B24"/>
                </a:solidFill>
                <a:latin typeface="Arial"/>
                <a:ea typeface="Arial"/>
                <a:cs typeface="Arial"/>
              </a:defRPr>
            </a:lvl2pPr>
            <a:lvl3pPr>
              <a:defRPr sz="1650" b="1">
                <a:solidFill>
                  <a:srgbClr val="A66B24"/>
                </a:solidFill>
                <a:latin typeface="Arial"/>
                <a:ea typeface="Arial"/>
                <a:cs typeface="Arial"/>
              </a:defRPr>
            </a:lvl3pPr>
            <a:lvl4pPr>
              <a:defRPr sz="1650" b="1">
                <a:solidFill>
                  <a:srgbClr val="A66B24"/>
                </a:solidFill>
                <a:latin typeface="Arial"/>
                <a:ea typeface="Arial"/>
                <a:cs typeface="Arial"/>
              </a:defRPr>
            </a:lvl4pPr>
            <a:lvl5pPr>
              <a:defRPr sz="1650" b="1">
                <a:solidFill>
                  <a:srgbClr val="A66B24"/>
                </a:solidFill>
                <a:latin typeface="Arial"/>
                <a:ea typeface="Arial"/>
                <a:cs typeface="Arial"/>
              </a:defRPr>
            </a:lvl5pPr>
            <a:lvl6pPr>
              <a:defRPr sz="1650" b="1">
                <a:solidFill>
                  <a:srgbClr val="A66B24"/>
                </a:solidFill>
                <a:latin typeface="Arial"/>
                <a:ea typeface="Arial"/>
                <a:cs typeface="Arial"/>
              </a:defRPr>
            </a:lvl6pPr>
            <a:lvl7pPr>
              <a:defRPr sz="1650" b="1">
                <a:solidFill>
                  <a:srgbClr val="A66B24"/>
                </a:solidFill>
                <a:latin typeface="Arial"/>
                <a:ea typeface="Arial"/>
                <a:cs typeface="Arial"/>
              </a:defRPr>
            </a:lvl7pPr>
            <a:lvl8pPr>
              <a:defRPr sz="1650" b="1">
                <a:solidFill>
                  <a:srgbClr val="A66B24"/>
                </a:solidFill>
                <a:latin typeface="Arial"/>
                <a:ea typeface="Arial"/>
                <a:cs typeface="Arial"/>
              </a:defRPr>
            </a:lvl8pPr>
            <a:lvl9pPr>
              <a:defRPr sz="1650" b="1">
                <a:solidFill>
                  <a:srgbClr val="A66B24"/>
                </a:solidFill>
                <a:latin typeface="Arial"/>
                <a:ea typeface="Arial"/>
                <a:cs typeface="Arial"/>
              </a:defRPr>
            </a:lvl9pPr>
          </a:lstStyle>
          <a:p xmlns:a="http://schemas.openxmlformats.org/drawingml/2006/main">
            <a:pPr>
              <a:defRPr sz="1650" b="1">
                <a:solidFill>
                  <a:srgbClr val="A66B24"/>
                </a:solidFill>
                <a:latin typeface="Arial"/>
                <a:ea typeface="Arial"/>
                <a:cs typeface="Arial"/>
              </a:defRPr>
            </a:pPr>
            <a:r>
              <a:rPr sz="1650" b="1">
                <a:solidFill>
                  <a:srgbClr val="A66B24"/>
                </a:solidFill>
                <a:latin typeface="Arial"/>
                <a:ea typeface="Arial"/>
                <a:cs typeface="Arial"/>
              </a:rPr>
              <a:t>3 flags: 660 (23.8%)</a:t>
            </a:r>
          </a:p>
        </p:txBody>
      </p:sp>
      <p:sp>
        <p:nvSpPr>
          <p:cNvPr id="9" name="">
            <a:extLst xmlns:a="http://schemas.openxmlformats.org/drawingml/2006/main">
              <a:ext uri="{FF2B5EF4-FFF2-40B4-BE49-F238E27FC236}">
                <a16:creationId xmlns:a16="http://schemas.microsoft.com/office/drawing/2014/main" id="{B522761C-B015-409D-90E9-588484E2FC83}"/>
              </a:ext>
            </a:extLst>
          </p:cNvPr>
          <p:cNvSpPr>
            <a:spLocks xmlns:a="http://schemas.openxmlformats.org/drawingml/2006/main" noGrp="1"/>
          </p:cNvSpPr>
          <p:nvPr/>
        </p:nvSpPr>
        <p:spPr>
          <a:xfrm xmlns:a="http://schemas.openxmlformats.org/drawingml/2006/main">
            <a:off x="8286750" y="35623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2441C"/>
                </a:solidFill>
                <a:latin typeface="Arial"/>
                <a:ea typeface="Arial"/>
                <a:cs typeface="Arial"/>
              </a:defRPr>
            </a:defPPr>
            <a:lvl1pPr>
              <a:defRPr sz="1650" b="1">
                <a:solidFill>
                  <a:srgbClr val="72441C"/>
                </a:solidFill>
                <a:latin typeface="Arial"/>
                <a:ea typeface="Arial"/>
                <a:cs typeface="Arial"/>
              </a:defRPr>
            </a:lvl1pPr>
            <a:lvl2pPr>
              <a:defRPr sz="1650" b="1">
                <a:solidFill>
                  <a:srgbClr val="72441C"/>
                </a:solidFill>
                <a:latin typeface="Arial"/>
                <a:ea typeface="Arial"/>
                <a:cs typeface="Arial"/>
              </a:defRPr>
            </a:lvl2pPr>
            <a:lvl3pPr>
              <a:defRPr sz="1650" b="1">
                <a:solidFill>
                  <a:srgbClr val="72441C"/>
                </a:solidFill>
                <a:latin typeface="Arial"/>
                <a:ea typeface="Arial"/>
                <a:cs typeface="Arial"/>
              </a:defRPr>
            </a:lvl3pPr>
            <a:lvl4pPr>
              <a:defRPr sz="1650" b="1">
                <a:solidFill>
                  <a:srgbClr val="72441C"/>
                </a:solidFill>
                <a:latin typeface="Arial"/>
                <a:ea typeface="Arial"/>
                <a:cs typeface="Arial"/>
              </a:defRPr>
            </a:lvl4pPr>
            <a:lvl5pPr>
              <a:defRPr sz="1650" b="1">
                <a:solidFill>
                  <a:srgbClr val="72441C"/>
                </a:solidFill>
                <a:latin typeface="Arial"/>
                <a:ea typeface="Arial"/>
                <a:cs typeface="Arial"/>
              </a:defRPr>
            </a:lvl5pPr>
            <a:lvl6pPr>
              <a:defRPr sz="1650" b="1">
                <a:solidFill>
                  <a:srgbClr val="72441C"/>
                </a:solidFill>
                <a:latin typeface="Arial"/>
                <a:ea typeface="Arial"/>
                <a:cs typeface="Arial"/>
              </a:defRPr>
            </a:lvl6pPr>
            <a:lvl7pPr>
              <a:defRPr sz="1650" b="1">
                <a:solidFill>
                  <a:srgbClr val="72441C"/>
                </a:solidFill>
                <a:latin typeface="Arial"/>
                <a:ea typeface="Arial"/>
                <a:cs typeface="Arial"/>
              </a:defRPr>
            </a:lvl7pPr>
            <a:lvl8pPr>
              <a:defRPr sz="1650" b="1">
                <a:solidFill>
                  <a:srgbClr val="72441C"/>
                </a:solidFill>
                <a:latin typeface="Arial"/>
                <a:ea typeface="Arial"/>
                <a:cs typeface="Arial"/>
              </a:defRPr>
            </a:lvl8pPr>
            <a:lvl9pPr>
              <a:defRPr sz="1650" b="1">
                <a:solidFill>
                  <a:srgbClr val="72441C"/>
                </a:solidFill>
                <a:latin typeface="Arial"/>
                <a:ea typeface="Arial"/>
                <a:cs typeface="Arial"/>
              </a:defRPr>
            </a:lvl9pPr>
          </a:lstStyle>
          <a:p xmlns:a="http://schemas.openxmlformats.org/drawingml/2006/main">
            <a:pPr>
              <a:defRPr sz="1650" b="1">
                <a:solidFill>
                  <a:srgbClr val="72441C"/>
                </a:solidFill>
                <a:latin typeface="Arial"/>
                <a:ea typeface="Arial"/>
                <a:cs typeface="Arial"/>
              </a:defRPr>
            </a:pPr>
            <a:r>
              <a:rPr sz="1650" b="1">
                <a:solidFill>
                  <a:srgbClr val="72441C"/>
                </a:solidFill>
                <a:latin typeface="Arial"/>
                <a:ea typeface="Arial"/>
                <a:cs typeface="Arial"/>
              </a:rPr>
              <a:t>4 flags: 191 (6.9%)</a:t>
            </a:r>
          </a:p>
        </p:txBody>
      </p:sp>
      <p:sp>
        <p:nvSpPr>
          <p:cNvPr id="10" name="">
            <a:extLst xmlns:a="http://schemas.openxmlformats.org/drawingml/2006/main">
              <a:ext uri="{FF2B5EF4-FFF2-40B4-BE49-F238E27FC236}">
                <a16:creationId xmlns:a16="http://schemas.microsoft.com/office/drawing/2014/main" id="{E01CF069-ED28-4036-8DDC-95BA500958E3}"/>
              </a:ext>
            </a:extLst>
          </p:cNvPr>
          <p:cNvSpPr>
            <a:spLocks xmlns:a="http://schemas.openxmlformats.org/drawingml/2006/main" noGrp="1"/>
          </p:cNvSpPr>
          <p:nvPr/>
        </p:nvSpPr>
        <p:spPr>
          <a:xfrm xmlns:a="http://schemas.openxmlformats.org/drawingml/2006/main">
            <a:off x="8286750" y="39243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54E79"/>
                </a:solidFill>
                <a:latin typeface="Arial"/>
                <a:ea typeface="Arial"/>
                <a:cs typeface="Arial"/>
              </a:defRPr>
            </a:defPPr>
            <a:lvl1pPr>
              <a:defRPr sz="1650" b="1">
                <a:solidFill>
                  <a:srgbClr val="754E79"/>
                </a:solidFill>
                <a:latin typeface="Arial"/>
                <a:ea typeface="Arial"/>
                <a:cs typeface="Arial"/>
              </a:defRPr>
            </a:lvl1pPr>
            <a:lvl2pPr>
              <a:defRPr sz="1650" b="1">
                <a:solidFill>
                  <a:srgbClr val="754E79"/>
                </a:solidFill>
                <a:latin typeface="Arial"/>
                <a:ea typeface="Arial"/>
                <a:cs typeface="Arial"/>
              </a:defRPr>
            </a:lvl2pPr>
            <a:lvl3pPr>
              <a:defRPr sz="1650" b="1">
                <a:solidFill>
                  <a:srgbClr val="754E79"/>
                </a:solidFill>
                <a:latin typeface="Arial"/>
                <a:ea typeface="Arial"/>
                <a:cs typeface="Arial"/>
              </a:defRPr>
            </a:lvl3pPr>
            <a:lvl4pPr>
              <a:defRPr sz="1650" b="1">
                <a:solidFill>
                  <a:srgbClr val="754E79"/>
                </a:solidFill>
                <a:latin typeface="Arial"/>
                <a:ea typeface="Arial"/>
                <a:cs typeface="Arial"/>
              </a:defRPr>
            </a:lvl4pPr>
            <a:lvl5pPr>
              <a:defRPr sz="1650" b="1">
                <a:solidFill>
                  <a:srgbClr val="754E79"/>
                </a:solidFill>
                <a:latin typeface="Arial"/>
                <a:ea typeface="Arial"/>
                <a:cs typeface="Arial"/>
              </a:defRPr>
            </a:lvl5pPr>
            <a:lvl6pPr>
              <a:defRPr sz="1650" b="1">
                <a:solidFill>
                  <a:srgbClr val="754E79"/>
                </a:solidFill>
                <a:latin typeface="Arial"/>
                <a:ea typeface="Arial"/>
                <a:cs typeface="Arial"/>
              </a:defRPr>
            </a:lvl6pPr>
            <a:lvl7pPr>
              <a:defRPr sz="1650" b="1">
                <a:solidFill>
                  <a:srgbClr val="754E79"/>
                </a:solidFill>
                <a:latin typeface="Arial"/>
                <a:ea typeface="Arial"/>
                <a:cs typeface="Arial"/>
              </a:defRPr>
            </a:lvl7pPr>
            <a:lvl8pPr>
              <a:defRPr sz="1650" b="1">
                <a:solidFill>
                  <a:srgbClr val="754E79"/>
                </a:solidFill>
                <a:latin typeface="Arial"/>
                <a:ea typeface="Arial"/>
                <a:cs typeface="Arial"/>
              </a:defRPr>
            </a:lvl8pPr>
            <a:lvl9pPr>
              <a:defRPr sz="1650" b="1">
                <a:solidFill>
                  <a:srgbClr val="754E79"/>
                </a:solidFill>
                <a:latin typeface="Arial"/>
                <a:ea typeface="Arial"/>
                <a:cs typeface="Arial"/>
              </a:defRPr>
            </a:lvl9pPr>
          </a:lstStyle>
          <a:p xmlns:a="http://schemas.openxmlformats.org/drawingml/2006/main">
            <a:pPr>
              <a:defRPr sz="1650" b="1">
                <a:solidFill>
                  <a:srgbClr val="754E79"/>
                </a:solidFill>
                <a:latin typeface="Arial"/>
                <a:ea typeface="Arial"/>
                <a:cs typeface="Arial"/>
              </a:defRPr>
            </a:pPr>
            <a:r>
              <a:rPr sz="1650" b="1">
                <a:solidFill>
                  <a:srgbClr val="754E79"/>
                </a:solidFill>
                <a:latin typeface="Arial"/>
                <a:ea typeface="Arial"/>
                <a:cs typeface="Arial"/>
              </a:rPr>
              <a:t>5 flags: 59 (2.1%)</a:t>
            </a:r>
          </a:p>
        </p:txBody>
      </p:sp>
      <p:sp>
        <p:nvSpPr>
          <p:cNvPr id="11" name="">
            <a:extLst xmlns:a="http://schemas.openxmlformats.org/drawingml/2006/main">
              <a:ext uri="{FF2B5EF4-FFF2-40B4-BE49-F238E27FC236}">
                <a16:creationId xmlns:a16="http://schemas.microsoft.com/office/drawing/2014/main" id="{FD7F7D2C-0503-4B6C-9443-E129240F1089}"/>
              </a:ext>
            </a:extLst>
          </p:cNvPr>
          <p:cNvSpPr>
            <a:spLocks xmlns:a="http://schemas.openxmlformats.org/drawingml/2006/main" noGrp="1"/>
          </p:cNvSpPr>
          <p:nvPr/>
        </p:nvSpPr>
        <p:spPr>
          <a:xfrm xmlns:a="http://schemas.openxmlformats.org/drawingml/2006/main">
            <a:off x="8286750" y="42862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563B60"/>
                </a:solidFill>
                <a:latin typeface="Arial"/>
                <a:ea typeface="Arial"/>
                <a:cs typeface="Arial"/>
              </a:defRPr>
            </a:defPPr>
            <a:lvl1pPr>
              <a:defRPr sz="1650" b="1">
                <a:solidFill>
                  <a:srgbClr val="563B60"/>
                </a:solidFill>
                <a:latin typeface="Arial"/>
                <a:ea typeface="Arial"/>
                <a:cs typeface="Arial"/>
              </a:defRPr>
            </a:lvl1pPr>
            <a:lvl2pPr>
              <a:defRPr sz="1650" b="1">
                <a:solidFill>
                  <a:srgbClr val="563B60"/>
                </a:solidFill>
                <a:latin typeface="Arial"/>
                <a:ea typeface="Arial"/>
                <a:cs typeface="Arial"/>
              </a:defRPr>
            </a:lvl2pPr>
            <a:lvl3pPr>
              <a:defRPr sz="1650" b="1">
                <a:solidFill>
                  <a:srgbClr val="563B60"/>
                </a:solidFill>
                <a:latin typeface="Arial"/>
                <a:ea typeface="Arial"/>
                <a:cs typeface="Arial"/>
              </a:defRPr>
            </a:lvl3pPr>
            <a:lvl4pPr>
              <a:defRPr sz="1650" b="1">
                <a:solidFill>
                  <a:srgbClr val="563B60"/>
                </a:solidFill>
                <a:latin typeface="Arial"/>
                <a:ea typeface="Arial"/>
                <a:cs typeface="Arial"/>
              </a:defRPr>
            </a:lvl4pPr>
            <a:lvl5pPr>
              <a:defRPr sz="1650" b="1">
                <a:solidFill>
                  <a:srgbClr val="563B60"/>
                </a:solidFill>
                <a:latin typeface="Arial"/>
                <a:ea typeface="Arial"/>
                <a:cs typeface="Arial"/>
              </a:defRPr>
            </a:lvl5pPr>
            <a:lvl6pPr>
              <a:defRPr sz="1650" b="1">
                <a:solidFill>
                  <a:srgbClr val="563B60"/>
                </a:solidFill>
                <a:latin typeface="Arial"/>
                <a:ea typeface="Arial"/>
                <a:cs typeface="Arial"/>
              </a:defRPr>
            </a:lvl6pPr>
            <a:lvl7pPr>
              <a:defRPr sz="1650" b="1">
                <a:solidFill>
                  <a:srgbClr val="563B60"/>
                </a:solidFill>
                <a:latin typeface="Arial"/>
                <a:ea typeface="Arial"/>
                <a:cs typeface="Arial"/>
              </a:defRPr>
            </a:lvl7pPr>
            <a:lvl8pPr>
              <a:defRPr sz="1650" b="1">
                <a:solidFill>
                  <a:srgbClr val="563B60"/>
                </a:solidFill>
                <a:latin typeface="Arial"/>
                <a:ea typeface="Arial"/>
                <a:cs typeface="Arial"/>
              </a:defRPr>
            </a:lvl8pPr>
            <a:lvl9pPr>
              <a:defRPr sz="1650" b="1">
                <a:solidFill>
                  <a:srgbClr val="563B60"/>
                </a:solidFill>
                <a:latin typeface="Arial"/>
                <a:ea typeface="Arial"/>
                <a:cs typeface="Arial"/>
              </a:defRPr>
            </a:lvl9pPr>
          </a:lstStyle>
          <a:p xmlns:a="http://schemas.openxmlformats.org/drawingml/2006/main">
            <a:pPr>
              <a:defRPr sz="1650" b="1">
                <a:solidFill>
                  <a:srgbClr val="563B60"/>
                </a:solidFill>
                <a:latin typeface="Arial"/>
                <a:ea typeface="Arial"/>
                <a:cs typeface="Arial"/>
              </a:defRPr>
            </a:pPr>
            <a:r>
              <a:rPr sz="1650" b="1">
                <a:solidFill>
                  <a:srgbClr val="563B60"/>
                </a:solidFill>
                <a:latin typeface="Arial"/>
                <a:ea typeface="Arial"/>
                <a:cs typeface="Arial"/>
              </a:rPr>
              <a:t>6 flags: 30 (1.1%)</a:t>
            </a:r>
          </a:p>
        </p:txBody>
      </p:sp>
      <p:sp>
        <p:nvSpPr>
          <p:cNvPr id="12" name="">
            <a:extLst xmlns:a="http://schemas.openxmlformats.org/drawingml/2006/main">
              <a:ext uri="{FF2B5EF4-FFF2-40B4-BE49-F238E27FC236}">
                <a16:creationId xmlns:a16="http://schemas.microsoft.com/office/drawing/2014/main" id="{88CF5D2E-4A70-44C7-B0F6-EDF7404663CE}"/>
              </a:ext>
            </a:extLst>
          </p:cNvPr>
          <p:cNvSpPr>
            <a:spLocks xmlns:a="http://schemas.openxmlformats.org/drawingml/2006/main" noGrp="1"/>
          </p:cNvSpPr>
          <p:nvPr/>
        </p:nvSpPr>
        <p:spPr>
          <a:xfrm xmlns:a="http://schemas.openxmlformats.org/drawingml/2006/main">
            <a:off x="8286750" y="46482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4A587A"/>
                </a:solidFill>
                <a:latin typeface="Arial"/>
                <a:ea typeface="Arial"/>
                <a:cs typeface="Arial"/>
              </a:defRPr>
            </a:defPPr>
            <a:lvl1pPr>
              <a:defRPr sz="1650" b="1">
                <a:solidFill>
                  <a:srgbClr val="4A587A"/>
                </a:solidFill>
                <a:latin typeface="Arial"/>
                <a:ea typeface="Arial"/>
                <a:cs typeface="Arial"/>
              </a:defRPr>
            </a:lvl1pPr>
            <a:lvl2pPr>
              <a:defRPr sz="1650" b="1">
                <a:solidFill>
                  <a:srgbClr val="4A587A"/>
                </a:solidFill>
                <a:latin typeface="Arial"/>
                <a:ea typeface="Arial"/>
                <a:cs typeface="Arial"/>
              </a:defRPr>
            </a:lvl2pPr>
            <a:lvl3pPr>
              <a:defRPr sz="1650" b="1">
                <a:solidFill>
                  <a:srgbClr val="4A587A"/>
                </a:solidFill>
                <a:latin typeface="Arial"/>
                <a:ea typeface="Arial"/>
                <a:cs typeface="Arial"/>
              </a:defRPr>
            </a:lvl3pPr>
            <a:lvl4pPr>
              <a:defRPr sz="1650" b="1">
                <a:solidFill>
                  <a:srgbClr val="4A587A"/>
                </a:solidFill>
                <a:latin typeface="Arial"/>
                <a:ea typeface="Arial"/>
                <a:cs typeface="Arial"/>
              </a:defRPr>
            </a:lvl4pPr>
            <a:lvl5pPr>
              <a:defRPr sz="1650" b="1">
                <a:solidFill>
                  <a:srgbClr val="4A587A"/>
                </a:solidFill>
                <a:latin typeface="Arial"/>
                <a:ea typeface="Arial"/>
                <a:cs typeface="Arial"/>
              </a:defRPr>
            </a:lvl5pPr>
            <a:lvl6pPr>
              <a:defRPr sz="1650" b="1">
                <a:solidFill>
                  <a:srgbClr val="4A587A"/>
                </a:solidFill>
                <a:latin typeface="Arial"/>
                <a:ea typeface="Arial"/>
                <a:cs typeface="Arial"/>
              </a:defRPr>
            </a:lvl6pPr>
            <a:lvl7pPr>
              <a:defRPr sz="1650" b="1">
                <a:solidFill>
                  <a:srgbClr val="4A587A"/>
                </a:solidFill>
                <a:latin typeface="Arial"/>
                <a:ea typeface="Arial"/>
                <a:cs typeface="Arial"/>
              </a:defRPr>
            </a:lvl7pPr>
            <a:lvl8pPr>
              <a:defRPr sz="1650" b="1">
                <a:solidFill>
                  <a:srgbClr val="4A587A"/>
                </a:solidFill>
                <a:latin typeface="Arial"/>
                <a:ea typeface="Arial"/>
                <a:cs typeface="Arial"/>
              </a:defRPr>
            </a:lvl8pPr>
            <a:lvl9pPr>
              <a:defRPr sz="1650" b="1">
                <a:solidFill>
                  <a:srgbClr val="4A587A"/>
                </a:solidFill>
                <a:latin typeface="Arial"/>
                <a:ea typeface="Arial"/>
                <a:cs typeface="Arial"/>
              </a:defRPr>
            </a:lvl9pPr>
          </a:lstStyle>
          <a:p xmlns:a="http://schemas.openxmlformats.org/drawingml/2006/main">
            <a:pPr>
              <a:defRPr sz="1650" b="1">
                <a:solidFill>
                  <a:srgbClr val="4A587A"/>
                </a:solidFill>
                <a:latin typeface="Arial"/>
                <a:ea typeface="Arial"/>
                <a:cs typeface="Arial"/>
              </a:defRPr>
            </a:pPr>
            <a:r>
              <a:rPr sz="1650" b="1">
                <a:solidFill>
                  <a:srgbClr val="4A587A"/>
                </a:solidFill>
                <a:latin typeface="Arial"/>
                <a:ea typeface="Arial"/>
                <a:cs typeface="Arial"/>
              </a:rPr>
              <a:t>7 flags: 5 (0.2%)</a:t>
            </a:r>
          </a:p>
        </p:txBody>
      </p:sp>
      <p:sp>
        <p:nvSpPr>
          <p:cNvPr id="13" name="">
            <a:extLst xmlns:a="http://schemas.openxmlformats.org/drawingml/2006/main">
              <a:ext uri="{FF2B5EF4-FFF2-40B4-BE49-F238E27FC236}">
                <a16:creationId xmlns:a16="http://schemas.microsoft.com/office/drawing/2014/main" id="{8CE74A8D-5E9D-49AA-92FC-7FC82F3A1608}"/>
              </a:ext>
            </a:extLst>
          </p:cNvPr>
          <p:cNvSpPr>
            <a:spLocks xmlns:a="http://schemas.openxmlformats.org/drawingml/2006/main" noGrp="1"/>
          </p:cNvSpPr>
          <p:nvPr/>
        </p:nvSpPr>
        <p:spPr>
          <a:xfrm xmlns:a="http://schemas.openxmlformats.org/drawingml/2006/main">
            <a:off x="8286750" y="50101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4E7B71"/>
                </a:solidFill>
                <a:latin typeface="Arial"/>
                <a:ea typeface="Arial"/>
                <a:cs typeface="Arial"/>
              </a:defRPr>
            </a:defPPr>
            <a:lvl1pPr>
              <a:defRPr sz="1650" b="1">
                <a:solidFill>
                  <a:srgbClr val="4E7B71"/>
                </a:solidFill>
                <a:latin typeface="Arial"/>
                <a:ea typeface="Arial"/>
                <a:cs typeface="Arial"/>
              </a:defRPr>
            </a:lvl1pPr>
            <a:lvl2pPr>
              <a:defRPr sz="1650" b="1">
                <a:solidFill>
                  <a:srgbClr val="4E7B71"/>
                </a:solidFill>
                <a:latin typeface="Arial"/>
                <a:ea typeface="Arial"/>
                <a:cs typeface="Arial"/>
              </a:defRPr>
            </a:lvl2pPr>
            <a:lvl3pPr>
              <a:defRPr sz="1650" b="1">
                <a:solidFill>
                  <a:srgbClr val="4E7B71"/>
                </a:solidFill>
                <a:latin typeface="Arial"/>
                <a:ea typeface="Arial"/>
                <a:cs typeface="Arial"/>
              </a:defRPr>
            </a:lvl3pPr>
            <a:lvl4pPr>
              <a:defRPr sz="1650" b="1">
                <a:solidFill>
                  <a:srgbClr val="4E7B71"/>
                </a:solidFill>
                <a:latin typeface="Arial"/>
                <a:ea typeface="Arial"/>
                <a:cs typeface="Arial"/>
              </a:defRPr>
            </a:lvl4pPr>
            <a:lvl5pPr>
              <a:defRPr sz="1650" b="1">
                <a:solidFill>
                  <a:srgbClr val="4E7B71"/>
                </a:solidFill>
                <a:latin typeface="Arial"/>
                <a:ea typeface="Arial"/>
                <a:cs typeface="Arial"/>
              </a:defRPr>
            </a:lvl5pPr>
            <a:lvl6pPr>
              <a:defRPr sz="1650" b="1">
                <a:solidFill>
                  <a:srgbClr val="4E7B71"/>
                </a:solidFill>
                <a:latin typeface="Arial"/>
                <a:ea typeface="Arial"/>
                <a:cs typeface="Arial"/>
              </a:defRPr>
            </a:lvl6pPr>
            <a:lvl7pPr>
              <a:defRPr sz="1650" b="1">
                <a:solidFill>
                  <a:srgbClr val="4E7B71"/>
                </a:solidFill>
                <a:latin typeface="Arial"/>
                <a:ea typeface="Arial"/>
                <a:cs typeface="Arial"/>
              </a:defRPr>
            </a:lvl7pPr>
            <a:lvl8pPr>
              <a:defRPr sz="1650" b="1">
                <a:solidFill>
                  <a:srgbClr val="4E7B71"/>
                </a:solidFill>
                <a:latin typeface="Arial"/>
                <a:ea typeface="Arial"/>
                <a:cs typeface="Arial"/>
              </a:defRPr>
            </a:lvl8pPr>
            <a:lvl9pPr>
              <a:defRPr sz="1650" b="1">
                <a:solidFill>
                  <a:srgbClr val="4E7B71"/>
                </a:solidFill>
                <a:latin typeface="Arial"/>
                <a:ea typeface="Arial"/>
                <a:cs typeface="Arial"/>
              </a:defRPr>
            </a:lvl9pPr>
          </a:lstStyle>
          <a:p xmlns:a="http://schemas.openxmlformats.org/drawingml/2006/main">
            <a:pPr>
              <a:defRPr sz="1650" b="1">
                <a:solidFill>
                  <a:srgbClr val="4E7B71"/>
                </a:solidFill>
                <a:latin typeface="Arial"/>
                <a:ea typeface="Arial"/>
                <a:cs typeface="Arial"/>
              </a:defRPr>
            </a:pPr>
            <a:r>
              <a:rPr sz="1650" b="1">
                <a:solidFill>
                  <a:srgbClr val="4E7B71"/>
                </a:solidFill>
                <a:latin typeface="Arial"/>
                <a:ea typeface="Arial"/>
                <a:cs typeface="Arial"/>
              </a:rPr>
              <a:t>8 flags: 1 (&lt;0.1%)</a:t>
            </a:r>
          </a:p>
        </p:txBody>
      </p:sp>
      <p:sp>
        <p:nvSpPr>
          <p:cNvPr id="14" name="">
            <a:extLst xmlns:a="http://schemas.openxmlformats.org/drawingml/2006/main">
              <a:ext uri="{FF2B5EF4-FFF2-40B4-BE49-F238E27FC236}">
                <a16:creationId xmlns:a16="http://schemas.microsoft.com/office/drawing/2014/main" id="{4490B43B-BA0E-4AFA-B09E-2EB278C1A969}"/>
              </a:ext>
            </a:extLst>
          </p:cNvPr>
          <p:cNvSpPr>
            <a:spLocks xmlns:a="http://schemas.openxmlformats.org/drawingml/2006/main" noGrp="1"/>
          </p:cNvSpPr>
          <p:nvPr/>
        </p:nvSpPr>
        <p:spPr>
          <a:xfrm xmlns:a="http://schemas.openxmlformats.org/drawingml/2006/main">
            <a:off x="8286750" y="546735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A43C38"/>
                </a:solidFill>
                <a:latin typeface="Arial"/>
                <a:ea typeface="Arial"/>
                <a:cs typeface="Arial"/>
              </a:defRPr>
            </a:defPPr>
            <a:lvl1pPr>
              <a:defRPr sz="1650" b="1">
                <a:solidFill>
                  <a:srgbClr val="A43C38"/>
                </a:solidFill>
                <a:latin typeface="Arial"/>
                <a:ea typeface="Arial"/>
                <a:cs typeface="Arial"/>
              </a:defRPr>
            </a:lvl1pPr>
            <a:lvl2pPr>
              <a:defRPr sz="1650" b="1">
                <a:solidFill>
                  <a:srgbClr val="A43C38"/>
                </a:solidFill>
                <a:latin typeface="Arial"/>
                <a:ea typeface="Arial"/>
                <a:cs typeface="Arial"/>
              </a:defRPr>
            </a:lvl2pPr>
            <a:lvl3pPr>
              <a:defRPr sz="1650" b="1">
                <a:solidFill>
                  <a:srgbClr val="A43C38"/>
                </a:solidFill>
                <a:latin typeface="Arial"/>
                <a:ea typeface="Arial"/>
                <a:cs typeface="Arial"/>
              </a:defRPr>
            </a:lvl3pPr>
            <a:lvl4pPr>
              <a:defRPr sz="1650" b="1">
                <a:solidFill>
                  <a:srgbClr val="A43C38"/>
                </a:solidFill>
                <a:latin typeface="Arial"/>
                <a:ea typeface="Arial"/>
                <a:cs typeface="Arial"/>
              </a:defRPr>
            </a:lvl4pPr>
            <a:lvl5pPr>
              <a:defRPr sz="1650" b="1">
                <a:solidFill>
                  <a:srgbClr val="A43C38"/>
                </a:solidFill>
                <a:latin typeface="Arial"/>
                <a:ea typeface="Arial"/>
                <a:cs typeface="Arial"/>
              </a:defRPr>
            </a:lvl5pPr>
            <a:lvl6pPr>
              <a:defRPr sz="1650" b="1">
                <a:solidFill>
                  <a:srgbClr val="A43C38"/>
                </a:solidFill>
                <a:latin typeface="Arial"/>
                <a:ea typeface="Arial"/>
                <a:cs typeface="Arial"/>
              </a:defRPr>
            </a:lvl6pPr>
            <a:lvl7pPr>
              <a:defRPr sz="1650" b="1">
                <a:solidFill>
                  <a:srgbClr val="A43C38"/>
                </a:solidFill>
                <a:latin typeface="Arial"/>
                <a:ea typeface="Arial"/>
                <a:cs typeface="Arial"/>
              </a:defRPr>
            </a:lvl7pPr>
            <a:lvl8pPr>
              <a:defRPr sz="1650" b="1">
                <a:solidFill>
                  <a:srgbClr val="A43C38"/>
                </a:solidFill>
                <a:latin typeface="Arial"/>
                <a:ea typeface="Arial"/>
                <a:cs typeface="Arial"/>
              </a:defRPr>
            </a:lvl8pPr>
            <a:lvl9pPr>
              <a:defRPr sz="1650" b="1">
                <a:solidFill>
                  <a:srgbClr val="A43C38"/>
                </a:solidFill>
                <a:latin typeface="Arial"/>
                <a:ea typeface="Arial"/>
                <a:cs typeface="Arial"/>
              </a:defRPr>
            </a:lvl9pPr>
          </a:lstStyle>
          <a:p xmlns:a="http://schemas.openxmlformats.org/drawingml/2006/main">
            <a:pPr>
              <a:defRPr sz="1650" b="1">
                <a:solidFill>
                  <a:srgbClr val="A43C38"/>
                </a:solidFill>
                <a:latin typeface="Arial"/>
                <a:ea typeface="Arial"/>
                <a:cs typeface="Arial"/>
              </a:defRPr>
            </a:pPr>
            <a:r>
              <a:rPr sz="1650" b="1">
                <a:solidFill>
                  <a:srgbClr val="A43C38"/>
                </a:solidFill>
                <a:latin typeface="Arial"/>
                <a:ea typeface="Arial"/>
                <a:cs typeface="Arial"/>
              </a:rPr>
              <a:t>Failed: 4 (0.1%)</a:t>
            </a:r>
          </a:p>
        </p:txBody>
      </p:sp>
      <p:sp>
        <p:nvSpPr>
          <p:cNvPr id="15" name="">
            <a:extLst xmlns:a="http://schemas.openxmlformats.org/drawingml/2006/main">
              <a:ext uri="{FF2B5EF4-FFF2-40B4-BE49-F238E27FC236}">
                <a16:creationId xmlns:a16="http://schemas.microsoft.com/office/drawing/2014/main" id="{E716AB3B-5AB8-4B52-92CC-71EEFEB80CF5}"/>
              </a:ext>
            </a:extLst>
          </p:cNvPr>
          <p:cNvSpPr>
            <a:spLocks xmlns:a="http://schemas.openxmlformats.org/drawingml/2006/main" noGrp="1"/>
          </p:cNvSpPr>
          <p:nvPr/>
        </p:nvSpPr>
        <p:spPr>
          <a:xfrm xmlns:a="http://schemas.openxmlformats.org/drawingml/2006/main">
            <a:off x="609600" y="58578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Recovery and missing-bar warnings are counted. QI also includes partial cutout coverage.</a:t>
            </a:r>
          </a:p>
        </p:txBody>
      </p:sp>
    </p:spTree>
    <p:extLst>
      <p:ext uri="{BB962C8B-B14F-4D97-AF65-F5344CB8AC3E}">
        <p14:creationId xmlns:p14="http://schemas.microsoft.com/office/powerpoint/2010/main" val="6137339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CB0456-DC23-4A05-9E86-535045D26BD5}"/>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Current quality issues and information</a:t>
            </a:r>
          </a:p>
        </p:txBody>
      </p:sp>
      <p:sp>
        <p:nvSpPr>
          <p:cNvPr id="2" name="">
            <a:extLst xmlns:a="http://schemas.openxmlformats.org/drawingml/2006/main">
              <a:ext uri="{FF2B5EF4-FFF2-40B4-BE49-F238E27FC236}">
                <a16:creationId xmlns:a16="http://schemas.microsoft.com/office/drawing/2014/main" id="{2CB77917-C7D2-4255-ADBC-F0C17A4ACD30}"/>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16</a:t>
            </a:r>
          </a:p>
        </p:txBody>
      </p:sp>
      <p:graphicFrame>
        <p:nvGraphicFramePr>
          <p:cNvPr id="3" name="Chart">
            <a:extLst xmlns:a="http://schemas.openxmlformats.org/drawingml/2006/main">
              <a:ext uri="{FF2B5EF4-FFF2-40B4-BE49-F238E27FC236}">
                <a16:creationId xmlns:a16="http://schemas.microsoft.com/office/drawing/2014/main" id="{100CA69C-8FDE-4E8D-955C-939B87C90749}"/>
              </a:ext>
            </a:extLst>
          </p:cNvPr>
          <p:cNvGraphicFramePr/>
          <p:nvPr/>
        </p:nvGraphicFramePr>
        <p:xfrm>
          <a:off xmlns:a="http://schemas.openxmlformats.org/drawingml/2006/main" x="457200" y="1666875"/>
          <a:ext xmlns:a="http://schemas.openxmlformats.org/drawingml/2006/main" cx="10953750" cy="4000500"/>
        </p:xfrm>
        <a:graphic xmlns:a="http://schemas.openxmlformats.org/drawingml/2006/main">
          <a:graphicData uri="http://schemas.openxmlformats.org/drawingml/2006/chart">
            <c:chart xmlns:r="http://schemas.openxmlformats.org/officeDocument/2006/relationships" xmlns:c="http://schemas.openxmlformats.org/drawingml/2006/chart" r:id="R99982f840d954a28"/>
          </a:graphicData>
        </a:graphic>
      </p:graphicFrame>
      <p:sp>
        <p:nvSpPr>
          <p:cNvPr id="4" name="">
            <a:extLst xmlns:a="http://schemas.openxmlformats.org/drawingml/2006/main">
              <a:ext uri="{FF2B5EF4-FFF2-40B4-BE49-F238E27FC236}">
                <a16:creationId xmlns:a16="http://schemas.microsoft.com/office/drawing/2014/main" id="{7680396E-DB37-4317-86C7-4CB2EC4CE2F2}"/>
              </a:ext>
            </a:extLst>
          </p:cNvPr>
          <p:cNvSpPr>
            <a:spLocks xmlns:a="http://schemas.openxmlformats.org/drawingml/2006/main" noGrp="1"/>
          </p:cNvSpPr>
          <p:nvPr/>
        </p:nvSpPr>
        <p:spPr>
          <a:xfrm xmlns:a="http://schemas.openxmlformats.org/drawingml/2006/main">
            <a:off x="609600" y="5810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59 nearly face-on fits: informational, not a defect. Disc PA instability is ignored for them.</a:t>
            </a:r>
          </a:p>
        </p:txBody>
      </p:sp>
    </p:spTree>
    <p:extLst>
      <p:ext uri="{BB962C8B-B14F-4D97-AF65-F5344CB8AC3E}">
        <p14:creationId xmlns:p14="http://schemas.microsoft.com/office/powerpoint/2010/main" val="4460514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916EA1-F8B9-470F-82D5-0989CF610071}"/>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Comparison with Euclid and supplied geometry</a:t>
            </a:r>
          </a:p>
        </p:txBody>
      </p:sp>
      <p:sp>
        <p:nvSpPr>
          <p:cNvPr id="2" name="">
            <a:extLst xmlns:a="http://schemas.openxmlformats.org/drawingml/2006/main">
              <a:ext uri="{FF2B5EF4-FFF2-40B4-BE49-F238E27FC236}">
                <a16:creationId xmlns:a16="http://schemas.microsoft.com/office/drawing/2014/main" id="{51E13AEA-E3EE-4F88-9DC8-B4C9E93DABA7}"/>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16</a:t>
            </a:r>
          </a:p>
        </p:txBody>
      </p:sp>
      <p:graphicFrame>
        <p:nvGraphicFramePr>
          <p:cNvPr id="3" name="">
            <a:extLst xmlns:a="http://schemas.openxmlformats.org/drawingml/2006/main">
              <a:ext uri="{FF2B5EF4-FFF2-40B4-BE49-F238E27FC236}">
                <a16:creationId xmlns:a16="http://schemas.microsoft.com/office/drawing/2014/main" id="{287CCA12-69AD-40E1-940F-8C698A80F8D5}"/>
              </a:ext>
            </a:extLst>
          </p:cNvPr>
          <p:cNvGraphicFramePr/>
          <p:nvPr/>
        </p:nvGraphicFramePr>
        <p:xfrm>
          <a:off xmlns:a="http://schemas.openxmlformats.org/drawingml/2006/main" x="609600" y="1619250"/>
          <a:ext xmlns:a="http://schemas.openxmlformats.org/drawingml/2006/main" cx="10953750" cy="2286000"/>
        </p:xfrm>
        <a:graphic xmlns:a="http://schemas.openxmlformats.org/drawingml/2006/main">
          <a:graphicData uri="http://schemas.openxmlformats.org/drawingml/2006/table">
            <a:tbl>
              <a:tblPr/>
              <a:tblGrid>
                <a:gridCol w="7620000"/>
                <a:gridCol w="3333750"/>
              </a:tblGrid>
              <a:tr h="571500">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Current run</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71500">
                <a:tc>
                  <a:txBody>
                    <a:bodyPr/>
                    <a:lstStyle/>
                    <a:p>
                      <a:r>
                        <a:rPr sz="1875" b="0">
                          <a:solidFill>
                            <a:srgbClr val="142633"/>
                          </a:solidFill>
                          <a:latin typeface="Arial"/>
                          <a:ea typeface="Arial"/>
                          <a:cs typeface="Arial"/>
                        </a:rPr>
                        <a:t>Adjusted Euclid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8.05°</a:t>
                      </a:r>
                    </a:p>
                  </a:txBody>
                  <a:tcPr marL="91440" marR="91440" marT="45720" marB="45720">
                    <a:lnR w="6668">
                      <a:solidFill>
                        <a:srgbClr val="D6E0E5"/>
                      </a:solidFill>
                      <a:prstDash val="solid"/>
                    </a:lnR>
                    <a:lnB w="6668">
                      <a:solidFill>
                        <a:srgbClr val="D6E0E5"/>
                      </a:solidFill>
                      <a:prstDash val="solid"/>
                    </a:lnB>
                    <a:solidFill>
                      <a:srgbClr val="FFFFFF"/>
                    </a:solidFill>
                  </a:tcPr>
                </a:tc>
              </a:tr>
              <a:tr h="571500">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6.52°</a:t>
                      </a:r>
                    </a:p>
                  </a:txBody>
                  <a:tcPr marL="91440" marR="91440" marT="45720" marB="45720">
                    <a:lnR w="6668">
                      <a:solidFill>
                        <a:srgbClr val="D6E0E5"/>
                      </a:solidFill>
                      <a:prstDash val="solid"/>
                    </a:lnR>
                    <a:lnB w="6668">
                      <a:solidFill>
                        <a:srgbClr val="D6E0E5"/>
                      </a:solidFill>
                      <a:prstDash val="solid"/>
                    </a:lnB>
                    <a:solidFill>
                      <a:srgbClr val="FFFFFF"/>
                    </a:solidFill>
                  </a:tcPr>
                </a:tc>
              </a:tr>
              <a:tr h="571500">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5.50°</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3E4229-0C14-442E-BA88-47BD0C321C38}"/>
              </a:ext>
            </a:extLst>
          </p:cNvPr>
          <p:cNvSpPr>
            <a:spLocks xmlns:a="http://schemas.openxmlformats.org/drawingml/2006/main" noGrp="1"/>
          </p:cNvSpPr>
          <p:nvPr/>
        </p:nvSpPr>
        <p:spPr>
          <a:xfrm xmlns:a="http://schemas.openxmlformats.org/drawingml/2006/main">
            <a:off x="609600" y="4191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Codex PA: North towards East. N = 0°, E = 90°, modulo 180°.</a:t>
            </a:r>
          </a:p>
        </p:txBody>
      </p:sp>
      <p:sp>
        <p:nvSpPr>
          <p:cNvPr id="5" name="">
            <a:extLst xmlns:a="http://schemas.openxmlformats.org/drawingml/2006/main">
              <a:ext uri="{FF2B5EF4-FFF2-40B4-BE49-F238E27FC236}">
                <a16:creationId xmlns:a16="http://schemas.microsoft.com/office/drawing/2014/main" id="{18975618-F8B1-4C82-A884-14BAB30E8481}"/>
              </a:ext>
            </a:extLst>
          </p:cNvPr>
          <p:cNvSpPr>
            <a:spLocks xmlns:a="http://schemas.openxmlformats.org/drawingml/2006/main" noGrp="1"/>
          </p:cNvSpPr>
          <p:nvPr/>
        </p:nvSpPr>
        <p:spPr>
          <a:xfrm xmlns:a="http://schemas.openxmlformats.org/drawingml/2006/main">
            <a:off x="609600" y="4714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Counterclockwise on a North-up, East-left image. WCS handles local orientation.</a:t>
            </a:r>
          </a:p>
        </p:txBody>
      </p:sp>
      <p:sp>
        <p:nvSpPr>
          <p:cNvPr id="6" name="">
            <a:extLst xmlns:a="http://schemas.openxmlformats.org/drawingml/2006/main">
              <a:ext uri="{FF2B5EF4-FFF2-40B4-BE49-F238E27FC236}">
                <a16:creationId xmlns:a16="http://schemas.microsoft.com/office/drawing/2014/main" id="{6BE1C9EE-5E32-415D-9127-3ECBF29AEA0B}"/>
              </a:ext>
            </a:extLst>
          </p:cNvPr>
          <p:cNvSpPr>
            <a:spLocks xmlns:a="http://schemas.openxmlformats.org/drawingml/2006/main" noGrp="1"/>
          </p:cNvSpPr>
          <p:nvPr/>
        </p:nvSpPr>
        <p:spPr>
          <a:xfrm xmlns:a="http://schemas.openxmlformats.org/drawingml/2006/main">
            <a:off x="609600" y="5381625"/>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Euclid comparison retains the adopted additional +90° after WCS conversion. A detection-image y-axis reference is plausible but unconfirmed.</a:t>
            </a:r>
          </a:p>
        </p:txBody>
      </p:sp>
    </p:spTree>
    <p:extLst>
      <p:ext uri="{BB962C8B-B14F-4D97-AF65-F5344CB8AC3E}">
        <p14:creationId xmlns:p14="http://schemas.microsoft.com/office/powerpoint/2010/main" val="11083793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0B6F4E-AC24-4A64-BA7D-8E705D469DF1}"/>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Galaxy centres are measured and checked</a:t>
            </a:r>
          </a:p>
        </p:txBody>
      </p:sp>
      <p:sp>
        <p:nvSpPr>
          <p:cNvPr id="2" name="">
            <a:extLst xmlns:a="http://schemas.openxmlformats.org/drawingml/2006/main">
              <a:ext uri="{FF2B5EF4-FFF2-40B4-BE49-F238E27FC236}">
                <a16:creationId xmlns:a16="http://schemas.microsoft.com/office/drawing/2014/main" id="{7B63BC8E-47C6-47FD-92B1-1D2AD9F01D7B}"/>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16</a:t>
            </a:r>
          </a:p>
        </p:txBody>
      </p:sp>
      <p:sp>
        <p:nvSpPr>
          <p:cNvPr id="3" name="">
            <a:extLst xmlns:a="http://schemas.openxmlformats.org/drawingml/2006/main">
              <a:ext uri="{FF2B5EF4-FFF2-40B4-BE49-F238E27FC236}">
                <a16:creationId xmlns:a16="http://schemas.microsoft.com/office/drawing/2014/main" id="{4B248010-6FA1-472B-837A-BEBE102F91FE}"/>
              </a:ext>
            </a:extLst>
          </p:cNvPr>
          <p:cNvSpPr>
            <a:spLocks xmlns:a="http://schemas.openxmlformats.org/drawingml/2006/main" noGrp="1"/>
          </p:cNvSpPr>
          <p:nvPr/>
        </p:nvSpPr>
        <p:spPr>
          <a:xfrm xmlns:a="http://schemas.openxmlformats.org/drawingml/2006/main">
            <a:off x="609600" y="1314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A catalogue position can lie on off-centre light rather than the galaxy centre.</a:t>
            </a:r>
          </a:p>
        </p:txBody>
      </p:sp>
      <p:pic>
        <p:nvPicPr>
          <p:cNvPr id="4" name="">
            <a:extLst xmlns:a="http://schemas.openxmlformats.org/drawingml/2006/main">
              <a:ext uri="{FF2B5EF4-FFF2-40B4-BE49-F238E27FC236}">
                <a16:creationId xmlns:a16="http://schemas.microsoft.com/office/drawing/2014/main" id="{6319B8B5-EFC0-4845-AAF1-18423F711742}"/>
              </a:ext>
            </a:extLst>
          </p:cNvPr>
          <p:cNvPicPr>
            <a:picLocks xmlns:a="http://schemas.openxmlformats.org/drawingml/2006/main" noChangeAspect="1"/>
          </p:cNvPicPr>
          <p:nvPr/>
        </p:nvPicPr>
        <p:blipFill>
          <a:blip xmlns:r="http://schemas.openxmlformats.org/officeDocument/2006/relationships" xmlns:a="http://schemas.openxmlformats.org/drawingml/2006/main" r:embed="R501d0680b80e4916"/>
          <a:stretch xmlns:a="http://schemas.openxmlformats.org/drawingml/2006/main"/>
        </p:blipFill>
        <p:spPr>
          <a:xfrm xmlns:a="http://schemas.openxmlformats.org/drawingml/2006/main">
            <a:off x="1231167" y="1952625"/>
            <a:ext cx="4567115"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7A8AAF-EBFD-4D29-A0FC-AFCE5BDD0EF1}"/>
              </a:ext>
            </a:extLst>
          </p:cNvPr>
          <p:cNvSpPr>
            <a:spLocks xmlns:a="http://schemas.openxmlformats.org/drawingml/2006/main" noGrp="1"/>
          </p:cNvSpPr>
          <p:nvPr/>
        </p:nvSpPr>
        <p:spPr>
          <a:xfrm xmlns:a="http://schemas.openxmlformats.org/drawingml/2006/main">
            <a:off x="6762750" y="2095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633"/>
                </a:solidFill>
                <a:latin typeface="Arial"/>
                <a:ea typeface="Arial"/>
                <a:cs typeface="Arial"/>
              </a:defRPr>
            </a:defPPr>
            <a:lvl1pPr>
              <a:defRPr sz="2100" b="1">
                <a:solidFill>
                  <a:srgbClr val="142633"/>
                </a:solidFill>
                <a:latin typeface="Arial"/>
                <a:ea typeface="Arial"/>
                <a:cs typeface="Arial"/>
              </a:defRPr>
            </a:lvl1pPr>
            <a:lvl2pPr>
              <a:defRPr sz="2100" b="1">
                <a:solidFill>
                  <a:srgbClr val="142633"/>
                </a:solidFill>
                <a:latin typeface="Arial"/>
                <a:ea typeface="Arial"/>
                <a:cs typeface="Arial"/>
              </a:defRPr>
            </a:lvl2pPr>
            <a:lvl3pPr>
              <a:defRPr sz="2100" b="1">
                <a:solidFill>
                  <a:srgbClr val="142633"/>
                </a:solidFill>
                <a:latin typeface="Arial"/>
                <a:ea typeface="Arial"/>
                <a:cs typeface="Arial"/>
              </a:defRPr>
            </a:lvl3pPr>
            <a:lvl4pPr>
              <a:defRPr sz="2100" b="1">
                <a:solidFill>
                  <a:srgbClr val="142633"/>
                </a:solidFill>
                <a:latin typeface="Arial"/>
                <a:ea typeface="Arial"/>
                <a:cs typeface="Arial"/>
              </a:defRPr>
            </a:lvl4pPr>
            <a:lvl5pPr>
              <a:defRPr sz="2100" b="1">
                <a:solidFill>
                  <a:srgbClr val="142633"/>
                </a:solidFill>
                <a:latin typeface="Arial"/>
                <a:ea typeface="Arial"/>
                <a:cs typeface="Arial"/>
              </a:defRPr>
            </a:lvl5pPr>
            <a:lvl6pPr>
              <a:defRPr sz="2100" b="1">
                <a:solidFill>
                  <a:srgbClr val="142633"/>
                </a:solidFill>
                <a:latin typeface="Arial"/>
                <a:ea typeface="Arial"/>
                <a:cs typeface="Arial"/>
              </a:defRPr>
            </a:lvl6pPr>
            <a:lvl7pPr>
              <a:defRPr sz="2100" b="1">
                <a:solidFill>
                  <a:srgbClr val="142633"/>
                </a:solidFill>
                <a:latin typeface="Arial"/>
                <a:ea typeface="Arial"/>
                <a:cs typeface="Arial"/>
              </a:defRPr>
            </a:lvl7pPr>
            <a:lvl8pPr>
              <a:defRPr sz="2100" b="1">
                <a:solidFill>
                  <a:srgbClr val="142633"/>
                </a:solidFill>
                <a:latin typeface="Arial"/>
                <a:ea typeface="Arial"/>
                <a:cs typeface="Arial"/>
              </a:defRPr>
            </a:lvl8pPr>
            <a:lvl9pPr>
              <a:defRPr sz="2100" b="1">
                <a:solidFill>
                  <a:srgbClr val="142633"/>
                </a:solidFill>
                <a:latin typeface="Arial"/>
                <a:ea typeface="Arial"/>
                <a:cs typeface="Arial"/>
              </a:defRPr>
            </a:lvl9pPr>
          </a:lstStyle>
          <a:p xmlns:a="http://schemas.openxmlformats.org/drawingml/2006/main">
            <a:pPr>
              <a:defRPr sz="2100" b="1">
                <a:solidFill>
                  <a:srgbClr val="142633"/>
                </a:solidFill>
                <a:latin typeface="Arial"/>
                <a:ea typeface="Arial"/>
                <a:cs typeface="Arial"/>
              </a:defRPr>
            </a:pPr>
            <a:r>
              <a:rPr sz="2100" b="1">
                <a:solidFill>
                  <a:srgbClr val="142633"/>
                </a:solidFill>
                <a:latin typeface="Arial"/>
                <a:ea typeface="Arial"/>
                <a:cs typeface="Arial"/>
              </a:rPr>
              <a:t>White x: catalogue position.</a:t>
            </a:r>
          </a:p>
          <a:p xmlns:a="http://schemas.openxmlformats.org/drawingml/2006/main">
            <a:pPr>
              <a:defRPr sz="2100" b="1">
                <a:solidFill>
                  <a:srgbClr val="142633"/>
                </a:solidFill>
                <a:latin typeface="Arial"/>
                <a:ea typeface="Arial"/>
                <a:cs typeface="Arial"/>
              </a:defRPr>
            </a:pPr>
            <a:r>
              <a:rPr sz="2100" b="1">
                <a:solidFill>
                  <a:srgbClr val="142633"/>
                </a:solidFill>
                <a:latin typeface="Arial"/>
                <a:ea typeface="Arial"/>
                <a:cs typeface="Arial"/>
              </a:rPr>
              <a:t>Red +: fitted disc centre.</a:t>
            </a:r>
          </a:p>
        </p:txBody>
      </p:sp>
      <p:sp>
        <p:nvSpPr>
          <p:cNvPr id="6" name="">
            <a:extLst xmlns:a="http://schemas.openxmlformats.org/drawingml/2006/main">
              <a:ext uri="{FF2B5EF4-FFF2-40B4-BE49-F238E27FC236}">
                <a16:creationId xmlns:a16="http://schemas.microsoft.com/office/drawing/2014/main" id="{40EB67C0-F382-40CF-A66B-87FC54B040DE}"/>
              </a:ext>
            </a:extLst>
          </p:cNvPr>
          <p:cNvSpPr>
            <a:spLocks xmlns:a="http://schemas.openxmlformats.org/drawingml/2006/main" noGrp="1"/>
          </p:cNvSpPr>
          <p:nvPr/>
        </p:nvSpPr>
        <p:spPr>
          <a:xfrm xmlns:a="http://schemas.openxmlformats.org/drawingml/2006/main">
            <a:off x="6762750" y="3238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05F7A"/>
                </a:solidFill>
                <a:latin typeface="Arial"/>
                <a:ea typeface="Arial"/>
                <a:cs typeface="Arial"/>
              </a:defRPr>
            </a:defPPr>
            <a:lvl1pPr>
              <a:defRPr sz="2100" b="1">
                <a:solidFill>
                  <a:srgbClr val="205F7A"/>
                </a:solidFill>
                <a:latin typeface="Arial"/>
                <a:ea typeface="Arial"/>
                <a:cs typeface="Arial"/>
              </a:defRPr>
            </a:lvl1pPr>
            <a:lvl2pPr>
              <a:defRPr sz="2100" b="1">
                <a:solidFill>
                  <a:srgbClr val="205F7A"/>
                </a:solidFill>
                <a:latin typeface="Arial"/>
                <a:ea typeface="Arial"/>
                <a:cs typeface="Arial"/>
              </a:defRPr>
            </a:lvl2pPr>
            <a:lvl3pPr>
              <a:defRPr sz="2100" b="1">
                <a:solidFill>
                  <a:srgbClr val="205F7A"/>
                </a:solidFill>
                <a:latin typeface="Arial"/>
                <a:ea typeface="Arial"/>
                <a:cs typeface="Arial"/>
              </a:defRPr>
            </a:lvl3pPr>
            <a:lvl4pPr>
              <a:defRPr sz="2100" b="1">
                <a:solidFill>
                  <a:srgbClr val="205F7A"/>
                </a:solidFill>
                <a:latin typeface="Arial"/>
                <a:ea typeface="Arial"/>
                <a:cs typeface="Arial"/>
              </a:defRPr>
            </a:lvl4pPr>
            <a:lvl5pPr>
              <a:defRPr sz="2100" b="1">
                <a:solidFill>
                  <a:srgbClr val="205F7A"/>
                </a:solidFill>
                <a:latin typeface="Arial"/>
                <a:ea typeface="Arial"/>
                <a:cs typeface="Arial"/>
              </a:defRPr>
            </a:lvl5pPr>
            <a:lvl6pPr>
              <a:defRPr sz="2100" b="1">
                <a:solidFill>
                  <a:srgbClr val="205F7A"/>
                </a:solidFill>
                <a:latin typeface="Arial"/>
                <a:ea typeface="Arial"/>
                <a:cs typeface="Arial"/>
              </a:defRPr>
            </a:lvl6pPr>
            <a:lvl7pPr>
              <a:defRPr sz="2100" b="1">
                <a:solidFill>
                  <a:srgbClr val="205F7A"/>
                </a:solidFill>
                <a:latin typeface="Arial"/>
                <a:ea typeface="Arial"/>
                <a:cs typeface="Arial"/>
              </a:defRPr>
            </a:lvl7pPr>
            <a:lvl8pPr>
              <a:defRPr sz="2100" b="1">
                <a:solidFill>
                  <a:srgbClr val="205F7A"/>
                </a:solidFill>
                <a:latin typeface="Arial"/>
                <a:ea typeface="Arial"/>
                <a:cs typeface="Arial"/>
              </a:defRPr>
            </a:lvl8pPr>
            <a:lvl9pPr>
              <a:defRPr sz="2100" b="1">
                <a:solidFill>
                  <a:srgbClr val="205F7A"/>
                </a:solidFill>
                <a:latin typeface="Arial"/>
                <a:ea typeface="Arial"/>
                <a:cs typeface="Arial"/>
              </a:defRPr>
            </a:lvl9pPr>
          </a:lstStyle>
          <a:p xmlns:a="http://schemas.openxmlformats.org/drawingml/2006/main">
            <a:pPr>
              <a:defRPr sz="2100" b="1">
                <a:solidFill>
                  <a:srgbClr val="205F7A"/>
                </a:solidFill>
                <a:latin typeface="Arial"/>
                <a:ea typeface="Arial"/>
                <a:cs typeface="Arial"/>
              </a:defRPr>
            </a:pPr>
            <a:r>
              <a:rPr sz="2100" b="1">
                <a:solidFill>
                  <a:srgbClr val="205F7A"/>
                </a:solidFill>
                <a:latin typeface="Arial"/>
                <a:ea typeface="Arial"/>
                <a:cs typeface="Arial"/>
              </a:rPr>
              <a:t>This example: 17.32 arcsec shift.</a:t>
            </a:r>
          </a:p>
          <a:p xmlns:a="http://schemas.openxmlformats.org/drawingml/2006/main">
            <a:pPr>
              <a:defRPr sz="2100" b="1">
                <a:solidFill>
                  <a:srgbClr val="205F7A"/>
                </a:solidFill>
                <a:latin typeface="Arial"/>
                <a:ea typeface="Arial"/>
                <a:cs typeface="Arial"/>
              </a:defRPr>
            </a:pPr>
            <a:r>
              <a:rPr sz="2100" b="1">
                <a:solidFill>
                  <a:srgbClr val="205F7A"/>
                </a:solidFill>
                <a:latin typeface="Arial"/>
                <a:ea typeface="Arial"/>
                <a:cs typeface="Arial"/>
              </a:rPr>
              <a:t>Sample median: 0.083 arcsec.</a:t>
            </a:r>
          </a:p>
        </p:txBody>
      </p:sp>
      <p:sp>
        <p:nvSpPr>
          <p:cNvPr id="7" name="">
            <a:extLst xmlns:a="http://schemas.openxmlformats.org/drawingml/2006/main">
              <a:ext uri="{FF2B5EF4-FFF2-40B4-BE49-F238E27FC236}">
                <a16:creationId xmlns:a16="http://schemas.microsoft.com/office/drawing/2014/main" id="{22504ACA-9533-4C3A-B867-75697FE03AA8}"/>
              </a:ext>
            </a:extLst>
          </p:cNvPr>
          <p:cNvSpPr>
            <a:spLocks xmlns:a="http://schemas.openxmlformats.org/drawingml/2006/main" noGrp="1"/>
          </p:cNvSpPr>
          <p:nvPr/>
        </p:nvSpPr>
        <p:spPr>
          <a:xfrm xmlns:a="http://schemas.openxmlformats.org/drawingml/2006/main">
            <a:off x="6762750" y="45243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Large offsets and centre changes across radius remain flagged for review. The catalogue and fitted positions are both retained.</a:t>
            </a:r>
          </a:p>
        </p:txBody>
      </p:sp>
      <p:sp>
        <p:nvSpPr>
          <p:cNvPr id="8" name="">
            <a:extLst xmlns:a="http://schemas.openxmlformats.org/drawingml/2006/main">
              <a:ext uri="{FF2B5EF4-FFF2-40B4-BE49-F238E27FC236}">
                <a16:creationId xmlns:a16="http://schemas.microsoft.com/office/drawing/2014/main" id="{BA9C00D9-3885-4FCF-A979-C561C7208029}"/>
              </a:ext>
            </a:extLst>
          </p:cNvPr>
          <p:cNvSpPr>
            <a:spLocks xmlns:a="http://schemas.openxmlformats.org/drawingml/2006/main" noGrp="1"/>
          </p:cNvSpPr>
          <p:nvPr/>
        </p:nvSpPr>
        <p:spPr>
          <a:xfrm xmlns:a="http://schemas.openxmlformats.org/drawingml/2006/main">
            <a:off x="609600" y="61150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Synthetic check recovered the known centre within 0.01 pixel and PA/inclination within 0.01°.</a:t>
            </a:r>
          </a:p>
        </p:txBody>
      </p:sp>
    </p:spTree>
    <p:extLst>
      <p:ext uri="{BB962C8B-B14F-4D97-AF65-F5344CB8AC3E}">
        <p14:creationId xmlns:p14="http://schemas.microsoft.com/office/powerpoint/2010/main" val="2547862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FD79D8-2AD2-4BD0-B54B-71E52A8D44DA}"/>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Updated review collection</a:t>
            </a:r>
          </a:p>
        </p:txBody>
      </p:sp>
      <p:sp>
        <p:nvSpPr>
          <p:cNvPr id="2" name="">
            <a:extLst xmlns:a="http://schemas.openxmlformats.org/drawingml/2006/main">
              <a:ext uri="{FF2B5EF4-FFF2-40B4-BE49-F238E27FC236}">
                <a16:creationId xmlns:a16="http://schemas.microsoft.com/office/drawing/2014/main" id="{7A26646D-5480-4717-B851-7FFB95D40772}"/>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16</a:t>
            </a:r>
          </a:p>
        </p:txBody>
      </p:sp>
      <p:graphicFrame>
        <p:nvGraphicFramePr>
          <p:cNvPr id="3" name="">
            <a:extLst xmlns:a="http://schemas.openxmlformats.org/drawingml/2006/main">
              <a:ext uri="{FF2B5EF4-FFF2-40B4-BE49-F238E27FC236}">
                <a16:creationId xmlns:a16="http://schemas.microsoft.com/office/drawing/2014/main" id="{4EBD84DF-EBE3-4062-9B12-E9372D874E2F}"/>
              </a:ext>
            </a:extLst>
          </p:cNvPr>
          <p:cNvGraphicFramePr/>
          <p:nvPr/>
        </p:nvGraphicFramePr>
        <p:xfrm>
          <a:off xmlns:a="http://schemas.openxmlformats.org/drawingml/2006/main" x="609600" y="1571625"/>
          <a:ext xmlns:a="http://schemas.openxmlformats.org/drawingml/2006/main" cx="10953750" cy="2190750"/>
        </p:xfrm>
        <a:graphic xmlns:a="http://schemas.openxmlformats.org/drawingml/2006/main">
          <a:graphicData uri="http://schemas.openxmlformats.org/drawingml/2006/table">
            <a:tbl>
              <a:tblPr/>
              <a:tblGrid>
                <a:gridCol w="7620000"/>
                <a:gridCol w="3333750"/>
              </a:tblGrid>
              <a:tr h="547688">
                <a:tc>
                  <a:txBody>
                    <a:bodyPr/>
                    <a:lstStyle/>
                    <a:p>
                      <a:r>
                        <a:rPr sz="2025"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2025" b="1">
                          <a:solidFill>
                            <a:srgbClr val="142633"/>
                          </a:solidFill>
                          <a:latin typeface="Arial"/>
                          <a:ea typeface="Arial"/>
                          <a:cs typeface="Arial"/>
                        </a:rPr>
                        <a:t>PNG reports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47688">
                <a:tc>
                  <a:txBody>
                    <a:bodyPr/>
                    <a:lstStyle/>
                    <a:p>
                      <a:r>
                        <a:rPr sz="2025"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2491</a:t>
                      </a:r>
                    </a:p>
                  </a:txBody>
                  <a:tcPr marL="91440" marR="91440" marT="45720" marB="45720">
                    <a:lnR w="6668">
                      <a:solidFill>
                        <a:srgbClr val="D6E0E5"/>
                      </a:solidFill>
                      <a:prstDash val="solid"/>
                    </a:lnR>
                    <a:lnB w="6668">
                      <a:solidFill>
                        <a:srgbClr val="D6E0E5"/>
                      </a:solidFill>
                      <a:prstDash val="solid"/>
                    </a:lnB>
                    <a:solidFill>
                      <a:srgbClr val="FFFFFF"/>
                    </a:solidFill>
                  </a:tcPr>
                </a:tc>
              </a:tr>
              <a:tr h="547688">
                <a:tc>
                  <a:txBody>
                    <a:bodyPr/>
                    <a:lstStyle/>
                    <a:p>
                      <a:r>
                        <a:rPr sz="2025"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286</a:t>
                      </a:r>
                    </a:p>
                  </a:txBody>
                  <a:tcPr marL="91440" marR="91440" marT="45720" marB="45720">
                    <a:lnR w="6668">
                      <a:solidFill>
                        <a:srgbClr val="D6E0E5"/>
                      </a:solidFill>
                      <a:prstDash val="solid"/>
                    </a:lnR>
                    <a:lnB w="6668">
                      <a:solidFill>
                        <a:srgbClr val="D6E0E5"/>
                      </a:solidFill>
                      <a:prstDash val="solid"/>
                    </a:lnB>
                    <a:solidFill>
                      <a:srgbClr val="FFFFFF"/>
                    </a:solidFill>
                  </a:tcPr>
                </a:tc>
              </a:tr>
              <a:tr h="547688">
                <a:tc>
                  <a:txBody>
                    <a:bodyPr/>
                    <a:lstStyle/>
                    <a:p>
                      <a:r>
                        <a:rPr sz="2025" b="0">
                          <a:solidFill>
                            <a:srgbClr val="142633"/>
                          </a:solidFill>
                          <a:latin typeface="Arial"/>
                          <a:ea typeface="Arial"/>
                          <a:cs typeface="Arial"/>
                        </a:rPr>
                        <a:t>Total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2777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4D8F5E-A925-4BBD-8B14-19D36EDEC324}"/>
              </a:ext>
            </a:extLst>
          </p:cNvPr>
          <p:cNvSpPr>
            <a:spLocks xmlns:a="http://schemas.openxmlformats.org/drawingml/2006/main" noGrp="1"/>
          </p:cNvSpPr>
          <p:nvPr/>
        </p:nvSpPr>
        <p:spPr>
          <a:xfrm xmlns:a="http://schemas.openxmlformats.org/drawingml/2006/main">
            <a:off x="609600" y="4191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47 PDFs; 464 pages; six galaxies per page.</a:t>
            </a:r>
          </a:p>
        </p:txBody>
      </p:sp>
      <p:sp>
        <p:nvSpPr>
          <p:cNvPr id="5" name="">
            <a:extLst xmlns:a="http://schemas.openxmlformats.org/drawingml/2006/main">
              <a:ext uri="{FF2B5EF4-FFF2-40B4-BE49-F238E27FC236}">
                <a16:creationId xmlns:a16="http://schemas.microsoft.com/office/drawing/2014/main" id="{BCF2F24E-406B-4694-90B7-F1E019480C55}"/>
              </a:ext>
            </a:extLst>
          </p:cNvPr>
          <p:cNvSpPr>
            <a:spLocks xmlns:a="http://schemas.openxmlformats.org/drawingml/2006/main" noGrp="1"/>
          </p:cNvSpPr>
          <p:nvPr/>
        </p:nvSpPr>
        <p:spPr>
          <a:xfrm xmlns:a="http://schemas.openxmlformats.org/drawingml/2006/main">
            <a:off x="609600" y="4905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Each card includes selected ellipses, profiles, angles, Euclid deltas, centre offset and recovery method. No accepted bar leaves bar PA blank.</a:t>
            </a:r>
          </a:p>
        </p:txBody>
      </p:sp>
      <p:sp>
        <p:nvSpPr>
          <p:cNvPr id="6" name="">
            <a:extLst xmlns:a="http://schemas.openxmlformats.org/drawingml/2006/main">
              <a:ext uri="{FF2B5EF4-FFF2-40B4-BE49-F238E27FC236}">
                <a16:creationId xmlns:a16="http://schemas.microsoft.com/office/drawing/2014/main" id="{887D37B7-3EC6-4C31-BC5C-A1A9FCDF0873}"/>
              </a:ext>
            </a:extLst>
          </p:cNvPr>
          <p:cNvSpPr>
            <a:spLocks xmlns:a="http://schemas.openxmlformats.org/drawingml/2006/main" noGrp="1"/>
          </p:cNvSpPr>
          <p:nvPr/>
        </p:nvSpPr>
        <p:spPr>
          <a:xfrm xmlns:a="http://schemas.openxmlformats.org/drawingml/2006/main">
            <a:off x="609600" y="60007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Next slides use current examples. Recovery warnings may co-occur; isolated examples are shown only where available.</a:t>
            </a:r>
          </a:p>
        </p:txBody>
      </p:sp>
    </p:spTree>
    <p:extLst>
      <p:ext uri="{BB962C8B-B14F-4D97-AF65-F5344CB8AC3E}">
        <p14:creationId xmlns:p14="http://schemas.microsoft.com/office/powerpoint/2010/main" val="8444725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3EB377-1F2D-4234-A6FF-D104FEE1558A}"/>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Small selected bar interval</a:t>
            </a:r>
          </a:p>
        </p:txBody>
      </p:sp>
      <p:sp>
        <p:nvSpPr>
          <p:cNvPr id="2" name="">
            <a:extLst xmlns:a="http://schemas.openxmlformats.org/drawingml/2006/main">
              <a:ext uri="{FF2B5EF4-FFF2-40B4-BE49-F238E27FC236}">
                <a16:creationId xmlns:a16="http://schemas.microsoft.com/office/drawing/2014/main" id="{F67EF926-0B8F-419A-B501-4B686AEEDF1E}"/>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16</a:t>
            </a:r>
          </a:p>
        </p:txBody>
      </p:sp>
      <p:sp>
        <p:nvSpPr>
          <p:cNvPr id="3" name="">
            <a:extLst xmlns:a="http://schemas.openxmlformats.org/drawingml/2006/main">
              <a:ext uri="{FF2B5EF4-FFF2-40B4-BE49-F238E27FC236}">
                <a16:creationId xmlns:a16="http://schemas.microsoft.com/office/drawing/2014/main" id="{193A69E4-F1D1-48EC-8B90-80ADFCCF18AD}"/>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D176DF12-26BE-40B8-9FCA-F615ACD78A30}"/>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-518659917291205827</a:t>
            </a:r>
          </a:p>
        </p:txBody>
      </p:sp>
      <p:pic>
        <p:nvPicPr>
          <p:cNvPr id="5" name="">
            <a:extLst xmlns:a="http://schemas.openxmlformats.org/drawingml/2006/main">
              <a:ext uri="{FF2B5EF4-FFF2-40B4-BE49-F238E27FC236}">
                <a16:creationId xmlns:a16="http://schemas.microsoft.com/office/drawing/2014/main" id="{2D39AB04-D12F-4F80-B06B-02FBEB621930}"/>
              </a:ext>
            </a:extLst>
          </p:cNvPr>
          <p:cNvPicPr>
            <a:picLocks xmlns:a="http://schemas.openxmlformats.org/drawingml/2006/main" noChangeAspect="1"/>
          </p:cNvPicPr>
          <p:nvPr/>
        </p:nvPicPr>
        <p:blipFill>
          <a:blip xmlns:r="http://schemas.openxmlformats.org/officeDocument/2006/relationships" xmlns:a="http://schemas.openxmlformats.org/drawingml/2006/main" r:embed="R73c79326da084377"/>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0FFBFD-853D-4025-9E08-0C503A682ADC}"/>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67.98°; bar 63.85°; i 47.29°</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0.07 arcsec; 31 accepted ellipses.</a:t>
            </a:r>
          </a:p>
        </p:txBody>
      </p:sp>
      <p:sp>
        <p:nvSpPr>
          <p:cNvPr id="7" name="">
            <a:extLst xmlns:a="http://schemas.openxmlformats.org/drawingml/2006/main">
              <a:ext uri="{FF2B5EF4-FFF2-40B4-BE49-F238E27FC236}">
                <a16:creationId xmlns:a16="http://schemas.microsoft.com/office/drawing/2014/main" id="{6795F080-8C23-47EC-8BBF-CCE8FD1BBAE0}"/>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-518003489287870292</a:t>
            </a:r>
          </a:p>
        </p:txBody>
      </p:sp>
      <p:pic>
        <p:nvPicPr>
          <p:cNvPr id="8" name="">
            <a:extLst xmlns:a="http://schemas.openxmlformats.org/drawingml/2006/main">
              <a:ext uri="{FF2B5EF4-FFF2-40B4-BE49-F238E27FC236}">
                <a16:creationId xmlns:a16="http://schemas.microsoft.com/office/drawing/2014/main" id="{60A9DF32-954E-4E3F-9637-0731268BDF2D}"/>
              </a:ext>
            </a:extLst>
          </p:cNvPr>
          <p:cNvPicPr>
            <a:picLocks xmlns:a="http://schemas.openxmlformats.org/drawingml/2006/main" noChangeAspect="1"/>
          </p:cNvPicPr>
          <p:nvPr/>
        </p:nvPicPr>
        <p:blipFill>
          <a:blip xmlns:r="http://schemas.openxmlformats.org/officeDocument/2006/relationships" xmlns:a="http://schemas.openxmlformats.org/drawingml/2006/main" r:embed="R04de4b9b97544080"/>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32AFF8C-B052-48C9-AC36-EBDF43838BB6}"/>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87.46°; bar 167.23°; i 31.57°</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0.04 arcsec; 22 accepted ellipses.</a:t>
            </a:r>
          </a:p>
        </p:txBody>
      </p:sp>
      <p:sp>
        <p:nvSpPr>
          <p:cNvPr id="10" name="">
            <a:extLst xmlns:a="http://schemas.openxmlformats.org/drawingml/2006/main">
              <a:ext uri="{FF2B5EF4-FFF2-40B4-BE49-F238E27FC236}">
                <a16:creationId xmlns:a16="http://schemas.microsoft.com/office/drawing/2014/main" id="{C1EAF05D-E8B6-4B35-A309-22FAC5183FA5}"/>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316 isolated cases available. Orange: selected bar. Green: selected disc. Blue: accepted samples. Grey: rejected samples.</a:t>
            </a:r>
          </a:p>
        </p:txBody>
      </p:sp>
    </p:spTree>
    <p:extLst>
      <p:ext uri="{BB962C8B-B14F-4D97-AF65-F5344CB8AC3E}">
        <p14:creationId xmlns:p14="http://schemas.microsoft.com/office/powerpoint/2010/main" val="16684622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C0C8C7-6C1E-4207-B5A3-9B025AD5053F}"/>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658A11CD-6DE5-4F54-9A5A-299C54531006}"/>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16</a:t>
            </a:r>
          </a:p>
        </p:txBody>
      </p:sp>
      <p:sp>
        <p:nvSpPr>
          <p:cNvPr id="3" name="">
            <a:extLst xmlns:a="http://schemas.openxmlformats.org/drawingml/2006/main">
              <a:ext uri="{FF2B5EF4-FFF2-40B4-BE49-F238E27FC236}">
                <a16:creationId xmlns:a16="http://schemas.microsoft.com/office/drawing/2014/main" id="{5BCE006B-A812-4FA7-972E-D937AAE061EB}"/>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D5286160-2C45-473F-9A69-1C79D605A7B9}"/>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-518633776290631360</a:t>
            </a:r>
          </a:p>
        </p:txBody>
      </p:sp>
      <p:pic>
        <p:nvPicPr>
          <p:cNvPr id="5" name="">
            <a:extLst xmlns:a="http://schemas.openxmlformats.org/drawingml/2006/main">
              <a:ext uri="{FF2B5EF4-FFF2-40B4-BE49-F238E27FC236}">
                <a16:creationId xmlns:a16="http://schemas.microsoft.com/office/drawing/2014/main" id="{DAC7F7B3-35C9-481F-ABB2-836596B587E7}"/>
              </a:ext>
            </a:extLst>
          </p:cNvPr>
          <p:cNvPicPr>
            <a:picLocks xmlns:a="http://schemas.openxmlformats.org/drawingml/2006/main" noChangeAspect="1"/>
          </p:cNvPicPr>
          <p:nvPr/>
        </p:nvPicPr>
        <p:blipFill>
          <a:blip xmlns:r="http://schemas.openxmlformats.org/officeDocument/2006/relationships" xmlns:a="http://schemas.openxmlformats.org/drawingml/2006/main" r:embed="Ra731d2fda5dc4815"/>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DFE22B-C2A2-4FC5-AEA7-E29ED24359E5}"/>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113.69°; bar 113.87°; i 49.48°</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0.15 arcsec; 28 accepted ellipses.</a:t>
            </a:r>
          </a:p>
        </p:txBody>
      </p:sp>
      <p:sp>
        <p:nvSpPr>
          <p:cNvPr id="7" name="">
            <a:extLst xmlns:a="http://schemas.openxmlformats.org/drawingml/2006/main">
              <a:ext uri="{FF2B5EF4-FFF2-40B4-BE49-F238E27FC236}">
                <a16:creationId xmlns:a16="http://schemas.microsoft.com/office/drawing/2014/main" id="{E5972656-6D09-46FD-8F73-D612B9D5FA41}"/>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-601121275504424227</a:t>
            </a:r>
          </a:p>
        </p:txBody>
      </p:sp>
      <p:pic>
        <p:nvPicPr>
          <p:cNvPr id="8" name="">
            <a:extLst xmlns:a="http://schemas.openxmlformats.org/drawingml/2006/main">
              <a:ext uri="{FF2B5EF4-FFF2-40B4-BE49-F238E27FC236}">
                <a16:creationId xmlns:a16="http://schemas.microsoft.com/office/drawing/2014/main" id="{0E91592A-5509-43FF-A179-C3C9AEFF722C}"/>
              </a:ext>
            </a:extLst>
          </p:cNvPr>
          <p:cNvPicPr>
            <a:picLocks xmlns:a="http://schemas.openxmlformats.org/drawingml/2006/main" noChangeAspect="1"/>
          </p:cNvPicPr>
          <p:nvPr/>
        </p:nvPicPr>
        <p:blipFill>
          <a:blip xmlns:r="http://schemas.openxmlformats.org/officeDocument/2006/relationships" xmlns:a="http://schemas.openxmlformats.org/drawingml/2006/main" r:embed="R4298e3ddea7245c1"/>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7C22BA0-F91B-42AD-84AA-C19B6225C93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60.75°; bar 20.23°; i 40.93°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0.04 arcsec; 33 accepted ellipses.</a:t>
            </a:r>
          </a:p>
        </p:txBody>
      </p:sp>
      <p:sp>
        <p:nvSpPr>
          <p:cNvPr id="10" name="">
            <a:extLst xmlns:a="http://schemas.openxmlformats.org/drawingml/2006/main">
              <a:ext uri="{FF2B5EF4-FFF2-40B4-BE49-F238E27FC236}">
                <a16:creationId xmlns:a16="http://schemas.microsoft.com/office/drawing/2014/main" id="{9A3C012D-56AF-4880-AB2E-BFFD3303B29A}"/>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89 isolated cases available. Orange: selected bar. Green: selected disc. Blue: accepted samples. Grey: rejected samples.</a:t>
            </a:r>
          </a:p>
        </p:txBody>
      </p:sp>
    </p:spTree>
    <p:extLst>
      <p:ext uri="{BB962C8B-B14F-4D97-AF65-F5344CB8AC3E}">
        <p14:creationId xmlns:p14="http://schemas.microsoft.com/office/powerpoint/2010/main" val="15128949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8CD919-6511-4F3C-A6F5-92C6E79807A2}"/>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AA09DC20-0B9A-4444-A19C-C8F775A30F22}"/>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16</a:t>
            </a:r>
          </a:p>
        </p:txBody>
      </p:sp>
      <p:sp>
        <p:nvSpPr>
          <p:cNvPr id="3" name="">
            <a:extLst xmlns:a="http://schemas.openxmlformats.org/drawingml/2006/main">
              <a:ext uri="{FF2B5EF4-FFF2-40B4-BE49-F238E27FC236}">
                <a16:creationId xmlns:a16="http://schemas.microsoft.com/office/drawing/2014/main" id="{FF7139C5-EAEE-40FB-9F61-C13D04C63454}"/>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1B377B48-4EE1-465D-B8B3-C25E9CF5CC8A}"/>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-515262325287813002</a:t>
            </a:r>
          </a:p>
        </p:txBody>
      </p:sp>
      <p:pic>
        <p:nvPicPr>
          <p:cNvPr id="5" name="">
            <a:extLst xmlns:a="http://schemas.openxmlformats.org/drawingml/2006/main">
              <a:ext uri="{FF2B5EF4-FFF2-40B4-BE49-F238E27FC236}">
                <a16:creationId xmlns:a16="http://schemas.microsoft.com/office/drawing/2014/main" id="{97179EDA-440F-4A58-9078-3346F3E46B4D}"/>
              </a:ext>
            </a:extLst>
          </p:cNvPr>
          <p:cNvPicPr>
            <a:picLocks xmlns:a="http://schemas.openxmlformats.org/drawingml/2006/main" noChangeAspect="1"/>
          </p:cNvPicPr>
          <p:nvPr/>
        </p:nvPicPr>
        <p:blipFill>
          <a:blip xmlns:r="http://schemas.openxmlformats.org/officeDocument/2006/relationships" xmlns:a="http://schemas.openxmlformats.org/drawingml/2006/main" r:embed="R812352e6aff24097"/>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145CFE-FE00-41F8-BF9E-01A0FF80D1D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66.04°; bar 68.86°; i 64.73°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0.14 arcsec; 25 accepted ellipses.</a:t>
            </a:r>
          </a:p>
        </p:txBody>
      </p:sp>
      <p:sp>
        <p:nvSpPr>
          <p:cNvPr id="7" name="">
            <a:extLst xmlns:a="http://schemas.openxmlformats.org/drawingml/2006/main">
              <a:ext uri="{FF2B5EF4-FFF2-40B4-BE49-F238E27FC236}">
                <a16:creationId xmlns:a16="http://schemas.microsoft.com/office/drawing/2014/main" id="{46E5B3B1-12AD-40AA-9CDA-8CD0D5E05E4F}"/>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2696479031648186651</a:t>
            </a:r>
          </a:p>
        </p:txBody>
      </p:sp>
      <p:pic>
        <p:nvPicPr>
          <p:cNvPr id="8" name="">
            <a:extLst xmlns:a="http://schemas.openxmlformats.org/drawingml/2006/main">
              <a:ext uri="{FF2B5EF4-FFF2-40B4-BE49-F238E27FC236}">
                <a16:creationId xmlns:a16="http://schemas.microsoft.com/office/drawing/2014/main" id="{1D95BAB1-72BF-419B-815A-3D21CAE50CF1}"/>
              </a:ext>
            </a:extLst>
          </p:cNvPr>
          <p:cNvPicPr>
            <a:picLocks xmlns:a="http://schemas.openxmlformats.org/drawingml/2006/main" noChangeAspect="1"/>
          </p:cNvPicPr>
          <p:nvPr/>
        </p:nvPicPr>
        <p:blipFill>
          <a:blip xmlns:r="http://schemas.openxmlformats.org/officeDocument/2006/relationships" xmlns:a="http://schemas.openxmlformats.org/drawingml/2006/main" r:embed="Rb8c3647301b14cc0"/>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AA2C992-F570-465C-A1B7-771A9284890A}"/>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77.11°; bar 59.69°; i 55.74°</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0.17 arcsec; 26 accepted ellipses.</a:t>
            </a:r>
          </a:p>
        </p:txBody>
      </p:sp>
      <p:sp>
        <p:nvSpPr>
          <p:cNvPr id="10" name="">
            <a:extLst xmlns:a="http://schemas.openxmlformats.org/drawingml/2006/main">
              <a:ext uri="{FF2B5EF4-FFF2-40B4-BE49-F238E27FC236}">
                <a16:creationId xmlns:a16="http://schemas.microsoft.com/office/drawing/2014/main" id="{80EECFF7-CCCD-4A12-A3FB-E7ABAE547251}"/>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109 isolated cases available. Orange: selected bar. Green: selected disc. Blue: accepted samples. Grey: rejected samples.</a:t>
            </a:r>
          </a:p>
        </p:txBody>
      </p:sp>
    </p:spTree>
    <p:extLst>
      <p:ext uri="{BB962C8B-B14F-4D97-AF65-F5344CB8AC3E}">
        <p14:creationId xmlns:p14="http://schemas.microsoft.com/office/powerpoint/2010/main" val="6059694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C13753-D7E8-4A8D-B025-E7F954E9BA26}"/>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Weaker accepted bar signature</a:t>
            </a:r>
          </a:p>
        </p:txBody>
      </p:sp>
      <p:sp>
        <p:nvSpPr>
          <p:cNvPr id="2" name="">
            <a:extLst xmlns:a="http://schemas.openxmlformats.org/drawingml/2006/main">
              <a:ext uri="{FF2B5EF4-FFF2-40B4-BE49-F238E27FC236}">
                <a16:creationId xmlns:a16="http://schemas.microsoft.com/office/drawing/2014/main" id="{8C997121-A092-441C-A689-EC88B1892846}"/>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16</a:t>
            </a:r>
          </a:p>
        </p:txBody>
      </p:sp>
      <p:sp>
        <p:nvSpPr>
          <p:cNvPr id="3" name="">
            <a:extLst xmlns:a="http://schemas.openxmlformats.org/drawingml/2006/main">
              <a:ext uri="{FF2B5EF4-FFF2-40B4-BE49-F238E27FC236}">
                <a16:creationId xmlns:a16="http://schemas.microsoft.com/office/drawing/2014/main" id="{49492D18-DD66-426B-A23A-F6764BAB9F46}"/>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49F8241A-53DA-4C65-B5AA-E00E9722E29B}"/>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-586037871514112362</a:t>
            </a:r>
          </a:p>
        </p:txBody>
      </p:sp>
      <p:pic>
        <p:nvPicPr>
          <p:cNvPr id="5" name="">
            <a:extLst xmlns:a="http://schemas.openxmlformats.org/drawingml/2006/main">
              <a:ext uri="{FF2B5EF4-FFF2-40B4-BE49-F238E27FC236}">
                <a16:creationId xmlns:a16="http://schemas.microsoft.com/office/drawing/2014/main" id="{184D4A96-BB95-4EEC-957A-BA008DD63FCD}"/>
              </a:ext>
            </a:extLst>
          </p:cNvPr>
          <p:cNvPicPr>
            <a:picLocks xmlns:a="http://schemas.openxmlformats.org/drawingml/2006/main" noChangeAspect="1"/>
          </p:cNvPicPr>
          <p:nvPr/>
        </p:nvPicPr>
        <p:blipFill>
          <a:blip xmlns:r="http://schemas.openxmlformats.org/officeDocument/2006/relationships" xmlns:a="http://schemas.openxmlformats.org/drawingml/2006/main" r:embed="Raa806298865a4d4a"/>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362970-0E9D-4E47-BF95-622CB50FF7B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9.11°; bar 34.11°; i 62.89°</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0.20 arcsec; 31 accepted ellipses.</a:t>
            </a:r>
          </a:p>
        </p:txBody>
      </p:sp>
      <p:sp>
        <p:nvSpPr>
          <p:cNvPr id="7" name="">
            <a:extLst xmlns:a="http://schemas.openxmlformats.org/drawingml/2006/main">
              <a:ext uri="{FF2B5EF4-FFF2-40B4-BE49-F238E27FC236}">
                <a16:creationId xmlns:a16="http://schemas.microsoft.com/office/drawing/2014/main" id="{B340AE50-61C7-4118-8826-AE9048EDD72F}"/>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-593494399504450575</a:t>
            </a:r>
          </a:p>
        </p:txBody>
      </p:sp>
      <p:pic>
        <p:nvPicPr>
          <p:cNvPr id="8" name="">
            <a:extLst xmlns:a="http://schemas.openxmlformats.org/drawingml/2006/main">
              <a:ext uri="{FF2B5EF4-FFF2-40B4-BE49-F238E27FC236}">
                <a16:creationId xmlns:a16="http://schemas.microsoft.com/office/drawing/2014/main" id="{8F99E955-430D-4FA7-84CF-C9758935C0B4}"/>
              </a:ext>
            </a:extLst>
          </p:cNvPr>
          <p:cNvPicPr>
            <a:picLocks xmlns:a="http://schemas.openxmlformats.org/drawingml/2006/main" noChangeAspect="1"/>
          </p:cNvPicPr>
          <p:nvPr/>
        </p:nvPicPr>
        <p:blipFill>
          <a:blip xmlns:r="http://schemas.openxmlformats.org/officeDocument/2006/relationships" xmlns:a="http://schemas.openxmlformats.org/drawingml/2006/main" r:embed="R6281641106564129"/>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A3353F6-FD67-47D8-B067-4A955774BA7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56.81°; bar 53.95°; i 60.45°</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0.14 arcsec; 37 accepted ellipses.</a:t>
            </a:r>
          </a:p>
        </p:txBody>
      </p:sp>
      <p:sp>
        <p:nvSpPr>
          <p:cNvPr id="10" name="">
            <a:extLst xmlns:a="http://schemas.openxmlformats.org/drawingml/2006/main">
              <a:ext uri="{FF2B5EF4-FFF2-40B4-BE49-F238E27FC236}">
                <a16:creationId xmlns:a16="http://schemas.microsoft.com/office/drawing/2014/main" id="{349713D8-938C-4C43-A947-9B399E1656FB}"/>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37 isolated cases available. Orange: selected bar. Green: selected disc. Blue: accepted samples. Grey: rejected samples.</a:t>
            </a:r>
          </a:p>
        </p:txBody>
      </p:sp>
    </p:spTree>
    <p:extLst>
      <p:ext uri="{BB962C8B-B14F-4D97-AF65-F5344CB8AC3E}">
        <p14:creationId xmlns:p14="http://schemas.microsoft.com/office/powerpoint/2010/main" val="11364673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00BC31-45E4-4DB9-BBAE-7D99F57D7C07}"/>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No accepted bar; disc retained</a:t>
            </a:r>
          </a:p>
        </p:txBody>
      </p:sp>
      <p:sp>
        <p:nvSpPr>
          <p:cNvPr id="2" name="">
            <a:extLst xmlns:a="http://schemas.openxmlformats.org/drawingml/2006/main">
              <a:ext uri="{FF2B5EF4-FFF2-40B4-BE49-F238E27FC236}">
                <a16:creationId xmlns:a16="http://schemas.microsoft.com/office/drawing/2014/main" id="{3327FD9E-AC39-4CE1-93D5-4907F4EF5307}"/>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16</a:t>
            </a:r>
          </a:p>
        </p:txBody>
      </p:sp>
      <p:sp>
        <p:nvSpPr>
          <p:cNvPr id="3" name="">
            <a:extLst xmlns:a="http://schemas.openxmlformats.org/drawingml/2006/main">
              <a:ext uri="{FF2B5EF4-FFF2-40B4-BE49-F238E27FC236}">
                <a16:creationId xmlns:a16="http://schemas.microsoft.com/office/drawing/2014/main" id="{CC77BD5D-F970-42D9-A1AB-BF4865FA5CEC}"/>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8BCF48A7-FEF1-4AA6-B8E4-196EAF0BC9BC}"/>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-550331516283529196</a:t>
            </a:r>
          </a:p>
        </p:txBody>
      </p:sp>
      <p:pic>
        <p:nvPicPr>
          <p:cNvPr id="5" name="">
            <a:extLst xmlns:a="http://schemas.openxmlformats.org/drawingml/2006/main">
              <a:ext uri="{FF2B5EF4-FFF2-40B4-BE49-F238E27FC236}">
                <a16:creationId xmlns:a16="http://schemas.microsoft.com/office/drawing/2014/main" id="{63582757-D7BA-40DB-84DA-2C1D2D92412E}"/>
              </a:ext>
            </a:extLst>
          </p:cNvPr>
          <p:cNvPicPr>
            <a:picLocks xmlns:a="http://schemas.openxmlformats.org/drawingml/2006/main" noChangeAspect="1"/>
          </p:cNvPicPr>
          <p:nvPr/>
        </p:nvPicPr>
        <p:blipFill>
          <a:blip xmlns:r="http://schemas.openxmlformats.org/officeDocument/2006/relationships" xmlns:a="http://schemas.openxmlformats.org/drawingml/2006/main" r:embed="Rda5f3bdc21a349a6"/>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BFFEF3E-525F-4521-9859-FEB50570F870}"/>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13.45°; bar unavailable; i 53.20°</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0.08 arcsec; 23 accepted ellipses.</a:t>
            </a:r>
          </a:p>
        </p:txBody>
      </p:sp>
      <p:sp>
        <p:nvSpPr>
          <p:cNvPr id="7" name="">
            <a:extLst xmlns:a="http://schemas.openxmlformats.org/drawingml/2006/main">
              <a:ext uri="{FF2B5EF4-FFF2-40B4-BE49-F238E27FC236}">
                <a16:creationId xmlns:a16="http://schemas.microsoft.com/office/drawing/2014/main" id="{4DCBD4C1-CE5A-4794-BCD5-BD1ED94EADF8}"/>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-547491640287288205</a:t>
            </a:r>
          </a:p>
        </p:txBody>
      </p:sp>
      <p:pic>
        <p:nvPicPr>
          <p:cNvPr id="8" name="">
            <a:extLst xmlns:a="http://schemas.openxmlformats.org/drawingml/2006/main">
              <a:ext uri="{FF2B5EF4-FFF2-40B4-BE49-F238E27FC236}">
                <a16:creationId xmlns:a16="http://schemas.microsoft.com/office/drawing/2014/main" id="{99C5CC16-0929-4673-A82B-B1274ED8C0E9}"/>
              </a:ext>
            </a:extLst>
          </p:cNvPr>
          <p:cNvPicPr>
            <a:picLocks xmlns:a="http://schemas.openxmlformats.org/drawingml/2006/main" noChangeAspect="1"/>
          </p:cNvPicPr>
          <p:nvPr/>
        </p:nvPicPr>
        <p:blipFill>
          <a:blip xmlns:r="http://schemas.openxmlformats.org/officeDocument/2006/relationships" xmlns:a="http://schemas.openxmlformats.org/drawingml/2006/main" r:embed="Rd57bf55fdbe64cb8"/>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F9C0E3C-A648-4575-A26A-108E116E2245}"/>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82.00°; bar unavailable; i 68.38°</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0.34 arcsec; 35 accepted ellipses.</a:t>
            </a:r>
          </a:p>
        </p:txBody>
      </p:sp>
      <p:sp>
        <p:nvSpPr>
          <p:cNvPr id="10" name="">
            <a:extLst xmlns:a="http://schemas.openxmlformats.org/drawingml/2006/main">
              <a:ext uri="{FF2B5EF4-FFF2-40B4-BE49-F238E27FC236}">
                <a16:creationId xmlns:a16="http://schemas.microsoft.com/office/drawing/2014/main" id="{3006CE1A-257E-4C6C-8ACA-5314F310B029}"/>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101 isolated cases available. Orange: selected bar. Green: selected disc. Blue: accepted samples. Grey: rejected samples.</a:t>
            </a:r>
          </a:p>
        </p:txBody>
      </p:sp>
    </p:spTree>
    <p:extLst>
      <p:ext uri="{BB962C8B-B14F-4D97-AF65-F5344CB8AC3E}">
        <p14:creationId xmlns:p14="http://schemas.microsoft.com/office/powerpoint/2010/main" val="15796698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C2440D-5A76-4721-9B33-F2A1F3F3ED9C}"/>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Large centre offset</a:t>
            </a:r>
          </a:p>
        </p:txBody>
      </p:sp>
      <p:sp>
        <p:nvSpPr>
          <p:cNvPr id="2" name="">
            <a:extLst xmlns:a="http://schemas.openxmlformats.org/drawingml/2006/main">
              <a:ext uri="{FF2B5EF4-FFF2-40B4-BE49-F238E27FC236}">
                <a16:creationId xmlns:a16="http://schemas.microsoft.com/office/drawing/2014/main" id="{CD4D6DDE-5005-4F2C-9DCD-443D8E15E4CD}"/>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16</a:t>
            </a:r>
          </a:p>
        </p:txBody>
      </p:sp>
      <p:sp>
        <p:nvSpPr>
          <p:cNvPr id="3" name="">
            <a:extLst xmlns:a="http://schemas.openxmlformats.org/drawingml/2006/main">
              <a:ext uri="{FF2B5EF4-FFF2-40B4-BE49-F238E27FC236}">
                <a16:creationId xmlns:a16="http://schemas.microsoft.com/office/drawing/2014/main" id="{77DDD89F-91EF-45A2-A4CB-E58608069E7D}"/>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4442D321-C48C-4B37-944C-3F9ACD7A3A2A}"/>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-596168966496153208</a:t>
            </a:r>
          </a:p>
        </p:txBody>
      </p:sp>
      <p:pic>
        <p:nvPicPr>
          <p:cNvPr id="5" name="">
            <a:extLst xmlns:a="http://schemas.openxmlformats.org/drawingml/2006/main">
              <a:ext uri="{FF2B5EF4-FFF2-40B4-BE49-F238E27FC236}">
                <a16:creationId xmlns:a16="http://schemas.microsoft.com/office/drawing/2014/main" id="{6B8CA77E-529D-4D39-8AFA-33A68EC8F71C}"/>
              </a:ext>
            </a:extLst>
          </p:cNvPr>
          <p:cNvPicPr>
            <a:picLocks xmlns:a="http://schemas.openxmlformats.org/drawingml/2006/main" noChangeAspect="1"/>
          </p:cNvPicPr>
          <p:nvPr/>
        </p:nvPicPr>
        <p:blipFill>
          <a:blip xmlns:r="http://schemas.openxmlformats.org/officeDocument/2006/relationships" xmlns:a="http://schemas.openxmlformats.org/drawingml/2006/main" r:embed="R05c2504b73834a6f"/>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58A63C-6C0E-4B24-BB3D-04D3A985A54A}"/>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54.40°; bar 60.50°; i 61.73°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1.65 arcsec; 23 accepted ellipses.</a:t>
            </a:r>
          </a:p>
        </p:txBody>
      </p:sp>
      <p:sp>
        <p:nvSpPr>
          <p:cNvPr id="7" name="">
            <a:extLst xmlns:a="http://schemas.openxmlformats.org/drawingml/2006/main">
              <a:ext uri="{FF2B5EF4-FFF2-40B4-BE49-F238E27FC236}">
                <a16:creationId xmlns:a16="http://schemas.microsoft.com/office/drawing/2014/main" id="{83CA8E0A-5300-454E-94A5-3A9F5A2A9B0A}"/>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-647912843459445604</a:t>
            </a:r>
          </a:p>
        </p:txBody>
      </p:sp>
      <p:pic>
        <p:nvPicPr>
          <p:cNvPr id="8" name="">
            <a:extLst xmlns:a="http://schemas.openxmlformats.org/drawingml/2006/main">
              <a:ext uri="{FF2B5EF4-FFF2-40B4-BE49-F238E27FC236}">
                <a16:creationId xmlns:a16="http://schemas.microsoft.com/office/drawing/2014/main" id="{45B18A85-837A-4AD6-814E-39A4383C4D9C}"/>
              </a:ext>
            </a:extLst>
          </p:cNvPr>
          <p:cNvPicPr>
            <a:picLocks xmlns:a="http://schemas.openxmlformats.org/drawingml/2006/main" noChangeAspect="1"/>
          </p:cNvPicPr>
          <p:nvPr/>
        </p:nvPicPr>
        <p:blipFill>
          <a:blip xmlns:r="http://schemas.openxmlformats.org/officeDocument/2006/relationships" xmlns:a="http://schemas.openxmlformats.org/drawingml/2006/main" r:embed="Rbcf0cdd7acff42d0"/>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8D7242A-E9BF-4BD1-8CF5-5477EC337FC6}"/>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24.55°; bar 147.96°; i 44.73°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0.65 arcsec; 27 accepted ellipses.</a:t>
            </a:r>
          </a:p>
        </p:txBody>
      </p:sp>
      <p:sp>
        <p:nvSpPr>
          <p:cNvPr id="10" name="">
            <a:extLst xmlns:a="http://schemas.openxmlformats.org/drawingml/2006/main">
              <a:ext uri="{FF2B5EF4-FFF2-40B4-BE49-F238E27FC236}">
                <a16:creationId xmlns:a16="http://schemas.microsoft.com/office/drawing/2014/main" id="{FB9C6F84-3AD5-46F4-8B31-C4CCC54659FA}"/>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 isolated cases available. Orange: selected bar. Green: selected disc. Blue: accepted samples. Grey: rejected samples.</a:t>
            </a:r>
          </a:p>
        </p:txBody>
      </p:sp>
    </p:spTree>
    <p:extLst>
      <p:ext uri="{BB962C8B-B14F-4D97-AF65-F5344CB8AC3E}">
        <p14:creationId xmlns:p14="http://schemas.microsoft.com/office/powerpoint/2010/main" val="17206320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0C3810-BCA9-4C4D-AFA5-CB16A5206A27}"/>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Recovered interval failures</a:t>
            </a:r>
          </a:p>
        </p:txBody>
      </p:sp>
      <p:sp>
        <p:nvSpPr>
          <p:cNvPr id="2" name="">
            <a:extLst xmlns:a="http://schemas.openxmlformats.org/drawingml/2006/main">
              <a:ext uri="{FF2B5EF4-FFF2-40B4-BE49-F238E27FC236}">
                <a16:creationId xmlns:a16="http://schemas.microsoft.com/office/drawing/2014/main" id="{06F6E3C3-713B-4EEB-AAEE-D583594C6596}"/>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16</a:t>
            </a:r>
          </a:p>
        </p:txBody>
      </p:sp>
      <p:sp>
        <p:nvSpPr>
          <p:cNvPr id="3" name="">
            <a:extLst xmlns:a="http://schemas.openxmlformats.org/drawingml/2006/main">
              <a:ext uri="{FF2B5EF4-FFF2-40B4-BE49-F238E27FC236}">
                <a16:creationId xmlns:a16="http://schemas.microsoft.com/office/drawing/2014/main" id="{BE3AB258-DC54-4CD4-86EE-20B5A7DF6621}"/>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These galaxies previously failed; the current pipeline returns provisional geometry.</a:t>
            </a:r>
          </a:p>
        </p:txBody>
      </p:sp>
      <p:sp>
        <p:nvSpPr>
          <p:cNvPr id="4" name="">
            <a:extLst xmlns:a="http://schemas.openxmlformats.org/drawingml/2006/main">
              <a:ext uri="{FF2B5EF4-FFF2-40B4-BE49-F238E27FC236}">
                <a16:creationId xmlns:a16="http://schemas.microsoft.com/office/drawing/2014/main" id="{14ECBFB6-67D0-43F7-A0BB-16FDC4B87345}"/>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-637379992495894829</a:t>
            </a:r>
          </a:p>
        </p:txBody>
      </p:sp>
      <p:pic>
        <p:nvPicPr>
          <p:cNvPr id="5" name="">
            <a:extLst xmlns:a="http://schemas.openxmlformats.org/drawingml/2006/main">
              <a:ext uri="{FF2B5EF4-FFF2-40B4-BE49-F238E27FC236}">
                <a16:creationId xmlns:a16="http://schemas.microsoft.com/office/drawing/2014/main" id="{98016C2A-57A4-484B-9CF2-86BE6B207E98}"/>
              </a:ext>
            </a:extLst>
          </p:cNvPr>
          <p:cNvPicPr>
            <a:picLocks xmlns:a="http://schemas.openxmlformats.org/drawingml/2006/main" noChangeAspect="1"/>
          </p:cNvPicPr>
          <p:nvPr/>
        </p:nvPicPr>
        <p:blipFill>
          <a:blip xmlns:r="http://schemas.openxmlformats.org/officeDocument/2006/relationships" xmlns:a="http://schemas.openxmlformats.org/drawingml/2006/main" r:embed="Rd7e50125a2c64a54"/>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1A930B9-1DB1-462E-A07D-A85E266ECE6E}"/>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83.79°; bar 88.98°; i 70.95°</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0.96 arcsec; 38 accepted ellipses.</a:t>
            </a:r>
          </a:p>
        </p:txBody>
      </p:sp>
      <p:sp>
        <p:nvSpPr>
          <p:cNvPr id="7" name="">
            <a:extLst xmlns:a="http://schemas.openxmlformats.org/drawingml/2006/main">
              <a:ext uri="{FF2B5EF4-FFF2-40B4-BE49-F238E27FC236}">
                <a16:creationId xmlns:a16="http://schemas.microsoft.com/office/drawing/2014/main" id="{1677F7A9-A134-45DA-A401-3D5540E9121B}"/>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2660732568647808880</a:t>
            </a:r>
          </a:p>
        </p:txBody>
      </p:sp>
      <p:pic>
        <p:nvPicPr>
          <p:cNvPr id="8" name="">
            <a:extLst xmlns:a="http://schemas.openxmlformats.org/drawingml/2006/main">
              <a:ext uri="{FF2B5EF4-FFF2-40B4-BE49-F238E27FC236}">
                <a16:creationId xmlns:a16="http://schemas.microsoft.com/office/drawing/2014/main" id="{98FDE79B-C938-40EF-A6D9-2E29160B1FBD}"/>
              </a:ext>
            </a:extLst>
          </p:cNvPr>
          <p:cNvPicPr>
            <a:picLocks xmlns:a="http://schemas.openxmlformats.org/drawingml/2006/main" noChangeAspect="1"/>
          </p:cNvPicPr>
          <p:nvPr/>
        </p:nvPicPr>
        <p:blipFill>
          <a:blip xmlns:r="http://schemas.openxmlformats.org/officeDocument/2006/relationships" xmlns:a="http://schemas.openxmlformats.org/drawingml/2006/main" r:embed="Ra4b9784573324ca7"/>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406114-F032-4AA0-B1E8-232BFB690FDF}"/>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151.04°; bar 159.58°; i 71.14°</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0.21 arcsec; 36 accepted ellipses.</a:t>
            </a:r>
          </a:p>
        </p:txBody>
      </p:sp>
      <p:sp>
        <p:nvSpPr>
          <p:cNvPr id="10" name="">
            <a:extLst xmlns:a="http://schemas.openxmlformats.org/drawingml/2006/main">
              <a:ext uri="{FF2B5EF4-FFF2-40B4-BE49-F238E27FC236}">
                <a16:creationId xmlns:a16="http://schemas.microsoft.com/office/drawing/2014/main" id="{73DB7159-74A5-48FE-8333-AB4A4A195137}"/>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Recovery does not imply an unflagged result. Inspect the selected intervals, centre and method.</a:t>
            </a:r>
          </a:p>
        </p:txBody>
      </p:sp>
    </p:spTree>
    <p:extLst>
      <p:ext uri="{BB962C8B-B14F-4D97-AF65-F5344CB8AC3E}">
        <p14:creationId xmlns:p14="http://schemas.microsoft.com/office/powerpoint/2010/main" val="4089564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29D847-B38E-4CEC-98E8-BEBE1F6A5EC0}"/>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Recovered short-profile failures</a:t>
            </a:r>
          </a:p>
        </p:txBody>
      </p:sp>
      <p:sp>
        <p:nvSpPr>
          <p:cNvPr id="2" name="">
            <a:extLst xmlns:a="http://schemas.openxmlformats.org/drawingml/2006/main">
              <a:ext uri="{FF2B5EF4-FFF2-40B4-BE49-F238E27FC236}">
                <a16:creationId xmlns:a16="http://schemas.microsoft.com/office/drawing/2014/main" id="{98313CBD-6308-4913-A444-588551133DCF}"/>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14 / 16</a:t>
            </a:r>
          </a:p>
        </p:txBody>
      </p:sp>
      <p:sp>
        <p:nvSpPr>
          <p:cNvPr id="3" name="">
            <a:extLst xmlns:a="http://schemas.openxmlformats.org/drawingml/2006/main">
              <a:ext uri="{FF2B5EF4-FFF2-40B4-BE49-F238E27FC236}">
                <a16:creationId xmlns:a16="http://schemas.microsoft.com/office/drawing/2014/main" id="{F46BE093-2F5D-4EFA-AB55-B3326C73C8FE}"/>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These galaxies previously failed; the current pipeline returns provisional geometry.</a:t>
            </a:r>
          </a:p>
        </p:txBody>
      </p:sp>
      <p:sp>
        <p:nvSpPr>
          <p:cNvPr id="4" name="">
            <a:extLst xmlns:a="http://schemas.openxmlformats.org/drawingml/2006/main">
              <a:ext uri="{FF2B5EF4-FFF2-40B4-BE49-F238E27FC236}">
                <a16:creationId xmlns:a16="http://schemas.microsoft.com/office/drawing/2014/main" id="{3E61219E-41EA-4FCF-AC56-3A10FEF5D7E4}"/>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-649179107478547159</a:t>
            </a:r>
          </a:p>
        </p:txBody>
      </p:sp>
      <p:pic>
        <p:nvPicPr>
          <p:cNvPr id="5" name="">
            <a:extLst xmlns:a="http://schemas.openxmlformats.org/drawingml/2006/main">
              <a:ext uri="{FF2B5EF4-FFF2-40B4-BE49-F238E27FC236}">
                <a16:creationId xmlns:a16="http://schemas.microsoft.com/office/drawing/2014/main" id="{F87C0D86-171B-4193-ACE5-834389A187D6}"/>
              </a:ext>
            </a:extLst>
          </p:cNvPr>
          <p:cNvPicPr>
            <a:picLocks xmlns:a="http://schemas.openxmlformats.org/drawingml/2006/main" noChangeAspect="1"/>
          </p:cNvPicPr>
          <p:nvPr/>
        </p:nvPicPr>
        <p:blipFill>
          <a:blip xmlns:r="http://schemas.openxmlformats.org/officeDocument/2006/relationships" xmlns:a="http://schemas.openxmlformats.org/drawingml/2006/main" r:embed="Rcc09ff7749b1419b"/>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9D46C4-FD14-43BD-A2DF-8873F6BFF5E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119.74°; bar 117.80°; i 62.26°</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0.39 arcsec; 35 accepted ellipses.</a:t>
            </a:r>
          </a:p>
        </p:txBody>
      </p:sp>
      <p:sp>
        <p:nvSpPr>
          <p:cNvPr id="7" name="">
            <a:extLst xmlns:a="http://schemas.openxmlformats.org/drawingml/2006/main">
              <a:ext uri="{FF2B5EF4-FFF2-40B4-BE49-F238E27FC236}">
                <a16:creationId xmlns:a16="http://schemas.microsoft.com/office/drawing/2014/main" id="{C83F9806-E34E-46FE-90BF-37F4C03CE7B1}"/>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-559696446492621477</a:t>
            </a:r>
          </a:p>
        </p:txBody>
      </p:sp>
      <p:pic>
        <p:nvPicPr>
          <p:cNvPr id="8" name="">
            <a:extLst xmlns:a="http://schemas.openxmlformats.org/drawingml/2006/main">
              <a:ext uri="{FF2B5EF4-FFF2-40B4-BE49-F238E27FC236}">
                <a16:creationId xmlns:a16="http://schemas.microsoft.com/office/drawing/2014/main" id="{ADEC47B2-43C5-4093-8555-EFBC0386FC0A}"/>
              </a:ext>
            </a:extLst>
          </p:cNvPr>
          <p:cNvPicPr>
            <a:picLocks xmlns:a="http://schemas.openxmlformats.org/drawingml/2006/main" noChangeAspect="1"/>
          </p:cNvPicPr>
          <p:nvPr/>
        </p:nvPicPr>
        <p:blipFill>
          <a:blip xmlns:r="http://schemas.openxmlformats.org/officeDocument/2006/relationships" xmlns:a="http://schemas.openxmlformats.org/drawingml/2006/main" r:embed="Rbfdd6048543048ea"/>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94C4442-09D1-46B8-9694-7ABF2B88DBEB}"/>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166.58°; bar 137.17°; i 54.96°</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0.21 arcsec; 34 accepted ellipses.</a:t>
            </a:r>
          </a:p>
        </p:txBody>
      </p:sp>
      <p:sp>
        <p:nvSpPr>
          <p:cNvPr id="10" name="">
            <a:extLst xmlns:a="http://schemas.openxmlformats.org/drawingml/2006/main">
              <a:ext uri="{FF2B5EF4-FFF2-40B4-BE49-F238E27FC236}">
                <a16:creationId xmlns:a16="http://schemas.microsoft.com/office/drawing/2014/main" id="{A7511438-5444-4401-BD77-67C1CFBAEAB4}"/>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Recovery does not imply an unflagged result. Inspect the selected intervals, centre and method.</a:t>
            </a:r>
          </a:p>
        </p:txBody>
      </p:sp>
    </p:spTree>
    <p:extLst>
      <p:ext uri="{BB962C8B-B14F-4D97-AF65-F5344CB8AC3E}">
        <p14:creationId xmlns:p14="http://schemas.microsoft.com/office/powerpoint/2010/main" val="19843988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33883F-0077-494B-8C2D-DDA51A2C53C7}"/>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57B38E22-7581-4294-8062-E1B6913D8BF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15 / 16</a:t>
            </a:r>
          </a:p>
        </p:txBody>
      </p:sp>
      <p:sp>
        <p:nvSpPr>
          <p:cNvPr id="3" name="">
            <a:extLst xmlns:a="http://schemas.openxmlformats.org/drawingml/2006/main">
              <a:ext uri="{FF2B5EF4-FFF2-40B4-BE49-F238E27FC236}">
                <a16:creationId xmlns:a16="http://schemas.microsoft.com/office/drawing/2014/main" id="{F3B7270E-B49D-443A-8794-9167272941D8}"/>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A02E2ACD-A5F8-4F7D-BF4D-A8BF12E857BB}"/>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-586374330510251740</a:t>
            </a:r>
          </a:p>
        </p:txBody>
      </p:sp>
      <p:pic>
        <p:nvPicPr>
          <p:cNvPr id="5" name="">
            <a:extLst xmlns:a="http://schemas.openxmlformats.org/drawingml/2006/main">
              <a:ext uri="{FF2B5EF4-FFF2-40B4-BE49-F238E27FC236}">
                <a16:creationId xmlns:a16="http://schemas.microsoft.com/office/drawing/2014/main" id="{3F2D9C36-B2CE-4570-B785-B19C52287ED4}"/>
              </a:ext>
            </a:extLst>
          </p:cNvPr>
          <p:cNvPicPr>
            <a:picLocks xmlns:a="http://schemas.openxmlformats.org/drawingml/2006/main" noChangeAspect="1"/>
          </p:cNvPicPr>
          <p:nvPr/>
        </p:nvPicPr>
        <p:blipFill>
          <a:blip xmlns:r="http://schemas.openxmlformats.org/officeDocument/2006/relationships" xmlns:a="http://schemas.openxmlformats.org/drawingml/2006/main" r:embed="R6cd673a125b94503"/>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9C3E079-6DC6-4EE4-82A1-42D0299239F1}"/>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77661B04-367B-40C6-A507-0691E8AE6441}"/>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-524824554283124036</a:t>
            </a:r>
          </a:p>
        </p:txBody>
      </p:sp>
      <p:pic>
        <p:nvPicPr>
          <p:cNvPr id="8" name="">
            <a:extLst xmlns:a="http://schemas.openxmlformats.org/drawingml/2006/main">
              <a:ext uri="{FF2B5EF4-FFF2-40B4-BE49-F238E27FC236}">
                <a16:creationId xmlns:a16="http://schemas.microsoft.com/office/drawing/2014/main" id="{3D8E8D88-B146-4BD4-A129-48D8C7D713FA}"/>
              </a:ext>
            </a:extLst>
          </p:cNvPr>
          <p:cNvPicPr>
            <a:picLocks xmlns:a="http://schemas.openxmlformats.org/drawingml/2006/main" noChangeAspect="1"/>
          </p:cNvPicPr>
          <p:nvPr/>
        </p:nvPicPr>
        <p:blipFill>
          <a:blip xmlns:r="http://schemas.openxmlformats.org/officeDocument/2006/relationships" xmlns:a="http://schemas.openxmlformats.org/drawingml/2006/main" r:embed="R03ace104368f44d7"/>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B31CB42-EB0A-44B7-83A4-5F5BDDC7BC9B}"/>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072DB65B-6CF8-40D2-87EB-C7B2218FA3C3}"/>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15549082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A92236-3DE6-4CEF-804C-D778AB86028E}"/>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E472132B-57DB-4BC5-B816-3DC7671BA8FF}"/>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16 / 16</a:t>
            </a:r>
          </a:p>
        </p:txBody>
      </p:sp>
      <p:sp>
        <p:nvSpPr>
          <p:cNvPr id="3" name="">
            <a:extLst xmlns:a="http://schemas.openxmlformats.org/drawingml/2006/main">
              <a:ext uri="{FF2B5EF4-FFF2-40B4-BE49-F238E27FC236}">
                <a16:creationId xmlns:a16="http://schemas.microsoft.com/office/drawing/2014/main" id="{1B3A68B0-5C99-4E69-B34B-9C593629C6A5}"/>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6C4F78C5-3545-449F-9EE3-BCB2B9F5B2E8}"/>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2645436353651870062</a:t>
            </a:r>
          </a:p>
        </p:txBody>
      </p:sp>
      <p:pic>
        <p:nvPicPr>
          <p:cNvPr id="5" name="">
            <a:extLst xmlns:a="http://schemas.openxmlformats.org/drawingml/2006/main">
              <a:ext uri="{FF2B5EF4-FFF2-40B4-BE49-F238E27FC236}">
                <a16:creationId xmlns:a16="http://schemas.microsoft.com/office/drawing/2014/main" id="{3493D230-A07E-4F3D-B8CC-31CC05025C58}"/>
              </a:ext>
            </a:extLst>
          </p:cNvPr>
          <p:cNvPicPr>
            <a:picLocks xmlns:a="http://schemas.openxmlformats.org/drawingml/2006/main" noChangeAspect="1"/>
          </p:cNvPicPr>
          <p:nvPr/>
        </p:nvPicPr>
        <p:blipFill>
          <a:blip xmlns:r="http://schemas.openxmlformats.org/officeDocument/2006/relationships" xmlns:a="http://schemas.openxmlformats.org/drawingml/2006/main" r:embed="Rd4feac6dcd484c3e"/>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5EB4848-BD5F-4111-8B8E-62BEA52C25CD}"/>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942E06AA-5464-407D-BDA1-D6C89FC552F3}"/>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2697242050653408730</a:t>
            </a:r>
          </a:p>
        </p:txBody>
      </p:sp>
      <p:pic>
        <p:nvPicPr>
          <p:cNvPr id="8" name="">
            <a:extLst xmlns:a="http://schemas.openxmlformats.org/drawingml/2006/main">
              <a:ext uri="{FF2B5EF4-FFF2-40B4-BE49-F238E27FC236}">
                <a16:creationId xmlns:a16="http://schemas.microsoft.com/office/drawing/2014/main" id="{104EF17D-5721-4B63-B3A8-725148F2DD0E}"/>
              </a:ext>
            </a:extLst>
          </p:cNvPr>
          <p:cNvPicPr>
            <a:picLocks xmlns:a="http://schemas.openxmlformats.org/drawingml/2006/main" noChangeAspect="1"/>
          </p:cNvPicPr>
          <p:nvPr/>
        </p:nvPicPr>
        <p:blipFill>
          <a:blip xmlns:r="http://schemas.openxmlformats.org/officeDocument/2006/relationships" xmlns:a="http://schemas.openxmlformats.org/drawingml/2006/main" r:embed="Rff5ba6aafd5940b4"/>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4B9FAD0-132B-4CD3-BAC7-519B0063E99D}"/>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F28DE6CF-B23D-4F7A-BC5F-F146902229B5}"/>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819371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2026-10-20T16:01:07.6790000Z</dcterms:created>
  <dcterms:modified xsi:type="dcterms:W3CDTF">2026-10-20T16:01:07.6790000Z</dcterms:modified>
</coreProperties>
</file>