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a2bac947244688" /><Relationship Type="http://schemas.openxmlformats.org/officeDocument/2006/relationships/extended-properties" Target="/docProps/app.xml" Id="R6303321c018c41c9" /><Relationship Type="http://schemas.openxmlformats.org/officeDocument/2006/relationships/officeDocument" Target="/ppt/presentation.xml" Id="R586f2c173bb34b9a" /></Relationships>
</file>

<file path=ppt/presentation.xml><?xml version="1.0" encoding="utf-8"?>
<p:presentation xmlns:p="http://schemas.openxmlformats.org/presentationml/2006/main">
  <p:sldMasterIdLst>
    <p:sldMasterId xmlns:r="http://schemas.openxmlformats.org/officeDocument/2006/relationships" id="2147483648" r:id="R5ff1e1857bde497c"/>
  </p:sldMasterIdLst>
  <p:notesMasterIdLst>
    <p:notesMasterId xmlns:r="http://schemas.openxmlformats.org/officeDocument/2006/relationships" r:id="R40a5bbc40de24be4"/>
  </p:notesMasterIdLst>
  <p:sldIdLst>
    <p:sldId xmlns:r="http://schemas.openxmlformats.org/officeDocument/2006/relationships" id="256" r:id="R8e47ede2d9344648"/>
    <p:sldId xmlns:r="http://schemas.openxmlformats.org/officeDocument/2006/relationships" id="257" r:id="Rd68fcc359cc04eb4"/>
    <p:sldId xmlns:r="http://schemas.openxmlformats.org/officeDocument/2006/relationships" id="258" r:id="R5afb515c2f8647cf"/>
    <p:sldId xmlns:r="http://schemas.openxmlformats.org/officeDocument/2006/relationships" id="259" r:id="R9da774e18adb406a"/>
    <p:sldId xmlns:r="http://schemas.openxmlformats.org/officeDocument/2006/relationships" id="260" r:id="Raf4a09b1062a4c8a"/>
    <p:sldId xmlns:r="http://schemas.openxmlformats.org/officeDocument/2006/relationships" id="261" r:id="R2cc299a2970441ca"/>
    <p:sldId xmlns:r="http://schemas.openxmlformats.org/officeDocument/2006/relationships" id="262" r:id="R07b9fd62297b4233"/>
    <p:sldId xmlns:r="http://schemas.openxmlformats.org/officeDocument/2006/relationships" id="263" r:id="Ra3b90b9aa9084a53"/>
    <p:sldId xmlns:r="http://schemas.openxmlformats.org/officeDocument/2006/relationships" id="264" r:id="Rdd05146aadd34a69"/>
    <p:sldId xmlns:r="http://schemas.openxmlformats.org/officeDocument/2006/relationships" id="265" r:id="R0db5b3de1c164d8b"/>
    <p:sldId xmlns:r="http://schemas.openxmlformats.org/officeDocument/2006/relationships" id="266" r:id="Rc0d30e237d264012"/>
    <p:sldId xmlns:r="http://schemas.openxmlformats.org/officeDocument/2006/relationships" id="267" r:id="Rb103cec23f8347be"/>
    <p:sldId xmlns:r="http://schemas.openxmlformats.org/officeDocument/2006/relationships" id="268" r:id="R8736ebe266804b48"/>
    <p:sldId xmlns:r="http://schemas.openxmlformats.org/officeDocument/2006/relationships" id="269" r:id="Ra14d7b471dc84907"/>
    <p:sldId xmlns:r="http://schemas.openxmlformats.org/officeDocument/2006/relationships" id="270" r:id="Rb18e8b9460ce4705"/>
    <p:sldId xmlns:r="http://schemas.openxmlformats.org/officeDocument/2006/relationships" id="271" r:id="Rce3f75265b1449f2"/>
    <p:sldId xmlns:r="http://schemas.openxmlformats.org/officeDocument/2006/relationships" id="272" r:id="R057a24163df446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678c5e493b4f91" /><Relationship Type="http://schemas.openxmlformats.org/officeDocument/2006/relationships/slideMaster" Target="/ppt/slideMasters/slideMaster1.xml" Id="R5ff1e1857bde497c" /><Relationship Type="http://schemas.openxmlformats.org/officeDocument/2006/relationships/notesMaster" Target="/ppt/notesMasters/notesMaster1.xml" Id="R40a5bbc40de24be4" /><Relationship Type="http://schemas.openxmlformats.org/officeDocument/2006/relationships/presProps" Target="/ppt/presProps.xml" Id="R9504a86c14a2439d" /><Relationship Type="http://schemas.openxmlformats.org/officeDocument/2006/relationships/tableStyles" Target="/ppt/tableStyles.xml" Id="Rde3920c2b1a44af9" /><Relationship Type="http://schemas.openxmlformats.org/officeDocument/2006/relationships/slide" Target="/ppt/slides/slide1.xml" Id="R8e47ede2d9344648" /><Relationship Type="http://schemas.openxmlformats.org/officeDocument/2006/relationships/slide" Target="/ppt/slides/slide2.xml" Id="Rd68fcc359cc04eb4" /><Relationship Type="http://schemas.openxmlformats.org/officeDocument/2006/relationships/slide" Target="/ppt/slides/slide3.xml" Id="R5afb515c2f8647cf" /><Relationship Type="http://schemas.openxmlformats.org/officeDocument/2006/relationships/slide" Target="/ppt/slides/slide4.xml" Id="R9da774e18adb406a" /><Relationship Type="http://schemas.openxmlformats.org/officeDocument/2006/relationships/slide" Target="/ppt/slides/slide5.xml" Id="Raf4a09b1062a4c8a" /><Relationship Type="http://schemas.openxmlformats.org/officeDocument/2006/relationships/slide" Target="/ppt/slides/slide6.xml" Id="R2cc299a2970441ca" /><Relationship Type="http://schemas.openxmlformats.org/officeDocument/2006/relationships/slide" Target="/ppt/slides/slide7.xml" Id="R07b9fd62297b4233" /><Relationship Type="http://schemas.openxmlformats.org/officeDocument/2006/relationships/slide" Target="/ppt/slides/slide8.xml" Id="Ra3b90b9aa9084a53" /><Relationship Type="http://schemas.openxmlformats.org/officeDocument/2006/relationships/slide" Target="/ppt/slides/slide9.xml" Id="Rdd05146aadd34a69" /><Relationship Type="http://schemas.openxmlformats.org/officeDocument/2006/relationships/slide" Target="/ppt/slides/slide10.xml" Id="R0db5b3de1c164d8b" /><Relationship Type="http://schemas.openxmlformats.org/officeDocument/2006/relationships/slide" Target="/ppt/slides/slide11.xml" Id="Rc0d30e237d264012" /><Relationship Type="http://schemas.openxmlformats.org/officeDocument/2006/relationships/slide" Target="/ppt/slides/slide12.xml" Id="Rb103cec23f8347be" /><Relationship Type="http://schemas.openxmlformats.org/officeDocument/2006/relationships/slide" Target="/ppt/slides/slide13.xml" Id="R8736ebe266804b48" /><Relationship Type="http://schemas.openxmlformats.org/officeDocument/2006/relationships/slide" Target="/ppt/slides/slide14.xml" Id="Ra14d7b471dc84907" /><Relationship Type="http://schemas.openxmlformats.org/officeDocument/2006/relationships/slide" Target="/ppt/slides/slide15.xml" Id="Rb18e8b9460ce4705" /><Relationship Type="http://schemas.openxmlformats.org/officeDocument/2006/relationships/slide" Target="/ppt/slides/slide16.xml" Id="Rce3f75265b1449f2" /><Relationship Type="http://schemas.openxmlformats.org/officeDocument/2006/relationships/slide" Target="/ppt/slides/slide17.xml" Id="R057a24163df446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f38f91939340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7bc3ec340345d8" /><Relationship Type="http://schemas.openxmlformats.org/officeDocument/2006/relationships/notesMaster" Target="/ppt/notesMasters/notesMaster1.xml" Id="R0771ae75ed5c4d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7d21be5604458a" /><Relationship Type="http://schemas.openxmlformats.org/officeDocument/2006/relationships/notesMaster" Target="/ppt/notesMasters/notesMaster1.xml" Id="R4c3614db80c942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5a564921844179" /><Relationship Type="http://schemas.openxmlformats.org/officeDocument/2006/relationships/notesMaster" Target="/ppt/notesMasters/notesMaster1.xml" Id="R26fc5ad624f44f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3ae9c9f799412a" /><Relationship Type="http://schemas.openxmlformats.org/officeDocument/2006/relationships/notesMaster" Target="/ppt/notesMasters/notesMaster1.xml" Id="R71e20f59c0504a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2cd0a8296946e5" /><Relationship Type="http://schemas.openxmlformats.org/officeDocument/2006/relationships/notesMaster" Target="/ppt/notesMasters/notesMaster1.xml" Id="R9c2c109e5b2044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4e07a37a8045a7" /><Relationship Type="http://schemas.openxmlformats.org/officeDocument/2006/relationships/notesMaster" Target="/ppt/notesMasters/notesMaster1.xml" Id="Rbcc1267a6aa14f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81f84531244ea9" /><Relationship Type="http://schemas.openxmlformats.org/officeDocument/2006/relationships/notesMaster" Target="/ppt/notesMasters/notesMaster1.xml" Id="R6c9488e96e944b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c5871ba0244e96" /><Relationship Type="http://schemas.openxmlformats.org/officeDocument/2006/relationships/notesMaster" Target="/ppt/notesMasters/notesMaster1.xml" Id="R86628b29493441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9ccb39b6d74399" /><Relationship Type="http://schemas.openxmlformats.org/officeDocument/2006/relationships/notesMaster" Target="/ppt/notesMasters/notesMaster1.xml" Id="R8b6428303f8543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c43837cca4675" /><Relationship Type="http://schemas.openxmlformats.org/officeDocument/2006/relationships/notesMaster" Target="/ppt/notesMasters/notesMaster1.xml" Id="R555ead8e932d4f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99467c568e455a" /><Relationship Type="http://schemas.openxmlformats.org/officeDocument/2006/relationships/notesMaster" Target="/ppt/notesMasters/notesMaster1.xml" Id="R9f49404d56894f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bd5fb16836428c" /><Relationship Type="http://schemas.openxmlformats.org/officeDocument/2006/relationships/notesMaster" Target="/ppt/notesMasters/notesMaster1.xml" Id="R497cdb829bdf47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98cddeb462440d" /><Relationship Type="http://schemas.openxmlformats.org/officeDocument/2006/relationships/notesMaster" Target="/ppt/notesMasters/notesMaster1.xml" Id="R5983cda7c49f45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8bd15786954a95" /><Relationship Type="http://schemas.openxmlformats.org/officeDocument/2006/relationships/notesMaster" Target="/ppt/notesMasters/notesMaster1.xml" Id="Rc6b6cdbd05e844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689f895ce44ab1" /><Relationship Type="http://schemas.openxmlformats.org/officeDocument/2006/relationships/notesMaster" Target="/ppt/notesMasters/notesMaster1.xml" Id="Rc6bae78e6da249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2542ef4c144708" /><Relationship Type="http://schemas.openxmlformats.org/officeDocument/2006/relationships/notesMaster" Target="/ppt/notesMasters/notesMaster1.xml" Id="R4aaff5a56e754a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15357c4d4a49c9" /><Relationship Type="http://schemas.openxmlformats.org/officeDocument/2006/relationships/notesMaster" Target="/ppt/notesMasters/notesMaster1.xml" Id="Re9c7910752c74b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Flags overlap. Chart shows the eleven most frequent issues; the Word report and manifest retain every flag. A no_bar_detected warning does not invalidate the disc estimate. Individual PA scatter is not a formal independent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Supplied fitted-manifest comparison: {"disc":{"n":2771,"median_abs":2.7634391474113187,"median_signed":0.021808524369362203,"within10":2167},"bar":{"n":2290,"median_abs":0.4527846299673044,"median_signed":-0.0035939381289082917,"within10":2235},"inclination":{"n":2771,"median_abs":2.3744889759578527,"median_signed":-0.9662639215711621,"within10":2427}}. Supplied inclination uses intrinsic q0=.2; ours remains q0=0. Euclid whole-object shapes are proxies, not independent outer-disc measurements. No Euclid bar PA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Centre example (multiple flags, not an isolated-flag demonstration): {"id":"2700376345666189458","image":"C:\\Users\\gordo\\Documents\\Github\\PythonScripts\\Foreground Masking\\MER_VIS_pipeline_v2\\current_report\\images\\2700376345666189458.png","full_card":"D:\\Dropbox\\Public Documents\\UCLAN\\MSc Research\\Euclid\\MER_VIS_galaxy_reports\\all_2777\\png_QI\\2448_Euclid_2700376345666189458_MER_VIS_geometry_report_QI.png","disc":101.52336049391899,"bar":101.48498053450594,"inc":71.05369315170853,"centre_offset":17.320432011634527,"method":"recentred","flags":["centre_offset_large","disc_axis_ratio_unstable"],"bar_status":"detected_A","error":"","n_good":"43","n_disc":"5","n_bar":"4","disc_scatter":0.9310092684915722,"disc_span":0.3545431996625442,"bar_end":19.181222769615243,"information":"","detail_image":"C:\\Users\\gordo\\Documents\\Github\\PythonScripts\\Foreground Masking\\MER_VIS_pipeline_v2\\current_report\\images\\centre_detail.png"}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Isolated example counts (full coverage): {"disc_PA_unstable":89,"no_bar_detected":101,"disc_axis_ratio_unstable":109,"small_bar_sensitive_to_resolution":316,"disc_range_fallback":1,"bar_disc_ranges_close":0,"small_disc":0,"weak_ellipse_bar_signature":37,"centre_offset_large":3,"relaxed_fit":0,"iteration_limited_samples":0,"star_mask_removed":0,"centre_unstable":0,"short_accepted_profile":0,"high_inclination":0}. Flags without two isolated cases are not represented as single-flag examples. Original unstable-bar-PA examples are obsolete because current bar acceptance requires a stable plateau.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{"key":"small_bar_sensitive_to_resolution","title":"Small selected bar interval","kind":"isolated_flag","examples":[{"id":"-518659917291205827","image":"C:\\Users\\gordo\\Documents\\Github\\PythonScripts\\Foreground Masking\\MER_VIS_pipeline_v2\\current_report\\images\\-518659917291205827.png","full_card":"D:\\Dropbox\\Public Documents\\UCLAN\\MSc Research\\Euclid\\MER_VIS_galaxy_reports\\all_2777\\png_QI\\0004_Euclid_-518659917291205827_MER_VIS_geometry_report_QI.png","disc":67.98049109589249,"bar":63.85453266313511,"inc":47.29360925833979,"centre_offset":0.06901554767367604,"method":"standard","flags":["small_bar_sensitive_to_resolution"],"bar_status":"detected_A","error":"","n_good":"31","n_disc":"6","n_bar":"6","disc_scatter":6.536223807890531,"disc_span":0.1305755018371826,"bar_end":1.3365451794213465,"information":""},{"id":"-518003489287870292","image":"C:\\Users\\gordo\\Documents\\Github\\PythonScripts\\Foreground Masking\\MER_VIS_pipeline_v2\\current_report\\images\\-518003489287870292.png","full_card":"D:\\Dropbox\\Public Documents\\UCLAN\\MSc Research\\Euclid\\MER_VIS_galaxy_reports\\all_2777\\png_QI\\0007_Euclid_-518003489287870292_MER_VIS_geometry_report_QI.png","disc":87.46210239608925,"bar":167.22729398125324,"inc":31.574961051993903,"centre_offset":0.043422001129307254,"method":"standard","flags":["small_bar_sensitive_to_resolution"],"bar_status":"detected_A","error":"","n_good":"22","n_disc":"6","n_bar":"4","disc_scatter":5.924727031910115,"disc_span":0.11007119226523457,"bar_end":1.3673627605688643,"information":""}],"available":316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{"key":"disc_PA_unstable","title":"Unstable disc PA","kind":"isolated_flag","examples":[{"id":"-518633776290631360","image":"C:\\Users\\gordo\\Documents\\Github\\PythonScripts\\Foreground Masking\\MER_VIS_pipeline_v2\\current_report\\images\\-518633776290631360.png","full_card":"D:\\Dropbox\\Public Documents\\UCLAN\\MSc Research\\Euclid\\MER_VIS_galaxy_reports\\all_2777\\png_QI\\0005_Euclid_-518633776290631360_MER_VIS_geometry_report_QI.png","disc":113.69021016263804,"bar":113.86950382756103,"inc":49.47781434213959,"centre_offset":0.15091616609311526,"method":"standard","flags":["disc_PA_unstable"],"bar_status":"detected_A","error":"","n_good":"28","n_disc":"3","n_bar":"11","disc_scatter":17.55097022310975,"disc_span":0.06326608973174502,"bar_end":1.7950070214699363,"information":""},{"id":"-601121275504424227","image":"C:\\Users\\gordo\\Documents\\Github\\PythonScripts\\Foreground Masking\\MER_VIS_pipeline_v2\\current_report\\images\\-601121275504424227.png","full_card":"D:\\Dropbox\\Public Documents\\UCLAN\\MSc Research\\Euclid\\MER_VIS_galaxy_reports\\all_2777\\png_QI\\0118_Euclid_-601121275504424227_MER_VIS_geometry_report_QI.png","disc":60.75482419435342,"bar":20.23373226136634,"inc":40.93111225561656,"centre_offset":0.038965526533334946,"method":"standard","flags":["disc_PA_unstable"],"bar_status":"detected_A","error":"","n_good":"33","n_disc":"7","n_bar":"6","disc_scatter":15.878385450188937,"disc_span":0.08169376743863846,"bar_end":1.5289036078363487,"information":""}],"available":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{"key":"disc_axis_ratio_unstable","title":"Changing disc ellipticity","kind":"isolated_flag","examples":[{"id":"-515262325287813002","image":"C:\\Users\\gordo\\Documents\\Github\\PythonScripts\\Foreground Masking\\MER_VIS_pipeline_v2\\current_report\\images\\-515262325287813002.png","full_card":"D:\\Dropbox\\Public Documents\\UCLAN\\MSc Research\\Euclid\\MER_VIS_galaxy_reports\\all_2777\\png_QI\\0011_Euclid_-515262325287813002_MER_VIS_geometry_report_QI.png","disc":66.03707596640753,"bar":68.85970901634602,"inc":64.73095080753262,"centre_offset":0.1353995530576807,"method":"standard","flags":["disc_axis_ratio_unstable"],"bar_status":"detected_A","error":"","n_good":"25","n_disc":"3","n_bar":"7","disc_scatter":1.590904046671006,"disc_span":0.18310711393429147,"bar_end":1.647470680939178,"information":""},{"id":"2696479031648186651","image":"C:\\Users\\gordo\\Documents\\Github\\PythonScripts\\Foreground Masking\\MER_VIS_pipeline_v2\\current_report\\images\\2696479031648186651.png","full_card":"D:\\Dropbox\\Public Documents\\UCLAN\\MSc Research\\Euclid\\MER_VIS_galaxy_reports\\all_2777\\png_QI\\0032_Euclid_2696479031648186651_MER_VIS_geometry_report_QI.png","disc":77.10657289201272,"bar":59.69115649098335,"inc":55.741582582526576,"centre_offset":0.1684548011078397,"method":"standard","flags":["disc_axis_ratio_unstable"],"bar_status":"detected_A","error":"","n_good":"26","n_disc":"5","n_bar":"5","disc_scatter":2.3970908949172394,"disc_span":0.17713086931805122,"bar_end":1.743747455273023,"information":""}],"available":109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{"key":"weak_ellipse_bar_signature","title":"Weaker accepted bar signature","kind":"isolated_flag","examples":[{"id":"-586037871514112362","image":"C:\\Users\\gordo\\Documents\\Github\\PythonScripts\\Foreground Masking\\MER_VIS_pipeline_v2\\current_report\\images\\-586037871514112362.png","full_card":"D:\\Dropbox\\Public Documents\\UCLAN\\MSc Research\\Euclid\\MER_VIS_galaxy_reports\\all_2777\\png_QI\\0038_Euclid_-586037871514112362_MER_VIS_geometry_report_QI.png","disc":9.105889954495566,"bar":34.111648931941794,"inc":62.88522648383609,"centre_offset":0.1989049028260931,"method":"standard","flags":["weak_ellipse_bar_signature"],"bar_status":"detected_B","error":"","n_good":"31","n_disc":"5","n_bar":"8","disc_scatter":4.80374870233757,"disc_span":0.02419444275218674,"bar_end":1.671515786936715,"information":""},{"id":"-593494399504450575","image":"C:\\Users\\gordo\\Documents\\Github\\PythonScripts\\Foreground Masking\\MER_VIS_pipeline_v2\\current_report\\images\\-593494399504450575.png","full_card":"D:\\Dropbox\\Public Documents\\UCLAN\\MSc Research\\Euclid\\MER_VIS_galaxy_reports\\all_2777\\png_QI\\0106_Euclid_-593494399504450575_MER_VIS_geometry_report_QI.png","disc":56.81140276193682,"bar":53.95386470424249,"inc":60.45276653085282,"centre_offset":0.13845623690753606,"method":"standard","flags":["weak_ellipse_bar_signature"],"bar_status":"detected_B","error":"","n_good":"37","n_disc":"4","n_bar":"7","disc_scatter":3.3408151732091875,"disc_span":0.09514957428153942,"bar_end":3.4097589372753903,"information":""}],"available":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{"key":"no_bar_detected","title":"No accepted bar; disc retained","kind":"isolated_flag","examples":[{"id":"-550331516283529196","image":"C:\\Users\\gordo\\Documents\\Github\\PythonScripts\\Foreground Masking\\MER_VIS_pipeline_v2\\current_report\\images\\-550331516283529196.png","full_card":"D:\\Dropbox\\Public Documents\\UCLAN\\MSc Research\\Euclid\\MER_VIS_galaxy_reports\\all_2777\\png_QI\\0015_Euclid_-550331516283529196_MER_VIS_geometry_report_QI.png","disc":13.449994139974416,"bar":null,"inc":53.200259774137066,"centre_offset":0.08195275586604336,"method":"standard","flags":["no_bar_detected"],"bar_status":"no_bar_detected","error":"","n_good":"23","n_disc":"5","n_bar":"","disc_scatter":4.29853966960997,"disc_span":0.026672529924157418,"bar_end":null,"information":""},{"id":"-547491640287288205","image":"C:\\Users\\gordo\\Documents\\Github\\PythonScripts\\Foreground Masking\\MER_VIS_pipeline_v2\\current_report\\images\\-547491640287288205.png","full_card":"D:\\Dropbox\\Public Documents\\UCLAN\\MSc Research\\Euclid\\MER_VIS_galaxy_reports\\all_2777\\png_QI\\0024_Euclid_-547491640287288205_MER_VIS_geometry_report_QI.png","disc":82.0014985516179,"bar":null,"inc":68.37738067314605,"centre_offset":0.34474729988990355,"method":"standard","flags":["no_bar_detected"],"bar_status":"no_bar_detected","error":"","n_good":"35","n_disc":"3","n_bar":"","disc_scatter":0.9701814169712194,"disc_span":0.021516770074129,"bar_end":null,"information":""}],"available":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{"key":"centre_offset_large","title":"Large centre offset","kind":"isolated_flag","examples":[{"id":"-596168966496153208","image":"C:\\Users\\gordo\\Documents\\Github\\PythonScripts\\Foreground Masking\\MER_VIS_pipeline_v2\\current_report\\images\\-596168966496153208.png","full_card":"D:\\Dropbox\\Public Documents\\UCLAN\\MSc Research\\Euclid\\MER_VIS_galaxy_reports\\all_2777\\png_QI\\0311_Euclid_-596168966496153208_MER_VIS_geometry_report_QI.png","disc":54.40104215802481,"bar":60.50292653034644,"inc":61.726307068838516,"centre_offset":1.649476936680464,"method":"standard","flags":["centre_offset_large"],"bar_status":"detected_A","error":"","n_good":"23","n_disc":"3","n_bar":"5","disc_scatter":1.3369802520127432,"disc_span":0.10756910840763029,"bar_end":3.5816608240191705,"information":""},{"id":"-647912843459445604","image":"C:\\Users\\gordo\\Documents\\Github\\PythonScripts\\Foreground Masking\\MER_VIS_pipeline_v2\\current_report\\images\\-647912843459445604.png","full_card":"D:\\Dropbox\\Public Documents\\UCLAN\\MSc Research\\Euclid\\MER_VIS_galaxy_reports\\all_2777\\png_QI\\1337_Euclid_-647912843459445604_MER_VIS_geometry_report_QI.png","disc":24.55400035808897,"bar":147.96450249863796,"inc":44.733672141806856,"centre_offset":0.6455756763639631,"method":"standard","flags":["centre_offset_large"],"bar_status":"detected_A","error":"","n_good":"27","n_disc":"7","n_bar":"6","disc_scatter":5.982459011560956,"disc_span":0.12758824839973812,"bar_end":2.1784393142233225,"information":""}],"availabl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{"key":"Insufficient bar/disc","title":"Recovered interval failures","kind":"recovery","examples":[{"id":"-637379992495894829","image":"C:\\Users\\gordo\\Documents\\Github\\PythonScripts\\Foreground Masking\\MER_VIS_pipeline_v2\\current_report\\images\\-637379992495894829.png","full_card":"D:\\Dropbox\\Public Documents\\UCLAN\\MSc Research\\Euclid\\MER_VIS_galaxy_reports\\all_2777\\png_NoQI\\0388_Euclid_-637379992495894829_MER_VIS_geometry_report.png","disc":83.78837749362367,"bar":88.98374946530096,"inc":70.94767990401837,"centre_offset":0.9601168086879205,"method":"standard","flags":[],"bar_status":"detected_A","error":"","n_good":"38","n_disc":"5","n_bar":"13","disc_scatter":1.6022783154287463,"disc_span":0.040266137755290754,"bar_end":2.7760226627438467,"information":""},{"id":"2660732568647808880","image":"C:\\Users\\gordo\\Documents\\Github\\PythonScripts\\Foreground Masking\\MER_VIS_pipeline_v2\\current_report\\images\\2660732568647808880.png","full_card":"D:\\Dropbox\\Public Documents\\UCLAN\\MSc Research\\Euclid\\MER_VIS_galaxy_reports\\all_2777\\png_NoQI\\2092_Euclid_2660732568647808880_MER_VIS_geometry_report.png","disc":151.03655359834403,"bar":159.57881576983513,"inc":71.14166107576276,"centre_offset":0.2073528623875833,"method":"standard","flags":[],"bar_status":"detected_A","error":"","n_good":"36","n_disc":"5","n_bar":"5","disc_scatter":0.6028207774305036,"disc_span":0.09974640817899039,"bar_end":1.8072562617551795,"information":""}],"available":430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{"key":"reliable isophotes","title":"Recovered short-profile failures","kind":"recovery","examples":[{"id":"-649179107478547159","image":"C:\\Users\\gordo\\Documents\\Github\\PythonScripts\\Foreground Masking\\MER_VIS_pipeline_v2\\current_report\\images\\-649179107478547159.png","full_card":"D:\\Dropbox\\Public Documents\\UCLAN\\MSc Research\\Euclid\\MER_VIS_galaxy_reports\\all_2777\\png_NoQI\\0841_Euclid_-649179107478547159_MER_VIS_geometry_report.png","disc":119.73884912427816,"bar":117.80356388580608,"inc":62.257451762046315,"centre_offset":0.39132993633287316,"method":"standard","flags":[],"bar_status":"detected_A","error":"","n_good":"35","n_disc":"3","n_bar":"13","disc_scatter":0.9407053648234712,"disc_span":0.029550652106817843,"bar_end":4.117346878027748,"information":""},{"id":"-559696446492621477","image":"C:\\Users\\gordo\\Documents\\Github\\PythonScripts\\Foreground Masking\\MER_VIS_pipeline_v2\\current_report\\images\\-559696446492621477.png","full_card":"D:\\Dropbox\\Public Documents\\UCLAN\\MSc Research\\Euclid\\MER_VIS_galaxy_reports\\all_2777\\png_NoQI\\0254_Euclid_-559696446492621477_MER_VIS_geometry_report.png","disc":166.57918780702744,"bar":137.1747972212369,"inc":54.96439191687562,"centre_offset":0.21219971153547804,"method":"standard","flags":[],"bar_status":"detected_A","error":"","n_good":"34","n_disc":"5","n_bar":"5","disc_scatter":3.7265982343553294,"disc_span":0.05649696673345611,"bar_end":1.923554092877952,"information":""}],"available":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failures","kind":"failure","examples":[{"id":"-586374330510251740","image":"C:\\Users\\gordo\\Documents\\Github\\PythonScripts\\Foreground Masking\\MER_VIS_pipeline_v2\\current_report\\images\\-586374330510251740.png","full_card":"D:\\Dropbox\\Public Documents\\UCLAN\\MSc Research\\Euclid\\MER_VIS_galaxy_reports\\all_2777\\png_QI\\0057_Euclid_-586374330510251740_MER_VIS_geometry_report_QI.png","disc":null,"bar":null,"inc":null,"centre_offset":null,"method":"smoothed_relaxed","flags":[],"bar_status":"not_measured","error":"ValueError: Only 0 accepted isophotes after recovery; need at least 3","n_good":"0","n_disc":"","n_bar":"","disc_scatter":null,"disc_span":null,"bar_end":null,"information":""},{"id":"-584896980492699093","image":"C:\\Users\\gordo\\Documents\\Github\\PythonScripts\\Foreground Masking\\MER_VIS_pipeline_v2\\current_report\\images\\-584896980492699093.png","full_card":"D:\\Dropbox\\Public Documents\\UCLAN\\MSc Research\\Euclid\\MER_VIS_galaxy_reports\\all_2777\\png_QI\\0301_Euclid_-584896980492699093_MER_VIS_geometry_report_QI.png","disc":null,"bar":null,"inc":null,"centre_offset":null,"method":"smoothed_relaxed","flags":[],"bar_status":"not_measured","error":"ValueError: Only 0 accepted isophotes after recovery; need at least 3","n_good":"0","n_disc":"","n_bar":"","disc_scatter":null,"disc_span":null,"bar_end":null,"information":""}],"available":6}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failures","kind":"failure","examples":[{"id":"-524824554283124036","image":"C:\\Users\\gordo\\Documents\\Github\\PythonScripts\\Foreground Masking\\MER_VIS_pipeline_v2\\current_report\\images\\-524824554283124036.png","full_card":"D:\\Dropbox\\Public Documents\\UCLAN\\MSc Research\\Euclid\\MER_VIS_galaxy_reports\\all_2777\\png_QI\\1557_Euclid_-524824554283124036_MER_VIS_geometry_report_QI.png","disc":null,"bar":null,"inc":null,"centre_offset":null,"method":"smoothed_relaxed","flags":[],"bar_status":"not_measured","error":"ValueError: Only 0 accepted isophotes after recovery; need at least 3","n_good":"0","n_disc":"","n_bar":"","disc_scatter":null,"disc_span":null,"bar_end":null,"information":""},{"id":"2645436353651870062","image":"C:\\Users\\gordo\\Documents\\Github\\PythonScripts\\Foreground Masking\\MER_VIS_pipeline_v2\\current_report\\images\\2645436353651870062.png","full_card":"D:\\Dropbox\\Public Documents\\UCLAN\\MSc Research\\Euclid\\MER_VIS_galaxy_reports\\all_2777\\png_QI\\2079_Euclid_2645436353651870062_MER_VIS_geometry_report_QI.png","disc":null,"bar":null,"inc":null,"centre_offset":null,"method":"smoothed_relaxed","flags":[],"bar_status":"not_measured","error":"ValueError: Only 0 accepted isophotes after recovery; need at least 3","n_good":"0","n_disc":"","n_bar":"","disc_scatter":null,"disc_span":null,"bar_end":null,"information":""}],"available":6}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failures","kind":"failure","examples":[{"id":"2697242050653408730","image":"C:\\Users\\gordo\\Documents\\Github\\PythonScripts\\Foreground Masking\\MER_VIS_pipeline_v2\\current_report\\images\\2697242050653408730.png","full_card":"D:\\Dropbox\\Public Documents\\UCLAN\\MSc Research\\Euclid\\MER_VIS_galaxy_reports\\all_2777\\png_QI\\2221_Euclid_2697242050653408730_MER_VIS_geometry_report_QI.png","disc":null,"bar":null,"inc":null,"centre_offset":null,"method":"smoothed_relaxed","flags":[],"bar_status":"not_measured","error":"ValueError: Only 0 accepted isophotes after recovery; need at least 3","n_good":"0","n_disc":"","n_bar":"","disc_scatter":null,"disc_span":null,"bar_end":null,"information":""},{"id":"2690276161666121755","image":"C:\\Users\\gordo\\Documents\\Github\\PythonScripts\\Foreground Masking\\MER_VIS_pipeline_v2\\current_report\\images\\2690276161666121755.png","full_card":"D:\\Dropbox\\Public Documents\\UCLAN\\MSc Research\\Euclid\\MER_VIS_galaxy_reports\\all_2777\\png_QI\\2444_Euclid_2690276161666121755_MER_VIS_geometry_report_QI.png","disc":null,"bar":null,"inc":null,"centre_offset":null,"method":"smoothed_relaxed","flags":[],"bar_status":"not_measured","error":"ValueError: Only 0 accepted isophotes after recovery; need at least 3","n_good":"0","n_disc":"","n_bar":"","disc_scatter":null,"disc_span":null,"bar_end":null,"information":""}],"available":6}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b39c56e10443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043ccc32c340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5f2d954b1344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f231b6fc8c4f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50a240d61641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d7ebe6000848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2F7E90-C6D5-4E5C-9D9E-B4C6501D56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622BB9-0B09-44CC-8E41-8418DB78A3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4C5802-FC83-4C85-9DB5-170B10EC4E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B1EBBE-B482-4CC5-AC09-1AD2E1167F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0C0CD2-DE8B-4A03-89BE-177E67F1B7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6A2EA9-6E99-48A9-BC32-13A7AC5711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694A61-932A-4279-A236-B8823C726F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D32CBB-20C7-4580-9DCD-60544EFDD1A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0A1807-719B-4CA8-ADB4-24BC9E0BDF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D08FF0-C36E-4D1F-BA7E-A67AFA2218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b75c9d3bbc45a4" /><Relationship Type="http://schemas.openxmlformats.org/officeDocument/2006/relationships/slideLayout" Target="/ppt/slideLayouts/slideLayout1.xml" Id="R1167d1305fdc4334" /><Relationship Type="http://schemas.openxmlformats.org/officeDocument/2006/relationships/slideLayout" Target="/ppt/slideLayouts/slideLayout2.xml" Id="R03b09de70d4a4c3f" /><Relationship Type="http://schemas.openxmlformats.org/officeDocument/2006/relationships/slideLayout" Target="/ppt/slideLayouts/slideLayout3.xml" Id="R8ba8c25d992647de" /><Relationship Type="http://schemas.openxmlformats.org/officeDocument/2006/relationships/slideLayout" Target="/ppt/slideLayouts/slideLayout4.xml" Id="R0f4ac468da404716" /><Relationship Type="http://schemas.openxmlformats.org/officeDocument/2006/relationships/slideLayout" Target="/ppt/slideLayouts/slideLayout5.xml" Id="Rdfbd0fab60724981" /><Relationship Type="http://schemas.openxmlformats.org/officeDocument/2006/relationships/slideLayout" Target="/ppt/slideLayouts/slideLayout6.xml" Id="R52f6a7c7fc6d47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67d1305fdc4334"/>
    <p:sldLayoutId xmlns:r="http://schemas.openxmlformats.org/officeDocument/2006/relationships" id="2147483650" r:id="R03b09de70d4a4c3f"/>
    <p:sldLayoutId xmlns:r="http://schemas.openxmlformats.org/officeDocument/2006/relationships" id="2147483651" r:id="R8ba8c25d992647de"/>
    <p:sldLayoutId xmlns:r="http://schemas.openxmlformats.org/officeDocument/2006/relationships" id="2147483652" r:id="R0f4ac468da404716"/>
    <p:sldLayoutId xmlns:r="http://schemas.openxmlformats.org/officeDocument/2006/relationships" id="2147483653" r:id="Rdfbd0fab60724981"/>
    <p:sldLayoutId xmlns:r="http://schemas.openxmlformats.org/officeDocument/2006/relationships" id="2147483654" r:id="R52f6a7c7fc6d47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6e23995f884128" /><Relationship Type="http://schemas.openxmlformats.org/officeDocument/2006/relationships/notesSlide" Target="/ppt/notesSlides/notesSlide1.xml" Id="Rc2dd6ef464f545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1e5e892c2e476f" /><Relationship Type="http://schemas.openxmlformats.org/officeDocument/2006/relationships/chart" Target="/ppt/slides/charts/chart1.xml" Id="Rc5dfcebdbe25458b" /><Relationship Type="http://schemas.openxmlformats.org/officeDocument/2006/relationships/notesSlide" Target="/ppt/notesSlides/notesSlide2.xml" Id="R1a103d09017f4f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adc9d3109d4607" /><Relationship Type="http://schemas.openxmlformats.org/officeDocument/2006/relationships/chart" Target="/ppt/slides/charts/chart2.xml" Id="R4d0ed258189146d1" /><Relationship Type="http://schemas.openxmlformats.org/officeDocument/2006/relationships/notesSlide" Target="/ppt/notesSlides/notesSlide3.xml" Id="Re6e61a9bb7a54a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32edddbe546457a" /><Relationship Type="http://schemas.openxmlformats.org/officeDocument/2006/relationships/notesSlide" Target="/ppt/notesSlides/notesSlide4.xml" Id="R7c949653b0624d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dd87238cea440e" /><Relationship Type="http://schemas.openxmlformats.org/officeDocument/2006/relationships/image" Target="/ppt/media/image.png" Id="R4cd13df1ba4c457f" /><Relationship Type="http://schemas.openxmlformats.org/officeDocument/2006/relationships/notesSlide" Target="/ppt/notesSlides/notesSlide5.xml" Id="Rbbbe939f4c0648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0c1fd19d194ecf" /><Relationship Type="http://schemas.openxmlformats.org/officeDocument/2006/relationships/notesSlide" Target="/ppt/notesSlides/notesSlide6.xml" Id="R6fac46e4349644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024b07b4da499c" /><Relationship Type="http://schemas.openxmlformats.org/officeDocument/2006/relationships/image" Target="/ppt/media/image2.png" Id="Rd7079e15b99c4cc7" /><Relationship Type="http://schemas.openxmlformats.org/officeDocument/2006/relationships/image" Target="/ppt/media/image3.png" Id="R9eaa6927937746ec" /><Relationship Type="http://schemas.openxmlformats.org/officeDocument/2006/relationships/notesSlide" Target="/ppt/notesSlides/notesSlide7.xml" Id="Rb5d5f0aae1b045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508f9cb82e40d1" /><Relationship Type="http://schemas.openxmlformats.org/officeDocument/2006/relationships/image" Target="/ppt/media/image4.png" Id="R9ae3b8fb92cf454f" /><Relationship Type="http://schemas.openxmlformats.org/officeDocument/2006/relationships/image" Target="/ppt/media/image5.png" Id="R534654c81f7e467a" /><Relationship Type="http://schemas.openxmlformats.org/officeDocument/2006/relationships/notesSlide" Target="/ppt/notesSlides/notesSlide8.xml" Id="Rf59237633ba843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6a2de1cf64445e1" /><Relationship Type="http://schemas.openxmlformats.org/officeDocument/2006/relationships/image" Target="/ppt/media/image6.png" Id="R758b941b21084595" /><Relationship Type="http://schemas.openxmlformats.org/officeDocument/2006/relationships/image" Target="/ppt/media/image7.png" Id="Rdbaacb424754465f" /><Relationship Type="http://schemas.openxmlformats.org/officeDocument/2006/relationships/notesSlide" Target="/ppt/notesSlides/notesSlide9.xml" Id="R63982ac2c9f24c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c86cf86ea1460c" /><Relationship Type="http://schemas.openxmlformats.org/officeDocument/2006/relationships/image" Target="/ppt/media/image8.png" Id="R26a6e33c5d214ee1" /><Relationship Type="http://schemas.openxmlformats.org/officeDocument/2006/relationships/image" Target="/ppt/media/image9.png" Id="R3414673774444611" /><Relationship Type="http://schemas.openxmlformats.org/officeDocument/2006/relationships/notesSlide" Target="/ppt/notesSlides/notesSlide10.xml" Id="R5648d581ab6543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d683c42eb6425a" /><Relationship Type="http://schemas.openxmlformats.org/officeDocument/2006/relationships/image" Target="/ppt/media/image10.png" Id="R2dc275e63bfc44a8" /><Relationship Type="http://schemas.openxmlformats.org/officeDocument/2006/relationships/image" Target="/ppt/media/image11.png" Id="R05a8346ff8374fd4" /><Relationship Type="http://schemas.openxmlformats.org/officeDocument/2006/relationships/notesSlide" Target="/ppt/notesSlides/notesSlide11.xml" Id="R94f63d2d7d2d41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d23ede8d1b455d" /><Relationship Type="http://schemas.openxmlformats.org/officeDocument/2006/relationships/image" Target="/ppt/media/image12.png" Id="Race5f1fd87c64c7f" /><Relationship Type="http://schemas.openxmlformats.org/officeDocument/2006/relationships/image" Target="/ppt/media/image13.png" Id="R27e9f1f1a5a74adb" /><Relationship Type="http://schemas.openxmlformats.org/officeDocument/2006/relationships/notesSlide" Target="/ppt/notesSlides/notesSlide12.xml" Id="R19d89043ad8543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c1a9fcd81a4042" /><Relationship Type="http://schemas.openxmlformats.org/officeDocument/2006/relationships/image" Target="/ppt/media/image14.png" Id="Ra75d0c12b87c47e6" /><Relationship Type="http://schemas.openxmlformats.org/officeDocument/2006/relationships/image" Target="/ppt/media/image15.png" Id="Re9356085ff564cdb" /><Relationship Type="http://schemas.openxmlformats.org/officeDocument/2006/relationships/notesSlide" Target="/ppt/notesSlides/notesSlide13.xml" Id="R51bc1700cb7044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c15937532f4095" /><Relationship Type="http://schemas.openxmlformats.org/officeDocument/2006/relationships/image" Target="/ppt/media/image16.png" Id="Ra5bd7708716e4ff7" /><Relationship Type="http://schemas.openxmlformats.org/officeDocument/2006/relationships/image" Target="/ppt/media/image17.png" Id="Re3315434ad854baf" /><Relationship Type="http://schemas.openxmlformats.org/officeDocument/2006/relationships/notesSlide" Target="/ppt/notesSlides/notesSlide14.xml" Id="R0a7821a9434648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02012828fe4a89" /><Relationship Type="http://schemas.openxmlformats.org/officeDocument/2006/relationships/image" Target="/ppt/media/image18.png" Id="R6d9ebb74ceb24ed7" /><Relationship Type="http://schemas.openxmlformats.org/officeDocument/2006/relationships/image" Target="/ppt/media/image19.png" Id="R45d600d2a97447cc" /><Relationship Type="http://schemas.openxmlformats.org/officeDocument/2006/relationships/notesSlide" Target="/ppt/notesSlides/notesSlide15.xml" Id="R37d4edce122d4e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df97c33b27f4863" /><Relationship Type="http://schemas.openxmlformats.org/officeDocument/2006/relationships/image" Target="/ppt/media/image20.png" Id="Radc17de1239c4280" /><Relationship Type="http://schemas.openxmlformats.org/officeDocument/2006/relationships/image" Target="/ppt/media/image21.png" Id="Rbcfe7c8fac5e478f" /><Relationship Type="http://schemas.openxmlformats.org/officeDocument/2006/relationships/notesSlide" Target="/ppt/notesSlides/notesSlide16.xml" Id="R86ff37885fcb48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b889b1b862b4761" /><Relationship Type="http://schemas.openxmlformats.org/officeDocument/2006/relationships/image" Target="/ppt/media/image22.png" Id="Re78870a8beb345f5" /><Relationship Type="http://schemas.openxmlformats.org/officeDocument/2006/relationships/image" Target="/ppt/media/image23.png" Id="R7a867a29dee54857" /><Relationship Type="http://schemas.openxmlformats.org/officeDocument/2006/relationships/notesSlide" Target="/ppt/notesSlides/notesSlide17.xml" Id="R21ded118c894425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flags</c:v>
          </c:tx>
          <c:spPr>
            <a:solidFill xmlns:a="http://schemas.openxmlformats.org/drawingml/2006/main">
              <a:srgbClr val="367A8C"/>
            </a:solidFill>
          </c:spPr>
          <c:invertIfNegative val="0"/>
          <c:cat>
            <c:strRef>
              <c:f>'Chart Data'!$A$2:$A$4</c:f>
              <c:strCache>
                <c:ptCount val="3"/>
                <c:pt idx="0">
                  <c:v>No counted flags</c:v>
                </c:pt>
                <c:pt idx="1">
                  <c:v>Flagged geometry</c:v>
                </c:pt>
                <c:pt idx="2">
                  <c:v>Failed fit</c:v>
                </c:pt>
              </c:strCache>
            </c:strRef>
          </c:cat>
          <c:val>
            <c:numRef>
              <c:f>'Chart Data'!$B$2:$B$4</c:f>
              <c:numCache>
                <c:formatCode>0%</c:formatCode>
                <c:ptCount val="3"/>
                <c:pt idx="0">
                  <c:v>0.10803</c:v>
                </c:pt>
                <c:pt idx="1">
                  <c:v>0</c:v>
                </c:pt>
                <c:pt idx="2">
                  <c:v>0</c:v>
                </c:pt>
              </c:numCache>
            </c:numRef>
          </c:val>
        </c:ser>
        <c:ser>
          <c:idx val="1"/>
          <c:order val="1"/>
          <c:tx>
            <c:v>1 flags</c:v>
          </c:tx>
          <c:spPr>
            <a:solidFill xmlns:a="http://schemas.openxmlformats.org/drawingml/2006/main">
              <a:srgbClr val="E5BB66"/>
            </a:solidFill>
          </c:spPr>
          <c:invertIfNegative val="0"/>
          <c:cat>
            <c:strRef>
              <c:f>'Chart Data'!$C$2:$C$4</c:f>
              <c:strCache>
                <c:ptCount val="3"/>
                <c:pt idx="0">
                  <c:v>No counted flags</c:v>
                </c:pt>
                <c:pt idx="1">
                  <c:v>Flagged geometry</c:v>
                </c:pt>
                <c:pt idx="2">
                  <c:v>Failed fit</c:v>
                </c:pt>
              </c:strCache>
            </c:strRef>
          </c:cat>
          <c:val>
            <c:numRef>
              <c:f>'Chart Data'!$D$2:$D$4</c:f>
              <c:numCache>
                <c:formatCode>0%</c:formatCode>
                <c:ptCount val="3"/>
                <c:pt idx="0">
                  <c:v>0</c:v>
                </c:pt>
                <c:pt idx="1">
                  <c:v>0.245949</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geometry</c:v>
                </c:pt>
                <c:pt idx="2">
                  <c:v>Failed fit</c:v>
                </c:pt>
              </c:strCache>
            </c:strRef>
          </c:cat>
          <c:val>
            <c:numRef>
              <c:f>'Chart Data'!$F$2:$F$4</c:f>
              <c:numCache>
                <c:formatCode>0%</c:formatCode>
                <c:ptCount val="3"/>
                <c:pt idx="0">
                  <c:v>0</c:v>
                </c:pt>
                <c:pt idx="1">
                  <c:v>0.303205</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geometry</c:v>
                </c:pt>
                <c:pt idx="2">
                  <c:v>Failed fit</c:v>
                </c:pt>
              </c:strCache>
            </c:strRef>
          </c:cat>
          <c:val>
            <c:numRef>
              <c:f>'Chart Data'!$H$2:$H$4</c:f>
              <c:numCache>
                <c:formatCode>0%</c:formatCode>
                <c:ptCount val="3"/>
                <c:pt idx="0">
                  <c:v>0</c:v>
                </c:pt>
                <c:pt idx="1">
                  <c:v>0.237667</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geometry</c:v>
                </c:pt>
                <c:pt idx="2">
                  <c:v>Failed fit</c:v>
                </c:pt>
              </c:strCache>
            </c:strRef>
          </c:cat>
          <c:val>
            <c:numRef>
              <c:f>'Chart Data'!$J$2:$J$4</c:f>
              <c:numCache>
                <c:formatCode>0%</c:formatCode>
                <c:ptCount val="3"/>
                <c:pt idx="0">
                  <c:v>0</c:v>
                </c:pt>
                <c:pt idx="1">
                  <c:v>0.068779</c:v>
                </c:pt>
                <c:pt idx="2">
                  <c:v>0</c:v>
                </c:pt>
              </c:numCache>
            </c:numRef>
          </c:val>
        </c:ser>
        <c:ser>
          <c:idx val="5"/>
          <c:order val="5"/>
          <c:tx>
            <c:v>5 flags</c:v>
          </c:tx>
          <c:spPr>
            <a:solidFill xmlns:a="http://schemas.openxmlformats.org/drawingml/2006/main">
              <a:srgbClr val="754E79"/>
            </a:solidFill>
          </c:spPr>
          <c:invertIfNegative val="0"/>
          <c:cat>
            <c:strRef>
              <c:f>'Chart Data'!$K$2:$K$4</c:f>
              <c:strCache>
                <c:ptCount val="3"/>
                <c:pt idx="0">
                  <c:v>No counted flags</c:v>
                </c:pt>
                <c:pt idx="1">
                  <c:v>Flagged geometry</c:v>
                </c:pt>
                <c:pt idx="2">
                  <c:v>Failed fit</c:v>
                </c:pt>
              </c:strCache>
            </c:strRef>
          </c:cat>
          <c:val>
            <c:numRef>
              <c:f>'Chart Data'!$L$2:$L$4</c:f>
              <c:numCache>
                <c:formatCode>0%</c:formatCode>
                <c:ptCount val="3"/>
                <c:pt idx="0">
                  <c:v>0</c:v>
                </c:pt>
                <c:pt idx="1">
                  <c:v>0.021246</c:v>
                </c:pt>
                <c:pt idx="2">
                  <c:v>0</c:v>
                </c:pt>
              </c:numCache>
            </c:numRef>
          </c:val>
        </c:ser>
        <c:ser>
          <c:idx val="6"/>
          <c:order val="6"/>
          <c:tx>
            <c:v>6 flags</c:v>
          </c:tx>
          <c:spPr>
            <a:solidFill xmlns:a="http://schemas.openxmlformats.org/drawingml/2006/main">
              <a:srgbClr val="563B60"/>
            </a:solidFill>
          </c:spPr>
          <c:invertIfNegative val="0"/>
          <c:cat>
            <c:strRef>
              <c:f>'Chart Data'!$M$2:$M$4</c:f>
              <c:strCache>
                <c:ptCount val="3"/>
                <c:pt idx="0">
                  <c:v>No counted flags</c:v>
                </c:pt>
                <c:pt idx="1">
                  <c:v>Flagged geometry</c:v>
                </c:pt>
                <c:pt idx="2">
                  <c:v>Failed fit</c:v>
                </c:pt>
              </c:strCache>
            </c:strRef>
          </c:cat>
          <c:val>
            <c:numRef>
              <c:f>'Chart Data'!$N$2:$N$4</c:f>
              <c:numCache>
                <c:formatCode>0%</c:formatCode>
                <c:ptCount val="3"/>
                <c:pt idx="0">
                  <c:v>0</c:v>
                </c:pt>
                <c:pt idx="1">
                  <c:v>0.010803</c:v>
                </c:pt>
                <c:pt idx="2">
                  <c:v>0</c:v>
                </c:pt>
              </c:numCache>
            </c:numRef>
          </c:val>
        </c:ser>
        <c:ser>
          <c:idx val="7"/>
          <c:order val="7"/>
          <c:tx>
            <c:v>7 flags</c:v>
          </c:tx>
          <c:spPr>
            <a:solidFill xmlns:a="http://schemas.openxmlformats.org/drawingml/2006/main">
              <a:srgbClr val="4A587A"/>
            </a:solidFill>
          </c:spPr>
          <c:invertIfNegative val="0"/>
          <c:cat>
            <c:strRef>
              <c:f>'Chart Data'!$O$2:$O$4</c:f>
              <c:strCache>
                <c:ptCount val="3"/>
                <c:pt idx="0">
                  <c:v>No counted flags</c:v>
                </c:pt>
                <c:pt idx="1">
                  <c:v>Flagged geometry</c:v>
                </c:pt>
                <c:pt idx="2">
                  <c:v>Failed fit</c:v>
                </c:pt>
              </c:strCache>
            </c:strRef>
          </c:cat>
          <c:val>
            <c:numRef>
              <c:f>'Chart Data'!$P$2:$P$4</c:f>
              <c:numCache>
                <c:formatCode>0%</c:formatCode>
                <c:ptCount val="3"/>
                <c:pt idx="0">
                  <c:v>0</c:v>
                </c:pt>
                <c:pt idx="1">
                  <c:v>0.001801</c:v>
                </c:pt>
                <c:pt idx="2">
                  <c:v>0</c:v>
                </c:pt>
              </c:numCache>
            </c:numRef>
          </c:val>
        </c:ser>
        <c:ser>
          <c:idx val="8"/>
          <c:order val="8"/>
          <c:tx>
            <c:v>8 flags</c:v>
          </c:tx>
          <c:spPr>
            <a:solidFill xmlns:a="http://schemas.openxmlformats.org/drawingml/2006/main">
              <a:srgbClr val="4E7B71"/>
            </a:solidFill>
          </c:spPr>
          <c:invertIfNegative val="0"/>
          <c:cat>
            <c:strRef>
              <c:f>'Chart Data'!$Q$2:$Q$4</c:f>
              <c:strCache>
                <c:ptCount val="3"/>
                <c:pt idx="0">
                  <c:v>No counted flags</c:v>
                </c:pt>
                <c:pt idx="1">
                  <c:v>Flagged geometry</c:v>
                </c:pt>
                <c:pt idx="2">
                  <c:v>Failed fit</c:v>
                </c:pt>
              </c:strCache>
            </c:strRef>
          </c:cat>
          <c:val>
            <c:numRef>
              <c:f>'Chart Data'!$R$2:$R$4</c:f>
              <c:numCache>
                <c:formatCode>0%</c:formatCode>
                <c:ptCount val="3"/>
                <c:pt idx="0">
                  <c:v>0</c:v>
                </c:pt>
                <c:pt idx="1">
                  <c:v>0.00036</c:v>
                </c:pt>
                <c:pt idx="2">
                  <c:v>0</c:v>
                </c:pt>
              </c:numCache>
            </c:numRef>
          </c:val>
        </c:ser>
        <c:ser>
          <c:idx val="9"/>
          <c:order val="9"/>
          <c:tx>
            <c:v>Failed</c:v>
          </c:tx>
          <c:spPr>
            <a:solidFill xmlns:a="http://schemas.openxmlformats.org/drawingml/2006/main">
              <a:srgbClr val="AC4B47"/>
            </a:solidFill>
          </c:spPr>
          <c:invertIfNegative val="0"/>
          <c:cat>
            <c:strRef>
              <c:f>'Chart Data'!$S$2:$S$4</c:f>
              <c:strCache>
                <c:ptCount val="3"/>
                <c:pt idx="0">
                  <c:v>No counted flags</c:v>
                </c:pt>
                <c:pt idx="1">
                  <c:v>Flagged geometry</c:v>
                </c:pt>
                <c:pt idx="2">
                  <c:v>Failed fit</c:v>
                </c:pt>
              </c:strCache>
            </c:strRef>
          </c:cat>
          <c:val>
            <c:numRef>
              <c:f>'Chart Data'!$T$2:$T$4</c:f>
              <c:numCache>
                <c:formatCode>0%</c:formatCode>
                <c:ptCount val="3"/>
                <c:pt idx="0">
                  <c:v>0</c:v>
                </c:pt>
                <c:pt idx="1">
                  <c:v>0</c:v>
                </c:pt>
                <c:pt idx="2">
                  <c:v>0.002161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Galaxies</c:v>
          </c:tx>
          <c:spPr>
            <a:solidFill xmlns:a="http://schemas.openxmlformats.org/drawingml/2006/main">
              <a:srgbClr val="C18B28"/>
            </a:solidFill>
          </c:spPr>
          <c:invertIfNegative val="0"/>
          <c:cat>
            <c:strRef>
              <c:f>'Chart Data'!$A$2:$A$12</c:f>
              <c:strCache>
                <c:ptCount val="11"/>
                <c:pt idx="0">
                  <c:v>Small selected bar interval</c:v>
                </c:pt>
                <c:pt idx="1">
                  <c:v>Changing disc ellipticity</c:v>
                </c:pt>
                <c:pt idx="2">
                  <c:v>Unstable disc PA</c:v>
                </c:pt>
                <c:pt idx="3">
                  <c:v>No accepted bar; disc retained</c:v>
                </c:pt>
                <c:pt idx="4">
                  <c:v>Small disc</c:v>
                </c:pt>
                <c:pt idx="5">
                  <c:v>Disc interval fallback</c:v>
                </c:pt>
                <c:pt idx="6">
                  <c:v>Weaker accepted bar signature</c:v>
                </c:pt>
                <c:pt idx="7">
                  <c:v>Bar and disc intervals close</c:v>
                </c:pt>
                <c:pt idx="8">
                  <c:v>Large centre offset</c:v>
                </c:pt>
                <c:pt idx="9">
                  <c:v>Star mask removed in retry</c:v>
                </c:pt>
                <c:pt idx="10">
                  <c:v>Relaxed recovery</c:v>
                </c:pt>
              </c:strCache>
            </c:strRef>
          </c:cat>
          <c:val>
            <c:numRef>
              <c:f>'Chart Data'!$B$2:$B$12</c:f>
              <c:numCache>
                <c:formatCode>0</c:formatCode>
                <c:ptCount val="11"/>
                <c:pt idx="0">
                  <c:v>1447</c:v>
                </c:pt>
                <c:pt idx="1">
                  <c:v>1354</c:v>
                </c:pt>
                <c:pt idx="2">
                  <c:v>1273</c:v>
                </c:pt>
                <c:pt idx="3">
                  <c:v>453</c:v>
                </c:pt>
                <c:pt idx="4">
                  <c:v>298</c:v>
                </c:pt>
                <c:pt idx="5">
                  <c:v>269</c:v>
                </c:pt>
                <c:pt idx="6">
                  <c:v>231</c:v>
                </c:pt>
                <c:pt idx="7">
                  <c:v>211</c:v>
                </c:pt>
                <c:pt idx="8">
                  <c:v>43</c:v>
                </c:pt>
                <c:pt idx="9">
                  <c:v>18</c:v>
                </c:pt>
                <c:pt idx="10">
                  <c:v>13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154D1C-8240-441B-A3D3-F75ABE561169}"/>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Euclid MER VIS adaptive geometry outcomes</a:t>
            </a:r>
          </a:p>
        </p:txBody>
      </p:sp>
      <p:sp>
        <p:nvSpPr>
          <p:cNvPr id="2" name="">
            <a:extLst xmlns:a="http://schemas.openxmlformats.org/drawingml/2006/main">
              <a:ext uri="{FF2B5EF4-FFF2-40B4-BE49-F238E27FC236}">
                <a16:creationId xmlns:a16="http://schemas.microsoft.com/office/drawing/2014/main" id="{64A162C6-7F15-4F43-89CD-C4E3DA8C27A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17</a:t>
            </a:r>
          </a:p>
        </p:txBody>
      </p:sp>
      <p:sp>
        <p:nvSpPr>
          <p:cNvPr id="3" name="">
            <a:extLst xmlns:a="http://schemas.openxmlformats.org/drawingml/2006/main">
              <a:ext uri="{FF2B5EF4-FFF2-40B4-BE49-F238E27FC236}">
                <a16:creationId xmlns:a16="http://schemas.microsoft.com/office/drawing/2014/main" id="{3F2DCDAE-CDA8-44A7-9DBD-6F16EEDB36DF}"/>
              </a:ext>
            </a:extLst>
          </p:cNvPr>
          <p:cNvSpPr>
            <a:spLocks xmlns:a="http://schemas.openxmlformats.org/drawingml/2006/main" noGrp="1"/>
          </p:cNvSpPr>
          <p:nvPr/>
        </p:nvSpPr>
        <p:spPr>
          <a:xfrm xmlns:a="http://schemas.openxmlformats.org/drawingml/2006/main">
            <a:off x="609600" y="1905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205F7A"/>
                </a:solidFill>
                <a:latin typeface="Arial"/>
                <a:ea typeface="Arial"/>
                <a:cs typeface="Arial"/>
              </a:defRPr>
            </a:defPPr>
            <a:lvl1pPr>
              <a:defRPr sz="4125" b="1">
                <a:solidFill>
                  <a:srgbClr val="205F7A"/>
                </a:solidFill>
                <a:latin typeface="Arial"/>
                <a:ea typeface="Arial"/>
                <a:cs typeface="Arial"/>
              </a:defRPr>
            </a:lvl1pPr>
            <a:lvl2pPr>
              <a:defRPr sz="4125" b="1">
                <a:solidFill>
                  <a:srgbClr val="205F7A"/>
                </a:solidFill>
                <a:latin typeface="Arial"/>
                <a:ea typeface="Arial"/>
                <a:cs typeface="Arial"/>
              </a:defRPr>
            </a:lvl2pPr>
            <a:lvl3pPr>
              <a:defRPr sz="4125" b="1">
                <a:solidFill>
                  <a:srgbClr val="205F7A"/>
                </a:solidFill>
                <a:latin typeface="Arial"/>
                <a:ea typeface="Arial"/>
                <a:cs typeface="Arial"/>
              </a:defRPr>
            </a:lvl3pPr>
            <a:lvl4pPr>
              <a:defRPr sz="4125" b="1">
                <a:solidFill>
                  <a:srgbClr val="205F7A"/>
                </a:solidFill>
                <a:latin typeface="Arial"/>
                <a:ea typeface="Arial"/>
                <a:cs typeface="Arial"/>
              </a:defRPr>
            </a:lvl4pPr>
            <a:lvl5pPr>
              <a:defRPr sz="4125" b="1">
                <a:solidFill>
                  <a:srgbClr val="205F7A"/>
                </a:solidFill>
                <a:latin typeface="Arial"/>
                <a:ea typeface="Arial"/>
                <a:cs typeface="Arial"/>
              </a:defRPr>
            </a:lvl5pPr>
            <a:lvl6pPr>
              <a:defRPr sz="4125" b="1">
                <a:solidFill>
                  <a:srgbClr val="205F7A"/>
                </a:solidFill>
                <a:latin typeface="Arial"/>
                <a:ea typeface="Arial"/>
                <a:cs typeface="Arial"/>
              </a:defRPr>
            </a:lvl6pPr>
            <a:lvl7pPr>
              <a:defRPr sz="4125" b="1">
                <a:solidFill>
                  <a:srgbClr val="205F7A"/>
                </a:solidFill>
                <a:latin typeface="Arial"/>
                <a:ea typeface="Arial"/>
                <a:cs typeface="Arial"/>
              </a:defRPr>
            </a:lvl7pPr>
            <a:lvl8pPr>
              <a:defRPr sz="4125" b="1">
                <a:solidFill>
                  <a:srgbClr val="205F7A"/>
                </a:solidFill>
                <a:latin typeface="Arial"/>
                <a:ea typeface="Arial"/>
                <a:cs typeface="Arial"/>
              </a:defRPr>
            </a:lvl8pPr>
            <a:lvl9pPr>
              <a:defRPr sz="4125" b="1">
                <a:solidFill>
                  <a:srgbClr val="205F7A"/>
                </a:solidFill>
                <a:latin typeface="Arial"/>
                <a:ea typeface="Arial"/>
                <a:cs typeface="Arial"/>
              </a:defRPr>
            </a:lvl9pPr>
          </a:lstStyle>
          <a:p xmlns:a="http://schemas.openxmlformats.org/drawingml/2006/main">
            <a:pPr>
              <a:defRPr sz="4125" b="1">
                <a:solidFill>
                  <a:srgbClr val="205F7A"/>
                </a:solidFill>
                <a:latin typeface="Arial"/>
                <a:ea typeface="Arial"/>
                <a:cs typeface="Arial"/>
              </a:defRPr>
            </a:pPr>
            <a:r>
              <a:rPr sz="4125" b="1">
                <a:solidFill>
                  <a:srgbClr val="205F7A"/>
                </a:solidFill>
                <a:latin typeface="Arial"/>
                <a:ea typeface="Arial"/>
                <a:cs typeface="Arial"/>
              </a:rPr>
              <a:t>2,777 galaxies reprocessed</a:t>
            </a:r>
          </a:p>
        </p:txBody>
      </p:sp>
      <p:sp>
        <p:nvSpPr>
          <p:cNvPr id="4" name="">
            <a:extLst xmlns:a="http://schemas.openxmlformats.org/drawingml/2006/main">
              <a:ext uri="{FF2B5EF4-FFF2-40B4-BE49-F238E27FC236}">
                <a16:creationId xmlns:a16="http://schemas.microsoft.com/office/drawing/2014/main" id="{95063348-ADCB-4C19-BAB4-118255D959FA}"/>
              </a:ext>
            </a:extLst>
          </p:cNvPr>
          <p:cNvSpPr>
            <a:spLocks xmlns:a="http://schemas.openxmlformats.org/drawingml/2006/main" noGrp="1"/>
          </p:cNvSpPr>
          <p:nvPr/>
        </p:nvSpPr>
        <p:spPr>
          <a:xfrm xmlns:a="http://schemas.openxmlformats.org/drawingml/2006/main">
            <a:off x="609600" y="3048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633"/>
                </a:solidFill>
                <a:latin typeface="Arial"/>
                <a:ea typeface="Arial"/>
                <a:cs typeface="Arial"/>
              </a:defRPr>
            </a:defPPr>
            <a:lvl1pPr>
              <a:defRPr sz="2550" b="0">
                <a:solidFill>
                  <a:srgbClr val="142633"/>
                </a:solidFill>
                <a:latin typeface="Arial"/>
                <a:ea typeface="Arial"/>
                <a:cs typeface="Arial"/>
              </a:defRPr>
            </a:lvl1pPr>
            <a:lvl2pPr>
              <a:defRPr sz="2550" b="0">
                <a:solidFill>
                  <a:srgbClr val="142633"/>
                </a:solidFill>
                <a:latin typeface="Arial"/>
                <a:ea typeface="Arial"/>
                <a:cs typeface="Arial"/>
              </a:defRPr>
            </a:lvl2pPr>
            <a:lvl3pPr>
              <a:defRPr sz="2550" b="0">
                <a:solidFill>
                  <a:srgbClr val="142633"/>
                </a:solidFill>
                <a:latin typeface="Arial"/>
                <a:ea typeface="Arial"/>
                <a:cs typeface="Arial"/>
              </a:defRPr>
            </a:lvl3pPr>
            <a:lvl4pPr>
              <a:defRPr sz="2550" b="0">
                <a:solidFill>
                  <a:srgbClr val="142633"/>
                </a:solidFill>
                <a:latin typeface="Arial"/>
                <a:ea typeface="Arial"/>
                <a:cs typeface="Arial"/>
              </a:defRPr>
            </a:lvl4pPr>
            <a:lvl5pPr>
              <a:defRPr sz="2550" b="0">
                <a:solidFill>
                  <a:srgbClr val="142633"/>
                </a:solidFill>
                <a:latin typeface="Arial"/>
                <a:ea typeface="Arial"/>
                <a:cs typeface="Arial"/>
              </a:defRPr>
            </a:lvl5pPr>
            <a:lvl6pPr>
              <a:defRPr sz="2550" b="0">
                <a:solidFill>
                  <a:srgbClr val="142633"/>
                </a:solidFill>
                <a:latin typeface="Arial"/>
                <a:ea typeface="Arial"/>
                <a:cs typeface="Arial"/>
              </a:defRPr>
            </a:lvl6pPr>
            <a:lvl7pPr>
              <a:defRPr sz="2550" b="0">
                <a:solidFill>
                  <a:srgbClr val="142633"/>
                </a:solidFill>
                <a:latin typeface="Arial"/>
                <a:ea typeface="Arial"/>
                <a:cs typeface="Arial"/>
              </a:defRPr>
            </a:lvl7pPr>
            <a:lvl8pPr>
              <a:defRPr sz="2550" b="0">
                <a:solidFill>
                  <a:srgbClr val="142633"/>
                </a:solidFill>
                <a:latin typeface="Arial"/>
                <a:ea typeface="Arial"/>
                <a:cs typeface="Arial"/>
              </a:defRPr>
            </a:lvl8pPr>
            <a:lvl9pPr>
              <a:defRPr sz="2550" b="0">
                <a:solidFill>
                  <a:srgbClr val="142633"/>
                </a:solidFill>
                <a:latin typeface="Arial"/>
                <a:ea typeface="Arial"/>
                <a:cs typeface="Arial"/>
              </a:defRPr>
            </a:lvl9pPr>
          </a:lstStyle>
          <a:p xmlns:a="http://schemas.openxmlformats.org/drawingml/2006/main">
            <a:pPr>
              <a:defRPr sz="2550" b="0">
                <a:solidFill>
                  <a:srgbClr val="142633"/>
                </a:solidFill>
                <a:latin typeface="Arial"/>
                <a:ea typeface="Arial"/>
                <a:cs typeface="Arial"/>
              </a:defRPr>
            </a:pPr>
            <a:r>
              <a:rPr sz="2550" b="0">
                <a:solidFill>
                  <a:srgbClr val="142633"/>
                </a:solidFill>
                <a:latin typeface="Arial"/>
                <a:ea typeface="Arial"/>
                <a:cs typeface="Arial"/>
              </a:rPr>
              <a:t>2771 disc measurements; 6 remaining failures</a:t>
            </a:r>
          </a:p>
        </p:txBody>
      </p:sp>
      <p:sp>
        <p:nvSpPr>
          <p:cNvPr id="5" name="">
            <a:extLst xmlns:a="http://schemas.openxmlformats.org/drawingml/2006/main">
              <a:ext uri="{FF2B5EF4-FFF2-40B4-BE49-F238E27FC236}">
                <a16:creationId xmlns:a16="http://schemas.microsoft.com/office/drawing/2014/main" id="{4980F75A-B348-45B7-836A-A14E89E21B53}"/>
              </a:ext>
            </a:extLst>
          </p:cNvPr>
          <p:cNvSpPr>
            <a:spLocks xmlns:a="http://schemas.openxmlformats.org/drawingml/2006/main" noGrp="1"/>
          </p:cNvSpPr>
          <p:nvPr/>
        </p:nvSpPr>
        <p:spPr>
          <a:xfrm xmlns:a="http://schemas.openxmlformats.org/drawingml/2006/main">
            <a:off x="609600" y="3905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565 of 570 original failures recovered</a:t>
            </a:r>
          </a:p>
        </p:txBody>
      </p:sp>
      <p:sp>
        <p:nvSpPr>
          <p:cNvPr id="6" name="">
            <a:extLst xmlns:a="http://schemas.openxmlformats.org/drawingml/2006/main">
              <a:ext uri="{FF2B5EF4-FFF2-40B4-BE49-F238E27FC236}">
                <a16:creationId xmlns:a16="http://schemas.microsoft.com/office/drawing/2014/main" id="{118BC1A6-8CFB-42F9-860C-54198896388D}"/>
              </a:ext>
            </a:extLst>
          </p:cNvPr>
          <p:cNvSpPr>
            <a:spLocks xmlns:a="http://schemas.openxmlformats.org/drawingml/2006/main" noGrp="1"/>
          </p:cNvSpPr>
          <p:nvPr/>
        </p:nvSpPr>
        <p:spPr>
          <a:xfrm xmlns:a="http://schemas.openxmlformats.org/drawingml/2006/main">
            <a:off x="609600" y="4810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Centres checked from the images. Disc and bar outcomes reported separately.</a:t>
            </a:r>
          </a:p>
        </p:txBody>
      </p:sp>
      <p:sp>
        <p:nvSpPr>
          <p:cNvPr id="7" name="">
            <a:extLst xmlns:a="http://schemas.openxmlformats.org/drawingml/2006/main">
              <a:ext uri="{FF2B5EF4-FFF2-40B4-BE49-F238E27FC236}">
                <a16:creationId xmlns:a16="http://schemas.microsoft.com/office/drawing/2014/main" id="{46B535FC-209E-4E47-909A-E65BBF597982}"/>
              </a:ext>
            </a:extLst>
          </p:cNvPr>
          <p:cNvSpPr>
            <a:spLocks xmlns:a="http://schemas.openxmlformats.org/drawingml/2006/main" noGrp="1"/>
          </p:cNvSpPr>
          <p:nvPr/>
        </p:nvSpPr>
        <p:spPr>
          <a:xfrm xmlns:a="http://schemas.openxmlformats.org/drawingml/2006/main">
            <a:off x="609600" y="59055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Current run 20 October 2026</a:t>
            </a:r>
          </a:p>
        </p:txBody>
      </p:sp>
    </p:spTree>
    <p:extLst>
      <p:ext uri="{BB962C8B-B14F-4D97-AF65-F5344CB8AC3E}">
        <p14:creationId xmlns:p14="http://schemas.microsoft.com/office/powerpoint/2010/main" val="2553109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1C860A-8EFC-4A7E-BB83-038B6C722B2C}"/>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Fitting outcomes by counted quality flags</a:t>
            </a:r>
          </a:p>
        </p:txBody>
      </p:sp>
      <p:sp>
        <p:nvSpPr>
          <p:cNvPr id="2" name="">
            <a:extLst xmlns:a="http://schemas.openxmlformats.org/drawingml/2006/main">
              <a:ext uri="{FF2B5EF4-FFF2-40B4-BE49-F238E27FC236}">
                <a16:creationId xmlns:a16="http://schemas.microsoft.com/office/drawing/2014/main" id="{F1834256-9585-499E-BE9E-64CCFDF84A6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17</a:t>
            </a:r>
          </a:p>
        </p:txBody>
      </p:sp>
      <p:sp>
        <p:nvSpPr>
          <p:cNvPr id="3" name="">
            <a:extLst xmlns:a="http://schemas.openxmlformats.org/drawingml/2006/main">
              <a:ext uri="{FF2B5EF4-FFF2-40B4-BE49-F238E27FC236}">
                <a16:creationId xmlns:a16="http://schemas.microsoft.com/office/drawing/2014/main" id="{41E8354B-B749-4B92-91CD-95E2ED949011}"/>
              </a:ext>
            </a:extLst>
          </p:cNvPr>
          <p:cNvSpPr>
            <a:spLocks xmlns:a="http://schemas.openxmlformats.org/drawingml/2006/main" noGrp="1"/>
          </p:cNvSpPr>
          <p:nvPr/>
        </p:nvSpPr>
        <p:spPr>
          <a:xfrm xmlns:a="http://schemas.openxmlformats.org/drawingml/2006/main">
            <a:off x="609600" y="1285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Percentage of all 2,777 galaxies. Face-on is informational.</a:t>
            </a:r>
          </a:p>
        </p:txBody>
      </p:sp>
      <p:graphicFrame>
        <p:nvGraphicFramePr>
          <p:cNvPr id="4" name="Chart">
            <a:extLst xmlns:a="http://schemas.openxmlformats.org/drawingml/2006/main">
              <a:ext uri="{FF2B5EF4-FFF2-40B4-BE49-F238E27FC236}">
                <a16:creationId xmlns:a16="http://schemas.microsoft.com/office/drawing/2014/main" id="{99E7DECE-99C6-443D-9689-995E1D83193A}"/>
              </a:ext>
            </a:extLst>
          </p:cNvPr>
          <p:cNvGraphicFramePr/>
          <p:nvPr/>
        </p:nvGraphicFramePr>
        <p:xfrm>
          <a:off xmlns:a="http://schemas.openxmlformats.org/drawingml/2006/main" x="609600" y="1905000"/>
          <a:ext xmlns:a="http://schemas.openxmlformats.org/drawingml/2006/main" cx="7429500" cy="3619500"/>
        </p:xfrm>
        <a:graphic xmlns:a="http://schemas.openxmlformats.org/drawingml/2006/main">
          <a:graphicData uri="http://schemas.openxmlformats.org/drawingml/2006/chart">
            <c:chart xmlns:r="http://schemas.openxmlformats.org/officeDocument/2006/relationships" xmlns:c="http://schemas.openxmlformats.org/drawingml/2006/chart" r:id="Rc5dfcebdbe25458b"/>
          </a:graphicData>
        </a:graphic>
      </p:graphicFrame>
      <p:sp>
        <p:nvSpPr>
          <p:cNvPr id="5" name="">
            <a:extLst xmlns:a="http://schemas.openxmlformats.org/drawingml/2006/main">
              <a:ext uri="{FF2B5EF4-FFF2-40B4-BE49-F238E27FC236}">
                <a16:creationId xmlns:a16="http://schemas.microsoft.com/office/drawing/2014/main" id="{B678BD41-9A4A-4D76-A915-EC8F8C2F7967}"/>
              </a:ext>
            </a:extLst>
          </p:cNvPr>
          <p:cNvSpPr>
            <a:spLocks xmlns:a="http://schemas.openxmlformats.org/drawingml/2006/main" noGrp="1"/>
          </p:cNvSpPr>
          <p:nvPr/>
        </p:nvSpPr>
        <p:spPr>
          <a:xfrm xmlns:a="http://schemas.openxmlformats.org/drawingml/2006/main">
            <a:off x="8286750" y="18097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5F7A"/>
                </a:solidFill>
                <a:latin typeface="Arial"/>
                <a:ea typeface="Arial"/>
                <a:cs typeface="Arial"/>
              </a:defRPr>
            </a:defPPr>
            <a:lvl1pPr>
              <a:defRPr sz="1875" b="1">
                <a:solidFill>
                  <a:srgbClr val="205F7A"/>
                </a:solidFill>
                <a:latin typeface="Arial"/>
                <a:ea typeface="Arial"/>
                <a:cs typeface="Arial"/>
              </a:defRPr>
            </a:lvl1pPr>
            <a:lvl2pPr>
              <a:defRPr sz="1875" b="1">
                <a:solidFill>
                  <a:srgbClr val="205F7A"/>
                </a:solidFill>
                <a:latin typeface="Arial"/>
                <a:ea typeface="Arial"/>
                <a:cs typeface="Arial"/>
              </a:defRPr>
            </a:lvl2pPr>
            <a:lvl3pPr>
              <a:defRPr sz="1875" b="1">
                <a:solidFill>
                  <a:srgbClr val="205F7A"/>
                </a:solidFill>
                <a:latin typeface="Arial"/>
                <a:ea typeface="Arial"/>
                <a:cs typeface="Arial"/>
              </a:defRPr>
            </a:lvl3pPr>
            <a:lvl4pPr>
              <a:defRPr sz="1875" b="1">
                <a:solidFill>
                  <a:srgbClr val="205F7A"/>
                </a:solidFill>
                <a:latin typeface="Arial"/>
                <a:ea typeface="Arial"/>
                <a:cs typeface="Arial"/>
              </a:defRPr>
            </a:lvl4pPr>
            <a:lvl5pPr>
              <a:defRPr sz="1875" b="1">
                <a:solidFill>
                  <a:srgbClr val="205F7A"/>
                </a:solidFill>
                <a:latin typeface="Arial"/>
                <a:ea typeface="Arial"/>
                <a:cs typeface="Arial"/>
              </a:defRPr>
            </a:lvl5pPr>
            <a:lvl6pPr>
              <a:defRPr sz="1875" b="1">
                <a:solidFill>
                  <a:srgbClr val="205F7A"/>
                </a:solidFill>
                <a:latin typeface="Arial"/>
                <a:ea typeface="Arial"/>
                <a:cs typeface="Arial"/>
              </a:defRPr>
            </a:lvl6pPr>
            <a:lvl7pPr>
              <a:defRPr sz="1875" b="1">
                <a:solidFill>
                  <a:srgbClr val="205F7A"/>
                </a:solidFill>
                <a:latin typeface="Arial"/>
                <a:ea typeface="Arial"/>
                <a:cs typeface="Arial"/>
              </a:defRPr>
            </a:lvl7pPr>
            <a:lvl8pPr>
              <a:defRPr sz="1875" b="1">
                <a:solidFill>
                  <a:srgbClr val="205F7A"/>
                </a:solidFill>
                <a:latin typeface="Arial"/>
                <a:ea typeface="Arial"/>
                <a:cs typeface="Arial"/>
              </a:defRPr>
            </a:lvl8pPr>
            <a:lvl9pPr>
              <a:defRPr sz="1875" b="1">
                <a:solidFill>
                  <a:srgbClr val="205F7A"/>
                </a:solidFill>
                <a:latin typeface="Arial"/>
                <a:ea typeface="Arial"/>
                <a:cs typeface="Arial"/>
              </a:defRPr>
            </a:lvl9pPr>
          </a:lstStyle>
          <a:p xmlns:a="http://schemas.openxmlformats.org/drawingml/2006/main">
            <a:pPr>
              <a:defRPr sz="1875" b="1">
                <a:solidFill>
                  <a:srgbClr val="205F7A"/>
                </a:solidFill>
                <a:latin typeface="Arial"/>
                <a:ea typeface="Arial"/>
                <a:cs typeface="Arial"/>
              </a:defRPr>
            </a:pPr>
            <a:r>
              <a:rPr sz="1875" b="1">
                <a:solidFill>
                  <a:srgbClr val="205F7A"/>
                </a:solidFill>
                <a:latin typeface="Arial"/>
                <a:ea typeface="Arial"/>
                <a:cs typeface="Arial"/>
              </a:rPr>
              <a:t>No flags: 300 (10.8%)</a:t>
            </a:r>
          </a:p>
        </p:txBody>
      </p:sp>
      <p:sp>
        <p:nvSpPr>
          <p:cNvPr id="6" name="">
            <a:extLst xmlns:a="http://schemas.openxmlformats.org/drawingml/2006/main">
              <a:ext uri="{FF2B5EF4-FFF2-40B4-BE49-F238E27FC236}">
                <a16:creationId xmlns:a16="http://schemas.microsoft.com/office/drawing/2014/main" id="{EFA87AB1-C974-4BA1-8D8D-7873A3754AE6}"/>
              </a:ext>
            </a:extLst>
          </p:cNvPr>
          <p:cNvSpPr>
            <a:spLocks xmlns:a="http://schemas.openxmlformats.org/drawingml/2006/main" noGrp="1"/>
          </p:cNvSpPr>
          <p:nvPr/>
        </p:nvSpPr>
        <p:spPr>
          <a:xfrm xmlns:a="http://schemas.openxmlformats.org/drawingml/2006/main">
            <a:off x="8286750" y="24765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E5BB66"/>
                </a:solidFill>
                <a:latin typeface="Arial"/>
                <a:ea typeface="Arial"/>
                <a:cs typeface="Arial"/>
              </a:defRPr>
            </a:defPPr>
            <a:lvl1pPr>
              <a:defRPr sz="1650" b="1">
                <a:solidFill>
                  <a:srgbClr val="E5BB66"/>
                </a:solidFill>
                <a:latin typeface="Arial"/>
                <a:ea typeface="Arial"/>
                <a:cs typeface="Arial"/>
              </a:defRPr>
            </a:lvl1pPr>
            <a:lvl2pPr>
              <a:defRPr sz="1650" b="1">
                <a:solidFill>
                  <a:srgbClr val="E5BB66"/>
                </a:solidFill>
                <a:latin typeface="Arial"/>
                <a:ea typeface="Arial"/>
                <a:cs typeface="Arial"/>
              </a:defRPr>
            </a:lvl2pPr>
            <a:lvl3pPr>
              <a:defRPr sz="1650" b="1">
                <a:solidFill>
                  <a:srgbClr val="E5BB66"/>
                </a:solidFill>
                <a:latin typeface="Arial"/>
                <a:ea typeface="Arial"/>
                <a:cs typeface="Arial"/>
              </a:defRPr>
            </a:lvl3pPr>
            <a:lvl4pPr>
              <a:defRPr sz="1650" b="1">
                <a:solidFill>
                  <a:srgbClr val="E5BB66"/>
                </a:solidFill>
                <a:latin typeface="Arial"/>
                <a:ea typeface="Arial"/>
                <a:cs typeface="Arial"/>
              </a:defRPr>
            </a:lvl4pPr>
            <a:lvl5pPr>
              <a:defRPr sz="1650" b="1">
                <a:solidFill>
                  <a:srgbClr val="E5BB66"/>
                </a:solidFill>
                <a:latin typeface="Arial"/>
                <a:ea typeface="Arial"/>
                <a:cs typeface="Arial"/>
              </a:defRPr>
            </a:lvl5pPr>
            <a:lvl6pPr>
              <a:defRPr sz="1650" b="1">
                <a:solidFill>
                  <a:srgbClr val="E5BB66"/>
                </a:solidFill>
                <a:latin typeface="Arial"/>
                <a:ea typeface="Arial"/>
                <a:cs typeface="Arial"/>
              </a:defRPr>
            </a:lvl6pPr>
            <a:lvl7pPr>
              <a:defRPr sz="1650" b="1">
                <a:solidFill>
                  <a:srgbClr val="E5BB66"/>
                </a:solidFill>
                <a:latin typeface="Arial"/>
                <a:ea typeface="Arial"/>
                <a:cs typeface="Arial"/>
              </a:defRPr>
            </a:lvl7pPr>
            <a:lvl8pPr>
              <a:defRPr sz="1650" b="1">
                <a:solidFill>
                  <a:srgbClr val="E5BB66"/>
                </a:solidFill>
                <a:latin typeface="Arial"/>
                <a:ea typeface="Arial"/>
                <a:cs typeface="Arial"/>
              </a:defRPr>
            </a:lvl8pPr>
            <a:lvl9pPr>
              <a:defRPr sz="1650" b="1">
                <a:solidFill>
                  <a:srgbClr val="E5BB66"/>
                </a:solidFill>
                <a:latin typeface="Arial"/>
                <a:ea typeface="Arial"/>
                <a:cs typeface="Arial"/>
              </a:defRPr>
            </a:lvl9pPr>
          </a:lstStyle>
          <a:p xmlns:a="http://schemas.openxmlformats.org/drawingml/2006/main">
            <a:pPr>
              <a:defRPr sz="1650" b="1">
                <a:solidFill>
                  <a:srgbClr val="E5BB66"/>
                </a:solidFill>
                <a:latin typeface="Arial"/>
                <a:ea typeface="Arial"/>
                <a:cs typeface="Arial"/>
              </a:defRPr>
            </a:pPr>
            <a:r>
              <a:rPr sz="1650" b="1">
                <a:solidFill>
                  <a:srgbClr val="E5BB66"/>
                </a:solidFill>
                <a:latin typeface="Arial"/>
                <a:ea typeface="Arial"/>
                <a:cs typeface="Arial"/>
              </a:rPr>
              <a:t>1 flag: 683 (24.6%)</a:t>
            </a:r>
          </a:p>
        </p:txBody>
      </p:sp>
      <p:sp>
        <p:nvSpPr>
          <p:cNvPr id="7" name="">
            <a:extLst xmlns:a="http://schemas.openxmlformats.org/drawingml/2006/main">
              <a:ext uri="{FF2B5EF4-FFF2-40B4-BE49-F238E27FC236}">
                <a16:creationId xmlns:a16="http://schemas.microsoft.com/office/drawing/2014/main" id="{31CB1F7D-435B-489C-BCE5-73857C08391A}"/>
              </a:ext>
            </a:extLst>
          </p:cNvPr>
          <p:cNvSpPr>
            <a:spLocks xmlns:a="http://schemas.openxmlformats.org/drawingml/2006/main" noGrp="1"/>
          </p:cNvSpPr>
          <p:nvPr/>
        </p:nvSpPr>
        <p:spPr>
          <a:xfrm xmlns:a="http://schemas.openxmlformats.org/drawingml/2006/main">
            <a:off x="8286750" y="28384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CC9637"/>
                </a:solidFill>
                <a:latin typeface="Arial"/>
                <a:ea typeface="Arial"/>
                <a:cs typeface="Arial"/>
              </a:defRPr>
            </a:defPPr>
            <a:lvl1pPr>
              <a:defRPr sz="1650" b="1">
                <a:solidFill>
                  <a:srgbClr val="CC9637"/>
                </a:solidFill>
                <a:latin typeface="Arial"/>
                <a:ea typeface="Arial"/>
                <a:cs typeface="Arial"/>
              </a:defRPr>
            </a:lvl1pPr>
            <a:lvl2pPr>
              <a:defRPr sz="1650" b="1">
                <a:solidFill>
                  <a:srgbClr val="CC9637"/>
                </a:solidFill>
                <a:latin typeface="Arial"/>
                <a:ea typeface="Arial"/>
                <a:cs typeface="Arial"/>
              </a:defRPr>
            </a:lvl2pPr>
            <a:lvl3pPr>
              <a:defRPr sz="1650" b="1">
                <a:solidFill>
                  <a:srgbClr val="CC9637"/>
                </a:solidFill>
                <a:latin typeface="Arial"/>
                <a:ea typeface="Arial"/>
                <a:cs typeface="Arial"/>
              </a:defRPr>
            </a:lvl3pPr>
            <a:lvl4pPr>
              <a:defRPr sz="1650" b="1">
                <a:solidFill>
                  <a:srgbClr val="CC9637"/>
                </a:solidFill>
                <a:latin typeface="Arial"/>
                <a:ea typeface="Arial"/>
                <a:cs typeface="Arial"/>
              </a:defRPr>
            </a:lvl4pPr>
            <a:lvl5pPr>
              <a:defRPr sz="1650" b="1">
                <a:solidFill>
                  <a:srgbClr val="CC9637"/>
                </a:solidFill>
                <a:latin typeface="Arial"/>
                <a:ea typeface="Arial"/>
                <a:cs typeface="Arial"/>
              </a:defRPr>
            </a:lvl5pPr>
            <a:lvl6pPr>
              <a:defRPr sz="1650" b="1">
                <a:solidFill>
                  <a:srgbClr val="CC9637"/>
                </a:solidFill>
                <a:latin typeface="Arial"/>
                <a:ea typeface="Arial"/>
                <a:cs typeface="Arial"/>
              </a:defRPr>
            </a:lvl6pPr>
            <a:lvl7pPr>
              <a:defRPr sz="1650" b="1">
                <a:solidFill>
                  <a:srgbClr val="CC9637"/>
                </a:solidFill>
                <a:latin typeface="Arial"/>
                <a:ea typeface="Arial"/>
                <a:cs typeface="Arial"/>
              </a:defRPr>
            </a:lvl7pPr>
            <a:lvl8pPr>
              <a:defRPr sz="1650" b="1">
                <a:solidFill>
                  <a:srgbClr val="CC9637"/>
                </a:solidFill>
                <a:latin typeface="Arial"/>
                <a:ea typeface="Arial"/>
                <a:cs typeface="Arial"/>
              </a:defRPr>
            </a:lvl8pPr>
            <a:lvl9pPr>
              <a:defRPr sz="1650" b="1">
                <a:solidFill>
                  <a:srgbClr val="CC9637"/>
                </a:solidFill>
                <a:latin typeface="Arial"/>
                <a:ea typeface="Arial"/>
                <a:cs typeface="Arial"/>
              </a:defRPr>
            </a:lvl9pPr>
          </a:lstStyle>
          <a:p xmlns:a="http://schemas.openxmlformats.org/drawingml/2006/main">
            <a:pPr>
              <a:defRPr sz="1650" b="1">
                <a:solidFill>
                  <a:srgbClr val="CC9637"/>
                </a:solidFill>
                <a:latin typeface="Arial"/>
                <a:ea typeface="Arial"/>
                <a:cs typeface="Arial"/>
              </a:defRPr>
            </a:pPr>
            <a:r>
              <a:rPr sz="1650" b="1">
                <a:solidFill>
                  <a:srgbClr val="CC9637"/>
                </a:solidFill>
                <a:latin typeface="Arial"/>
                <a:ea typeface="Arial"/>
                <a:cs typeface="Arial"/>
              </a:rPr>
              <a:t>2 flags: 842 (30.3%)</a:t>
            </a:r>
          </a:p>
        </p:txBody>
      </p:sp>
      <p:sp>
        <p:nvSpPr>
          <p:cNvPr id="8" name="">
            <a:extLst xmlns:a="http://schemas.openxmlformats.org/drawingml/2006/main">
              <a:ext uri="{FF2B5EF4-FFF2-40B4-BE49-F238E27FC236}">
                <a16:creationId xmlns:a16="http://schemas.microsoft.com/office/drawing/2014/main" id="{E674F890-99A9-425F-97E2-9EC5CC0B4532}"/>
              </a:ext>
            </a:extLst>
          </p:cNvPr>
          <p:cNvSpPr>
            <a:spLocks xmlns:a="http://schemas.openxmlformats.org/drawingml/2006/main" noGrp="1"/>
          </p:cNvSpPr>
          <p:nvPr/>
        </p:nvSpPr>
        <p:spPr>
          <a:xfrm xmlns:a="http://schemas.openxmlformats.org/drawingml/2006/main">
            <a:off x="8286750" y="32004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A66B24"/>
                </a:solidFill>
                <a:latin typeface="Arial"/>
                <a:ea typeface="Arial"/>
                <a:cs typeface="Arial"/>
              </a:defRPr>
            </a:defPPr>
            <a:lvl1pPr>
              <a:defRPr sz="1650" b="1">
                <a:solidFill>
                  <a:srgbClr val="A66B24"/>
                </a:solidFill>
                <a:latin typeface="Arial"/>
                <a:ea typeface="Arial"/>
                <a:cs typeface="Arial"/>
              </a:defRPr>
            </a:lvl1pPr>
            <a:lvl2pPr>
              <a:defRPr sz="1650" b="1">
                <a:solidFill>
                  <a:srgbClr val="A66B24"/>
                </a:solidFill>
                <a:latin typeface="Arial"/>
                <a:ea typeface="Arial"/>
                <a:cs typeface="Arial"/>
              </a:defRPr>
            </a:lvl2pPr>
            <a:lvl3pPr>
              <a:defRPr sz="1650" b="1">
                <a:solidFill>
                  <a:srgbClr val="A66B24"/>
                </a:solidFill>
                <a:latin typeface="Arial"/>
                <a:ea typeface="Arial"/>
                <a:cs typeface="Arial"/>
              </a:defRPr>
            </a:lvl3pPr>
            <a:lvl4pPr>
              <a:defRPr sz="1650" b="1">
                <a:solidFill>
                  <a:srgbClr val="A66B24"/>
                </a:solidFill>
                <a:latin typeface="Arial"/>
                <a:ea typeface="Arial"/>
                <a:cs typeface="Arial"/>
              </a:defRPr>
            </a:lvl4pPr>
            <a:lvl5pPr>
              <a:defRPr sz="1650" b="1">
                <a:solidFill>
                  <a:srgbClr val="A66B24"/>
                </a:solidFill>
                <a:latin typeface="Arial"/>
                <a:ea typeface="Arial"/>
                <a:cs typeface="Arial"/>
              </a:defRPr>
            </a:lvl5pPr>
            <a:lvl6pPr>
              <a:defRPr sz="1650" b="1">
                <a:solidFill>
                  <a:srgbClr val="A66B24"/>
                </a:solidFill>
                <a:latin typeface="Arial"/>
                <a:ea typeface="Arial"/>
                <a:cs typeface="Arial"/>
              </a:defRPr>
            </a:lvl6pPr>
            <a:lvl7pPr>
              <a:defRPr sz="1650" b="1">
                <a:solidFill>
                  <a:srgbClr val="A66B24"/>
                </a:solidFill>
                <a:latin typeface="Arial"/>
                <a:ea typeface="Arial"/>
                <a:cs typeface="Arial"/>
              </a:defRPr>
            </a:lvl7pPr>
            <a:lvl8pPr>
              <a:defRPr sz="1650" b="1">
                <a:solidFill>
                  <a:srgbClr val="A66B24"/>
                </a:solidFill>
                <a:latin typeface="Arial"/>
                <a:ea typeface="Arial"/>
                <a:cs typeface="Arial"/>
              </a:defRPr>
            </a:lvl8pPr>
            <a:lvl9pPr>
              <a:defRPr sz="1650" b="1">
                <a:solidFill>
                  <a:srgbClr val="A66B24"/>
                </a:solidFill>
                <a:latin typeface="Arial"/>
                <a:ea typeface="Arial"/>
                <a:cs typeface="Arial"/>
              </a:defRPr>
            </a:lvl9pPr>
          </a:lstStyle>
          <a:p xmlns:a="http://schemas.openxmlformats.org/drawingml/2006/main">
            <a:pPr>
              <a:defRPr sz="1650" b="1">
                <a:solidFill>
                  <a:srgbClr val="A66B24"/>
                </a:solidFill>
                <a:latin typeface="Arial"/>
                <a:ea typeface="Arial"/>
                <a:cs typeface="Arial"/>
              </a:defRPr>
            </a:pPr>
            <a:r>
              <a:rPr sz="1650" b="1">
                <a:solidFill>
                  <a:srgbClr val="A66B24"/>
                </a:solidFill>
                <a:latin typeface="Arial"/>
                <a:ea typeface="Arial"/>
                <a:cs typeface="Arial"/>
              </a:rPr>
              <a:t>3 flags: 660 (23.8%)</a:t>
            </a:r>
          </a:p>
        </p:txBody>
      </p:sp>
      <p:sp>
        <p:nvSpPr>
          <p:cNvPr id="9" name="">
            <a:extLst xmlns:a="http://schemas.openxmlformats.org/drawingml/2006/main">
              <a:ext uri="{FF2B5EF4-FFF2-40B4-BE49-F238E27FC236}">
                <a16:creationId xmlns:a16="http://schemas.microsoft.com/office/drawing/2014/main" id="{A42F8F33-B55E-4EA9-B772-BA1BF723045A}"/>
              </a:ext>
            </a:extLst>
          </p:cNvPr>
          <p:cNvSpPr>
            <a:spLocks xmlns:a="http://schemas.openxmlformats.org/drawingml/2006/main" noGrp="1"/>
          </p:cNvSpPr>
          <p:nvPr/>
        </p:nvSpPr>
        <p:spPr>
          <a:xfrm xmlns:a="http://schemas.openxmlformats.org/drawingml/2006/main">
            <a:off x="8286750" y="35623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2441C"/>
                </a:solidFill>
                <a:latin typeface="Arial"/>
                <a:ea typeface="Arial"/>
                <a:cs typeface="Arial"/>
              </a:defRPr>
            </a:defPPr>
            <a:lvl1pPr>
              <a:defRPr sz="1650" b="1">
                <a:solidFill>
                  <a:srgbClr val="72441C"/>
                </a:solidFill>
                <a:latin typeface="Arial"/>
                <a:ea typeface="Arial"/>
                <a:cs typeface="Arial"/>
              </a:defRPr>
            </a:lvl1pPr>
            <a:lvl2pPr>
              <a:defRPr sz="1650" b="1">
                <a:solidFill>
                  <a:srgbClr val="72441C"/>
                </a:solidFill>
                <a:latin typeface="Arial"/>
                <a:ea typeface="Arial"/>
                <a:cs typeface="Arial"/>
              </a:defRPr>
            </a:lvl2pPr>
            <a:lvl3pPr>
              <a:defRPr sz="1650" b="1">
                <a:solidFill>
                  <a:srgbClr val="72441C"/>
                </a:solidFill>
                <a:latin typeface="Arial"/>
                <a:ea typeface="Arial"/>
                <a:cs typeface="Arial"/>
              </a:defRPr>
            </a:lvl3pPr>
            <a:lvl4pPr>
              <a:defRPr sz="1650" b="1">
                <a:solidFill>
                  <a:srgbClr val="72441C"/>
                </a:solidFill>
                <a:latin typeface="Arial"/>
                <a:ea typeface="Arial"/>
                <a:cs typeface="Arial"/>
              </a:defRPr>
            </a:lvl4pPr>
            <a:lvl5pPr>
              <a:defRPr sz="1650" b="1">
                <a:solidFill>
                  <a:srgbClr val="72441C"/>
                </a:solidFill>
                <a:latin typeface="Arial"/>
                <a:ea typeface="Arial"/>
                <a:cs typeface="Arial"/>
              </a:defRPr>
            </a:lvl5pPr>
            <a:lvl6pPr>
              <a:defRPr sz="1650" b="1">
                <a:solidFill>
                  <a:srgbClr val="72441C"/>
                </a:solidFill>
                <a:latin typeface="Arial"/>
                <a:ea typeface="Arial"/>
                <a:cs typeface="Arial"/>
              </a:defRPr>
            </a:lvl6pPr>
            <a:lvl7pPr>
              <a:defRPr sz="1650" b="1">
                <a:solidFill>
                  <a:srgbClr val="72441C"/>
                </a:solidFill>
                <a:latin typeface="Arial"/>
                <a:ea typeface="Arial"/>
                <a:cs typeface="Arial"/>
              </a:defRPr>
            </a:lvl7pPr>
            <a:lvl8pPr>
              <a:defRPr sz="1650" b="1">
                <a:solidFill>
                  <a:srgbClr val="72441C"/>
                </a:solidFill>
                <a:latin typeface="Arial"/>
                <a:ea typeface="Arial"/>
                <a:cs typeface="Arial"/>
              </a:defRPr>
            </a:lvl8pPr>
            <a:lvl9pPr>
              <a:defRPr sz="1650" b="1">
                <a:solidFill>
                  <a:srgbClr val="72441C"/>
                </a:solidFill>
                <a:latin typeface="Arial"/>
                <a:ea typeface="Arial"/>
                <a:cs typeface="Arial"/>
              </a:defRPr>
            </a:lvl9pPr>
          </a:lstStyle>
          <a:p xmlns:a="http://schemas.openxmlformats.org/drawingml/2006/main">
            <a:pPr>
              <a:defRPr sz="1650" b="1">
                <a:solidFill>
                  <a:srgbClr val="72441C"/>
                </a:solidFill>
                <a:latin typeface="Arial"/>
                <a:ea typeface="Arial"/>
                <a:cs typeface="Arial"/>
              </a:defRPr>
            </a:pPr>
            <a:r>
              <a:rPr sz="1650" b="1">
                <a:solidFill>
                  <a:srgbClr val="72441C"/>
                </a:solidFill>
                <a:latin typeface="Arial"/>
                <a:ea typeface="Arial"/>
                <a:cs typeface="Arial"/>
              </a:rPr>
              <a:t>4 flags: 191 (6.9%)</a:t>
            </a:r>
          </a:p>
        </p:txBody>
      </p:sp>
      <p:sp>
        <p:nvSpPr>
          <p:cNvPr id="10" name="">
            <a:extLst xmlns:a="http://schemas.openxmlformats.org/drawingml/2006/main">
              <a:ext uri="{FF2B5EF4-FFF2-40B4-BE49-F238E27FC236}">
                <a16:creationId xmlns:a16="http://schemas.microsoft.com/office/drawing/2014/main" id="{7D182611-24DB-4B93-90E6-3ADC583B3E1F}"/>
              </a:ext>
            </a:extLst>
          </p:cNvPr>
          <p:cNvSpPr>
            <a:spLocks xmlns:a="http://schemas.openxmlformats.org/drawingml/2006/main" noGrp="1"/>
          </p:cNvSpPr>
          <p:nvPr/>
        </p:nvSpPr>
        <p:spPr>
          <a:xfrm xmlns:a="http://schemas.openxmlformats.org/drawingml/2006/main">
            <a:off x="8286750" y="39243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54E79"/>
                </a:solidFill>
                <a:latin typeface="Arial"/>
                <a:ea typeface="Arial"/>
                <a:cs typeface="Arial"/>
              </a:defRPr>
            </a:defPPr>
            <a:lvl1pPr>
              <a:defRPr sz="1650" b="1">
                <a:solidFill>
                  <a:srgbClr val="754E79"/>
                </a:solidFill>
                <a:latin typeface="Arial"/>
                <a:ea typeface="Arial"/>
                <a:cs typeface="Arial"/>
              </a:defRPr>
            </a:lvl1pPr>
            <a:lvl2pPr>
              <a:defRPr sz="1650" b="1">
                <a:solidFill>
                  <a:srgbClr val="754E79"/>
                </a:solidFill>
                <a:latin typeface="Arial"/>
                <a:ea typeface="Arial"/>
                <a:cs typeface="Arial"/>
              </a:defRPr>
            </a:lvl2pPr>
            <a:lvl3pPr>
              <a:defRPr sz="1650" b="1">
                <a:solidFill>
                  <a:srgbClr val="754E79"/>
                </a:solidFill>
                <a:latin typeface="Arial"/>
                <a:ea typeface="Arial"/>
                <a:cs typeface="Arial"/>
              </a:defRPr>
            </a:lvl3pPr>
            <a:lvl4pPr>
              <a:defRPr sz="1650" b="1">
                <a:solidFill>
                  <a:srgbClr val="754E79"/>
                </a:solidFill>
                <a:latin typeface="Arial"/>
                <a:ea typeface="Arial"/>
                <a:cs typeface="Arial"/>
              </a:defRPr>
            </a:lvl4pPr>
            <a:lvl5pPr>
              <a:defRPr sz="1650" b="1">
                <a:solidFill>
                  <a:srgbClr val="754E79"/>
                </a:solidFill>
                <a:latin typeface="Arial"/>
                <a:ea typeface="Arial"/>
                <a:cs typeface="Arial"/>
              </a:defRPr>
            </a:lvl5pPr>
            <a:lvl6pPr>
              <a:defRPr sz="1650" b="1">
                <a:solidFill>
                  <a:srgbClr val="754E79"/>
                </a:solidFill>
                <a:latin typeface="Arial"/>
                <a:ea typeface="Arial"/>
                <a:cs typeface="Arial"/>
              </a:defRPr>
            </a:lvl6pPr>
            <a:lvl7pPr>
              <a:defRPr sz="1650" b="1">
                <a:solidFill>
                  <a:srgbClr val="754E79"/>
                </a:solidFill>
                <a:latin typeface="Arial"/>
                <a:ea typeface="Arial"/>
                <a:cs typeface="Arial"/>
              </a:defRPr>
            </a:lvl7pPr>
            <a:lvl8pPr>
              <a:defRPr sz="1650" b="1">
                <a:solidFill>
                  <a:srgbClr val="754E79"/>
                </a:solidFill>
                <a:latin typeface="Arial"/>
                <a:ea typeface="Arial"/>
                <a:cs typeface="Arial"/>
              </a:defRPr>
            </a:lvl8pPr>
            <a:lvl9pPr>
              <a:defRPr sz="1650" b="1">
                <a:solidFill>
                  <a:srgbClr val="754E79"/>
                </a:solidFill>
                <a:latin typeface="Arial"/>
                <a:ea typeface="Arial"/>
                <a:cs typeface="Arial"/>
              </a:defRPr>
            </a:lvl9pPr>
          </a:lstStyle>
          <a:p xmlns:a="http://schemas.openxmlformats.org/drawingml/2006/main">
            <a:pPr>
              <a:defRPr sz="1650" b="1">
                <a:solidFill>
                  <a:srgbClr val="754E79"/>
                </a:solidFill>
                <a:latin typeface="Arial"/>
                <a:ea typeface="Arial"/>
                <a:cs typeface="Arial"/>
              </a:defRPr>
            </a:pPr>
            <a:r>
              <a:rPr sz="1650" b="1">
                <a:solidFill>
                  <a:srgbClr val="754E79"/>
                </a:solidFill>
                <a:latin typeface="Arial"/>
                <a:ea typeface="Arial"/>
                <a:cs typeface="Arial"/>
              </a:rPr>
              <a:t>5 flags: 59 (2.1%)</a:t>
            </a:r>
          </a:p>
        </p:txBody>
      </p:sp>
      <p:sp>
        <p:nvSpPr>
          <p:cNvPr id="11" name="">
            <a:extLst xmlns:a="http://schemas.openxmlformats.org/drawingml/2006/main">
              <a:ext uri="{FF2B5EF4-FFF2-40B4-BE49-F238E27FC236}">
                <a16:creationId xmlns:a16="http://schemas.microsoft.com/office/drawing/2014/main" id="{179FDFEC-60E7-4723-AB50-CCA4C48FD557}"/>
              </a:ext>
            </a:extLst>
          </p:cNvPr>
          <p:cNvSpPr>
            <a:spLocks xmlns:a="http://schemas.openxmlformats.org/drawingml/2006/main" noGrp="1"/>
          </p:cNvSpPr>
          <p:nvPr/>
        </p:nvSpPr>
        <p:spPr>
          <a:xfrm xmlns:a="http://schemas.openxmlformats.org/drawingml/2006/main">
            <a:off x="8286750" y="42862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563B60"/>
                </a:solidFill>
                <a:latin typeface="Arial"/>
                <a:ea typeface="Arial"/>
                <a:cs typeface="Arial"/>
              </a:defRPr>
            </a:defPPr>
            <a:lvl1pPr>
              <a:defRPr sz="1650" b="1">
                <a:solidFill>
                  <a:srgbClr val="563B60"/>
                </a:solidFill>
                <a:latin typeface="Arial"/>
                <a:ea typeface="Arial"/>
                <a:cs typeface="Arial"/>
              </a:defRPr>
            </a:lvl1pPr>
            <a:lvl2pPr>
              <a:defRPr sz="1650" b="1">
                <a:solidFill>
                  <a:srgbClr val="563B60"/>
                </a:solidFill>
                <a:latin typeface="Arial"/>
                <a:ea typeface="Arial"/>
                <a:cs typeface="Arial"/>
              </a:defRPr>
            </a:lvl2pPr>
            <a:lvl3pPr>
              <a:defRPr sz="1650" b="1">
                <a:solidFill>
                  <a:srgbClr val="563B60"/>
                </a:solidFill>
                <a:latin typeface="Arial"/>
                <a:ea typeface="Arial"/>
                <a:cs typeface="Arial"/>
              </a:defRPr>
            </a:lvl3pPr>
            <a:lvl4pPr>
              <a:defRPr sz="1650" b="1">
                <a:solidFill>
                  <a:srgbClr val="563B60"/>
                </a:solidFill>
                <a:latin typeface="Arial"/>
                <a:ea typeface="Arial"/>
                <a:cs typeface="Arial"/>
              </a:defRPr>
            </a:lvl4pPr>
            <a:lvl5pPr>
              <a:defRPr sz="1650" b="1">
                <a:solidFill>
                  <a:srgbClr val="563B60"/>
                </a:solidFill>
                <a:latin typeface="Arial"/>
                <a:ea typeface="Arial"/>
                <a:cs typeface="Arial"/>
              </a:defRPr>
            </a:lvl5pPr>
            <a:lvl6pPr>
              <a:defRPr sz="1650" b="1">
                <a:solidFill>
                  <a:srgbClr val="563B60"/>
                </a:solidFill>
                <a:latin typeface="Arial"/>
                <a:ea typeface="Arial"/>
                <a:cs typeface="Arial"/>
              </a:defRPr>
            </a:lvl6pPr>
            <a:lvl7pPr>
              <a:defRPr sz="1650" b="1">
                <a:solidFill>
                  <a:srgbClr val="563B60"/>
                </a:solidFill>
                <a:latin typeface="Arial"/>
                <a:ea typeface="Arial"/>
                <a:cs typeface="Arial"/>
              </a:defRPr>
            </a:lvl7pPr>
            <a:lvl8pPr>
              <a:defRPr sz="1650" b="1">
                <a:solidFill>
                  <a:srgbClr val="563B60"/>
                </a:solidFill>
                <a:latin typeface="Arial"/>
                <a:ea typeface="Arial"/>
                <a:cs typeface="Arial"/>
              </a:defRPr>
            </a:lvl8pPr>
            <a:lvl9pPr>
              <a:defRPr sz="1650" b="1">
                <a:solidFill>
                  <a:srgbClr val="563B60"/>
                </a:solidFill>
                <a:latin typeface="Arial"/>
                <a:ea typeface="Arial"/>
                <a:cs typeface="Arial"/>
              </a:defRPr>
            </a:lvl9pPr>
          </a:lstStyle>
          <a:p xmlns:a="http://schemas.openxmlformats.org/drawingml/2006/main">
            <a:pPr>
              <a:defRPr sz="1650" b="1">
                <a:solidFill>
                  <a:srgbClr val="563B60"/>
                </a:solidFill>
                <a:latin typeface="Arial"/>
                <a:ea typeface="Arial"/>
                <a:cs typeface="Arial"/>
              </a:defRPr>
            </a:pPr>
            <a:r>
              <a:rPr sz="1650" b="1">
                <a:solidFill>
                  <a:srgbClr val="563B60"/>
                </a:solidFill>
                <a:latin typeface="Arial"/>
                <a:ea typeface="Arial"/>
                <a:cs typeface="Arial"/>
              </a:rPr>
              <a:t>6 flags: 30 (1.1%)</a:t>
            </a:r>
          </a:p>
        </p:txBody>
      </p:sp>
      <p:sp>
        <p:nvSpPr>
          <p:cNvPr id="12" name="">
            <a:extLst xmlns:a="http://schemas.openxmlformats.org/drawingml/2006/main">
              <a:ext uri="{FF2B5EF4-FFF2-40B4-BE49-F238E27FC236}">
                <a16:creationId xmlns:a16="http://schemas.microsoft.com/office/drawing/2014/main" id="{86F06758-C16C-41DD-8563-A7725FED6DFF}"/>
              </a:ext>
            </a:extLst>
          </p:cNvPr>
          <p:cNvSpPr>
            <a:spLocks xmlns:a="http://schemas.openxmlformats.org/drawingml/2006/main" noGrp="1"/>
          </p:cNvSpPr>
          <p:nvPr/>
        </p:nvSpPr>
        <p:spPr>
          <a:xfrm xmlns:a="http://schemas.openxmlformats.org/drawingml/2006/main">
            <a:off x="8286750" y="46482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4A587A"/>
                </a:solidFill>
                <a:latin typeface="Arial"/>
                <a:ea typeface="Arial"/>
                <a:cs typeface="Arial"/>
              </a:defRPr>
            </a:defPPr>
            <a:lvl1pPr>
              <a:defRPr sz="1650" b="1">
                <a:solidFill>
                  <a:srgbClr val="4A587A"/>
                </a:solidFill>
                <a:latin typeface="Arial"/>
                <a:ea typeface="Arial"/>
                <a:cs typeface="Arial"/>
              </a:defRPr>
            </a:lvl1pPr>
            <a:lvl2pPr>
              <a:defRPr sz="1650" b="1">
                <a:solidFill>
                  <a:srgbClr val="4A587A"/>
                </a:solidFill>
                <a:latin typeface="Arial"/>
                <a:ea typeface="Arial"/>
                <a:cs typeface="Arial"/>
              </a:defRPr>
            </a:lvl2pPr>
            <a:lvl3pPr>
              <a:defRPr sz="1650" b="1">
                <a:solidFill>
                  <a:srgbClr val="4A587A"/>
                </a:solidFill>
                <a:latin typeface="Arial"/>
                <a:ea typeface="Arial"/>
                <a:cs typeface="Arial"/>
              </a:defRPr>
            </a:lvl3pPr>
            <a:lvl4pPr>
              <a:defRPr sz="1650" b="1">
                <a:solidFill>
                  <a:srgbClr val="4A587A"/>
                </a:solidFill>
                <a:latin typeface="Arial"/>
                <a:ea typeface="Arial"/>
                <a:cs typeface="Arial"/>
              </a:defRPr>
            </a:lvl4pPr>
            <a:lvl5pPr>
              <a:defRPr sz="1650" b="1">
                <a:solidFill>
                  <a:srgbClr val="4A587A"/>
                </a:solidFill>
                <a:latin typeface="Arial"/>
                <a:ea typeface="Arial"/>
                <a:cs typeface="Arial"/>
              </a:defRPr>
            </a:lvl5pPr>
            <a:lvl6pPr>
              <a:defRPr sz="1650" b="1">
                <a:solidFill>
                  <a:srgbClr val="4A587A"/>
                </a:solidFill>
                <a:latin typeface="Arial"/>
                <a:ea typeface="Arial"/>
                <a:cs typeface="Arial"/>
              </a:defRPr>
            </a:lvl6pPr>
            <a:lvl7pPr>
              <a:defRPr sz="1650" b="1">
                <a:solidFill>
                  <a:srgbClr val="4A587A"/>
                </a:solidFill>
                <a:latin typeface="Arial"/>
                <a:ea typeface="Arial"/>
                <a:cs typeface="Arial"/>
              </a:defRPr>
            </a:lvl7pPr>
            <a:lvl8pPr>
              <a:defRPr sz="1650" b="1">
                <a:solidFill>
                  <a:srgbClr val="4A587A"/>
                </a:solidFill>
                <a:latin typeface="Arial"/>
                <a:ea typeface="Arial"/>
                <a:cs typeface="Arial"/>
              </a:defRPr>
            </a:lvl8pPr>
            <a:lvl9pPr>
              <a:defRPr sz="1650" b="1">
                <a:solidFill>
                  <a:srgbClr val="4A587A"/>
                </a:solidFill>
                <a:latin typeface="Arial"/>
                <a:ea typeface="Arial"/>
                <a:cs typeface="Arial"/>
              </a:defRPr>
            </a:lvl9pPr>
          </a:lstStyle>
          <a:p xmlns:a="http://schemas.openxmlformats.org/drawingml/2006/main">
            <a:pPr>
              <a:defRPr sz="1650" b="1">
                <a:solidFill>
                  <a:srgbClr val="4A587A"/>
                </a:solidFill>
                <a:latin typeface="Arial"/>
                <a:ea typeface="Arial"/>
                <a:cs typeface="Arial"/>
              </a:defRPr>
            </a:pPr>
            <a:r>
              <a:rPr sz="1650" b="1">
                <a:solidFill>
                  <a:srgbClr val="4A587A"/>
                </a:solidFill>
                <a:latin typeface="Arial"/>
                <a:ea typeface="Arial"/>
                <a:cs typeface="Arial"/>
              </a:rPr>
              <a:t>7 flags: 5 (0.2%)</a:t>
            </a:r>
          </a:p>
        </p:txBody>
      </p:sp>
      <p:sp>
        <p:nvSpPr>
          <p:cNvPr id="13" name="">
            <a:extLst xmlns:a="http://schemas.openxmlformats.org/drawingml/2006/main">
              <a:ext uri="{FF2B5EF4-FFF2-40B4-BE49-F238E27FC236}">
                <a16:creationId xmlns:a16="http://schemas.microsoft.com/office/drawing/2014/main" id="{8A8D6FA7-05F2-48F8-B2B7-658953C44277}"/>
              </a:ext>
            </a:extLst>
          </p:cNvPr>
          <p:cNvSpPr>
            <a:spLocks xmlns:a="http://schemas.openxmlformats.org/drawingml/2006/main" noGrp="1"/>
          </p:cNvSpPr>
          <p:nvPr/>
        </p:nvSpPr>
        <p:spPr>
          <a:xfrm xmlns:a="http://schemas.openxmlformats.org/drawingml/2006/main">
            <a:off x="8286750" y="50101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4E7B71"/>
                </a:solidFill>
                <a:latin typeface="Arial"/>
                <a:ea typeface="Arial"/>
                <a:cs typeface="Arial"/>
              </a:defRPr>
            </a:defPPr>
            <a:lvl1pPr>
              <a:defRPr sz="1650" b="1">
                <a:solidFill>
                  <a:srgbClr val="4E7B71"/>
                </a:solidFill>
                <a:latin typeface="Arial"/>
                <a:ea typeface="Arial"/>
                <a:cs typeface="Arial"/>
              </a:defRPr>
            </a:lvl1pPr>
            <a:lvl2pPr>
              <a:defRPr sz="1650" b="1">
                <a:solidFill>
                  <a:srgbClr val="4E7B71"/>
                </a:solidFill>
                <a:latin typeface="Arial"/>
                <a:ea typeface="Arial"/>
                <a:cs typeface="Arial"/>
              </a:defRPr>
            </a:lvl2pPr>
            <a:lvl3pPr>
              <a:defRPr sz="1650" b="1">
                <a:solidFill>
                  <a:srgbClr val="4E7B71"/>
                </a:solidFill>
                <a:latin typeface="Arial"/>
                <a:ea typeface="Arial"/>
                <a:cs typeface="Arial"/>
              </a:defRPr>
            </a:lvl3pPr>
            <a:lvl4pPr>
              <a:defRPr sz="1650" b="1">
                <a:solidFill>
                  <a:srgbClr val="4E7B71"/>
                </a:solidFill>
                <a:latin typeface="Arial"/>
                <a:ea typeface="Arial"/>
                <a:cs typeface="Arial"/>
              </a:defRPr>
            </a:lvl4pPr>
            <a:lvl5pPr>
              <a:defRPr sz="1650" b="1">
                <a:solidFill>
                  <a:srgbClr val="4E7B71"/>
                </a:solidFill>
                <a:latin typeface="Arial"/>
                <a:ea typeface="Arial"/>
                <a:cs typeface="Arial"/>
              </a:defRPr>
            </a:lvl5pPr>
            <a:lvl6pPr>
              <a:defRPr sz="1650" b="1">
                <a:solidFill>
                  <a:srgbClr val="4E7B71"/>
                </a:solidFill>
                <a:latin typeface="Arial"/>
                <a:ea typeface="Arial"/>
                <a:cs typeface="Arial"/>
              </a:defRPr>
            </a:lvl6pPr>
            <a:lvl7pPr>
              <a:defRPr sz="1650" b="1">
                <a:solidFill>
                  <a:srgbClr val="4E7B71"/>
                </a:solidFill>
                <a:latin typeface="Arial"/>
                <a:ea typeface="Arial"/>
                <a:cs typeface="Arial"/>
              </a:defRPr>
            </a:lvl7pPr>
            <a:lvl8pPr>
              <a:defRPr sz="1650" b="1">
                <a:solidFill>
                  <a:srgbClr val="4E7B71"/>
                </a:solidFill>
                <a:latin typeface="Arial"/>
                <a:ea typeface="Arial"/>
                <a:cs typeface="Arial"/>
              </a:defRPr>
            </a:lvl8pPr>
            <a:lvl9pPr>
              <a:defRPr sz="1650" b="1">
                <a:solidFill>
                  <a:srgbClr val="4E7B71"/>
                </a:solidFill>
                <a:latin typeface="Arial"/>
                <a:ea typeface="Arial"/>
                <a:cs typeface="Arial"/>
              </a:defRPr>
            </a:lvl9pPr>
          </a:lstStyle>
          <a:p xmlns:a="http://schemas.openxmlformats.org/drawingml/2006/main">
            <a:pPr>
              <a:defRPr sz="1650" b="1">
                <a:solidFill>
                  <a:srgbClr val="4E7B71"/>
                </a:solidFill>
                <a:latin typeface="Arial"/>
                <a:ea typeface="Arial"/>
                <a:cs typeface="Arial"/>
              </a:defRPr>
            </a:pPr>
            <a:r>
              <a:rPr sz="1650" b="1">
                <a:solidFill>
                  <a:srgbClr val="4E7B71"/>
                </a:solidFill>
                <a:latin typeface="Arial"/>
                <a:ea typeface="Arial"/>
                <a:cs typeface="Arial"/>
              </a:rPr>
              <a:t>8 flags: 1 (&lt;0.1%)</a:t>
            </a:r>
          </a:p>
        </p:txBody>
      </p:sp>
      <p:sp>
        <p:nvSpPr>
          <p:cNvPr id="14" name="">
            <a:extLst xmlns:a="http://schemas.openxmlformats.org/drawingml/2006/main">
              <a:ext uri="{FF2B5EF4-FFF2-40B4-BE49-F238E27FC236}">
                <a16:creationId xmlns:a16="http://schemas.microsoft.com/office/drawing/2014/main" id="{64E5AAE6-7F45-4644-8813-7CB9892197E1}"/>
              </a:ext>
            </a:extLst>
          </p:cNvPr>
          <p:cNvSpPr>
            <a:spLocks xmlns:a="http://schemas.openxmlformats.org/drawingml/2006/main" noGrp="1"/>
          </p:cNvSpPr>
          <p:nvPr/>
        </p:nvSpPr>
        <p:spPr>
          <a:xfrm xmlns:a="http://schemas.openxmlformats.org/drawingml/2006/main">
            <a:off x="8286750" y="546735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A43C38"/>
                </a:solidFill>
                <a:latin typeface="Arial"/>
                <a:ea typeface="Arial"/>
                <a:cs typeface="Arial"/>
              </a:defRPr>
            </a:defPPr>
            <a:lvl1pPr>
              <a:defRPr sz="1650" b="1">
                <a:solidFill>
                  <a:srgbClr val="A43C38"/>
                </a:solidFill>
                <a:latin typeface="Arial"/>
                <a:ea typeface="Arial"/>
                <a:cs typeface="Arial"/>
              </a:defRPr>
            </a:lvl1pPr>
            <a:lvl2pPr>
              <a:defRPr sz="1650" b="1">
                <a:solidFill>
                  <a:srgbClr val="A43C38"/>
                </a:solidFill>
                <a:latin typeface="Arial"/>
                <a:ea typeface="Arial"/>
                <a:cs typeface="Arial"/>
              </a:defRPr>
            </a:lvl2pPr>
            <a:lvl3pPr>
              <a:defRPr sz="1650" b="1">
                <a:solidFill>
                  <a:srgbClr val="A43C38"/>
                </a:solidFill>
                <a:latin typeface="Arial"/>
                <a:ea typeface="Arial"/>
                <a:cs typeface="Arial"/>
              </a:defRPr>
            </a:lvl3pPr>
            <a:lvl4pPr>
              <a:defRPr sz="1650" b="1">
                <a:solidFill>
                  <a:srgbClr val="A43C38"/>
                </a:solidFill>
                <a:latin typeface="Arial"/>
                <a:ea typeface="Arial"/>
                <a:cs typeface="Arial"/>
              </a:defRPr>
            </a:lvl4pPr>
            <a:lvl5pPr>
              <a:defRPr sz="1650" b="1">
                <a:solidFill>
                  <a:srgbClr val="A43C38"/>
                </a:solidFill>
                <a:latin typeface="Arial"/>
                <a:ea typeface="Arial"/>
                <a:cs typeface="Arial"/>
              </a:defRPr>
            </a:lvl5pPr>
            <a:lvl6pPr>
              <a:defRPr sz="1650" b="1">
                <a:solidFill>
                  <a:srgbClr val="A43C38"/>
                </a:solidFill>
                <a:latin typeface="Arial"/>
                <a:ea typeface="Arial"/>
                <a:cs typeface="Arial"/>
              </a:defRPr>
            </a:lvl6pPr>
            <a:lvl7pPr>
              <a:defRPr sz="1650" b="1">
                <a:solidFill>
                  <a:srgbClr val="A43C38"/>
                </a:solidFill>
                <a:latin typeface="Arial"/>
                <a:ea typeface="Arial"/>
                <a:cs typeface="Arial"/>
              </a:defRPr>
            </a:lvl7pPr>
            <a:lvl8pPr>
              <a:defRPr sz="1650" b="1">
                <a:solidFill>
                  <a:srgbClr val="A43C38"/>
                </a:solidFill>
                <a:latin typeface="Arial"/>
                <a:ea typeface="Arial"/>
                <a:cs typeface="Arial"/>
              </a:defRPr>
            </a:lvl8pPr>
            <a:lvl9pPr>
              <a:defRPr sz="1650" b="1">
                <a:solidFill>
                  <a:srgbClr val="A43C38"/>
                </a:solidFill>
                <a:latin typeface="Arial"/>
                <a:ea typeface="Arial"/>
                <a:cs typeface="Arial"/>
              </a:defRPr>
            </a:lvl9pPr>
          </a:lstStyle>
          <a:p xmlns:a="http://schemas.openxmlformats.org/drawingml/2006/main">
            <a:pPr>
              <a:defRPr sz="1650" b="1">
                <a:solidFill>
                  <a:srgbClr val="A43C38"/>
                </a:solidFill>
                <a:latin typeface="Arial"/>
                <a:ea typeface="Arial"/>
                <a:cs typeface="Arial"/>
              </a:defRPr>
            </a:pPr>
            <a:r>
              <a:rPr sz="1650" b="1">
                <a:solidFill>
                  <a:srgbClr val="A43C38"/>
                </a:solidFill>
                <a:latin typeface="Arial"/>
                <a:ea typeface="Arial"/>
                <a:cs typeface="Arial"/>
              </a:rPr>
              <a:t>Failed: 6 (0.2%)</a:t>
            </a:r>
          </a:p>
        </p:txBody>
      </p:sp>
      <p:sp>
        <p:nvSpPr>
          <p:cNvPr id="15" name="">
            <a:extLst xmlns:a="http://schemas.openxmlformats.org/drawingml/2006/main">
              <a:ext uri="{FF2B5EF4-FFF2-40B4-BE49-F238E27FC236}">
                <a16:creationId xmlns:a16="http://schemas.microsoft.com/office/drawing/2014/main" id="{89DDAF43-6DBC-4C08-AEF1-51EADF7A61FA}"/>
              </a:ext>
            </a:extLst>
          </p:cNvPr>
          <p:cNvSpPr>
            <a:spLocks xmlns:a="http://schemas.openxmlformats.org/drawingml/2006/main" noGrp="1"/>
          </p:cNvSpPr>
          <p:nvPr/>
        </p:nvSpPr>
        <p:spPr>
          <a:xfrm xmlns:a="http://schemas.openxmlformats.org/drawingml/2006/main">
            <a:off x="609600" y="58578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Recovery and missing-bar warnings are counted. QI also includes partial cutout coverage.</a:t>
            </a:r>
          </a:p>
        </p:txBody>
      </p:sp>
    </p:spTree>
    <p:extLst>
      <p:ext uri="{BB962C8B-B14F-4D97-AF65-F5344CB8AC3E}">
        <p14:creationId xmlns:p14="http://schemas.microsoft.com/office/powerpoint/2010/main" val="11021506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867054-A381-4BB8-8DAD-4F478943474B}"/>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Current quality issues and information</a:t>
            </a:r>
          </a:p>
        </p:txBody>
      </p:sp>
      <p:sp>
        <p:nvSpPr>
          <p:cNvPr id="2" name="">
            <a:extLst xmlns:a="http://schemas.openxmlformats.org/drawingml/2006/main">
              <a:ext uri="{FF2B5EF4-FFF2-40B4-BE49-F238E27FC236}">
                <a16:creationId xmlns:a16="http://schemas.microsoft.com/office/drawing/2014/main" id="{191381DE-E0F1-4619-A6E3-2B4E4E451525}"/>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17</a:t>
            </a:r>
          </a:p>
        </p:txBody>
      </p:sp>
      <p:graphicFrame>
        <p:nvGraphicFramePr>
          <p:cNvPr id="3" name="Chart">
            <a:extLst xmlns:a="http://schemas.openxmlformats.org/drawingml/2006/main">
              <a:ext uri="{FF2B5EF4-FFF2-40B4-BE49-F238E27FC236}">
                <a16:creationId xmlns:a16="http://schemas.microsoft.com/office/drawing/2014/main" id="{5E552E49-F120-4734-9A4D-2997DB890DEC}"/>
              </a:ext>
            </a:extLst>
          </p:cNvPr>
          <p:cNvGraphicFramePr/>
          <p:nvPr/>
        </p:nvGraphicFramePr>
        <p:xfrm>
          <a:off xmlns:a="http://schemas.openxmlformats.org/drawingml/2006/main" x="457200" y="1666875"/>
          <a:ext xmlns:a="http://schemas.openxmlformats.org/drawingml/2006/main" cx="10953750" cy="4000500"/>
        </p:xfrm>
        <a:graphic xmlns:a="http://schemas.openxmlformats.org/drawingml/2006/main">
          <a:graphicData uri="http://schemas.openxmlformats.org/drawingml/2006/chart">
            <c:chart xmlns:r="http://schemas.openxmlformats.org/officeDocument/2006/relationships" xmlns:c="http://schemas.openxmlformats.org/drawingml/2006/chart" r:id="R4d0ed258189146d1"/>
          </a:graphicData>
        </a:graphic>
      </p:graphicFrame>
      <p:sp>
        <p:nvSpPr>
          <p:cNvPr id="4" name="">
            <a:extLst xmlns:a="http://schemas.openxmlformats.org/drawingml/2006/main">
              <a:ext uri="{FF2B5EF4-FFF2-40B4-BE49-F238E27FC236}">
                <a16:creationId xmlns:a16="http://schemas.microsoft.com/office/drawing/2014/main" id="{3E5AF55C-6201-4F1B-8305-A6AA47D9B252}"/>
              </a:ext>
            </a:extLst>
          </p:cNvPr>
          <p:cNvSpPr>
            <a:spLocks xmlns:a="http://schemas.openxmlformats.org/drawingml/2006/main" noGrp="1"/>
          </p:cNvSpPr>
          <p:nvPr/>
        </p:nvSpPr>
        <p:spPr>
          <a:xfrm xmlns:a="http://schemas.openxmlformats.org/drawingml/2006/main">
            <a:off x="609600" y="5810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59 nearly face-on fits: informational, not a defect. Disc PA instability is ignored for them.</a:t>
            </a:r>
          </a:p>
        </p:txBody>
      </p:sp>
    </p:spTree>
    <p:extLst>
      <p:ext uri="{BB962C8B-B14F-4D97-AF65-F5344CB8AC3E}">
        <p14:creationId xmlns:p14="http://schemas.microsoft.com/office/powerpoint/2010/main" val="20123395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94FA3D-6BC0-4749-8523-E8A279053910}"/>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Comparison with Euclid and supplied geometry</a:t>
            </a:r>
          </a:p>
        </p:txBody>
      </p:sp>
      <p:sp>
        <p:nvSpPr>
          <p:cNvPr id="2" name="">
            <a:extLst xmlns:a="http://schemas.openxmlformats.org/drawingml/2006/main">
              <a:ext uri="{FF2B5EF4-FFF2-40B4-BE49-F238E27FC236}">
                <a16:creationId xmlns:a16="http://schemas.microsoft.com/office/drawing/2014/main" id="{A3820B85-7006-4E5B-A8F4-A7115E98D212}"/>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17</a:t>
            </a:r>
          </a:p>
        </p:txBody>
      </p:sp>
      <p:graphicFrame>
        <p:nvGraphicFramePr>
          <p:cNvPr id="3" name="">
            <a:extLst xmlns:a="http://schemas.openxmlformats.org/drawingml/2006/main">
              <a:ext uri="{FF2B5EF4-FFF2-40B4-BE49-F238E27FC236}">
                <a16:creationId xmlns:a16="http://schemas.microsoft.com/office/drawing/2014/main" id="{32D8C939-5A8E-48FD-8762-2474CF54DE9A}"/>
              </a:ext>
            </a:extLst>
          </p:cNvPr>
          <p:cNvGraphicFramePr/>
          <p:nvPr/>
        </p:nvGraphicFramePr>
        <p:xfrm>
          <a:off xmlns:a="http://schemas.openxmlformats.org/drawingml/2006/main" x="609600" y="1619250"/>
          <a:ext xmlns:a="http://schemas.openxmlformats.org/drawingml/2006/main" cx="10953750" cy="2286000"/>
        </p:xfrm>
        <a:graphic xmlns:a="http://schemas.openxmlformats.org/drawingml/2006/main">
          <a:graphicData uri="http://schemas.openxmlformats.org/drawingml/2006/table">
            <a:tbl>
              <a:tblPr/>
              <a:tblGrid>
                <a:gridCol w="7620000"/>
                <a:gridCol w="3333750"/>
              </a:tblGrid>
              <a:tr h="571500">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Current run</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71500">
                <a:tc>
                  <a:txBody>
                    <a:bodyPr/>
                    <a:lstStyle/>
                    <a:p>
                      <a:r>
                        <a:rPr sz="1875" b="0">
                          <a:solidFill>
                            <a:srgbClr val="142633"/>
                          </a:solidFill>
                          <a:latin typeface="Arial"/>
                          <a:ea typeface="Arial"/>
                          <a:cs typeface="Arial"/>
                        </a:rPr>
                        <a:t>Adjusted Euclid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8.05°</a:t>
                      </a:r>
                    </a:p>
                  </a:txBody>
                  <a:tcPr marL="91440" marR="91440" marT="45720" marB="45720">
                    <a:lnR w="6668">
                      <a:solidFill>
                        <a:srgbClr val="D6E0E5"/>
                      </a:solidFill>
                      <a:prstDash val="solid"/>
                    </a:lnR>
                    <a:lnB w="6668">
                      <a:solidFill>
                        <a:srgbClr val="D6E0E5"/>
                      </a:solidFill>
                      <a:prstDash val="solid"/>
                    </a:lnB>
                    <a:solidFill>
                      <a:srgbClr val="FFFFFF"/>
                    </a:solidFill>
                  </a:tcPr>
                </a:tc>
              </a:tr>
              <a:tr h="571500">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6.52°</a:t>
                      </a:r>
                    </a:p>
                  </a:txBody>
                  <a:tcPr marL="91440" marR="91440" marT="45720" marB="45720">
                    <a:lnR w="6668">
                      <a:solidFill>
                        <a:srgbClr val="D6E0E5"/>
                      </a:solidFill>
                      <a:prstDash val="solid"/>
                    </a:lnR>
                    <a:lnB w="6668">
                      <a:solidFill>
                        <a:srgbClr val="D6E0E5"/>
                      </a:solidFill>
                      <a:prstDash val="solid"/>
                    </a:lnB>
                    <a:solidFill>
                      <a:srgbClr val="FFFFFF"/>
                    </a:solidFill>
                  </a:tcPr>
                </a:tc>
              </a:tr>
              <a:tr h="571500">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5.50°</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DE703FA-56C4-4803-BC3A-A47C82716797}"/>
              </a:ext>
            </a:extLst>
          </p:cNvPr>
          <p:cNvSpPr>
            <a:spLocks xmlns:a="http://schemas.openxmlformats.org/drawingml/2006/main" noGrp="1"/>
          </p:cNvSpPr>
          <p:nvPr/>
        </p:nvSpPr>
        <p:spPr>
          <a:xfrm xmlns:a="http://schemas.openxmlformats.org/drawingml/2006/main">
            <a:off x="609600" y="4191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Codex PA: North towards East. N = 0°, E = 90°, modulo 180°.</a:t>
            </a:r>
          </a:p>
        </p:txBody>
      </p:sp>
      <p:sp>
        <p:nvSpPr>
          <p:cNvPr id="5" name="">
            <a:extLst xmlns:a="http://schemas.openxmlformats.org/drawingml/2006/main">
              <a:ext uri="{FF2B5EF4-FFF2-40B4-BE49-F238E27FC236}">
                <a16:creationId xmlns:a16="http://schemas.microsoft.com/office/drawing/2014/main" id="{BC9DF4D2-6244-4279-AEAD-2BD2062E360D}"/>
              </a:ext>
            </a:extLst>
          </p:cNvPr>
          <p:cNvSpPr>
            <a:spLocks xmlns:a="http://schemas.openxmlformats.org/drawingml/2006/main" noGrp="1"/>
          </p:cNvSpPr>
          <p:nvPr/>
        </p:nvSpPr>
        <p:spPr>
          <a:xfrm xmlns:a="http://schemas.openxmlformats.org/drawingml/2006/main">
            <a:off x="609600" y="4714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Counterclockwise on a North-up, East-left image. WCS handles local orientation.</a:t>
            </a:r>
          </a:p>
        </p:txBody>
      </p:sp>
      <p:sp>
        <p:nvSpPr>
          <p:cNvPr id="6" name="">
            <a:extLst xmlns:a="http://schemas.openxmlformats.org/drawingml/2006/main">
              <a:ext uri="{FF2B5EF4-FFF2-40B4-BE49-F238E27FC236}">
                <a16:creationId xmlns:a16="http://schemas.microsoft.com/office/drawing/2014/main" id="{C34F54EA-4DAC-422C-97BC-616DF476AE25}"/>
              </a:ext>
            </a:extLst>
          </p:cNvPr>
          <p:cNvSpPr>
            <a:spLocks xmlns:a="http://schemas.openxmlformats.org/drawingml/2006/main" noGrp="1"/>
          </p:cNvSpPr>
          <p:nvPr/>
        </p:nvSpPr>
        <p:spPr>
          <a:xfrm xmlns:a="http://schemas.openxmlformats.org/drawingml/2006/main">
            <a:off x="609600" y="5381625"/>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Euclid comparison retains the adopted additional +90° after WCS conversion. A detection-image y-axis reference is plausible but unconfirmed.</a:t>
            </a:r>
          </a:p>
        </p:txBody>
      </p:sp>
    </p:spTree>
    <p:extLst>
      <p:ext uri="{BB962C8B-B14F-4D97-AF65-F5344CB8AC3E}">
        <p14:creationId xmlns:p14="http://schemas.microsoft.com/office/powerpoint/2010/main" val="17273622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6C9229-AD43-4C38-B9CA-2C750FDA3C7D}"/>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Galaxy centres are measured and checked</a:t>
            </a:r>
          </a:p>
        </p:txBody>
      </p:sp>
      <p:sp>
        <p:nvSpPr>
          <p:cNvPr id="2" name="">
            <a:extLst xmlns:a="http://schemas.openxmlformats.org/drawingml/2006/main">
              <a:ext uri="{FF2B5EF4-FFF2-40B4-BE49-F238E27FC236}">
                <a16:creationId xmlns:a16="http://schemas.microsoft.com/office/drawing/2014/main" id="{C757BD4C-11EF-4949-A4D9-21FD02155C1D}"/>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17</a:t>
            </a:r>
          </a:p>
        </p:txBody>
      </p:sp>
      <p:sp>
        <p:nvSpPr>
          <p:cNvPr id="3" name="">
            <a:extLst xmlns:a="http://schemas.openxmlformats.org/drawingml/2006/main">
              <a:ext uri="{FF2B5EF4-FFF2-40B4-BE49-F238E27FC236}">
                <a16:creationId xmlns:a16="http://schemas.microsoft.com/office/drawing/2014/main" id="{CCF415CE-6F9C-41D2-980B-4618682999EA}"/>
              </a:ext>
            </a:extLst>
          </p:cNvPr>
          <p:cNvSpPr>
            <a:spLocks xmlns:a="http://schemas.openxmlformats.org/drawingml/2006/main" noGrp="1"/>
          </p:cNvSpPr>
          <p:nvPr/>
        </p:nvSpPr>
        <p:spPr>
          <a:xfrm xmlns:a="http://schemas.openxmlformats.org/drawingml/2006/main">
            <a:off x="609600" y="1314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A catalogue position can lie on off-centre light rather than the galaxy centre.</a:t>
            </a:r>
          </a:p>
        </p:txBody>
      </p:sp>
      <p:pic>
        <p:nvPicPr>
          <p:cNvPr id="4" name="">
            <a:extLst xmlns:a="http://schemas.openxmlformats.org/drawingml/2006/main">
              <a:ext uri="{FF2B5EF4-FFF2-40B4-BE49-F238E27FC236}">
                <a16:creationId xmlns:a16="http://schemas.microsoft.com/office/drawing/2014/main" id="{CADB93FB-F9EB-4DF4-9B72-9135585D3468}"/>
              </a:ext>
            </a:extLst>
          </p:cNvPr>
          <p:cNvPicPr>
            <a:picLocks xmlns:a="http://schemas.openxmlformats.org/drawingml/2006/main" noChangeAspect="1"/>
          </p:cNvPicPr>
          <p:nvPr/>
        </p:nvPicPr>
        <p:blipFill>
          <a:blip xmlns:r="http://schemas.openxmlformats.org/officeDocument/2006/relationships" xmlns:a="http://schemas.openxmlformats.org/drawingml/2006/main" r:embed="R4cd13df1ba4c457f"/>
          <a:stretch xmlns:a="http://schemas.openxmlformats.org/drawingml/2006/main"/>
        </p:blipFill>
        <p:spPr>
          <a:xfrm xmlns:a="http://schemas.openxmlformats.org/drawingml/2006/main">
            <a:off x="1074759" y="1952625"/>
            <a:ext cx="4879932"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788865-A1D7-41B7-B5F6-337F8000DB84}"/>
              </a:ext>
            </a:extLst>
          </p:cNvPr>
          <p:cNvSpPr>
            <a:spLocks xmlns:a="http://schemas.openxmlformats.org/drawingml/2006/main" noGrp="1"/>
          </p:cNvSpPr>
          <p:nvPr/>
        </p:nvSpPr>
        <p:spPr>
          <a:xfrm xmlns:a="http://schemas.openxmlformats.org/drawingml/2006/main">
            <a:off x="6762750" y="2095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633"/>
                </a:solidFill>
                <a:latin typeface="Arial"/>
                <a:ea typeface="Arial"/>
                <a:cs typeface="Arial"/>
              </a:defRPr>
            </a:defPPr>
            <a:lvl1pPr>
              <a:defRPr sz="2100" b="1">
                <a:solidFill>
                  <a:srgbClr val="142633"/>
                </a:solidFill>
                <a:latin typeface="Arial"/>
                <a:ea typeface="Arial"/>
                <a:cs typeface="Arial"/>
              </a:defRPr>
            </a:lvl1pPr>
            <a:lvl2pPr>
              <a:defRPr sz="2100" b="1">
                <a:solidFill>
                  <a:srgbClr val="142633"/>
                </a:solidFill>
                <a:latin typeface="Arial"/>
                <a:ea typeface="Arial"/>
                <a:cs typeface="Arial"/>
              </a:defRPr>
            </a:lvl2pPr>
            <a:lvl3pPr>
              <a:defRPr sz="2100" b="1">
                <a:solidFill>
                  <a:srgbClr val="142633"/>
                </a:solidFill>
                <a:latin typeface="Arial"/>
                <a:ea typeface="Arial"/>
                <a:cs typeface="Arial"/>
              </a:defRPr>
            </a:lvl3pPr>
            <a:lvl4pPr>
              <a:defRPr sz="2100" b="1">
                <a:solidFill>
                  <a:srgbClr val="142633"/>
                </a:solidFill>
                <a:latin typeface="Arial"/>
                <a:ea typeface="Arial"/>
                <a:cs typeface="Arial"/>
              </a:defRPr>
            </a:lvl4pPr>
            <a:lvl5pPr>
              <a:defRPr sz="2100" b="1">
                <a:solidFill>
                  <a:srgbClr val="142633"/>
                </a:solidFill>
                <a:latin typeface="Arial"/>
                <a:ea typeface="Arial"/>
                <a:cs typeface="Arial"/>
              </a:defRPr>
            </a:lvl5pPr>
            <a:lvl6pPr>
              <a:defRPr sz="2100" b="1">
                <a:solidFill>
                  <a:srgbClr val="142633"/>
                </a:solidFill>
                <a:latin typeface="Arial"/>
                <a:ea typeface="Arial"/>
                <a:cs typeface="Arial"/>
              </a:defRPr>
            </a:lvl6pPr>
            <a:lvl7pPr>
              <a:defRPr sz="2100" b="1">
                <a:solidFill>
                  <a:srgbClr val="142633"/>
                </a:solidFill>
                <a:latin typeface="Arial"/>
                <a:ea typeface="Arial"/>
                <a:cs typeface="Arial"/>
              </a:defRPr>
            </a:lvl7pPr>
            <a:lvl8pPr>
              <a:defRPr sz="2100" b="1">
                <a:solidFill>
                  <a:srgbClr val="142633"/>
                </a:solidFill>
                <a:latin typeface="Arial"/>
                <a:ea typeface="Arial"/>
                <a:cs typeface="Arial"/>
              </a:defRPr>
            </a:lvl8pPr>
            <a:lvl9pPr>
              <a:defRPr sz="2100" b="1">
                <a:solidFill>
                  <a:srgbClr val="142633"/>
                </a:solidFill>
                <a:latin typeface="Arial"/>
                <a:ea typeface="Arial"/>
                <a:cs typeface="Arial"/>
              </a:defRPr>
            </a:lvl9pPr>
          </a:lstStyle>
          <a:p xmlns:a="http://schemas.openxmlformats.org/drawingml/2006/main">
            <a:pPr>
              <a:defRPr sz="2100" b="1">
                <a:solidFill>
                  <a:srgbClr val="142633"/>
                </a:solidFill>
                <a:latin typeface="Arial"/>
                <a:ea typeface="Arial"/>
                <a:cs typeface="Arial"/>
              </a:defRPr>
            </a:pPr>
            <a:r>
              <a:rPr sz="2100" b="1">
                <a:solidFill>
                  <a:srgbClr val="142633"/>
                </a:solidFill>
                <a:latin typeface="Arial"/>
                <a:ea typeface="Arial"/>
                <a:cs typeface="Arial"/>
              </a:rPr>
              <a:t>White x: catalogue position.</a:t>
            </a:r>
          </a:p>
          <a:p xmlns:a="http://schemas.openxmlformats.org/drawingml/2006/main">
            <a:pPr>
              <a:defRPr sz="2100" b="1">
                <a:solidFill>
                  <a:srgbClr val="142633"/>
                </a:solidFill>
                <a:latin typeface="Arial"/>
                <a:ea typeface="Arial"/>
                <a:cs typeface="Arial"/>
              </a:defRPr>
            </a:pPr>
            <a:r>
              <a:rPr sz="2100" b="1">
                <a:solidFill>
                  <a:srgbClr val="142633"/>
                </a:solidFill>
                <a:latin typeface="Arial"/>
                <a:ea typeface="Arial"/>
                <a:cs typeface="Arial"/>
              </a:rPr>
              <a:t>Red +: fitted disc centre.</a:t>
            </a:r>
          </a:p>
        </p:txBody>
      </p:sp>
      <p:sp>
        <p:nvSpPr>
          <p:cNvPr id="6" name="">
            <a:extLst xmlns:a="http://schemas.openxmlformats.org/drawingml/2006/main">
              <a:ext uri="{FF2B5EF4-FFF2-40B4-BE49-F238E27FC236}">
                <a16:creationId xmlns:a16="http://schemas.microsoft.com/office/drawing/2014/main" id="{9659F7B9-D42D-48CF-8B1B-0C9329940475}"/>
              </a:ext>
            </a:extLst>
          </p:cNvPr>
          <p:cNvSpPr>
            <a:spLocks xmlns:a="http://schemas.openxmlformats.org/drawingml/2006/main" noGrp="1"/>
          </p:cNvSpPr>
          <p:nvPr/>
        </p:nvSpPr>
        <p:spPr>
          <a:xfrm xmlns:a="http://schemas.openxmlformats.org/drawingml/2006/main">
            <a:off x="6762750" y="3238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05F7A"/>
                </a:solidFill>
                <a:latin typeface="Arial"/>
                <a:ea typeface="Arial"/>
                <a:cs typeface="Arial"/>
              </a:defRPr>
            </a:defPPr>
            <a:lvl1pPr>
              <a:defRPr sz="2100" b="1">
                <a:solidFill>
                  <a:srgbClr val="205F7A"/>
                </a:solidFill>
                <a:latin typeface="Arial"/>
                <a:ea typeface="Arial"/>
                <a:cs typeface="Arial"/>
              </a:defRPr>
            </a:lvl1pPr>
            <a:lvl2pPr>
              <a:defRPr sz="2100" b="1">
                <a:solidFill>
                  <a:srgbClr val="205F7A"/>
                </a:solidFill>
                <a:latin typeface="Arial"/>
                <a:ea typeface="Arial"/>
                <a:cs typeface="Arial"/>
              </a:defRPr>
            </a:lvl2pPr>
            <a:lvl3pPr>
              <a:defRPr sz="2100" b="1">
                <a:solidFill>
                  <a:srgbClr val="205F7A"/>
                </a:solidFill>
                <a:latin typeface="Arial"/>
                <a:ea typeface="Arial"/>
                <a:cs typeface="Arial"/>
              </a:defRPr>
            </a:lvl3pPr>
            <a:lvl4pPr>
              <a:defRPr sz="2100" b="1">
                <a:solidFill>
                  <a:srgbClr val="205F7A"/>
                </a:solidFill>
                <a:latin typeface="Arial"/>
                <a:ea typeface="Arial"/>
                <a:cs typeface="Arial"/>
              </a:defRPr>
            </a:lvl4pPr>
            <a:lvl5pPr>
              <a:defRPr sz="2100" b="1">
                <a:solidFill>
                  <a:srgbClr val="205F7A"/>
                </a:solidFill>
                <a:latin typeface="Arial"/>
                <a:ea typeface="Arial"/>
                <a:cs typeface="Arial"/>
              </a:defRPr>
            </a:lvl5pPr>
            <a:lvl6pPr>
              <a:defRPr sz="2100" b="1">
                <a:solidFill>
                  <a:srgbClr val="205F7A"/>
                </a:solidFill>
                <a:latin typeface="Arial"/>
                <a:ea typeface="Arial"/>
                <a:cs typeface="Arial"/>
              </a:defRPr>
            </a:lvl6pPr>
            <a:lvl7pPr>
              <a:defRPr sz="2100" b="1">
                <a:solidFill>
                  <a:srgbClr val="205F7A"/>
                </a:solidFill>
                <a:latin typeface="Arial"/>
                <a:ea typeface="Arial"/>
                <a:cs typeface="Arial"/>
              </a:defRPr>
            </a:lvl7pPr>
            <a:lvl8pPr>
              <a:defRPr sz="2100" b="1">
                <a:solidFill>
                  <a:srgbClr val="205F7A"/>
                </a:solidFill>
                <a:latin typeface="Arial"/>
                <a:ea typeface="Arial"/>
                <a:cs typeface="Arial"/>
              </a:defRPr>
            </a:lvl8pPr>
            <a:lvl9pPr>
              <a:defRPr sz="2100" b="1">
                <a:solidFill>
                  <a:srgbClr val="205F7A"/>
                </a:solidFill>
                <a:latin typeface="Arial"/>
                <a:ea typeface="Arial"/>
                <a:cs typeface="Arial"/>
              </a:defRPr>
            </a:lvl9pPr>
          </a:lstStyle>
          <a:p xmlns:a="http://schemas.openxmlformats.org/drawingml/2006/main">
            <a:pPr>
              <a:defRPr sz="2100" b="1">
                <a:solidFill>
                  <a:srgbClr val="205F7A"/>
                </a:solidFill>
                <a:latin typeface="Arial"/>
                <a:ea typeface="Arial"/>
                <a:cs typeface="Arial"/>
              </a:defRPr>
            </a:pPr>
            <a:r>
              <a:rPr sz="2100" b="1">
                <a:solidFill>
                  <a:srgbClr val="205F7A"/>
                </a:solidFill>
                <a:latin typeface="Arial"/>
                <a:ea typeface="Arial"/>
                <a:cs typeface="Arial"/>
              </a:rPr>
              <a:t>This example: 17.32 arcsec shift.</a:t>
            </a:r>
          </a:p>
          <a:p xmlns:a="http://schemas.openxmlformats.org/drawingml/2006/main">
            <a:pPr>
              <a:defRPr sz="2100" b="1">
                <a:solidFill>
                  <a:srgbClr val="205F7A"/>
                </a:solidFill>
                <a:latin typeface="Arial"/>
                <a:ea typeface="Arial"/>
                <a:cs typeface="Arial"/>
              </a:defRPr>
            </a:pPr>
            <a:r>
              <a:rPr sz="2100" b="1">
                <a:solidFill>
                  <a:srgbClr val="205F7A"/>
                </a:solidFill>
                <a:latin typeface="Arial"/>
                <a:ea typeface="Arial"/>
                <a:cs typeface="Arial"/>
              </a:rPr>
              <a:t>Sample median: 0.083 arcsec.</a:t>
            </a:r>
          </a:p>
        </p:txBody>
      </p:sp>
      <p:sp>
        <p:nvSpPr>
          <p:cNvPr id="7" name="">
            <a:extLst xmlns:a="http://schemas.openxmlformats.org/drawingml/2006/main">
              <a:ext uri="{FF2B5EF4-FFF2-40B4-BE49-F238E27FC236}">
                <a16:creationId xmlns:a16="http://schemas.microsoft.com/office/drawing/2014/main" id="{FA36A2CF-5BDE-4B34-B5DD-003AB66D0AEE}"/>
              </a:ext>
            </a:extLst>
          </p:cNvPr>
          <p:cNvSpPr>
            <a:spLocks xmlns:a="http://schemas.openxmlformats.org/drawingml/2006/main" noGrp="1"/>
          </p:cNvSpPr>
          <p:nvPr/>
        </p:nvSpPr>
        <p:spPr>
          <a:xfrm xmlns:a="http://schemas.openxmlformats.org/drawingml/2006/main">
            <a:off x="6762750" y="45243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Large offsets and centre changes across radius remain flagged for review. The catalogue and fitted positions are both retained.</a:t>
            </a:r>
          </a:p>
        </p:txBody>
      </p:sp>
      <p:sp>
        <p:nvSpPr>
          <p:cNvPr id="8" name="">
            <a:extLst xmlns:a="http://schemas.openxmlformats.org/drawingml/2006/main">
              <a:ext uri="{FF2B5EF4-FFF2-40B4-BE49-F238E27FC236}">
                <a16:creationId xmlns:a16="http://schemas.microsoft.com/office/drawing/2014/main" id="{3F48C453-FFB8-45D3-B49C-8F84AE37EEF3}"/>
              </a:ext>
            </a:extLst>
          </p:cNvPr>
          <p:cNvSpPr>
            <a:spLocks xmlns:a="http://schemas.openxmlformats.org/drawingml/2006/main" noGrp="1"/>
          </p:cNvSpPr>
          <p:nvPr/>
        </p:nvSpPr>
        <p:spPr>
          <a:xfrm xmlns:a="http://schemas.openxmlformats.org/drawingml/2006/main">
            <a:off x="609600" y="61150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Synthetic check recovered the known centre within 0.01 pixel and PA/inclination within 0.01°.</a:t>
            </a:r>
          </a:p>
        </p:txBody>
      </p:sp>
    </p:spTree>
    <p:extLst>
      <p:ext uri="{BB962C8B-B14F-4D97-AF65-F5344CB8AC3E}">
        <p14:creationId xmlns:p14="http://schemas.microsoft.com/office/powerpoint/2010/main" val="13964517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1B1984-3491-4D75-ACE8-1DE098C6629E}"/>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Updated review collection</a:t>
            </a:r>
          </a:p>
        </p:txBody>
      </p:sp>
      <p:sp>
        <p:nvSpPr>
          <p:cNvPr id="2" name="">
            <a:extLst xmlns:a="http://schemas.openxmlformats.org/drawingml/2006/main">
              <a:ext uri="{FF2B5EF4-FFF2-40B4-BE49-F238E27FC236}">
                <a16:creationId xmlns:a16="http://schemas.microsoft.com/office/drawing/2014/main" id="{AC6ED695-2F7B-492B-9577-5B0CA2E45638}"/>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17</a:t>
            </a:r>
          </a:p>
        </p:txBody>
      </p:sp>
      <p:graphicFrame>
        <p:nvGraphicFramePr>
          <p:cNvPr id="3" name="">
            <a:extLst xmlns:a="http://schemas.openxmlformats.org/drawingml/2006/main">
              <a:ext uri="{FF2B5EF4-FFF2-40B4-BE49-F238E27FC236}">
                <a16:creationId xmlns:a16="http://schemas.microsoft.com/office/drawing/2014/main" id="{E99D54F9-C0C9-416B-8BC9-B7E379F376DD}"/>
              </a:ext>
            </a:extLst>
          </p:cNvPr>
          <p:cNvGraphicFramePr/>
          <p:nvPr/>
        </p:nvGraphicFramePr>
        <p:xfrm>
          <a:off xmlns:a="http://schemas.openxmlformats.org/drawingml/2006/main" x="609600" y="1571625"/>
          <a:ext xmlns:a="http://schemas.openxmlformats.org/drawingml/2006/main" cx="10953750" cy="2190750"/>
        </p:xfrm>
        <a:graphic xmlns:a="http://schemas.openxmlformats.org/drawingml/2006/main">
          <a:graphicData uri="http://schemas.openxmlformats.org/drawingml/2006/table">
            <a:tbl>
              <a:tblPr/>
              <a:tblGrid>
                <a:gridCol w="7620000"/>
                <a:gridCol w="3333750"/>
              </a:tblGrid>
              <a:tr h="547688">
                <a:tc>
                  <a:txBody>
                    <a:bodyPr/>
                    <a:lstStyle/>
                    <a:p>
                      <a:r>
                        <a:rPr sz="2025"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2025" b="1">
                          <a:solidFill>
                            <a:srgbClr val="142633"/>
                          </a:solidFill>
                          <a:latin typeface="Arial"/>
                          <a:ea typeface="Arial"/>
                          <a:cs typeface="Arial"/>
                        </a:rPr>
                        <a:t>PNG reports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47688">
                <a:tc>
                  <a:txBody>
                    <a:bodyPr/>
                    <a:lstStyle/>
                    <a:p>
                      <a:r>
                        <a:rPr sz="2025"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2491</a:t>
                      </a:r>
                    </a:p>
                  </a:txBody>
                  <a:tcPr marL="91440" marR="91440" marT="45720" marB="45720">
                    <a:lnR w="6668">
                      <a:solidFill>
                        <a:srgbClr val="D6E0E5"/>
                      </a:solidFill>
                      <a:prstDash val="solid"/>
                    </a:lnR>
                    <a:lnB w="6668">
                      <a:solidFill>
                        <a:srgbClr val="D6E0E5"/>
                      </a:solidFill>
                      <a:prstDash val="solid"/>
                    </a:lnB>
                    <a:solidFill>
                      <a:srgbClr val="FFFFFF"/>
                    </a:solidFill>
                  </a:tcPr>
                </a:tc>
              </a:tr>
              <a:tr h="547688">
                <a:tc>
                  <a:txBody>
                    <a:bodyPr/>
                    <a:lstStyle/>
                    <a:p>
                      <a:r>
                        <a:rPr sz="2025"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286</a:t>
                      </a:r>
                    </a:p>
                  </a:txBody>
                  <a:tcPr marL="91440" marR="91440" marT="45720" marB="45720">
                    <a:lnR w="6668">
                      <a:solidFill>
                        <a:srgbClr val="D6E0E5"/>
                      </a:solidFill>
                      <a:prstDash val="solid"/>
                    </a:lnR>
                    <a:lnB w="6668">
                      <a:solidFill>
                        <a:srgbClr val="D6E0E5"/>
                      </a:solidFill>
                      <a:prstDash val="solid"/>
                    </a:lnB>
                    <a:solidFill>
                      <a:srgbClr val="FFFFFF"/>
                    </a:solidFill>
                  </a:tcPr>
                </a:tc>
              </a:tr>
              <a:tr h="547688">
                <a:tc>
                  <a:txBody>
                    <a:bodyPr/>
                    <a:lstStyle/>
                    <a:p>
                      <a:r>
                        <a:rPr sz="2025" b="0">
                          <a:solidFill>
                            <a:srgbClr val="142633"/>
                          </a:solidFill>
                          <a:latin typeface="Arial"/>
                          <a:ea typeface="Arial"/>
                          <a:cs typeface="Arial"/>
                        </a:rPr>
                        <a:t>Total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2777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F2D9343-E9D7-4268-8746-E6B26A805F14}"/>
              </a:ext>
            </a:extLst>
          </p:cNvPr>
          <p:cNvSpPr>
            <a:spLocks xmlns:a="http://schemas.openxmlformats.org/drawingml/2006/main" noGrp="1"/>
          </p:cNvSpPr>
          <p:nvPr/>
        </p:nvSpPr>
        <p:spPr>
          <a:xfrm xmlns:a="http://schemas.openxmlformats.org/drawingml/2006/main">
            <a:off x="609600" y="4191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47 PDFs; 464 pages; six galaxies per page.</a:t>
            </a:r>
          </a:p>
        </p:txBody>
      </p:sp>
      <p:sp>
        <p:nvSpPr>
          <p:cNvPr id="5" name="">
            <a:extLst xmlns:a="http://schemas.openxmlformats.org/drawingml/2006/main">
              <a:ext uri="{FF2B5EF4-FFF2-40B4-BE49-F238E27FC236}">
                <a16:creationId xmlns:a16="http://schemas.microsoft.com/office/drawing/2014/main" id="{08A2ADD0-6B20-4FDF-8A73-AC9A30E659CC}"/>
              </a:ext>
            </a:extLst>
          </p:cNvPr>
          <p:cNvSpPr>
            <a:spLocks xmlns:a="http://schemas.openxmlformats.org/drawingml/2006/main" noGrp="1"/>
          </p:cNvSpPr>
          <p:nvPr/>
        </p:nvSpPr>
        <p:spPr>
          <a:xfrm xmlns:a="http://schemas.openxmlformats.org/drawingml/2006/main">
            <a:off x="609600" y="4905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Each card includes selected ellipses, profiles, angles, Euclid deltas, centre offset and recovery method. No accepted bar leaves bar PA blank.</a:t>
            </a:r>
          </a:p>
        </p:txBody>
      </p:sp>
      <p:sp>
        <p:nvSpPr>
          <p:cNvPr id="6" name="">
            <a:extLst xmlns:a="http://schemas.openxmlformats.org/drawingml/2006/main">
              <a:ext uri="{FF2B5EF4-FFF2-40B4-BE49-F238E27FC236}">
                <a16:creationId xmlns:a16="http://schemas.microsoft.com/office/drawing/2014/main" id="{D050D304-F26A-4D31-88DE-30F86F34C542}"/>
              </a:ext>
            </a:extLst>
          </p:cNvPr>
          <p:cNvSpPr>
            <a:spLocks xmlns:a="http://schemas.openxmlformats.org/drawingml/2006/main" noGrp="1"/>
          </p:cNvSpPr>
          <p:nvPr/>
        </p:nvSpPr>
        <p:spPr>
          <a:xfrm xmlns:a="http://schemas.openxmlformats.org/drawingml/2006/main">
            <a:off x="609600" y="60007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Next slides use current examples. Recovery warnings may co-occur; isolated examples are shown only where available.</a:t>
            </a:r>
          </a:p>
        </p:txBody>
      </p:sp>
    </p:spTree>
    <p:extLst>
      <p:ext uri="{BB962C8B-B14F-4D97-AF65-F5344CB8AC3E}">
        <p14:creationId xmlns:p14="http://schemas.microsoft.com/office/powerpoint/2010/main" val="2666881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B669A1-D4E5-46BE-AD7D-9945B0CBEC26}"/>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Small selected bar interval</a:t>
            </a:r>
          </a:p>
        </p:txBody>
      </p:sp>
      <p:sp>
        <p:nvSpPr>
          <p:cNvPr id="2" name="">
            <a:extLst xmlns:a="http://schemas.openxmlformats.org/drawingml/2006/main">
              <a:ext uri="{FF2B5EF4-FFF2-40B4-BE49-F238E27FC236}">
                <a16:creationId xmlns:a16="http://schemas.microsoft.com/office/drawing/2014/main" id="{03A35D2D-8962-4A79-B724-C998EEEBDE4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17</a:t>
            </a:r>
          </a:p>
        </p:txBody>
      </p:sp>
      <p:sp>
        <p:nvSpPr>
          <p:cNvPr id="3" name="">
            <a:extLst xmlns:a="http://schemas.openxmlformats.org/drawingml/2006/main">
              <a:ext uri="{FF2B5EF4-FFF2-40B4-BE49-F238E27FC236}">
                <a16:creationId xmlns:a16="http://schemas.microsoft.com/office/drawing/2014/main" id="{3E9250FA-5CB5-4DCD-B65D-6B861CD26B7F}"/>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2F728A44-C00D-4AED-9A28-790A788C89B2}"/>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-518659917291205827</a:t>
            </a:r>
          </a:p>
        </p:txBody>
      </p:sp>
      <p:pic>
        <p:nvPicPr>
          <p:cNvPr id="5" name="">
            <a:extLst xmlns:a="http://schemas.openxmlformats.org/drawingml/2006/main">
              <a:ext uri="{FF2B5EF4-FFF2-40B4-BE49-F238E27FC236}">
                <a16:creationId xmlns:a16="http://schemas.microsoft.com/office/drawing/2014/main" id="{6BF694A4-BD24-4CC8-968D-E5E2403D0357}"/>
              </a:ext>
            </a:extLst>
          </p:cNvPr>
          <p:cNvPicPr>
            <a:picLocks xmlns:a="http://schemas.openxmlformats.org/drawingml/2006/main" noChangeAspect="1"/>
          </p:cNvPicPr>
          <p:nvPr/>
        </p:nvPicPr>
        <p:blipFill>
          <a:blip xmlns:r="http://schemas.openxmlformats.org/officeDocument/2006/relationships" xmlns:a="http://schemas.openxmlformats.org/drawingml/2006/main" r:embed="Rd7079e15b99c4cc7"/>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B34C048-DE30-40E1-8DC2-AE0B64D60C87}"/>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67.98°; bar 63.85°; i 47.29°</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0.07 arcsec; 31 accepted ellipses.</a:t>
            </a:r>
          </a:p>
        </p:txBody>
      </p:sp>
      <p:sp>
        <p:nvSpPr>
          <p:cNvPr id="7" name="">
            <a:extLst xmlns:a="http://schemas.openxmlformats.org/drawingml/2006/main">
              <a:ext uri="{FF2B5EF4-FFF2-40B4-BE49-F238E27FC236}">
                <a16:creationId xmlns:a16="http://schemas.microsoft.com/office/drawing/2014/main" id="{FE8828E6-7D0A-4584-9017-15C62B7FC0CD}"/>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-518003489287870292</a:t>
            </a:r>
          </a:p>
        </p:txBody>
      </p:sp>
      <p:pic>
        <p:nvPicPr>
          <p:cNvPr id="8" name="">
            <a:extLst xmlns:a="http://schemas.openxmlformats.org/drawingml/2006/main">
              <a:ext uri="{FF2B5EF4-FFF2-40B4-BE49-F238E27FC236}">
                <a16:creationId xmlns:a16="http://schemas.microsoft.com/office/drawing/2014/main" id="{7E68A9BF-3789-47BD-B3D8-BF59203143FF}"/>
              </a:ext>
            </a:extLst>
          </p:cNvPr>
          <p:cNvPicPr>
            <a:picLocks xmlns:a="http://schemas.openxmlformats.org/drawingml/2006/main" noChangeAspect="1"/>
          </p:cNvPicPr>
          <p:nvPr/>
        </p:nvPicPr>
        <p:blipFill>
          <a:blip xmlns:r="http://schemas.openxmlformats.org/officeDocument/2006/relationships" xmlns:a="http://schemas.openxmlformats.org/drawingml/2006/main" r:embed="R9eaa6927937746ec"/>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7F9AC13-F5F0-49EF-823A-EA94C3E38366}"/>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87.46°; bar 167.23°; i 31.57°</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0.04 arcsec; 22 accepted ellipses.</a:t>
            </a:r>
          </a:p>
        </p:txBody>
      </p:sp>
      <p:sp>
        <p:nvSpPr>
          <p:cNvPr id="10" name="">
            <a:extLst xmlns:a="http://schemas.openxmlformats.org/drawingml/2006/main">
              <a:ext uri="{FF2B5EF4-FFF2-40B4-BE49-F238E27FC236}">
                <a16:creationId xmlns:a16="http://schemas.microsoft.com/office/drawing/2014/main" id="{5F2260F2-C1CE-4150-8C59-0DAD9872592D}"/>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316 isolated cases available. Orange: selected bar. Green: selected disc. Blue: accepted samples. Grey: rejected samples.</a:t>
            </a:r>
          </a:p>
        </p:txBody>
      </p:sp>
    </p:spTree>
    <p:extLst>
      <p:ext uri="{BB962C8B-B14F-4D97-AF65-F5344CB8AC3E}">
        <p14:creationId xmlns:p14="http://schemas.microsoft.com/office/powerpoint/2010/main" val="7663876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BDA5ED-4BAA-41D9-882B-25A1C3A441BA}"/>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06B5E97D-EA2C-4869-A1D6-412944D95A7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17</a:t>
            </a:r>
          </a:p>
        </p:txBody>
      </p:sp>
      <p:sp>
        <p:nvSpPr>
          <p:cNvPr id="3" name="">
            <a:extLst xmlns:a="http://schemas.openxmlformats.org/drawingml/2006/main">
              <a:ext uri="{FF2B5EF4-FFF2-40B4-BE49-F238E27FC236}">
                <a16:creationId xmlns:a16="http://schemas.microsoft.com/office/drawing/2014/main" id="{B0F47A62-DF10-4FFE-9E78-CE1AACE3491D}"/>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FA1889CD-B7BB-4D52-AF1D-E51AB16D066E}"/>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-518633776290631360</a:t>
            </a:r>
          </a:p>
        </p:txBody>
      </p:sp>
      <p:pic>
        <p:nvPicPr>
          <p:cNvPr id="5" name="">
            <a:extLst xmlns:a="http://schemas.openxmlformats.org/drawingml/2006/main">
              <a:ext uri="{FF2B5EF4-FFF2-40B4-BE49-F238E27FC236}">
                <a16:creationId xmlns:a16="http://schemas.microsoft.com/office/drawing/2014/main" id="{FF999946-973E-43D3-B141-AB539C756798}"/>
              </a:ext>
            </a:extLst>
          </p:cNvPr>
          <p:cNvPicPr>
            <a:picLocks xmlns:a="http://schemas.openxmlformats.org/drawingml/2006/main" noChangeAspect="1"/>
          </p:cNvPicPr>
          <p:nvPr/>
        </p:nvPicPr>
        <p:blipFill>
          <a:blip xmlns:r="http://schemas.openxmlformats.org/officeDocument/2006/relationships" xmlns:a="http://schemas.openxmlformats.org/drawingml/2006/main" r:embed="R9ae3b8fb92cf454f"/>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B02DF69-D5F1-4782-8FEC-088BE10DD099}"/>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113.69°; bar 113.87°; i 49.48°</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0.15 arcsec; 28 accepted ellipses.</a:t>
            </a:r>
          </a:p>
        </p:txBody>
      </p:sp>
      <p:sp>
        <p:nvSpPr>
          <p:cNvPr id="7" name="">
            <a:extLst xmlns:a="http://schemas.openxmlformats.org/drawingml/2006/main">
              <a:ext uri="{FF2B5EF4-FFF2-40B4-BE49-F238E27FC236}">
                <a16:creationId xmlns:a16="http://schemas.microsoft.com/office/drawing/2014/main" id="{F0A4683A-0D92-4716-86E6-506A5764EA00}"/>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-601121275504424227</a:t>
            </a:r>
          </a:p>
        </p:txBody>
      </p:sp>
      <p:pic>
        <p:nvPicPr>
          <p:cNvPr id="8" name="">
            <a:extLst xmlns:a="http://schemas.openxmlformats.org/drawingml/2006/main">
              <a:ext uri="{FF2B5EF4-FFF2-40B4-BE49-F238E27FC236}">
                <a16:creationId xmlns:a16="http://schemas.microsoft.com/office/drawing/2014/main" id="{B3EAE1E6-7977-458F-A899-2A97F34E5AFA}"/>
              </a:ext>
            </a:extLst>
          </p:cNvPr>
          <p:cNvPicPr>
            <a:picLocks xmlns:a="http://schemas.openxmlformats.org/drawingml/2006/main" noChangeAspect="1"/>
          </p:cNvPicPr>
          <p:nvPr/>
        </p:nvPicPr>
        <p:blipFill>
          <a:blip xmlns:r="http://schemas.openxmlformats.org/officeDocument/2006/relationships" xmlns:a="http://schemas.openxmlformats.org/drawingml/2006/main" r:embed="R534654c81f7e467a"/>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9527D6C-64A2-44A7-87A1-994B2803B2B6}"/>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60.75°; bar 20.23°; i 40.93°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0.04 arcsec; 33 accepted ellipses.</a:t>
            </a:r>
          </a:p>
        </p:txBody>
      </p:sp>
      <p:sp>
        <p:nvSpPr>
          <p:cNvPr id="10" name="">
            <a:extLst xmlns:a="http://schemas.openxmlformats.org/drawingml/2006/main">
              <a:ext uri="{FF2B5EF4-FFF2-40B4-BE49-F238E27FC236}">
                <a16:creationId xmlns:a16="http://schemas.microsoft.com/office/drawing/2014/main" id="{F5B9DCC1-2E6E-410B-A410-94F92AE877A7}"/>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89 isolated cases available. Orange: selected bar. Green: selected disc. Blue: accepted samples. Grey: rejected samples.</a:t>
            </a:r>
          </a:p>
        </p:txBody>
      </p:sp>
    </p:spTree>
    <p:extLst>
      <p:ext uri="{BB962C8B-B14F-4D97-AF65-F5344CB8AC3E}">
        <p14:creationId xmlns:p14="http://schemas.microsoft.com/office/powerpoint/2010/main" val="11332684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1D20C9-9B1A-4426-9C5D-35B8A384FF7C}"/>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45CE0D06-B048-470F-B95D-5577831723E0}"/>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17</a:t>
            </a:r>
          </a:p>
        </p:txBody>
      </p:sp>
      <p:sp>
        <p:nvSpPr>
          <p:cNvPr id="3" name="">
            <a:extLst xmlns:a="http://schemas.openxmlformats.org/drawingml/2006/main">
              <a:ext uri="{FF2B5EF4-FFF2-40B4-BE49-F238E27FC236}">
                <a16:creationId xmlns:a16="http://schemas.microsoft.com/office/drawing/2014/main" id="{82681609-55EC-4E09-A758-6CD388852D50}"/>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6DD20882-F1AB-4F4B-A876-FB562E86F919}"/>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-515262325287813002</a:t>
            </a:r>
          </a:p>
        </p:txBody>
      </p:sp>
      <p:pic>
        <p:nvPicPr>
          <p:cNvPr id="5" name="">
            <a:extLst xmlns:a="http://schemas.openxmlformats.org/drawingml/2006/main">
              <a:ext uri="{FF2B5EF4-FFF2-40B4-BE49-F238E27FC236}">
                <a16:creationId xmlns:a16="http://schemas.microsoft.com/office/drawing/2014/main" id="{449BDC16-72E2-487B-B366-E35187141F2F}"/>
              </a:ext>
            </a:extLst>
          </p:cNvPr>
          <p:cNvPicPr>
            <a:picLocks xmlns:a="http://schemas.openxmlformats.org/drawingml/2006/main" noChangeAspect="1"/>
          </p:cNvPicPr>
          <p:nvPr/>
        </p:nvPicPr>
        <p:blipFill>
          <a:blip xmlns:r="http://schemas.openxmlformats.org/officeDocument/2006/relationships" xmlns:a="http://schemas.openxmlformats.org/drawingml/2006/main" r:embed="R758b941b21084595"/>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ECEE7C6-3A6B-4C50-9DA4-ACB311BCBD7F}"/>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66.04°; bar 68.86°; i 64.73°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0.14 arcsec; 25 accepted ellipses.</a:t>
            </a:r>
          </a:p>
        </p:txBody>
      </p:sp>
      <p:sp>
        <p:nvSpPr>
          <p:cNvPr id="7" name="">
            <a:extLst xmlns:a="http://schemas.openxmlformats.org/drawingml/2006/main">
              <a:ext uri="{FF2B5EF4-FFF2-40B4-BE49-F238E27FC236}">
                <a16:creationId xmlns:a16="http://schemas.microsoft.com/office/drawing/2014/main" id="{A4F3281B-B176-4324-BB88-9A7CEF931172}"/>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2696479031648186651</a:t>
            </a:r>
          </a:p>
        </p:txBody>
      </p:sp>
      <p:pic>
        <p:nvPicPr>
          <p:cNvPr id="8" name="">
            <a:extLst xmlns:a="http://schemas.openxmlformats.org/drawingml/2006/main">
              <a:ext uri="{FF2B5EF4-FFF2-40B4-BE49-F238E27FC236}">
                <a16:creationId xmlns:a16="http://schemas.microsoft.com/office/drawing/2014/main" id="{2CEFD560-0307-4408-B071-29F3D9DB3E60}"/>
              </a:ext>
            </a:extLst>
          </p:cNvPr>
          <p:cNvPicPr>
            <a:picLocks xmlns:a="http://schemas.openxmlformats.org/drawingml/2006/main" noChangeAspect="1"/>
          </p:cNvPicPr>
          <p:nvPr/>
        </p:nvPicPr>
        <p:blipFill>
          <a:blip xmlns:r="http://schemas.openxmlformats.org/officeDocument/2006/relationships" xmlns:a="http://schemas.openxmlformats.org/drawingml/2006/main" r:embed="Rdbaacb424754465f"/>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4FFC94A-2FB7-452C-90D0-EFA40E42B596}"/>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77.11°; bar 59.69°; i 55.74°</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0.17 arcsec; 26 accepted ellipses.</a:t>
            </a:r>
          </a:p>
        </p:txBody>
      </p:sp>
      <p:sp>
        <p:nvSpPr>
          <p:cNvPr id="10" name="">
            <a:extLst xmlns:a="http://schemas.openxmlformats.org/drawingml/2006/main">
              <a:ext uri="{FF2B5EF4-FFF2-40B4-BE49-F238E27FC236}">
                <a16:creationId xmlns:a16="http://schemas.microsoft.com/office/drawing/2014/main" id="{5EE54250-444D-4AD7-9629-E1F3DA721AE2}"/>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109 isolated cases available. Orange: selected bar. Green: selected disc. Blue: accepted samples. Grey: rejected samples.</a:t>
            </a:r>
          </a:p>
        </p:txBody>
      </p:sp>
    </p:spTree>
    <p:extLst>
      <p:ext uri="{BB962C8B-B14F-4D97-AF65-F5344CB8AC3E}">
        <p14:creationId xmlns:p14="http://schemas.microsoft.com/office/powerpoint/2010/main" val="8881453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B00E93-E9DE-4045-9BBF-26F36D3A2876}"/>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Weaker accepted bar signature</a:t>
            </a:r>
          </a:p>
        </p:txBody>
      </p:sp>
      <p:sp>
        <p:nvSpPr>
          <p:cNvPr id="2" name="">
            <a:extLst xmlns:a="http://schemas.openxmlformats.org/drawingml/2006/main">
              <a:ext uri="{FF2B5EF4-FFF2-40B4-BE49-F238E27FC236}">
                <a16:creationId xmlns:a16="http://schemas.microsoft.com/office/drawing/2014/main" id="{D8C6C31F-29A7-4A12-BF53-F76409F3E605}"/>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17</a:t>
            </a:r>
          </a:p>
        </p:txBody>
      </p:sp>
      <p:sp>
        <p:nvSpPr>
          <p:cNvPr id="3" name="">
            <a:extLst xmlns:a="http://schemas.openxmlformats.org/drawingml/2006/main">
              <a:ext uri="{FF2B5EF4-FFF2-40B4-BE49-F238E27FC236}">
                <a16:creationId xmlns:a16="http://schemas.microsoft.com/office/drawing/2014/main" id="{17FD6FB0-1E2D-420C-9B0E-09199FB5DB11}"/>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7619FE4B-A096-45AF-AA09-5F64C61432F9}"/>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-586037871514112362</a:t>
            </a:r>
          </a:p>
        </p:txBody>
      </p:sp>
      <p:pic>
        <p:nvPicPr>
          <p:cNvPr id="5" name="">
            <a:extLst xmlns:a="http://schemas.openxmlformats.org/drawingml/2006/main">
              <a:ext uri="{FF2B5EF4-FFF2-40B4-BE49-F238E27FC236}">
                <a16:creationId xmlns:a16="http://schemas.microsoft.com/office/drawing/2014/main" id="{3053C172-3E51-4A70-A7BB-EF8B3D4B92BC}"/>
              </a:ext>
            </a:extLst>
          </p:cNvPr>
          <p:cNvPicPr>
            <a:picLocks xmlns:a="http://schemas.openxmlformats.org/drawingml/2006/main" noChangeAspect="1"/>
          </p:cNvPicPr>
          <p:nvPr/>
        </p:nvPicPr>
        <p:blipFill>
          <a:blip xmlns:r="http://schemas.openxmlformats.org/officeDocument/2006/relationships" xmlns:a="http://schemas.openxmlformats.org/drawingml/2006/main" r:embed="R26a6e33c5d214ee1"/>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88E3C68-7E4D-4AC1-ACE5-0B35080AD1E3}"/>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9.11°; bar 34.11°; i 62.89°</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0.20 arcsec; 31 accepted ellipses.</a:t>
            </a:r>
          </a:p>
        </p:txBody>
      </p:sp>
      <p:sp>
        <p:nvSpPr>
          <p:cNvPr id="7" name="">
            <a:extLst xmlns:a="http://schemas.openxmlformats.org/drawingml/2006/main">
              <a:ext uri="{FF2B5EF4-FFF2-40B4-BE49-F238E27FC236}">
                <a16:creationId xmlns:a16="http://schemas.microsoft.com/office/drawing/2014/main" id="{078080CF-67C9-47CF-8E35-5A775E1ABE12}"/>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-593494399504450575</a:t>
            </a:r>
          </a:p>
        </p:txBody>
      </p:sp>
      <p:pic>
        <p:nvPicPr>
          <p:cNvPr id="8" name="">
            <a:extLst xmlns:a="http://schemas.openxmlformats.org/drawingml/2006/main">
              <a:ext uri="{FF2B5EF4-FFF2-40B4-BE49-F238E27FC236}">
                <a16:creationId xmlns:a16="http://schemas.microsoft.com/office/drawing/2014/main" id="{82536410-4B85-4C2E-92FD-B676EDB52487}"/>
              </a:ext>
            </a:extLst>
          </p:cNvPr>
          <p:cNvPicPr>
            <a:picLocks xmlns:a="http://schemas.openxmlformats.org/drawingml/2006/main" noChangeAspect="1"/>
          </p:cNvPicPr>
          <p:nvPr/>
        </p:nvPicPr>
        <p:blipFill>
          <a:blip xmlns:r="http://schemas.openxmlformats.org/officeDocument/2006/relationships" xmlns:a="http://schemas.openxmlformats.org/drawingml/2006/main" r:embed="R3414673774444611"/>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B4BB653-5D4B-4CA2-A869-85F868B22532}"/>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56.81°; bar 53.95°; i 60.45°</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0.14 arcsec; 37 accepted ellipses.</a:t>
            </a:r>
          </a:p>
        </p:txBody>
      </p:sp>
      <p:sp>
        <p:nvSpPr>
          <p:cNvPr id="10" name="">
            <a:extLst xmlns:a="http://schemas.openxmlformats.org/drawingml/2006/main">
              <a:ext uri="{FF2B5EF4-FFF2-40B4-BE49-F238E27FC236}">
                <a16:creationId xmlns:a16="http://schemas.microsoft.com/office/drawing/2014/main" id="{04DDC503-84C3-46E0-8E4C-5EA59A3A7858}"/>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37 isolated cases available. Orange: selected bar. Green: selected disc. Blue: accepted samples. Grey: rejected samples.</a:t>
            </a:r>
          </a:p>
        </p:txBody>
      </p:sp>
    </p:spTree>
    <p:extLst>
      <p:ext uri="{BB962C8B-B14F-4D97-AF65-F5344CB8AC3E}">
        <p14:creationId xmlns:p14="http://schemas.microsoft.com/office/powerpoint/2010/main" val="4722421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8C008C-4168-4068-8ACC-B9DCFB3E889B}"/>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No accepted bar; disc retained</a:t>
            </a:r>
          </a:p>
        </p:txBody>
      </p:sp>
      <p:sp>
        <p:nvSpPr>
          <p:cNvPr id="2" name="">
            <a:extLst xmlns:a="http://schemas.openxmlformats.org/drawingml/2006/main">
              <a:ext uri="{FF2B5EF4-FFF2-40B4-BE49-F238E27FC236}">
                <a16:creationId xmlns:a16="http://schemas.microsoft.com/office/drawing/2014/main" id="{8F456CA6-675C-4DCA-A4E5-28852D0EEE43}"/>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17</a:t>
            </a:r>
          </a:p>
        </p:txBody>
      </p:sp>
      <p:sp>
        <p:nvSpPr>
          <p:cNvPr id="3" name="">
            <a:extLst xmlns:a="http://schemas.openxmlformats.org/drawingml/2006/main">
              <a:ext uri="{FF2B5EF4-FFF2-40B4-BE49-F238E27FC236}">
                <a16:creationId xmlns:a16="http://schemas.microsoft.com/office/drawing/2014/main" id="{5C8300AB-BC51-4EE2-9CD0-52B287209029}"/>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02125ED5-2386-4102-BC65-83CE4D8C5625}"/>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-550331516283529196</a:t>
            </a:r>
          </a:p>
        </p:txBody>
      </p:sp>
      <p:pic>
        <p:nvPicPr>
          <p:cNvPr id="5" name="">
            <a:extLst xmlns:a="http://schemas.openxmlformats.org/drawingml/2006/main">
              <a:ext uri="{FF2B5EF4-FFF2-40B4-BE49-F238E27FC236}">
                <a16:creationId xmlns:a16="http://schemas.microsoft.com/office/drawing/2014/main" id="{19058EAD-3530-42C0-B907-B068E5280671}"/>
              </a:ext>
            </a:extLst>
          </p:cNvPr>
          <p:cNvPicPr>
            <a:picLocks xmlns:a="http://schemas.openxmlformats.org/drawingml/2006/main" noChangeAspect="1"/>
          </p:cNvPicPr>
          <p:nvPr/>
        </p:nvPicPr>
        <p:blipFill>
          <a:blip xmlns:r="http://schemas.openxmlformats.org/officeDocument/2006/relationships" xmlns:a="http://schemas.openxmlformats.org/drawingml/2006/main" r:embed="R2dc275e63bfc44a8"/>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CA36127-F602-4BA6-86E6-185762FCAE3D}"/>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13.45°; bar unavailable; i 53.20°</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0.08 arcsec; 23 accepted ellipses.</a:t>
            </a:r>
          </a:p>
        </p:txBody>
      </p:sp>
      <p:sp>
        <p:nvSpPr>
          <p:cNvPr id="7" name="">
            <a:extLst xmlns:a="http://schemas.openxmlformats.org/drawingml/2006/main">
              <a:ext uri="{FF2B5EF4-FFF2-40B4-BE49-F238E27FC236}">
                <a16:creationId xmlns:a16="http://schemas.microsoft.com/office/drawing/2014/main" id="{7E2166BD-E00F-4E2C-A3E4-576B0467CE6A}"/>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-547491640287288205</a:t>
            </a:r>
          </a:p>
        </p:txBody>
      </p:sp>
      <p:pic>
        <p:nvPicPr>
          <p:cNvPr id="8" name="">
            <a:extLst xmlns:a="http://schemas.openxmlformats.org/drawingml/2006/main">
              <a:ext uri="{FF2B5EF4-FFF2-40B4-BE49-F238E27FC236}">
                <a16:creationId xmlns:a16="http://schemas.microsoft.com/office/drawing/2014/main" id="{DF9E53AA-8A07-4024-8C63-44907D397967}"/>
              </a:ext>
            </a:extLst>
          </p:cNvPr>
          <p:cNvPicPr>
            <a:picLocks xmlns:a="http://schemas.openxmlformats.org/drawingml/2006/main" noChangeAspect="1"/>
          </p:cNvPicPr>
          <p:nvPr/>
        </p:nvPicPr>
        <p:blipFill>
          <a:blip xmlns:r="http://schemas.openxmlformats.org/officeDocument/2006/relationships" xmlns:a="http://schemas.openxmlformats.org/drawingml/2006/main" r:embed="R05a8346ff8374fd4"/>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96C9F73-5ACF-4240-BC49-6704426C8016}"/>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82.00°; bar unavailable; i 68.38°</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0.34 arcsec; 35 accepted ellipses.</a:t>
            </a:r>
          </a:p>
        </p:txBody>
      </p:sp>
      <p:sp>
        <p:nvSpPr>
          <p:cNvPr id="10" name="">
            <a:extLst xmlns:a="http://schemas.openxmlformats.org/drawingml/2006/main">
              <a:ext uri="{FF2B5EF4-FFF2-40B4-BE49-F238E27FC236}">
                <a16:creationId xmlns:a16="http://schemas.microsoft.com/office/drawing/2014/main" id="{F60CE0C5-4F19-465C-868D-0FA8FA1B256E}"/>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101 isolated cases available. Orange: selected bar. Green: selected disc. Blue: accepted samples. Grey: rejected samples.</a:t>
            </a:r>
          </a:p>
        </p:txBody>
      </p:sp>
    </p:spTree>
    <p:extLst>
      <p:ext uri="{BB962C8B-B14F-4D97-AF65-F5344CB8AC3E}">
        <p14:creationId xmlns:p14="http://schemas.microsoft.com/office/powerpoint/2010/main" val="13125308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010074-36EB-4B99-A94E-6BCED2C7BA88}"/>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Large centre offset</a:t>
            </a:r>
          </a:p>
        </p:txBody>
      </p:sp>
      <p:sp>
        <p:nvSpPr>
          <p:cNvPr id="2" name="">
            <a:extLst xmlns:a="http://schemas.openxmlformats.org/drawingml/2006/main">
              <a:ext uri="{FF2B5EF4-FFF2-40B4-BE49-F238E27FC236}">
                <a16:creationId xmlns:a16="http://schemas.microsoft.com/office/drawing/2014/main" id="{0DDC27C3-06AC-40EB-A744-B87B0C70C2D9}"/>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17</a:t>
            </a:r>
          </a:p>
        </p:txBody>
      </p:sp>
      <p:sp>
        <p:nvSpPr>
          <p:cNvPr id="3" name="">
            <a:extLst xmlns:a="http://schemas.openxmlformats.org/drawingml/2006/main">
              <a:ext uri="{FF2B5EF4-FFF2-40B4-BE49-F238E27FC236}">
                <a16:creationId xmlns:a16="http://schemas.microsoft.com/office/drawing/2014/main" id="{3A02C9C7-E299-4BB5-A77D-A907D99601E2}"/>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6727F6FE-EA74-408A-9067-CD5DB77B3FC5}"/>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-596168966496153208</a:t>
            </a:r>
          </a:p>
        </p:txBody>
      </p:sp>
      <p:pic>
        <p:nvPicPr>
          <p:cNvPr id="5" name="">
            <a:extLst xmlns:a="http://schemas.openxmlformats.org/drawingml/2006/main">
              <a:ext uri="{FF2B5EF4-FFF2-40B4-BE49-F238E27FC236}">
                <a16:creationId xmlns:a16="http://schemas.microsoft.com/office/drawing/2014/main" id="{D23E0CE0-B13A-4BE9-AFD9-769AE84ECD5B}"/>
              </a:ext>
            </a:extLst>
          </p:cNvPr>
          <p:cNvPicPr>
            <a:picLocks xmlns:a="http://schemas.openxmlformats.org/drawingml/2006/main" noChangeAspect="1"/>
          </p:cNvPicPr>
          <p:nvPr/>
        </p:nvPicPr>
        <p:blipFill>
          <a:blip xmlns:r="http://schemas.openxmlformats.org/officeDocument/2006/relationships" xmlns:a="http://schemas.openxmlformats.org/drawingml/2006/main" r:embed="Race5f1fd87c64c7f"/>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AA7E7F-1A59-4A15-B504-A6994B3A8D31}"/>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54.40°; bar 60.50°; i 61.73°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1.65 arcsec; 23 accepted ellipses.</a:t>
            </a:r>
          </a:p>
        </p:txBody>
      </p:sp>
      <p:sp>
        <p:nvSpPr>
          <p:cNvPr id="7" name="">
            <a:extLst xmlns:a="http://schemas.openxmlformats.org/drawingml/2006/main">
              <a:ext uri="{FF2B5EF4-FFF2-40B4-BE49-F238E27FC236}">
                <a16:creationId xmlns:a16="http://schemas.microsoft.com/office/drawing/2014/main" id="{45FDCC1B-1213-4C28-8929-88AF92AEB1A8}"/>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-647912843459445604</a:t>
            </a:r>
          </a:p>
        </p:txBody>
      </p:sp>
      <p:pic>
        <p:nvPicPr>
          <p:cNvPr id="8" name="">
            <a:extLst xmlns:a="http://schemas.openxmlformats.org/drawingml/2006/main">
              <a:ext uri="{FF2B5EF4-FFF2-40B4-BE49-F238E27FC236}">
                <a16:creationId xmlns:a16="http://schemas.microsoft.com/office/drawing/2014/main" id="{F0E39B64-9F3C-4833-BF21-DEDE6204A919}"/>
              </a:ext>
            </a:extLst>
          </p:cNvPr>
          <p:cNvPicPr>
            <a:picLocks xmlns:a="http://schemas.openxmlformats.org/drawingml/2006/main" noChangeAspect="1"/>
          </p:cNvPicPr>
          <p:nvPr/>
        </p:nvPicPr>
        <p:blipFill>
          <a:blip xmlns:r="http://schemas.openxmlformats.org/officeDocument/2006/relationships" xmlns:a="http://schemas.openxmlformats.org/drawingml/2006/main" r:embed="R27e9f1f1a5a74adb"/>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2D0866-858F-4568-A486-7DCB39DFBA2C}"/>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24.55°; bar 147.96°; i 44.73°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0.65 arcsec; 27 accepted ellipses.</a:t>
            </a:r>
          </a:p>
        </p:txBody>
      </p:sp>
      <p:sp>
        <p:nvSpPr>
          <p:cNvPr id="10" name="">
            <a:extLst xmlns:a="http://schemas.openxmlformats.org/drawingml/2006/main">
              <a:ext uri="{FF2B5EF4-FFF2-40B4-BE49-F238E27FC236}">
                <a16:creationId xmlns:a16="http://schemas.microsoft.com/office/drawing/2014/main" id="{EB16AE5C-9172-4DA8-B690-5D56FC14B7AA}"/>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 isolated cases available. Orange: selected bar. Green: selected disc. Blue: accepted samples. Grey: rejected samples.</a:t>
            </a:r>
          </a:p>
        </p:txBody>
      </p:sp>
    </p:spTree>
    <p:extLst>
      <p:ext uri="{BB962C8B-B14F-4D97-AF65-F5344CB8AC3E}">
        <p14:creationId xmlns:p14="http://schemas.microsoft.com/office/powerpoint/2010/main" val="15545080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F23162-60A3-44AF-9140-5C796AF6269B}"/>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Recovered interval failures</a:t>
            </a:r>
          </a:p>
        </p:txBody>
      </p:sp>
      <p:sp>
        <p:nvSpPr>
          <p:cNvPr id="2" name="">
            <a:extLst xmlns:a="http://schemas.openxmlformats.org/drawingml/2006/main">
              <a:ext uri="{FF2B5EF4-FFF2-40B4-BE49-F238E27FC236}">
                <a16:creationId xmlns:a16="http://schemas.microsoft.com/office/drawing/2014/main" id="{BCE737C4-4356-48EE-A4F8-5FA7C7B77C1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17</a:t>
            </a:r>
          </a:p>
        </p:txBody>
      </p:sp>
      <p:sp>
        <p:nvSpPr>
          <p:cNvPr id="3" name="">
            <a:extLst xmlns:a="http://schemas.openxmlformats.org/drawingml/2006/main">
              <a:ext uri="{FF2B5EF4-FFF2-40B4-BE49-F238E27FC236}">
                <a16:creationId xmlns:a16="http://schemas.microsoft.com/office/drawing/2014/main" id="{FEF65D0C-EB32-4EE8-A2B5-FE15D671371D}"/>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These galaxies previously failed; the current pipeline returns provisional geometry.</a:t>
            </a:r>
          </a:p>
        </p:txBody>
      </p:sp>
      <p:sp>
        <p:nvSpPr>
          <p:cNvPr id="4" name="">
            <a:extLst xmlns:a="http://schemas.openxmlformats.org/drawingml/2006/main">
              <a:ext uri="{FF2B5EF4-FFF2-40B4-BE49-F238E27FC236}">
                <a16:creationId xmlns:a16="http://schemas.microsoft.com/office/drawing/2014/main" id="{76232D33-5E15-4B55-89B3-BE2CB8A7468A}"/>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-637379992495894829</a:t>
            </a:r>
          </a:p>
        </p:txBody>
      </p:sp>
      <p:pic>
        <p:nvPicPr>
          <p:cNvPr id="5" name="">
            <a:extLst xmlns:a="http://schemas.openxmlformats.org/drawingml/2006/main">
              <a:ext uri="{FF2B5EF4-FFF2-40B4-BE49-F238E27FC236}">
                <a16:creationId xmlns:a16="http://schemas.microsoft.com/office/drawing/2014/main" id="{5260CE96-E147-45F0-9D3C-7B7D9EC756E1}"/>
              </a:ext>
            </a:extLst>
          </p:cNvPr>
          <p:cNvPicPr>
            <a:picLocks xmlns:a="http://schemas.openxmlformats.org/drawingml/2006/main" noChangeAspect="1"/>
          </p:cNvPicPr>
          <p:nvPr/>
        </p:nvPicPr>
        <p:blipFill>
          <a:blip xmlns:r="http://schemas.openxmlformats.org/officeDocument/2006/relationships" xmlns:a="http://schemas.openxmlformats.org/drawingml/2006/main" r:embed="Ra75d0c12b87c47e6"/>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261693-E1CF-4459-AB4A-E7344B69E7C2}"/>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83.79°; bar 88.98°; i 70.95°</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0.96 arcsec; 38 accepted ellipses.</a:t>
            </a:r>
          </a:p>
        </p:txBody>
      </p:sp>
      <p:sp>
        <p:nvSpPr>
          <p:cNvPr id="7" name="">
            <a:extLst xmlns:a="http://schemas.openxmlformats.org/drawingml/2006/main">
              <a:ext uri="{FF2B5EF4-FFF2-40B4-BE49-F238E27FC236}">
                <a16:creationId xmlns:a16="http://schemas.microsoft.com/office/drawing/2014/main" id="{D8A4A2C8-3BE6-4C4D-B56A-5949C07693EE}"/>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2660732568647808880</a:t>
            </a:r>
          </a:p>
        </p:txBody>
      </p:sp>
      <p:pic>
        <p:nvPicPr>
          <p:cNvPr id="8" name="">
            <a:extLst xmlns:a="http://schemas.openxmlformats.org/drawingml/2006/main">
              <a:ext uri="{FF2B5EF4-FFF2-40B4-BE49-F238E27FC236}">
                <a16:creationId xmlns:a16="http://schemas.microsoft.com/office/drawing/2014/main" id="{92B45F3F-1BD2-4321-A265-C3DFCB153564}"/>
              </a:ext>
            </a:extLst>
          </p:cNvPr>
          <p:cNvPicPr>
            <a:picLocks xmlns:a="http://schemas.openxmlformats.org/drawingml/2006/main" noChangeAspect="1"/>
          </p:cNvPicPr>
          <p:nvPr/>
        </p:nvPicPr>
        <p:blipFill>
          <a:blip xmlns:r="http://schemas.openxmlformats.org/officeDocument/2006/relationships" xmlns:a="http://schemas.openxmlformats.org/drawingml/2006/main" r:embed="Re9356085ff564cdb"/>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BF38249-C896-4600-85DD-53DC149C5620}"/>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151.04°; bar 159.58°; i 71.14°</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0.21 arcsec; 36 accepted ellipses.</a:t>
            </a:r>
          </a:p>
        </p:txBody>
      </p:sp>
      <p:sp>
        <p:nvSpPr>
          <p:cNvPr id="10" name="">
            <a:extLst xmlns:a="http://schemas.openxmlformats.org/drawingml/2006/main">
              <a:ext uri="{FF2B5EF4-FFF2-40B4-BE49-F238E27FC236}">
                <a16:creationId xmlns:a16="http://schemas.microsoft.com/office/drawing/2014/main" id="{F2B0CA4A-E1CD-44AD-9455-06C72D58E85F}"/>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Recovery does not imply an unflagged result. Inspect the selected intervals, centre and method.</a:t>
            </a:r>
          </a:p>
        </p:txBody>
      </p:sp>
    </p:spTree>
    <p:extLst>
      <p:ext uri="{BB962C8B-B14F-4D97-AF65-F5344CB8AC3E}">
        <p14:creationId xmlns:p14="http://schemas.microsoft.com/office/powerpoint/2010/main" val="5288711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958C90-93F4-4D4A-89DB-8E80E0D04EDE}"/>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Recovered short-profile failures</a:t>
            </a:r>
          </a:p>
        </p:txBody>
      </p:sp>
      <p:sp>
        <p:nvSpPr>
          <p:cNvPr id="2" name="">
            <a:extLst xmlns:a="http://schemas.openxmlformats.org/drawingml/2006/main">
              <a:ext uri="{FF2B5EF4-FFF2-40B4-BE49-F238E27FC236}">
                <a16:creationId xmlns:a16="http://schemas.microsoft.com/office/drawing/2014/main" id="{C8868566-4D2C-4014-B138-47F34449BF1E}"/>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14 / 17</a:t>
            </a:r>
          </a:p>
        </p:txBody>
      </p:sp>
      <p:sp>
        <p:nvSpPr>
          <p:cNvPr id="3" name="">
            <a:extLst xmlns:a="http://schemas.openxmlformats.org/drawingml/2006/main">
              <a:ext uri="{FF2B5EF4-FFF2-40B4-BE49-F238E27FC236}">
                <a16:creationId xmlns:a16="http://schemas.microsoft.com/office/drawing/2014/main" id="{145CD8BF-74C4-4DC3-A7B7-F50D5B6B3D48}"/>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These galaxies previously failed; the current pipeline returns provisional geometry.</a:t>
            </a:r>
          </a:p>
        </p:txBody>
      </p:sp>
      <p:sp>
        <p:nvSpPr>
          <p:cNvPr id="4" name="">
            <a:extLst xmlns:a="http://schemas.openxmlformats.org/drawingml/2006/main">
              <a:ext uri="{FF2B5EF4-FFF2-40B4-BE49-F238E27FC236}">
                <a16:creationId xmlns:a16="http://schemas.microsoft.com/office/drawing/2014/main" id="{ED7ADCCD-5E8E-4663-A51A-3011B791D084}"/>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-649179107478547159</a:t>
            </a:r>
          </a:p>
        </p:txBody>
      </p:sp>
      <p:pic>
        <p:nvPicPr>
          <p:cNvPr id="5" name="">
            <a:extLst xmlns:a="http://schemas.openxmlformats.org/drawingml/2006/main">
              <a:ext uri="{FF2B5EF4-FFF2-40B4-BE49-F238E27FC236}">
                <a16:creationId xmlns:a16="http://schemas.microsoft.com/office/drawing/2014/main" id="{677379F9-5868-40A7-8F30-CA714465946F}"/>
              </a:ext>
            </a:extLst>
          </p:cNvPr>
          <p:cNvPicPr>
            <a:picLocks xmlns:a="http://schemas.openxmlformats.org/drawingml/2006/main" noChangeAspect="1"/>
          </p:cNvPicPr>
          <p:nvPr/>
        </p:nvPicPr>
        <p:blipFill>
          <a:blip xmlns:r="http://schemas.openxmlformats.org/officeDocument/2006/relationships" xmlns:a="http://schemas.openxmlformats.org/drawingml/2006/main" r:embed="Ra5bd7708716e4ff7"/>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9358251-631E-4C6F-AA09-011E915ED51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119.74°; bar 117.80°; i 62.26°</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0.39 arcsec; 35 accepted ellipses.</a:t>
            </a:r>
          </a:p>
        </p:txBody>
      </p:sp>
      <p:sp>
        <p:nvSpPr>
          <p:cNvPr id="7" name="">
            <a:extLst xmlns:a="http://schemas.openxmlformats.org/drawingml/2006/main">
              <a:ext uri="{FF2B5EF4-FFF2-40B4-BE49-F238E27FC236}">
                <a16:creationId xmlns:a16="http://schemas.microsoft.com/office/drawing/2014/main" id="{8597932A-1DFF-4358-B444-95AD382A4DF2}"/>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-559696446492621477</a:t>
            </a:r>
          </a:p>
        </p:txBody>
      </p:sp>
      <p:pic>
        <p:nvPicPr>
          <p:cNvPr id="8" name="">
            <a:extLst xmlns:a="http://schemas.openxmlformats.org/drawingml/2006/main">
              <a:ext uri="{FF2B5EF4-FFF2-40B4-BE49-F238E27FC236}">
                <a16:creationId xmlns:a16="http://schemas.microsoft.com/office/drawing/2014/main" id="{4B95F92A-6DC2-470B-9936-87D5AC1EBC2D}"/>
              </a:ext>
            </a:extLst>
          </p:cNvPr>
          <p:cNvPicPr>
            <a:picLocks xmlns:a="http://schemas.openxmlformats.org/drawingml/2006/main" noChangeAspect="1"/>
          </p:cNvPicPr>
          <p:nvPr/>
        </p:nvPicPr>
        <p:blipFill>
          <a:blip xmlns:r="http://schemas.openxmlformats.org/officeDocument/2006/relationships" xmlns:a="http://schemas.openxmlformats.org/drawingml/2006/main" r:embed="Re3315434ad854baf"/>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901E0ED-73FE-4F69-862A-C4F35E60CD93}"/>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166.58°; bar 137.17°; i 54.96°</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0.21 arcsec; 34 accepted ellipses.</a:t>
            </a:r>
          </a:p>
        </p:txBody>
      </p:sp>
      <p:sp>
        <p:nvSpPr>
          <p:cNvPr id="10" name="">
            <a:extLst xmlns:a="http://schemas.openxmlformats.org/drawingml/2006/main">
              <a:ext uri="{FF2B5EF4-FFF2-40B4-BE49-F238E27FC236}">
                <a16:creationId xmlns:a16="http://schemas.microsoft.com/office/drawing/2014/main" id="{5B1C9D2B-3009-4609-B364-CEABF8826F0C}"/>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Recovery does not imply an unflagged result. Inspect the selected intervals, centre and method.</a:t>
            </a:r>
          </a:p>
        </p:txBody>
      </p:sp>
    </p:spTree>
    <p:extLst>
      <p:ext uri="{BB962C8B-B14F-4D97-AF65-F5344CB8AC3E}">
        <p14:creationId xmlns:p14="http://schemas.microsoft.com/office/powerpoint/2010/main" val="1444512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6A4FBA-3E16-4F73-B84A-11681940AFAA}"/>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D2E359ED-57DF-4ABF-B079-CDD4ABA07B05}"/>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15 / 17</a:t>
            </a:r>
          </a:p>
        </p:txBody>
      </p:sp>
      <p:sp>
        <p:nvSpPr>
          <p:cNvPr id="3" name="">
            <a:extLst xmlns:a="http://schemas.openxmlformats.org/drawingml/2006/main">
              <a:ext uri="{FF2B5EF4-FFF2-40B4-BE49-F238E27FC236}">
                <a16:creationId xmlns:a16="http://schemas.microsoft.com/office/drawing/2014/main" id="{5C734C6D-4BE3-403D-A74A-46D510BC15E3}"/>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70DE4EE3-3B01-4D50-BFFC-704E3DEB9A23}"/>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-586374330510251740</a:t>
            </a:r>
          </a:p>
        </p:txBody>
      </p:sp>
      <p:pic>
        <p:nvPicPr>
          <p:cNvPr id="5" name="">
            <a:extLst xmlns:a="http://schemas.openxmlformats.org/drawingml/2006/main">
              <a:ext uri="{FF2B5EF4-FFF2-40B4-BE49-F238E27FC236}">
                <a16:creationId xmlns:a16="http://schemas.microsoft.com/office/drawing/2014/main" id="{BA530399-603D-4D1A-B364-53A4C56BD678}"/>
              </a:ext>
            </a:extLst>
          </p:cNvPr>
          <p:cNvPicPr>
            <a:picLocks xmlns:a="http://schemas.openxmlformats.org/drawingml/2006/main" noChangeAspect="1"/>
          </p:cNvPicPr>
          <p:nvPr/>
        </p:nvPicPr>
        <p:blipFill>
          <a:blip xmlns:r="http://schemas.openxmlformats.org/officeDocument/2006/relationships" xmlns:a="http://schemas.openxmlformats.org/drawingml/2006/main" r:embed="R6d9ebb74ceb24ed7"/>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DF8EAA9-0BBA-40DA-8D3F-61C05B56EDE5}"/>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856C3E8C-D476-4F93-8A5B-B46FAC709D73}"/>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-584896980492699093</a:t>
            </a:r>
          </a:p>
        </p:txBody>
      </p:sp>
      <p:pic>
        <p:nvPicPr>
          <p:cNvPr id="8" name="">
            <a:extLst xmlns:a="http://schemas.openxmlformats.org/drawingml/2006/main">
              <a:ext uri="{FF2B5EF4-FFF2-40B4-BE49-F238E27FC236}">
                <a16:creationId xmlns:a16="http://schemas.microsoft.com/office/drawing/2014/main" id="{2373253A-F854-4101-991A-B6D0197C478A}"/>
              </a:ext>
            </a:extLst>
          </p:cNvPr>
          <p:cNvPicPr>
            <a:picLocks xmlns:a="http://schemas.openxmlformats.org/drawingml/2006/main" noChangeAspect="1"/>
          </p:cNvPicPr>
          <p:nvPr/>
        </p:nvPicPr>
        <p:blipFill>
          <a:blip xmlns:r="http://schemas.openxmlformats.org/officeDocument/2006/relationships" xmlns:a="http://schemas.openxmlformats.org/drawingml/2006/main" r:embed="R45d600d2a97447cc"/>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62E43A7-CE21-4A4F-BBCE-E3A8267D05A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BD6D925E-19DB-4479-8BEA-F717F3067F0D}"/>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11438596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9B63FA-9E26-41F9-8753-CD4050C958E8}"/>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F4895B4E-EF62-4EEF-A296-6A126108879D}"/>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16 / 17</a:t>
            </a:r>
          </a:p>
        </p:txBody>
      </p:sp>
      <p:sp>
        <p:nvSpPr>
          <p:cNvPr id="3" name="">
            <a:extLst xmlns:a="http://schemas.openxmlformats.org/drawingml/2006/main">
              <a:ext uri="{FF2B5EF4-FFF2-40B4-BE49-F238E27FC236}">
                <a16:creationId xmlns:a16="http://schemas.microsoft.com/office/drawing/2014/main" id="{56A45BAC-23AD-47E1-9B73-15676D91B667}"/>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D2919E71-F3CD-47CD-9F53-71C03CDE2ABD}"/>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-524824554283124036</a:t>
            </a:r>
          </a:p>
        </p:txBody>
      </p:sp>
      <p:pic>
        <p:nvPicPr>
          <p:cNvPr id="5" name="">
            <a:extLst xmlns:a="http://schemas.openxmlformats.org/drawingml/2006/main">
              <a:ext uri="{FF2B5EF4-FFF2-40B4-BE49-F238E27FC236}">
                <a16:creationId xmlns:a16="http://schemas.microsoft.com/office/drawing/2014/main" id="{0E913B92-31C0-4D10-8F6B-2733FE8A52B0}"/>
              </a:ext>
            </a:extLst>
          </p:cNvPr>
          <p:cNvPicPr>
            <a:picLocks xmlns:a="http://schemas.openxmlformats.org/drawingml/2006/main" noChangeAspect="1"/>
          </p:cNvPicPr>
          <p:nvPr/>
        </p:nvPicPr>
        <p:blipFill>
          <a:blip xmlns:r="http://schemas.openxmlformats.org/officeDocument/2006/relationships" xmlns:a="http://schemas.openxmlformats.org/drawingml/2006/main" r:embed="Radc17de1239c4280"/>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E9E68EA-F518-4C67-825F-3AA65BCB3EE3}"/>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D2C85E93-BA97-4F53-A5B5-7E5225BB8DF0}"/>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2645436353651870062</a:t>
            </a:r>
          </a:p>
        </p:txBody>
      </p:sp>
      <p:pic>
        <p:nvPicPr>
          <p:cNvPr id="8" name="">
            <a:extLst xmlns:a="http://schemas.openxmlformats.org/drawingml/2006/main">
              <a:ext uri="{FF2B5EF4-FFF2-40B4-BE49-F238E27FC236}">
                <a16:creationId xmlns:a16="http://schemas.microsoft.com/office/drawing/2014/main" id="{F6C1F751-209D-47B7-A4D5-3F95B9914787}"/>
              </a:ext>
            </a:extLst>
          </p:cNvPr>
          <p:cNvPicPr>
            <a:picLocks xmlns:a="http://schemas.openxmlformats.org/drawingml/2006/main" noChangeAspect="1"/>
          </p:cNvPicPr>
          <p:nvPr/>
        </p:nvPicPr>
        <p:blipFill>
          <a:blip xmlns:r="http://schemas.openxmlformats.org/officeDocument/2006/relationships" xmlns:a="http://schemas.openxmlformats.org/drawingml/2006/main" r:embed="Rbcfe7c8fac5e478f"/>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93EE3F6-B3AD-491D-9E0F-6AC1903332D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F2DBCB5A-D295-4DD6-9FC1-D54531196D99}"/>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42061969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9F20A3-51C6-469C-9CF1-9F2FF7032408}"/>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778B63C8-2EC2-46E2-9FE3-E2608ED0B9F7}"/>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17 / 17</a:t>
            </a:r>
          </a:p>
        </p:txBody>
      </p:sp>
      <p:sp>
        <p:nvSpPr>
          <p:cNvPr id="3" name="">
            <a:extLst xmlns:a="http://schemas.openxmlformats.org/drawingml/2006/main">
              <a:ext uri="{FF2B5EF4-FFF2-40B4-BE49-F238E27FC236}">
                <a16:creationId xmlns:a16="http://schemas.microsoft.com/office/drawing/2014/main" id="{C6D81C2A-D329-44F6-868D-089B20F1BC81}"/>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DE6E44B6-D3CA-449A-ADF0-1F8A0E888E62}"/>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2697242050653408730</a:t>
            </a:r>
          </a:p>
        </p:txBody>
      </p:sp>
      <p:pic>
        <p:nvPicPr>
          <p:cNvPr id="5" name="">
            <a:extLst xmlns:a="http://schemas.openxmlformats.org/drawingml/2006/main">
              <a:ext uri="{FF2B5EF4-FFF2-40B4-BE49-F238E27FC236}">
                <a16:creationId xmlns:a16="http://schemas.microsoft.com/office/drawing/2014/main" id="{FEC5141A-EB13-484E-997F-36E2D4E8515F}"/>
              </a:ext>
            </a:extLst>
          </p:cNvPr>
          <p:cNvPicPr>
            <a:picLocks xmlns:a="http://schemas.openxmlformats.org/drawingml/2006/main" noChangeAspect="1"/>
          </p:cNvPicPr>
          <p:nvPr/>
        </p:nvPicPr>
        <p:blipFill>
          <a:blip xmlns:r="http://schemas.openxmlformats.org/officeDocument/2006/relationships" xmlns:a="http://schemas.openxmlformats.org/drawingml/2006/main" r:embed="Re78870a8beb345f5"/>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71A33C1-3F83-4060-8F10-FFE10F77FFA2}"/>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5E87B3E4-1B09-4E32-837B-4C0344B6F6FE}"/>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2690276161666121755</a:t>
            </a:r>
          </a:p>
        </p:txBody>
      </p:sp>
      <p:pic>
        <p:nvPicPr>
          <p:cNvPr id="8" name="">
            <a:extLst xmlns:a="http://schemas.openxmlformats.org/drawingml/2006/main">
              <a:ext uri="{FF2B5EF4-FFF2-40B4-BE49-F238E27FC236}">
                <a16:creationId xmlns:a16="http://schemas.microsoft.com/office/drawing/2014/main" id="{EDC8CBEA-1A09-4364-8C74-08180EED36F7}"/>
              </a:ext>
            </a:extLst>
          </p:cNvPr>
          <p:cNvPicPr>
            <a:picLocks xmlns:a="http://schemas.openxmlformats.org/drawingml/2006/main" noChangeAspect="1"/>
          </p:cNvPicPr>
          <p:nvPr/>
        </p:nvPicPr>
        <p:blipFill>
          <a:blip xmlns:r="http://schemas.openxmlformats.org/officeDocument/2006/relationships" xmlns:a="http://schemas.openxmlformats.org/drawingml/2006/main" r:embed="R7a867a29dee54857"/>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AE48EE8-63C6-4696-8875-2701F5058C4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8E08E234-D082-479F-B25D-41998266AB64}"/>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21457623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2026-10-20T15:38:22.1190000Z</dcterms:created>
  <dcterms:modified xsi:type="dcterms:W3CDTF">2026-10-20T15:38:22.1190000Z</dcterms:modified>
</coreProperties>
</file>