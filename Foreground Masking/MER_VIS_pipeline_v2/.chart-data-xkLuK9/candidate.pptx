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a9baeb082864efd" /><Relationship Type="http://schemas.openxmlformats.org/officeDocument/2006/relationships/extended-properties" Target="/docProps/app.xml" Id="Rbab32160db6c4e40" /><Relationship Type="http://schemas.openxmlformats.org/officeDocument/2006/relationships/officeDocument" Target="/ppt/presentation.xml" Id="R257a3ceab3f54a70" /></Relationships>
</file>

<file path=ppt/presentation.xml><?xml version="1.0" encoding="utf-8"?>
<p:presentation xmlns:p="http://schemas.openxmlformats.org/presentationml/2006/main">
  <p:sldMasterIdLst>
    <p:sldMasterId xmlns:r="http://schemas.openxmlformats.org/officeDocument/2006/relationships" id="2147483648" r:id="Rdf4a5915648e4d34"/>
  </p:sldMasterIdLst>
  <p:notesMasterIdLst>
    <p:notesMasterId xmlns:r="http://schemas.openxmlformats.org/officeDocument/2006/relationships" r:id="Rb7b4ad0f50134498"/>
  </p:notesMasterIdLst>
  <p:sldIdLst>
    <p:sldId xmlns:r="http://schemas.openxmlformats.org/officeDocument/2006/relationships" id="256" r:id="Ra1c4641553d74dd9"/>
    <p:sldId xmlns:r="http://schemas.openxmlformats.org/officeDocument/2006/relationships" id="257" r:id="R0a076b08abe44eff"/>
    <p:sldId xmlns:r="http://schemas.openxmlformats.org/officeDocument/2006/relationships" id="258" r:id="R243405cce32347cf"/>
    <p:sldId xmlns:r="http://schemas.openxmlformats.org/officeDocument/2006/relationships" id="259" r:id="R54567b98e42e4791"/>
    <p:sldId xmlns:r="http://schemas.openxmlformats.org/officeDocument/2006/relationships" id="260" r:id="R7056d94f91614364"/>
    <p:sldId xmlns:r="http://schemas.openxmlformats.org/officeDocument/2006/relationships" id="261" r:id="Re63bc46514ca44f5"/>
    <p:sldId xmlns:r="http://schemas.openxmlformats.org/officeDocument/2006/relationships" id="262" r:id="R7c269860594d4a4c"/>
    <p:sldId xmlns:r="http://schemas.openxmlformats.org/officeDocument/2006/relationships" id="263" r:id="Rc36de4e4cb904790"/>
    <p:sldId xmlns:r="http://schemas.openxmlformats.org/officeDocument/2006/relationships" id="264" r:id="R03c1810ade214b78"/>
    <p:sldId xmlns:r="http://schemas.openxmlformats.org/officeDocument/2006/relationships" id="265" r:id="R45de5ed5901b4b91"/>
    <p:sldId xmlns:r="http://schemas.openxmlformats.org/officeDocument/2006/relationships" id="266" r:id="R03e21408d8354e48"/>
    <p:sldId xmlns:r="http://schemas.openxmlformats.org/officeDocument/2006/relationships" id="267" r:id="R4352d88f46aa4cfa"/>
    <p:sldId xmlns:r="http://schemas.openxmlformats.org/officeDocument/2006/relationships" id="268" r:id="R11596b61c1294562"/>
    <p:sldId xmlns:r="http://schemas.openxmlformats.org/officeDocument/2006/relationships" id="269" r:id="R51a7ee026ae34813"/>
    <p:sldId xmlns:r="http://schemas.openxmlformats.org/officeDocument/2006/relationships" id="270" r:id="R3f8c19600c47468d"/>
    <p:sldId xmlns:r="http://schemas.openxmlformats.org/officeDocument/2006/relationships" id="271" r:id="R268ca45393244168"/>
    <p:sldId xmlns:r="http://schemas.openxmlformats.org/officeDocument/2006/relationships" id="272" r:id="Rf82b4995ccfe45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339515dfd9450c" /><Relationship Type="http://schemas.openxmlformats.org/officeDocument/2006/relationships/slideMaster" Target="/ppt/slideMasters/slideMaster1.xml" Id="Rdf4a5915648e4d34" /><Relationship Type="http://schemas.openxmlformats.org/officeDocument/2006/relationships/notesMaster" Target="/ppt/notesMasters/notesMaster1.xml" Id="Rb7b4ad0f50134498" /><Relationship Type="http://schemas.openxmlformats.org/officeDocument/2006/relationships/presProps" Target="/ppt/presProps.xml" Id="Rb6e2c0ec330245cb" /><Relationship Type="http://schemas.openxmlformats.org/officeDocument/2006/relationships/tableStyles" Target="/ppt/tableStyles.xml" Id="R1faaee10964048cf" /><Relationship Type="http://schemas.openxmlformats.org/officeDocument/2006/relationships/slide" Target="/ppt/slides/slide1.xml" Id="Ra1c4641553d74dd9" /><Relationship Type="http://schemas.openxmlformats.org/officeDocument/2006/relationships/slide" Target="/ppt/slides/slide2.xml" Id="R0a076b08abe44eff" /><Relationship Type="http://schemas.openxmlformats.org/officeDocument/2006/relationships/slide" Target="/ppt/slides/slide3.xml" Id="R243405cce32347cf" /><Relationship Type="http://schemas.openxmlformats.org/officeDocument/2006/relationships/slide" Target="/ppt/slides/slide4.xml" Id="R54567b98e42e4791" /><Relationship Type="http://schemas.openxmlformats.org/officeDocument/2006/relationships/slide" Target="/ppt/slides/slide5.xml" Id="R7056d94f91614364" /><Relationship Type="http://schemas.openxmlformats.org/officeDocument/2006/relationships/slide" Target="/ppt/slides/slide6.xml" Id="Re63bc46514ca44f5" /><Relationship Type="http://schemas.openxmlformats.org/officeDocument/2006/relationships/slide" Target="/ppt/slides/slide7.xml" Id="R7c269860594d4a4c" /><Relationship Type="http://schemas.openxmlformats.org/officeDocument/2006/relationships/slide" Target="/ppt/slides/slide8.xml" Id="Rc36de4e4cb904790" /><Relationship Type="http://schemas.openxmlformats.org/officeDocument/2006/relationships/slide" Target="/ppt/slides/slide9.xml" Id="R03c1810ade214b78" /><Relationship Type="http://schemas.openxmlformats.org/officeDocument/2006/relationships/slide" Target="/ppt/slides/slide10.xml" Id="R45de5ed5901b4b91" /><Relationship Type="http://schemas.openxmlformats.org/officeDocument/2006/relationships/slide" Target="/ppt/slides/slide11.xml" Id="R03e21408d8354e48" /><Relationship Type="http://schemas.openxmlformats.org/officeDocument/2006/relationships/slide" Target="/ppt/slides/slide12.xml" Id="R4352d88f46aa4cfa" /><Relationship Type="http://schemas.openxmlformats.org/officeDocument/2006/relationships/slide" Target="/ppt/slides/slide13.xml" Id="R11596b61c1294562" /><Relationship Type="http://schemas.openxmlformats.org/officeDocument/2006/relationships/slide" Target="/ppt/slides/slide14.xml" Id="R51a7ee026ae34813" /><Relationship Type="http://schemas.openxmlformats.org/officeDocument/2006/relationships/slide" Target="/ppt/slides/slide15.xml" Id="R3f8c19600c47468d" /><Relationship Type="http://schemas.openxmlformats.org/officeDocument/2006/relationships/slide" Target="/ppt/slides/slide16.xml" Id="R268ca45393244168" /><Relationship Type="http://schemas.openxmlformats.org/officeDocument/2006/relationships/slide" Target="/ppt/slides/slide17.xml" Id="Rf82b4995ccfe45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ac4484f31747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9459e70cc5411a" /><Relationship Type="http://schemas.openxmlformats.org/officeDocument/2006/relationships/notesMaster" Target="/ppt/notesMasters/notesMaster1.xml" Id="Rd741681bac8b41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ae7a6a61c4456b" /><Relationship Type="http://schemas.openxmlformats.org/officeDocument/2006/relationships/notesMaster" Target="/ppt/notesMasters/notesMaster1.xml" Id="R02e983338a2041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6abf0291054b80" /><Relationship Type="http://schemas.openxmlformats.org/officeDocument/2006/relationships/notesMaster" Target="/ppt/notesMasters/notesMaster1.xml" Id="R1c9c3ff2fc164b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6c1f7ba87043d7" /><Relationship Type="http://schemas.openxmlformats.org/officeDocument/2006/relationships/notesMaster" Target="/ppt/notesMasters/notesMaster1.xml" Id="Rfa1a86c8165148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4921b56dd048a3" /><Relationship Type="http://schemas.openxmlformats.org/officeDocument/2006/relationships/notesMaster" Target="/ppt/notesMasters/notesMaster1.xml" Id="R453a876029504d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e3e7467b564a01" /><Relationship Type="http://schemas.openxmlformats.org/officeDocument/2006/relationships/notesMaster" Target="/ppt/notesMasters/notesMaster1.xml" Id="R00c76439c6e544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8e9c768e6745f7" /><Relationship Type="http://schemas.openxmlformats.org/officeDocument/2006/relationships/notesMaster" Target="/ppt/notesMasters/notesMaster1.xml" Id="R70b59b4ab8b346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a9161030774ee1" /><Relationship Type="http://schemas.openxmlformats.org/officeDocument/2006/relationships/notesMaster" Target="/ppt/notesMasters/notesMaster1.xml" Id="Rf50bd47dd4e844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943903d2864870" /><Relationship Type="http://schemas.openxmlformats.org/officeDocument/2006/relationships/notesMaster" Target="/ppt/notesMasters/notesMaster1.xml" Id="R806cfac68cb54f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f1b7e7dcb94929" /><Relationship Type="http://schemas.openxmlformats.org/officeDocument/2006/relationships/notesMaster" Target="/ppt/notesMasters/notesMaster1.xml" Id="R00b42bde77e742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4718619b90465f" /><Relationship Type="http://schemas.openxmlformats.org/officeDocument/2006/relationships/notesMaster" Target="/ppt/notesMasters/notesMaster1.xml" Id="Rb3037f206fe84b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7607655e464172" /><Relationship Type="http://schemas.openxmlformats.org/officeDocument/2006/relationships/notesMaster" Target="/ppt/notesMasters/notesMaster1.xml" Id="R12ac816a74ac44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fbf55b45b74d8a" /><Relationship Type="http://schemas.openxmlformats.org/officeDocument/2006/relationships/notesMaster" Target="/ppt/notesMasters/notesMaster1.xml" Id="R8b3ac64297564f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9b74fa257f44c8" /><Relationship Type="http://schemas.openxmlformats.org/officeDocument/2006/relationships/notesMaster" Target="/ppt/notesMasters/notesMaster1.xml" Id="R813a411b253048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c2ca9030ee4990" /><Relationship Type="http://schemas.openxmlformats.org/officeDocument/2006/relationships/notesMaster" Target="/ppt/notesMasters/notesMaster1.xml" Id="Rf76bae2f538048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074d77dcbd4ba2" /><Relationship Type="http://schemas.openxmlformats.org/officeDocument/2006/relationships/notesMaster" Target="/ppt/notesMasters/notesMaster1.xml" Id="R5a27f91e9c90417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8cdef9ff5a4ab9" /><Relationship Type="http://schemas.openxmlformats.org/officeDocument/2006/relationships/notesMaster" Target="/ppt/notesMasters/notesMaster1.xml" Id="R208c4876782d43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Flags overlap. Chart shows the eleven most frequent issues; the Word report and manifest retain every flag. A no_bar_detected warning does not invalidate the disc estimate. Individual PA scatter is not a formal independent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Supplied fitted-manifest comparison: {"disc":{"n":2771,"median_abs":2.7634391474113187,"median_signed":0.021808524369362203,"within10":2167},"bar":{"n":2290,"median_abs":0.4527846299673044,"median_signed":-0.0035939381289082917,"within10":2235},"inclination":{"n":2771,"median_abs":2.3744889759578527,"median_signed":-0.9662639215711621,"within10":2427}}. Supplied inclination uses intrinsic q0=.2; ours remains q0=0. Euclid whole-object shapes are proxies, not independent outer-disc measurements. No Euclid bar PA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Centre example (multiple flags, not an isolated-flag demonstration): {"id":"2700376345666189458","image":"C:\\Users\\gordo\\Documents\\Github\\PythonScripts\\Foreground Masking\\MER_VIS_pipeline_v2\\current_report\\images\\2700376345666189458.png","full_card":"D:\\Dropbox\\Public Documents\\UCLAN\\MSc Research\\Euclid\\MER_VIS_galaxy_reports\\all_2777\\png_QI\\2448_Euclid_2700376345666189458_MER_VIS_geometry_report_QI.png","disc":101.52336049391899,"bar":101.48498053450594,"inc":71.05369315170853,"centre_offset":17.320432011634527,"method":"recentred","flags":["centre_offset_large","disc_axis_ratio_unstable"],"bar_status":"detected_A","error":"","n_good":"43","n_disc":"5","n_bar":"4","disc_scatter":0.9310092684915722,"disc_span":0.3545431996625442,"bar_end":19.181222769615243,"information":"","detail_image":"C:\\Users\\gordo\\Documents\\Github\\PythonScripts\\Foreground Masking\\MER_VIS_pipeline_v2\\current_report\\images\\centre_detail.png"}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Isolated example counts (full coverage): {"disc_PA_unstable":89,"no_bar_detected":101,"disc_axis_ratio_unstable":109,"small_bar_sensitive_to_resolution":316,"disc_range_fallback":1,"bar_disc_ranges_close":0,"small_disc":0,"weak_ellipse_bar_signature":37,"centre_offset_large":3,"relaxed_fit":0,"iteration_limited_samples":0,"star_mask_removed":0,"centre_unstable":0,"short_accepted_profile":0,"high_inclination":0}. Flags without two isolated cases are not represented as single-flag examples. Original unstable-bar-PA examples are obsolete because current bar acceptance requires a stable plateau.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{"key":"small_bar_sensitive_to_resolution","title":"Small selected bar interval","kind":"isolated_flag","examples":[{"id":"-518659917291205827","image":"C:\\Users\\gordo\\Documents\\Github\\PythonScripts\\Foreground Masking\\MER_VIS_pipeline_v2\\current_report\\images\\-518659917291205827.png","full_card":"D:\\Dropbox\\Public Documents\\UCLAN\\MSc Research\\Euclid\\MER_VIS_galaxy_reports\\all_2777\\png_QI\\0004_Euclid_-518659917291205827_MER_VIS_geometry_report_QI.png","disc":67.98049109589249,"bar":63.85453266313511,"inc":47.29360925833979,"centre_offset":0.06901554767367604,"method":"standard","flags":["small_bar_sensitive_to_resolution"],"bar_status":"detected_A","error":"","n_good":"31","n_disc":"6","n_bar":"6","disc_scatter":6.536223807890531,"disc_span":0.1305755018371826,"bar_end":1.3365451794213465,"information":""},{"id":"-518003489287870292","image":"C:\\Users\\gordo\\Documents\\Github\\PythonScripts\\Foreground Masking\\MER_VIS_pipeline_v2\\current_report\\images\\-518003489287870292.png","full_card":"D:\\Dropbox\\Public Documents\\UCLAN\\MSc Research\\Euclid\\MER_VIS_galaxy_reports\\all_2777\\png_QI\\0007_Euclid_-518003489287870292_MER_VIS_geometry_report_QI.png","disc":87.46210239608925,"bar":167.22729398125324,"inc":31.574961051993903,"centre_offset":0.043422001129307254,"method":"standard","flags":["small_bar_sensitive_to_resolution"],"bar_status":"detected_A","error":"","n_good":"22","n_disc":"6","n_bar":"4","disc_scatter":5.924727031910115,"disc_span":0.11007119226523457,"bar_end":1.3673627605688643,"information":""}],"available":316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{"key":"disc_PA_unstable","title":"Unstable disc PA","kind":"isolated_flag","examples":[{"id":"-518633776290631360","image":"C:\\Users\\gordo\\Documents\\Github\\PythonScripts\\Foreground Masking\\MER_VIS_pipeline_v2\\current_report\\images\\-518633776290631360.png","full_card":"D:\\Dropbox\\Public Documents\\UCLAN\\MSc Research\\Euclid\\MER_VIS_galaxy_reports\\all_2777\\png_QI\\0005_Euclid_-518633776290631360_MER_VIS_geometry_report_QI.png","disc":113.69021016263804,"bar":113.86950382756103,"inc":49.47781434213959,"centre_offset":0.15091616609311526,"method":"standard","flags":["disc_PA_unstable"],"bar_status":"detected_A","error":"","n_good":"28","n_disc":"3","n_bar":"11","disc_scatter":17.55097022310975,"disc_span":0.06326608973174502,"bar_end":1.7950070214699363,"information":""},{"id":"-601121275504424227","image":"C:\\Users\\gordo\\Documents\\Github\\PythonScripts\\Foreground Masking\\MER_VIS_pipeline_v2\\current_report\\images\\-601121275504424227.png","full_card":"D:\\Dropbox\\Public Documents\\UCLAN\\MSc Research\\Euclid\\MER_VIS_galaxy_reports\\all_2777\\png_QI\\0118_Euclid_-601121275504424227_MER_VIS_geometry_report_QI.png","disc":60.75482419435342,"bar":20.23373226136634,"inc":40.93111225561656,"centre_offset":0.038965526533334946,"method":"standard","flags":["disc_PA_unstable"],"bar_status":"detected_A","error":"","n_good":"33","n_disc":"7","n_bar":"6","disc_scatter":15.878385450188937,"disc_span":0.08169376743863846,"bar_end":1.5289036078363487,"information":""}],"available":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{"key":"disc_axis_ratio_unstable","title":"Changing disc ellipticity","kind":"isolated_flag","examples":[{"id":"-515262325287813002","image":"C:\\Users\\gordo\\Documents\\Github\\PythonScripts\\Foreground Masking\\MER_VIS_pipeline_v2\\current_report\\images\\-515262325287813002.png","full_card":"D:\\Dropbox\\Public Documents\\UCLAN\\MSc Research\\Euclid\\MER_VIS_galaxy_reports\\all_2777\\png_QI\\0011_Euclid_-515262325287813002_MER_VIS_geometry_report_QI.png","disc":66.03707596640753,"bar":68.85970901634602,"inc":64.73095080753262,"centre_offset":0.1353995530576807,"method":"standard","flags":["disc_axis_ratio_unstable"],"bar_status":"detected_A","error":"","n_good":"25","n_disc":"3","n_bar":"7","disc_scatter":1.590904046671006,"disc_span":0.18310711393429147,"bar_end":1.647470680939178,"information":""},{"id":"2696479031648186651","image":"C:\\Users\\gordo\\Documents\\Github\\PythonScripts\\Foreground Masking\\MER_VIS_pipeline_v2\\current_report\\images\\2696479031648186651.png","full_card":"D:\\Dropbox\\Public Documents\\UCLAN\\MSc Research\\Euclid\\MER_VIS_galaxy_reports\\all_2777\\png_QI\\0032_Euclid_2696479031648186651_MER_VIS_geometry_report_QI.png","disc":77.10657289201272,"bar":59.69115649098335,"inc":55.741582582526576,"centre_offset":0.1684548011078397,"method":"standard","flags":["disc_axis_ratio_unstable"],"bar_status":"detected_A","error":"","n_good":"26","n_disc":"5","n_bar":"5","disc_scatter":2.3970908949172394,"disc_span":0.17713086931805122,"bar_end":1.743747455273023,"information":""}],"available":109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{"key":"weak_ellipse_bar_signature","title":"Weaker accepted bar signature","kind":"isolated_flag","examples":[{"id":"-586037871514112362","image":"C:\\Users\\gordo\\Documents\\Github\\PythonScripts\\Foreground Masking\\MER_VIS_pipeline_v2\\current_report\\images\\-586037871514112362.png","full_card":"D:\\Dropbox\\Public Documents\\UCLAN\\MSc Research\\Euclid\\MER_VIS_galaxy_reports\\all_2777\\png_QI\\0038_Euclid_-586037871514112362_MER_VIS_geometry_report_QI.png","disc":9.105889954495566,"bar":34.111648931941794,"inc":62.88522648383609,"centre_offset":0.1989049028260931,"method":"standard","flags":["weak_ellipse_bar_signature"],"bar_status":"detected_B","error":"","n_good":"31","n_disc":"5","n_bar":"8","disc_scatter":4.80374870233757,"disc_span":0.02419444275218674,"bar_end":1.671515786936715,"information":""},{"id":"-593494399504450575","image":"C:\\Users\\gordo\\Documents\\Github\\PythonScripts\\Foreground Masking\\MER_VIS_pipeline_v2\\current_report\\images\\-593494399504450575.png","full_card":"D:\\Dropbox\\Public Documents\\UCLAN\\MSc Research\\Euclid\\MER_VIS_galaxy_reports\\all_2777\\png_QI\\0106_Euclid_-593494399504450575_MER_VIS_geometry_report_QI.png","disc":56.81140276193682,"bar":53.95386470424249,"inc":60.45276653085282,"centre_offset":0.13845623690753606,"method":"standard","flags":["weak_ellipse_bar_signature"],"bar_status":"detected_B","error":"","n_good":"37","n_disc":"4","n_bar":"7","disc_scatter":3.3408151732091875,"disc_span":0.09514957428153942,"bar_end":3.4097589372753903,"information":""}],"available":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{"key":"no_bar_detected","title":"No accepted bar; disc retained","kind":"isolated_flag","examples":[{"id":"-550331516283529196","image":"C:\\Users\\gordo\\Documents\\Github\\PythonScripts\\Foreground Masking\\MER_VIS_pipeline_v2\\current_report\\images\\-550331516283529196.png","full_card":"D:\\Dropbox\\Public Documents\\UCLAN\\MSc Research\\Euclid\\MER_VIS_galaxy_reports\\all_2777\\png_QI\\0015_Euclid_-550331516283529196_MER_VIS_geometry_report_QI.png","disc":13.449994139974416,"bar":null,"inc":53.200259774137066,"centre_offset":0.08195275586604336,"method":"standard","flags":["no_bar_detected"],"bar_status":"no_bar_detected","error":"","n_good":"23","n_disc":"5","n_bar":"","disc_scatter":4.29853966960997,"disc_span":0.026672529924157418,"bar_end":null,"information":""},{"id":"-547491640287288205","image":"C:\\Users\\gordo\\Documents\\Github\\PythonScripts\\Foreground Masking\\MER_VIS_pipeline_v2\\current_report\\images\\-547491640287288205.png","full_card":"D:\\Dropbox\\Public Documents\\UCLAN\\MSc Research\\Euclid\\MER_VIS_galaxy_reports\\all_2777\\png_QI\\0024_Euclid_-547491640287288205_MER_VIS_geometry_report_QI.png","disc":82.0014985516179,"bar":null,"inc":68.37738067314605,"centre_offset":0.34474729988990355,"method":"standard","flags":["no_bar_detected"],"bar_status":"no_bar_detected","error":"","n_good":"35","n_disc":"3","n_bar":"","disc_scatter":0.9701814169712194,"disc_span":0.021516770074129,"bar_end":null,"information":""}],"available":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{"key":"centre_offset_large","title":"Large centre offset","kind":"isolated_flag","examples":[{"id":"-596168966496153208","image":"C:\\Users\\gordo\\Documents\\Github\\PythonScripts\\Foreground Masking\\MER_VIS_pipeline_v2\\current_report\\images\\-596168966496153208.png","full_card":"D:\\Dropbox\\Public Documents\\UCLAN\\MSc Research\\Euclid\\MER_VIS_galaxy_reports\\all_2777\\png_QI\\0311_Euclid_-596168966496153208_MER_VIS_geometry_report_QI.png","disc":54.40104215802481,"bar":60.50292653034644,"inc":61.726307068838516,"centre_offset":1.649476936680464,"method":"standard","flags":["centre_offset_large"],"bar_status":"detected_A","error":"","n_good":"23","n_disc":"3","n_bar":"5","disc_scatter":1.3369802520127432,"disc_span":0.10756910840763029,"bar_end":3.5816608240191705,"information":""},{"id":"-647912843459445604","image":"C:\\Users\\gordo\\Documents\\Github\\PythonScripts\\Foreground Masking\\MER_VIS_pipeline_v2\\current_report\\images\\-647912843459445604.png","full_card":"D:\\Dropbox\\Public Documents\\UCLAN\\MSc Research\\Euclid\\MER_VIS_galaxy_reports\\all_2777\\png_QI\\1337_Euclid_-647912843459445604_MER_VIS_geometry_report_QI.png","disc":24.55400035808897,"bar":147.96450249863796,"inc":44.733672141806856,"centre_offset":0.6455756763639631,"method":"standard","flags":["centre_offset_large"],"bar_status":"detected_A","error":"","n_good":"27","n_disc":"7","n_bar":"6","disc_scatter":5.982459011560956,"disc_span":0.12758824839973812,"bar_end":2.1784393142233225,"information":""}],"available":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{"key":"Insufficient bar/disc","title":"Recovered interval failures","kind":"recovery","examples":[{"id":"-637379992495894829","image":"C:\\Users\\gordo\\Documents\\Github\\PythonScripts\\Foreground Masking\\MER_VIS_pipeline_v2\\current_report\\images\\-637379992495894829.png","full_card":"D:\\Dropbox\\Public Documents\\UCLAN\\MSc Research\\Euclid\\MER_VIS_galaxy_reports\\all_2777\\png_NoQI\\0388_Euclid_-637379992495894829_MER_VIS_geometry_report.png","disc":83.78837749362367,"bar":88.98374946530096,"inc":70.94767990401837,"centre_offset":0.9601168086879205,"method":"standard","flags":[],"bar_status":"detected_A","error":"","n_good":"38","n_disc":"5","n_bar":"13","disc_scatter":1.6022783154287463,"disc_span":0.040266137755290754,"bar_end":2.7760226627438467,"information":""},{"id":"2660732568647808880","image":"C:\\Users\\gordo\\Documents\\Github\\PythonScripts\\Foreground Masking\\MER_VIS_pipeline_v2\\current_report\\images\\2660732568647808880.png","full_card":"D:\\Dropbox\\Public Documents\\UCLAN\\MSc Research\\Euclid\\MER_VIS_galaxy_reports\\all_2777\\png_NoQI\\2092_Euclid_2660732568647808880_MER_VIS_geometry_report.png","disc":151.03655359834403,"bar":159.57881576983513,"inc":71.14166107576276,"centre_offset":0.2073528623875833,"method":"standard","flags":[],"bar_status":"detected_A","error":"","n_good":"36","n_disc":"5","n_bar":"5","disc_scatter":0.6028207774305036,"disc_span":0.09974640817899039,"bar_end":1.8072562617551795,"information":""}],"available":430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{"key":"reliable isophotes","title":"Recovered short-profile failures","kind":"recovery","examples":[{"id":"-649179107478547159","image":"C:\\Users\\gordo\\Documents\\Github\\PythonScripts\\Foreground Masking\\MER_VIS_pipeline_v2\\current_report\\images\\-649179107478547159.png","full_card":"D:\\Dropbox\\Public Documents\\UCLAN\\MSc Research\\Euclid\\MER_VIS_galaxy_reports\\all_2777\\png_NoQI\\0841_Euclid_-649179107478547159_MER_VIS_geometry_report.png","disc":119.73884912427816,"bar":117.80356388580608,"inc":62.257451762046315,"centre_offset":0.39132993633287316,"method":"standard","flags":[],"bar_status":"detected_A","error":"","n_good":"35","n_disc":"3","n_bar":"13","disc_scatter":0.9407053648234712,"disc_span":0.029550652106817843,"bar_end":4.117346878027748,"information":""},{"id":"-559696446492621477","image":"C:\\Users\\gordo\\Documents\\Github\\PythonScripts\\Foreground Masking\\MER_VIS_pipeline_v2\\current_report\\images\\-559696446492621477.png","full_card":"D:\\Dropbox\\Public Documents\\UCLAN\\MSc Research\\Euclid\\MER_VIS_galaxy_reports\\all_2777\\png_NoQI\\0254_Euclid_-559696446492621477_MER_VIS_geometry_report.png","disc":166.57918780702744,"bar":137.1747972212369,"inc":54.96439191687562,"centre_offset":0.21219971153547804,"method":"standard","flags":[],"bar_status":"detected_A","error":"","n_good":"34","n_disc":"5","n_bar":"5","disc_scatter":3.7265982343553294,"disc_span":0.05649696673345611,"bar_end":1.923554092877952,"information":""}],"available":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{"key":"failure","title":"Remaining fit failures","kind":"failure","examples":[{"id":"-586374330510251740","image":"C:\\Users\\gordo\\Documents\\Github\\PythonScripts\\Foreground Masking\\MER_VIS_pipeline_v2\\current_report\\images\\-586374330510251740.png","full_card":"D:\\Dropbox\\Public Documents\\UCLAN\\MSc Research\\Euclid\\MER_VIS_galaxy_reports\\all_2777\\png_QI\\0057_Euclid_-586374330510251740_MER_VIS_geometry_report_QI.png","disc":null,"bar":null,"inc":null,"centre_offset":null,"method":"smoothed_relaxed","flags":[],"bar_status":"not_measured","error":"ValueError: Only 0 accepted isophotes after recovery; need at least 3","n_good":"0","n_disc":"","n_bar":"","disc_scatter":null,"disc_span":null,"bar_end":null,"information":""},{"id":"-584896980492699093","image":"C:\\Users\\gordo\\Documents\\Github\\PythonScripts\\Foreground Masking\\MER_VIS_pipeline_v2\\current_report\\images\\-584896980492699093.png","full_card":"D:\\Dropbox\\Public Documents\\UCLAN\\MSc Research\\Euclid\\MER_VIS_galaxy_reports\\all_2777\\png_QI\\0301_Euclid_-584896980492699093_MER_VIS_geometry_report_QI.png","disc":null,"bar":null,"inc":null,"centre_offset":null,"method":"smoothed_relaxed","flags":[],"bar_status":"not_measured","error":"ValueError: Only 0 accepted isophotes after recovery; need at least 3","n_good":"0","n_disc":"","n_bar":"","disc_scatter":null,"disc_span":null,"bar_end":null,"information":""}],"available":6}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{"key":"failure","title":"Remaining fit failures","kind":"failure","examples":[{"id":"-524824554283124036","image":"C:\\Users\\gordo\\Documents\\Github\\PythonScripts\\Foreground Masking\\MER_VIS_pipeline_v2\\current_report\\images\\-524824554283124036.png","full_card":"D:\\Dropbox\\Public Documents\\UCLAN\\MSc Research\\Euclid\\MER_VIS_galaxy_reports\\all_2777\\png_QI\\1557_Euclid_-524824554283124036_MER_VIS_geometry_report_QI.png","disc":null,"bar":null,"inc":null,"centre_offset":null,"method":"smoothed_relaxed","flags":[],"bar_status":"not_measured","error":"ValueError: Only 0 accepted isophotes after recovery; need at least 3","n_good":"0","n_disc":"","n_bar":"","disc_scatter":null,"disc_span":null,"bar_end":null,"information":""},{"id":"2645436353651870062","image":"C:\\Users\\gordo\\Documents\\Github\\PythonScripts\\Foreground Masking\\MER_VIS_pipeline_v2\\current_report\\images\\2645436353651870062.png","full_card":"D:\\Dropbox\\Public Documents\\UCLAN\\MSc Research\\Euclid\\MER_VIS_galaxy_reports\\all_2777\\png_QI\\2079_Euclid_2645436353651870062_MER_VIS_geometry_report_QI.png","disc":null,"bar":null,"inc":null,"centre_offset":null,"method":"smoothed_relaxed","flags":[],"bar_status":"not_measured","error":"ValueError: Only 0 accepted isophotes after recovery; need at least 3","n_good":"0","n_disc":"","n_bar":"","disc_scatter":null,"disc_span":null,"bar_end":null,"information":""}],"available":6}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verified adaptive v2 MER_VIS_local_geometry_manifest.csv, MER_VIS_v2_summary.json, MER_VIS_report_verification.json. Pipeline version MER_VIS_adaptive_v2_2026-10-20 plus explicit failure-only centre recovery. Raw science images unchanged. PA is North towards East modulo180. All numbers from the current run, not copied from earlier reports. Example records: {"key":"failure","title":"Remaining fit failures","kind":"failure","examples":[{"id":"2697242050653408730","image":"C:\\Users\\gordo\\Documents\\Github\\PythonScripts\\Foreground Masking\\MER_VIS_pipeline_v2\\current_report\\images\\2697242050653408730.png","full_card":"D:\\Dropbox\\Public Documents\\UCLAN\\MSc Research\\Euclid\\MER_VIS_galaxy_reports\\all_2777\\png_QI\\2221_Euclid_2697242050653408730_MER_VIS_geometry_report_QI.png","disc":null,"bar":null,"inc":null,"centre_offset":null,"method":"smoothed_relaxed","flags":[],"bar_status":"not_measured","error":"ValueError: Only 0 accepted isophotes after recovery; need at least 3","n_good":"0","n_disc":"","n_bar":"","disc_scatter":null,"disc_span":null,"bar_end":null,"information":""},{"id":"2690276161666121755","image":"C:\\Users\\gordo\\Documents\\Github\\PythonScripts\\Foreground Masking\\MER_VIS_pipeline_v2\\current_report\\images\\2690276161666121755.png","full_card":"D:\\Dropbox\\Public Documents\\UCLAN\\MSc Research\\Euclid\\MER_VIS_galaxy_reports\\all_2777\\png_QI\\2444_Euclid_2690276161666121755_MER_VIS_geometry_report_QI.png","disc":null,"bar":null,"inc":null,"centre_offset":null,"method":"smoothed_relaxed","flags":[],"bar_status":"not_measured","error":"ValueError: Only 0 accepted isophotes after recovery; need at least 3","n_good":"0","n_disc":"","n_bar":"","disc_scatter":null,"disc_span":null,"bar_end":null,"information":""}],"available":6}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f5d78cfd6a4f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cec34116494b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19876ce1fd4a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fb4f722c424d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97428a345b4c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6d0842a63449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29B789-3352-4E3B-8025-26E0A013AE7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842B80-8612-404E-97A9-4D27C441C8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22730E-8387-43EA-89B2-5058777B7E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029F80-76AC-49D7-8EBD-17C3889BE7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AAB10D-29BA-4792-971E-5B3FE904E9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628CF0-72BE-427F-B763-E890D5B194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1C6449-AD75-4320-AC5E-E511FA8F99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80361B-E83F-4C0F-8A3A-5359C6D368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D5C6B-AB43-48D5-833B-94099B56DA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245427-9F7C-4254-BEA9-E7B103F74B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bef6ef7a2c4190" /><Relationship Type="http://schemas.openxmlformats.org/officeDocument/2006/relationships/slideLayout" Target="/ppt/slideLayouts/slideLayout1.xml" Id="R611653eefdb94ce1" /><Relationship Type="http://schemas.openxmlformats.org/officeDocument/2006/relationships/slideLayout" Target="/ppt/slideLayouts/slideLayout2.xml" Id="Re8fbe2a2c3904bbb" /><Relationship Type="http://schemas.openxmlformats.org/officeDocument/2006/relationships/slideLayout" Target="/ppt/slideLayouts/slideLayout3.xml" Id="Rd679eeb1d28d4240" /><Relationship Type="http://schemas.openxmlformats.org/officeDocument/2006/relationships/slideLayout" Target="/ppt/slideLayouts/slideLayout4.xml" Id="R9dfffbc78ce949f7" /><Relationship Type="http://schemas.openxmlformats.org/officeDocument/2006/relationships/slideLayout" Target="/ppt/slideLayouts/slideLayout5.xml" Id="R537aa683a07a462d" /><Relationship Type="http://schemas.openxmlformats.org/officeDocument/2006/relationships/slideLayout" Target="/ppt/slideLayouts/slideLayout6.xml" Id="R0c8feb8609ea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1653eefdb94ce1"/>
    <p:sldLayoutId xmlns:r="http://schemas.openxmlformats.org/officeDocument/2006/relationships" id="2147483650" r:id="Re8fbe2a2c3904bbb"/>
    <p:sldLayoutId xmlns:r="http://schemas.openxmlformats.org/officeDocument/2006/relationships" id="2147483651" r:id="Rd679eeb1d28d4240"/>
    <p:sldLayoutId xmlns:r="http://schemas.openxmlformats.org/officeDocument/2006/relationships" id="2147483652" r:id="R9dfffbc78ce949f7"/>
    <p:sldLayoutId xmlns:r="http://schemas.openxmlformats.org/officeDocument/2006/relationships" id="2147483653" r:id="R537aa683a07a462d"/>
    <p:sldLayoutId xmlns:r="http://schemas.openxmlformats.org/officeDocument/2006/relationships" id="2147483654" r:id="R0c8feb8609ea4d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532aac73f34227" /><Relationship Type="http://schemas.openxmlformats.org/officeDocument/2006/relationships/notesSlide" Target="/ppt/notesSlides/notesSlide1.xml" Id="R23d2e6d2d71f40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5377a60af946ff" /><Relationship Type="http://schemas.openxmlformats.org/officeDocument/2006/relationships/chart" Target="/ppt/slides/charts/chart1.xml" Id="R331cc81afbd24a85" /><Relationship Type="http://schemas.openxmlformats.org/officeDocument/2006/relationships/notesSlide" Target="/ppt/notesSlides/notesSlide2.xml" Id="Ra5b819ea150940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3e0efbd9e474013" /><Relationship Type="http://schemas.openxmlformats.org/officeDocument/2006/relationships/chart" Target="/ppt/slides/charts/chart2.xml" Id="R28c9246402b244a3" /><Relationship Type="http://schemas.openxmlformats.org/officeDocument/2006/relationships/notesSlide" Target="/ppt/notesSlides/notesSlide3.xml" Id="R34c0a8500dd347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f7f91af1b94380" /><Relationship Type="http://schemas.openxmlformats.org/officeDocument/2006/relationships/notesSlide" Target="/ppt/notesSlides/notesSlide4.xml" Id="Rc55ea732f3e24c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6f8ed57ead43b4" /><Relationship Type="http://schemas.openxmlformats.org/officeDocument/2006/relationships/image" Target="/ppt/media/image.png" Id="Rdf795a77ae964512" /><Relationship Type="http://schemas.openxmlformats.org/officeDocument/2006/relationships/notesSlide" Target="/ppt/notesSlides/notesSlide5.xml" Id="Rd2f4ca9d55d94a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dc888b80f3142f7" /><Relationship Type="http://schemas.openxmlformats.org/officeDocument/2006/relationships/notesSlide" Target="/ppt/notesSlides/notesSlide6.xml" Id="R01fe9738e67e44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3fe118fddb4ff8" /><Relationship Type="http://schemas.openxmlformats.org/officeDocument/2006/relationships/image" Target="/ppt/media/image2.png" Id="Rdce2e19d733e475c" /><Relationship Type="http://schemas.openxmlformats.org/officeDocument/2006/relationships/image" Target="/ppt/media/image3.png" Id="R4cc821e6ed304f93" /><Relationship Type="http://schemas.openxmlformats.org/officeDocument/2006/relationships/notesSlide" Target="/ppt/notesSlides/notesSlide7.xml" Id="Rd17ca18cee2846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af516335ee64899" /><Relationship Type="http://schemas.openxmlformats.org/officeDocument/2006/relationships/image" Target="/ppt/media/image4.png" Id="R875fea9a0b4b4ab6" /><Relationship Type="http://schemas.openxmlformats.org/officeDocument/2006/relationships/image" Target="/ppt/media/image5.png" Id="R75bb493509df4ba3" /><Relationship Type="http://schemas.openxmlformats.org/officeDocument/2006/relationships/notesSlide" Target="/ppt/notesSlides/notesSlide8.xml" Id="R3e916e2f68bd41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3779689584d431e" /><Relationship Type="http://schemas.openxmlformats.org/officeDocument/2006/relationships/image" Target="/ppt/media/image6.png" Id="R290433872dc0439e" /><Relationship Type="http://schemas.openxmlformats.org/officeDocument/2006/relationships/image" Target="/ppt/media/image7.png" Id="R37e133bff0bd4f76" /><Relationship Type="http://schemas.openxmlformats.org/officeDocument/2006/relationships/notesSlide" Target="/ppt/notesSlides/notesSlide9.xml" Id="Rcb5b4589fc564e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a9ca80d97a34d43" /><Relationship Type="http://schemas.openxmlformats.org/officeDocument/2006/relationships/image" Target="/ppt/media/image8.png" Id="R64fe70d65f584c05" /><Relationship Type="http://schemas.openxmlformats.org/officeDocument/2006/relationships/image" Target="/ppt/media/image9.png" Id="R1e0d87643e8e4488" /><Relationship Type="http://schemas.openxmlformats.org/officeDocument/2006/relationships/notesSlide" Target="/ppt/notesSlides/notesSlide10.xml" Id="Rbfc9201f599644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c6a507fc4bb4096" /><Relationship Type="http://schemas.openxmlformats.org/officeDocument/2006/relationships/image" Target="/ppt/media/image10.png" Id="R71fb4d760d9c406d" /><Relationship Type="http://schemas.openxmlformats.org/officeDocument/2006/relationships/image" Target="/ppt/media/image11.png" Id="R9e3f56ca25844a24" /><Relationship Type="http://schemas.openxmlformats.org/officeDocument/2006/relationships/notesSlide" Target="/ppt/notesSlides/notesSlide11.xml" Id="R1568bb77ad294b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eab71c28bd541e6" /><Relationship Type="http://schemas.openxmlformats.org/officeDocument/2006/relationships/image" Target="/ppt/media/image12.png" Id="R592d5de2b2bf4180" /><Relationship Type="http://schemas.openxmlformats.org/officeDocument/2006/relationships/image" Target="/ppt/media/image13.png" Id="R3827b43795e64277" /><Relationship Type="http://schemas.openxmlformats.org/officeDocument/2006/relationships/notesSlide" Target="/ppt/notesSlides/notesSlide12.xml" Id="Rd09232f9a3a24e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625ef2cc0754933" /><Relationship Type="http://schemas.openxmlformats.org/officeDocument/2006/relationships/image" Target="/ppt/media/image14.png" Id="Rc00fb26dfaca495d" /><Relationship Type="http://schemas.openxmlformats.org/officeDocument/2006/relationships/image" Target="/ppt/media/image15.png" Id="R972d4855e5814ff4" /><Relationship Type="http://schemas.openxmlformats.org/officeDocument/2006/relationships/notesSlide" Target="/ppt/notesSlides/notesSlide13.xml" Id="R12e2749173494b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81779adbd6c4534" /><Relationship Type="http://schemas.openxmlformats.org/officeDocument/2006/relationships/image" Target="/ppt/media/image16.png" Id="R8bc657405fc743a8" /><Relationship Type="http://schemas.openxmlformats.org/officeDocument/2006/relationships/image" Target="/ppt/media/image17.png" Id="Rea67cfb49b284daf" /><Relationship Type="http://schemas.openxmlformats.org/officeDocument/2006/relationships/notesSlide" Target="/ppt/notesSlides/notesSlide14.xml" Id="R0ef28d1d62c8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aaf732ab0464409" /><Relationship Type="http://schemas.openxmlformats.org/officeDocument/2006/relationships/image" Target="/ppt/media/image18.png" Id="Rbedcf4794e734dc6" /><Relationship Type="http://schemas.openxmlformats.org/officeDocument/2006/relationships/image" Target="/ppt/media/image19.png" Id="R660ca6763eca4e0b" /><Relationship Type="http://schemas.openxmlformats.org/officeDocument/2006/relationships/notesSlide" Target="/ppt/notesSlides/notesSlide15.xml" Id="Rdd871301fb1541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21f8e13a5b040d0" /><Relationship Type="http://schemas.openxmlformats.org/officeDocument/2006/relationships/image" Target="/ppt/media/image20.png" Id="R67ef68b870364b1c" /><Relationship Type="http://schemas.openxmlformats.org/officeDocument/2006/relationships/image" Target="/ppt/media/image21.png" Id="Rcc806e93d73c4506" /><Relationship Type="http://schemas.openxmlformats.org/officeDocument/2006/relationships/notesSlide" Target="/ppt/notesSlides/notesSlide16.xml" Id="Rd7b5360da79642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9e3d592f2a94283" /><Relationship Type="http://schemas.openxmlformats.org/officeDocument/2006/relationships/image" Target="/ppt/media/image22.png" Id="R587f1dccbd6d4e20" /><Relationship Type="http://schemas.openxmlformats.org/officeDocument/2006/relationships/image" Target="/ppt/media/image23.png" Id="R5c98e8081b5c4106" /><Relationship Type="http://schemas.openxmlformats.org/officeDocument/2006/relationships/notesSlide" Target="/ppt/notesSlides/notesSlide17.xml" Id="Re1906bea3d6d4b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flags</c:v>
          </c:tx>
          <c:spPr>
            <a:solidFill xmlns:a="http://schemas.openxmlformats.org/drawingml/2006/main">
              <a:srgbClr val="367A8C"/>
            </a:solidFill>
          </c:spPr>
          <c:invertIfNegative val="0"/>
          <c:cat>
            <c:strRef>
              <c:f>'Chart Data'!$A$2:$A$4</c:f>
              <c:strCache>
                <c:ptCount val="3"/>
                <c:pt idx="0">
                  <c:v>No counted flags</c:v>
                </c:pt>
                <c:pt idx="1">
                  <c:v>Flagged geometry</c:v>
                </c:pt>
                <c:pt idx="2">
                  <c:v>Failed fit</c:v>
                </c:pt>
              </c:strCache>
            </c:strRef>
          </c:cat>
          <c:val>
            <c:numRef>
              <c:f>'Chart Data'!$B$2:$B$4</c:f>
              <c:numCache>
                <c:formatCode>0%</c:formatCode>
                <c:ptCount val="3"/>
                <c:pt idx="0">
                  <c:v>0.10803</c:v>
                </c:pt>
                <c:pt idx="1">
                  <c:v>0</c:v>
                </c:pt>
                <c:pt idx="2">
                  <c:v>0</c:v>
                </c:pt>
              </c:numCache>
            </c:numRef>
          </c:val>
        </c:ser>
        <c:ser>
          <c:idx val="1"/>
          <c:order val="1"/>
          <c:tx>
            <c:v>1 flags</c:v>
          </c:tx>
          <c:spPr>
            <a:solidFill xmlns:a="http://schemas.openxmlformats.org/drawingml/2006/main">
              <a:srgbClr val="E5BB66"/>
            </a:solidFill>
          </c:spPr>
          <c:invertIfNegative val="0"/>
          <c:cat>
            <c:strRef>
              <c:f>'Chart Data'!$C$2:$C$4</c:f>
              <c:strCache>
                <c:ptCount val="3"/>
                <c:pt idx="0">
                  <c:v>No counted flags</c:v>
                </c:pt>
                <c:pt idx="1">
                  <c:v>Flagged geometry</c:v>
                </c:pt>
                <c:pt idx="2">
                  <c:v>Failed fit</c:v>
                </c:pt>
              </c:strCache>
            </c:strRef>
          </c:cat>
          <c:val>
            <c:numRef>
              <c:f>'Chart Data'!$D$2:$D$4</c:f>
              <c:numCache>
                <c:formatCode>0%</c:formatCode>
                <c:ptCount val="3"/>
                <c:pt idx="0">
                  <c:v>0</c:v>
                </c:pt>
                <c:pt idx="1">
                  <c:v>0.245949</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counted flags</c:v>
                </c:pt>
                <c:pt idx="1">
                  <c:v>Flagged geometry</c:v>
                </c:pt>
                <c:pt idx="2">
                  <c:v>Failed fit</c:v>
                </c:pt>
              </c:strCache>
            </c:strRef>
          </c:cat>
          <c:val>
            <c:numRef>
              <c:f>'Chart Data'!$F$2:$F$4</c:f>
              <c:numCache>
                <c:formatCode>0%</c:formatCode>
                <c:ptCount val="3"/>
                <c:pt idx="0">
                  <c:v>0</c:v>
                </c:pt>
                <c:pt idx="1">
                  <c:v>0.303205</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counted flags</c:v>
                </c:pt>
                <c:pt idx="1">
                  <c:v>Flagged geometry</c:v>
                </c:pt>
                <c:pt idx="2">
                  <c:v>Failed fit</c:v>
                </c:pt>
              </c:strCache>
            </c:strRef>
          </c:cat>
          <c:val>
            <c:numRef>
              <c:f>'Chart Data'!$H$2:$H$4</c:f>
              <c:numCache>
                <c:formatCode>0%</c:formatCode>
                <c:ptCount val="3"/>
                <c:pt idx="0">
                  <c:v>0</c:v>
                </c:pt>
                <c:pt idx="1">
                  <c:v>0.237667</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counted flags</c:v>
                </c:pt>
                <c:pt idx="1">
                  <c:v>Flagged geometry</c:v>
                </c:pt>
                <c:pt idx="2">
                  <c:v>Failed fit</c:v>
                </c:pt>
              </c:strCache>
            </c:strRef>
          </c:cat>
          <c:val>
            <c:numRef>
              <c:f>'Chart Data'!$J$2:$J$4</c:f>
              <c:numCache>
                <c:formatCode>0%</c:formatCode>
                <c:ptCount val="3"/>
                <c:pt idx="0">
                  <c:v>0</c:v>
                </c:pt>
                <c:pt idx="1">
                  <c:v>0.068779</c:v>
                </c:pt>
                <c:pt idx="2">
                  <c:v>0</c:v>
                </c:pt>
              </c:numCache>
            </c:numRef>
          </c:val>
        </c:ser>
        <c:ser>
          <c:idx val="5"/>
          <c:order val="5"/>
          <c:tx>
            <c:v>5 flags</c:v>
          </c:tx>
          <c:spPr>
            <a:solidFill xmlns:a="http://schemas.openxmlformats.org/drawingml/2006/main">
              <a:srgbClr val="754E79"/>
            </a:solidFill>
          </c:spPr>
          <c:invertIfNegative val="0"/>
          <c:cat>
            <c:strRef>
              <c:f>'Chart Data'!$K$2:$K$4</c:f>
              <c:strCache>
                <c:ptCount val="3"/>
                <c:pt idx="0">
                  <c:v>No counted flags</c:v>
                </c:pt>
                <c:pt idx="1">
                  <c:v>Flagged geometry</c:v>
                </c:pt>
                <c:pt idx="2">
                  <c:v>Failed fit</c:v>
                </c:pt>
              </c:strCache>
            </c:strRef>
          </c:cat>
          <c:val>
            <c:numRef>
              <c:f>'Chart Data'!$L$2:$L$4</c:f>
              <c:numCache>
                <c:formatCode>0%</c:formatCode>
                <c:ptCount val="3"/>
                <c:pt idx="0">
                  <c:v>0</c:v>
                </c:pt>
                <c:pt idx="1">
                  <c:v>0.021246</c:v>
                </c:pt>
                <c:pt idx="2">
                  <c:v>0</c:v>
                </c:pt>
              </c:numCache>
            </c:numRef>
          </c:val>
        </c:ser>
        <c:ser>
          <c:idx val="6"/>
          <c:order val="6"/>
          <c:tx>
            <c:v>6 flags</c:v>
          </c:tx>
          <c:spPr>
            <a:solidFill xmlns:a="http://schemas.openxmlformats.org/drawingml/2006/main">
              <a:srgbClr val="563B60"/>
            </a:solidFill>
          </c:spPr>
          <c:invertIfNegative val="0"/>
          <c:cat>
            <c:strRef>
              <c:f>'Chart Data'!$M$2:$M$4</c:f>
              <c:strCache>
                <c:ptCount val="3"/>
                <c:pt idx="0">
                  <c:v>No counted flags</c:v>
                </c:pt>
                <c:pt idx="1">
                  <c:v>Flagged geometry</c:v>
                </c:pt>
                <c:pt idx="2">
                  <c:v>Failed fit</c:v>
                </c:pt>
              </c:strCache>
            </c:strRef>
          </c:cat>
          <c:val>
            <c:numRef>
              <c:f>'Chart Data'!$N$2:$N$4</c:f>
              <c:numCache>
                <c:formatCode>0%</c:formatCode>
                <c:ptCount val="3"/>
                <c:pt idx="0">
                  <c:v>0</c:v>
                </c:pt>
                <c:pt idx="1">
                  <c:v>0.010803</c:v>
                </c:pt>
                <c:pt idx="2">
                  <c:v>0</c:v>
                </c:pt>
              </c:numCache>
            </c:numRef>
          </c:val>
        </c:ser>
        <c:ser>
          <c:idx val="7"/>
          <c:order val="7"/>
          <c:tx>
            <c:v>7 flags</c:v>
          </c:tx>
          <c:spPr>
            <a:solidFill xmlns:a="http://schemas.openxmlformats.org/drawingml/2006/main">
              <a:srgbClr val="4A587A"/>
            </a:solidFill>
          </c:spPr>
          <c:invertIfNegative val="0"/>
          <c:cat>
            <c:strRef>
              <c:f>'Chart Data'!$O$2:$O$4</c:f>
              <c:strCache>
                <c:ptCount val="3"/>
                <c:pt idx="0">
                  <c:v>No counted flags</c:v>
                </c:pt>
                <c:pt idx="1">
                  <c:v>Flagged geometry</c:v>
                </c:pt>
                <c:pt idx="2">
                  <c:v>Failed fit</c:v>
                </c:pt>
              </c:strCache>
            </c:strRef>
          </c:cat>
          <c:val>
            <c:numRef>
              <c:f>'Chart Data'!$P$2:$P$4</c:f>
              <c:numCache>
                <c:formatCode>0%</c:formatCode>
                <c:ptCount val="3"/>
                <c:pt idx="0">
                  <c:v>0</c:v>
                </c:pt>
                <c:pt idx="1">
                  <c:v>0.001801</c:v>
                </c:pt>
                <c:pt idx="2">
                  <c:v>0</c:v>
                </c:pt>
              </c:numCache>
            </c:numRef>
          </c:val>
        </c:ser>
        <c:ser>
          <c:idx val="8"/>
          <c:order val="8"/>
          <c:tx>
            <c:v>8 flags</c:v>
          </c:tx>
          <c:spPr>
            <a:solidFill xmlns:a="http://schemas.openxmlformats.org/drawingml/2006/main">
              <a:srgbClr val="4E7B71"/>
            </a:solidFill>
          </c:spPr>
          <c:invertIfNegative val="0"/>
          <c:cat>
            <c:strRef>
              <c:f>'Chart Data'!$Q$2:$Q$4</c:f>
              <c:strCache>
                <c:ptCount val="3"/>
                <c:pt idx="0">
                  <c:v>No counted flags</c:v>
                </c:pt>
                <c:pt idx="1">
                  <c:v>Flagged geometry</c:v>
                </c:pt>
                <c:pt idx="2">
                  <c:v>Failed fit</c:v>
                </c:pt>
              </c:strCache>
            </c:strRef>
          </c:cat>
          <c:val>
            <c:numRef>
              <c:f>'Chart Data'!$R$2:$R$4</c:f>
              <c:numCache>
                <c:formatCode>0%</c:formatCode>
                <c:ptCount val="3"/>
                <c:pt idx="0">
                  <c:v>0</c:v>
                </c:pt>
                <c:pt idx="1">
                  <c:v>0.00036</c:v>
                </c:pt>
                <c:pt idx="2">
                  <c:v>0</c:v>
                </c:pt>
              </c:numCache>
            </c:numRef>
          </c:val>
        </c:ser>
        <c:ser>
          <c:idx val="9"/>
          <c:order val="9"/>
          <c:tx>
            <c:v>Failed</c:v>
          </c:tx>
          <c:spPr>
            <a:solidFill xmlns:a="http://schemas.openxmlformats.org/drawingml/2006/main">
              <a:srgbClr val="AC4B47"/>
            </a:solidFill>
          </c:spPr>
          <c:invertIfNegative val="0"/>
          <c:cat>
            <c:strRef>
              <c:f>'Chart Data'!$S$2:$S$4</c:f>
              <c:strCache>
                <c:ptCount val="3"/>
                <c:pt idx="0">
                  <c:v>No counted flags</c:v>
                </c:pt>
                <c:pt idx="1">
                  <c:v>Flagged geometry</c:v>
                </c:pt>
                <c:pt idx="2">
                  <c:v>Failed fit</c:v>
                </c:pt>
              </c:strCache>
            </c:strRef>
          </c:cat>
          <c:val>
            <c:numRef>
              <c:f>'Chart Data'!$T$2:$T$4</c:f>
              <c:numCache>
                <c:formatCode>0%</c:formatCode>
                <c:ptCount val="3"/>
                <c:pt idx="0">
                  <c:v>0</c:v>
                </c:pt>
                <c:pt idx="1">
                  <c:v>0</c:v>
                </c:pt>
                <c:pt idx="2">
                  <c:v>0.002161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Galaxies</c:v>
          </c:tx>
          <c:spPr>
            <a:solidFill xmlns:a="http://schemas.openxmlformats.org/drawingml/2006/main">
              <a:srgbClr val="C18B28"/>
            </a:solidFill>
          </c:spPr>
          <c:invertIfNegative val="0"/>
          <c:cat>
            <c:strRef>
              <c:f>'Chart Data'!$A$2:$A$12</c:f>
              <c:strCache>
                <c:ptCount val="11"/>
                <c:pt idx="0">
                  <c:v>Small selected bar interval</c:v>
                </c:pt>
                <c:pt idx="1">
                  <c:v>Changing disc ellipticity</c:v>
                </c:pt>
                <c:pt idx="2">
                  <c:v>Unstable disc PA</c:v>
                </c:pt>
                <c:pt idx="3">
                  <c:v>No accepted bar; disc retained</c:v>
                </c:pt>
                <c:pt idx="4">
                  <c:v>Small disc</c:v>
                </c:pt>
                <c:pt idx="5">
                  <c:v>Disc interval fallback</c:v>
                </c:pt>
                <c:pt idx="6">
                  <c:v>Weaker accepted bar signature</c:v>
                </c:pt>
                <c:pt idx="7">
                  <c:v>Bar and disc intervals close</c:v>
                </c:pt>
                <c:pt idx="8">
                  <c:v>Large centre offset</c:v>
                </c:pt>
                <c:pt idx="9">
                  <c:v>Star mask removed in retry</c:v>
                </c:pt>
                <c:pt idx="10">
                  <c:v>Relaxed recovery</c:v>
                </c:pt>
              </c:strCache>
            </c:strRef>
          </c:cat>
          <c:val>
            <c:numRef>
              <c:f>'Chart Data'!$B$2:$B$12</c:f>
              <c:numCache>
                <c:formatCode>0</c:formatCode>
                <c:ptCount val="11"/>
                <c:pt idx="0">
                  <c:v>1447</c:v>
                </c:pt>
                <c:pt idx="1">
                  <c:v>1354</c:v>
                </c:pt>
                <c:pt idx="2">
                  <c:v>1273</c:v>
                </c:pt>
                <c:pt idx="3">
                  <c:v>453</c:v>
                </c:pt>
                <c:pt idx="4">
                  <c:v>298</c:v>
                </c:pt>
                <c:pt idx="5">
                  <c:v>269</c:v>
                </c:pt>
                <c:pt idx="6">
                  <c:v>231</c:v>
                </c:pt>
                <c:pt idx="7">
                  <c:v>211</c:v>
                </c:pt>
                <c:pt idx="8">
                  <c:v>43</c:v>
                </c:pt>
                <c:pt idx="9">
                  <c:v>18</c:v>
                </c:pt>
                <c:pt idx="10">
                  <c:v>13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EB0D36-1CD6-4BDE-8669-25E24DD11B64}"/>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Euclid MER VIS adaptive geometry outcomes</a:t>
            </a:r>
          </a:p>
        </p:txBody>
      </p:sp>
      <p:sp>
        <p:nvSpPr>
          <p:cNvPr id="2" name="">
            <a:extLst xmlns:a="http://schemas.openxmlformats.org/drawingml/2006/main">
              <a:ext uri="{FF2B5EF4-FFF2-40B4-BE49-F238E27FC236}">
                <a16:creationId xmlns:a16="http://schemas.microsoft.com/office/drawing/2014/main" id="{90ADEBB0-9B5C-410C-BB17-7EFACED1A6FD}"/>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17</a:t>
            </a:r>
          </a:p>
        </p:txBody>
      </p:sp>
      <p:sp>
        <p:nvSpPr>
          <p:cNvPr id="3" name="">
            <a:extLst xmlns:a="http://schemas.openxmlformats.org/drawingml/2006/main">
              <a:ext uri="{FF2B5EF4-FFF2-40B4-BE49-F238E27FC236}">
                <a16:creationId xmlns:a16="http://schemas.microsoft.com/office/drawing/2014/main" id="{CAE9F4D7-1D5E-4345-9432-9D51A3DA2782}"/>
              </a:ext>
            </a:extLst>
          </p:cNvPr>
          <p:cNvSpPr>
            <a:spLocks xmlns:a="http://schemas.openxmlformats.org/drawingml/2006/main" noGrp="1"/>
          </p:cNvSpPr>
          <p:nvPr/>
        </p:nvSpPr>
        <p:spPr>
          <a:xfrm xmlns:a="http://schemas.openxmlformats.org/drawingml/2006/main">
            <a:off x="609600" y="1905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205F7A"/>
                </a:solidFill>
                <a:latin typeface="Arial"/>
                <a:ea typeface="Arial"/>
                <a:cs typeface="Arial"/>
              </a:defRPr>
            </a:defPPr>
            <a:lvl1pPr>
              <a:defRPr sz="4125" b="1">
                <a:solidFill>
                  <a:srgbClr val="205F7A"/>
                </a:solidFill>
                <a:latin typeface="Arial"/>
                <a:ea typeface="Arial"/>
                <a:cs typeface="Arial"/>
              </a:defRPr>
            </a:lvl1pPr>
            <a:lvl2pPr>
              <a:defRPr sz="4125" b="1">
                <a:solidFill>
                  <a:srgbClr val="205F7A"/>
                </a:solidFill>
                <a:latin typeface="Arial"/>
                <a:ea typeface="Arial"/>
                <a:cs typeface="Arial"/>
              </a:defRPr>
            </a:lvl2pPr>
            <a:lvl3pPr>
              <a:defRPr sz="4125" b="1">
                <a:solidFill>
                  <a:srgbClr val="205F7A"/>
                </a:solidFill>
                <a:latin typeface="Arial"/>
                <a:ea typeface="Arial"/>
                <a:cs typeface="Arial"/>
              </a:defRPr>
            </a:lvl3pPr>
            <a:lvl4pPr>
              <a:defRPr sz="4125" b="1">
                <a:solidFill>
                  <a:srgbClr val="205F7A"/>
                </a:solidFill>
                <a:latin typeface="Arial"/>
                <a:ea typeface="Arial"/>
                <a:cs typeface="Arial"/>
              </a:defRPr>
            </a:lvl4pPr>
            <a:lvl5pPr>
              <a:defRPr sz="4125" b="1">
                <a:solidFill>
                  <a:srgbClr val="205F7A"/>
                </a:solidFill>
                <a:latin typeface="Arial"/>
                <a:ea typeface="Arial"/>
                <a:cs typeface="Arial"/>
              </a:defRPr>
            </a:lvl5pPr>
            <a:lvl6pPr>
              <a:defRPr sz="4125" b="1">
                <a:solidFill>
                  <a:srgbClr val="205F7A"/>
                </a:solidFill>
                <a:latin typeface="Arial"/>
                <a:ea typeface="Arial"/>
                <a:cs typeface="Arial"/>
              </a:defRPr>
            </a:lvl6pPr>
            <a:lvl7pPr>
              <a:defRPr sz="4125" b="1">
                <a:solidFill>
                  <a:srgbClr val="205F7A"/>
                </a:solidFill>
                <a:latin typeface="Arial"/>
                <a:ea typeface="Arial"/>
                <a:cs typeface="Arial"/>
              </a:defRPr>
            </a:lvl7pPr>
            <a:lvl8pPr>
              <a:defRPr sz="4125" b="1">
                <a:solidFill>
                  <a:srgbClr val="205F7A"/>
                </a:solidFill>
                <a:latin typeface="Arial"/>
                <a:ea typeface="Arial"/>
                <a:cs typeface="Arial"/>
              </a:defRPr>
            </a:lvl8pPr>
            <a:lvl9pPr>
              <a:defRPr sz="4125" b="1">
                <a:solidFill>
                  <a:srgbClr val="205F7A"/>
                </a:solidFill>
                <a:latin typeface="Arial"/>
                <a:ea typeface="Arial"/>
                <a:cs typeface="Arial"/>
              </a:defRPr>
            </a:lvl9pPr>
          </a:lstStyle>
          <a:p xmlns:a="http://schemas.openxmlformats.org/drawingml/2006/main">
            <a:pPr>
              <a:defRPr sz="4125" b="1">
                <a:solidFill>
                  <a:srgbClr val="205F7A"/>
                </a:solidFill>
                <a:latin typeface="Arial"/>
                <a:ea typeface="Arial"/>
                <a:cs typeface="Arial"/>
              </a:defRPr>
            </a:pPr>
            <a:r>
              <a:rPr sz="4125" b="1">
                <a:solidFill>
                  <a:srgbClr val="205F7A"/>
                </a:solidFill>
                <a:latin typeface="Arial"/>
                <a:ea typeface="Arial"/>
                <a:cs typeface="Arial"/>
              </a:rPr>
              <a:t>2,777 galaxies reprocessed</a:t>
            </a:r>
          </a:p>
        </p:txBody>
      </p:sp>
      <p:sp>
        <p:nvSpPr>
          <p:cNvPr id="4" name="">
            <a:extLst xmlns:a="http://schemas.openxmlformats.org/drawingml/2006/main">
              <a:ext uri="{FF2B5EF4-FFF2-40B4-BE49-F238E27FC236}">
                <a16:creationId xmlns:a16="http://schemas.microsoft.com/office/drawing/2014/main" id="{B0BCF8BF-FC4B-4C72-861D-E58FC9DC55CE}"/>
              </a:ext>
            </a:extLst>
          </p:cNvPr>
          <p:cNvSpPr>
            <a:spLocks xmlns:a="http://schemas.openxmlformats.org/drawingml/2006/main" noGrp="1"/>
          </p:cNvSpPr>
          <p:nvPr/>
        </p:nvSpPr>
        <p:spPr>
          <a:xfrm xmlns:a="http://schemas.openxmlformats.org/drawingml/2006/main">
            <a:off x="609600" y="3048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2633"/>
                </a:solidFill>
                <a:latin typeface="Arial"/>
                <a:ea typeface="Arial"/>
                <a:cs typeface="Arial"/>
              </a:defRPr>
            </a:defPPr>
            <a:lvl1pPr>
              <a:defRPr sz="2550" b="0">
                <a:solidFill>
                  <a:srgbClr val="142633"/>
                </a:solidFill>
                <a:latin typeface="Arial"/>
                <a:ea typeface="Arial"/>
                <a:cs typeface="Arial"/>
              </a:defRPr>
            </a:lvl1pPr>
            <a:lvl2pPr>
              <a:defRPr sz="2550" b="0">
                <a:solidFill>
                  <a:srgbClr val="142633"/>
                </a:solidFill>
                <a:latin typeface="Arial"/>
                <a:ea typeface="Arial"/>
                <a:cs typeface="Arial"/>
              </a:defRPr>
            </a:lvl2pPr>
            <a:lvl3pPr>
              <a:defRPr sz="2550" b="0">
                <a:solidFill>
                  <a:srgbClr val="142633"/>
                </a:solidFill>
                <a:latin typeface="Arial"/>
                <a:ea typeface="Arial"/>
                <a:cs typeface="Arial"/>
              </a:defRPr>
            </a:lvl3pPr>
            <a:lvl4pPr>
              <a:defRPr sz="2550" b="0">
                <a:solidFill>
                  <a:srgbClr val="142633"/>
                </a:solidFill>
                <a:latin typeface="Arial"/>
                <a:ea typeface="Arial"/>
                <a:cs typeface="Arial"/>
              </a:defRPr>
            </a:lvl4pPr>
            <a:lvl5pPr>
              <a:defRPr sz="2550" b="0">
                <a:solidFill>
                  <a:srgbClr val="142633"/>
                </a:solidFill>
                <a:latin typeface="Arial"/>
                <a:ea typeface="Arial"/>
                <a:cs typeface="Arial"/>
              </a:defRPr>
            </a:lvl5pPr>
            <a:lvl6pPr>
              <a:defRPr sz="2550" b="0">
                <a:solidFill>
                  <a:srgbClr val="142633"/>
                </a:solidFill>
                <a:latin typeface="Arial"/>
                <a:ea typeface="Arial"/>
                <a:cs typeface="Arial"/>
              </a:defRPr>
            </a:lvl6pPr>
            <a:lvl7pPr>
              <a:defRPr sz="2550" b="0">
                <a:solidFill>
                  <a:srgbClr val="142633"/>
                </a:solidFill>
                <a:latin typeface="Arial"/>
                <a:ea typeface="Arial"/>
                <a:cs typeface="Arial"/>
              </a:defRPr>
            </a:lvl7pPr>
            <a:lvl8pPr>
              <a:defRPr sz="2550" b="0">
                <a:solidFill>
                  <a:srgbClr val="142633"/>
                </a:solidFill>
                <a:latin typeface="Arial"/>
                <a:ea typeface="Arial"/>
                <a:cs typeface="Arial"/>
              </a:defRPr>
            </a:lvl8pPr>
            <a:lvl9pPr>
              <a:defRPr sz="2550" b="0">
                <a:solidFill>
                  <a:srgbClr val="142633"/>
                </a:solidFill>
                <a:latin typeface="Arial"/>
                <a:ea typeface="Arial"/>
                <a:cs typeface="Arial"/>
              </a:defRPr>
            </a:lvl9pPr>
          </a:lstStyle>
          <a:p xmlns:a="http://schemas.openxmlformats.org/drawingml/2006/main">
            <a:pPr>
              <a:defRPr sz="2550" b="0">
                <a:solidFill>
                  <a:srgbClr val="142633"/>
                </a:solidFill>
                <a:latin typeface="Arial"/>
                <a:ea typeface="Arial"/>
                <a:cs typeface="Arial"/>
              </a:defRPr>
            </a:pPr>
            <a:r>
              <a:rPr sz="2550" b="0">
                <a:solidFill>
                  <a:srgbClr val="142633"/>
                </a:solidFill>
                <a:latin typeface="Arial"/>
                <a:ea typeface="Arial"/>
                <a:cs typeface="Arial"/>
              </a:rPr>
              <a:t>2771 disc measurements; 6 remaining failures</a:t>
            </a:r>
          </a:p>
        </p:txBody>
      </p:sp>
      <p:sp>
        <p:nvSpPr>
          <p:cNvPr id="5" name="">
            <a:extLst xmlns:a="http://schemas.openxmlformats.org/drawingml/2006/main">
              <a:ext uri="{FF2B5EF4-FFF2-40B4-BE49-F238E27FC236}">
                <a16:creationId xmlns:a16="http://schemas.microsoft.com/office/drawing/2014/main" id="{62B3104B-B165-4BB4-ACCE-3EDA47136D8A}"/>
              </a:ext>
            </a:extLst>
          </p:cNvPr>
          <p:cNvSpPr>
            <a:spLocks xmlns:a="http://schemas.openxmlformats.org/drawingml/2006/main" noGrp="1"/>
          </p:cNvSpPr>
          <p:nvPr/>
        </p:nvSpPr>
        <p:spPr>
          <a:xfrm xmlns:a="http://schemas.openxmlformats.org/drawingml/2006/main">
            <a:off x="609600" y="3905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565 of 570 original failures recovered</a:t>
            </a:r>
          </a:p>
        </p:txBody>
      </p:sp>
      <p:sp>
        <p:nvSpPr>
          <p:cNvPr id="6" name="">
            <a:extLst xmlns:a="http://schemas.openxmlformats.org/drawingml/2006/main">
              <a:ext uri="{FF2B5EF4-FFF2-40B4-BE49-F238E27FC236}">
                <a16:creationId xmlns:a16="http://schemas.microsoft.com/office/drawing/2014/main" id="{407FB1B2-8C7F-441C-BB41-7891E1E6957E}"/>
              </a:ext>
            </a:extLst>
          </p:cNvPr>
          <p:cNvSpPr>
            <a:spLocks xmlns:a="http://schemas.openxmlformats.org/drawingml/2006/main" noGrp="1"/>
          </p:cNvSpPr>
          <p:nvPr/>
        </p:nvSpPr>
        <p:spPr>
          <a:xfrm xmlns:a="http://schemas.openxmlformats.org/drawingml/2006/main">
            <a:off x="609600" y="4810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Centres checked from the images. Disc and bar outcomes reported separately.</a:t>
            </a:r>
          </a:p>
        </p:txBody>
      </p:sp>
      <p:sp>
        <p:nvSpPr>
          <p:cNvPr id="7" name="">
            <a:extLst xmlns:a="http://schemas.openxmlformats.org/drawingml/2006/main">
              <a:ext uri="{FF2B5EF4-FFF2-40B4-BE49-F238E27FC236}">
                <a16:creationId xmlns:a16="http://schemas.microsoft.com/office/drawing/2014/main" id="{323078A5-9122-4D86-9422-CF7BCF9142C3}"/>
              </a:ext>
            </a:extLst>
          </p:cNvPr>
          <p:cNvSpPr>
            <a:spLocks xmlns:a="http://schemas.openxmlformats.org/drawingml/2006/main" noGrp="1"/>
          </p:cNvSpPr>
          <p:nvPr/>
        </p:nvSpPr>
        <p:spPr>
          <a:xfrm xmlns:a="http://schemas.openxmlformats.org/drawingml/2006/main">
            <a:off x="609600" y="59055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Current run 20 October 2026</a:t>
            </a:r>
          </a:p>
        </p:txBody>
      </p:sp>
    </p:spTree>
    <p:extLst>
      <p:ext uri="{BB962C8B-B14F-4D97-AF65-F5344CB8AC3E}">
        <p14:creationId xmlns:p14="http://schemas.microsoft.com/office/powerpoint/2010/main" val="214306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EF14378-AF5D-44B2-BE2E-8D8B8D4449F7}"/>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Fitting outcomes by counted quality flags</a:t>
            </a:r>
          </a:p>
        </p:txBody>
      </p:sp>
      <p:sp>
        <p:nvSpPr>
          <p:cNvPr id="2" name="">
            <a:extLst xmlns:a="http://schemas.openxmlformats.org/drawingml/2006/main">
              <a:ext uri="{FF2B5EF4-FFF2-40B4-BE49-F238E27FC236}">
                <a16:creationId xmlns:a16="http://schemas.microsoft.com/office/drawing/2014/main" id="{64CEBB7B-D589-4FFE-A029-0C185D111846}"/>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17</a:t>
            </a:r>
          </a:p>
        </p:txBody>
      </p:sp>
      <p:sp>
        <p:nvSpPr>
          <p:cNvPr id="3" name="">
            <a:extLst xmlns:a="http://schemas.openxmlformats.org/drawingml/2006/main">
              <a:ext uri="{FF2B5EF4-FFF2-40B4-BE49-F238E27FC236}">
                <a16:creationId xmlns:a16="http://schemas.microsoft.com/office/drawing/2014/main" id="{CF7A4EB2-664A-4866-9DDA-B36482CAA67E}"/>
              </a:ext>
            </a:extLst>
          </p:cNvPr>
          <p:cNvSpPr>
            <a:spLocks xmlns:a="http://schemas.openxmlformats.org/drawingml/2006/main" noGrp="1"/>
          </p:cNvSpPr>
          <p:nvPr/>
        </p:nvSpPr>
        <p:spPr>
          <a:xfrm xmlns:a="http://schemas.openxmlformats.org/drawingml/2006/main">
            <a:off x="609600" y="1285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Percentage of all 2,777 galaxies. Face-on is informational.</a:t>
            </a:r>
          </a:p>
        </p:txBody>
      </p:sp>
      <p:graphicFrame>
        <p:nvGraphicFramePr>
          <p:cNvPr id="4" name="Chart">
            <a:extLst xmlns:a="http://schemas.openxmlformats.org/drawingml/2006/main">
              <a:ext uri="{FF2B5EF4-FFF2-40B4-BE49-F238E27FC236}">
                <a16:creationId xmlns:a16="http://schemas.microsoft.com/office/drawing/2014/main" id="{3437EB42-622E-4EE3-A5CD-6B038173C0A9}"/>
              </a:ext>
            </a:extLst>
          </p:cNvPr>
          <p:cNvGraphicFramePr/>
          <p:nvPr/>
        </p:nvGraphicFramePr>
        <p:xfrm>
          <a:off xmlns:a="http://schemas.openxmlformats.org/drawingml/2006/main" x="609600" y="1905000"/>
          <a:ext xmlns:a="http://schemas.openxmlformats.org/drawingml/2006/main" cx="7429500" cy="3619500"/>
        </p:xfrm>
        <a:graphic xmlns:a="http://schemas.openxmlformats.org/drawingml/2006/main">
          <a:graphicData uri="http://schemas.openxmlformats.org/drawingml/2006/chart">
            <c:chart xmlns:r="http://schemas.openxmlformats.org/officeDocument/2006/relationships" xmlns:c="http://schemas.openxmlformats.org/drawingml/2006/chart" r:id="R331cc81afbd24a85"/>
          </a:graphicData>
        </a:graphic>
      </p:graphicFrame>
      <p:sp>
        <p:nvSpPr>
          <p:cNvPr id="5" name="">
            <a:extLst xmlns:a="http://schemas.openxmlformats.org/drawingml/2006/main">
              <a:ext uri="{FF2B5EF4-FFF2-40B4-BE49-F238E27FC236}">
                <a16:creationId xmlns:a16="http://schemas.microsoft.com/office/drawing/2014/main" id="{B4EED7FB-48E4-4A15-9001-D34AD53FCFAF}"/>
              </a:ext>
            </a:extLst>
          </p:cNvPr>
          <p:cNvSpPr>
            <a:spLocks xmlns:a="http://schemas.openxmlformats.org/drawingml/2006/main" noGrp="1"/>
          </p:cNvSpPr>
          <p:nvPr/>
        </p:nvSpPr>
        <p:spPr>
          <a:xfrm xmlns:a="http://schemas.openxmlformats.org/drawingml/2006/main">
            <a:off x="8286750" y="18097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05F7A"/>
                </a:solidFill>
                <a:latin typeface="Arial"/>
                <a:ea typeface="Arial"/>
                <a:cs typeface="Arial"/>
              </a:defRPr>
            </a:defPPr>
            <a:lvl1pPr>
              <a:defRPr sz="1875" b="1">
                <a:solidFill>
                  <a:srgbClr val="205F7A"/>
                </a:solidFill>
                <a:latin typeface="Arial"/>
                <a:ea typeface="Arial"/>
                <a:cs typeface="Arial"/>
              </a:defRPr>
            </a:lvl1pPr>
            <a:lvl2pPr>
              <a:defRPr sz="1875" b="1">
                <a:solidFill>
                  <a:srgbClr val="205F7A"/>
                </a:solidFill>
                <a:latin typeface="Arial"/>
                <a:ea typeface="Arial"/>
                <a:cs typeface="Arial"/>
              </a:defRPr>
            </a:lvl2pPr>
            <a:lvl3pPr>
              <a:defRPr sz="1875" b="1">
                <a:solidFill>
                  <a:srgbClr val="205F7A"/>
                </a:solidFill>
                <a:latin typeface="Arial"/>
                <a:ea typeface="Arial"/>
                <a:cs typeface="Arial"/>
              </a:defRPr>
            </a:lvl3pPr>
            <a:lvl4pPr>
              <a:defRPr sz="1875" b="1">
                <a:solidFill>
                  <a:srgbClr val="205F7A"/>
                </a:solidFill>
                <a:latin typeface="Arial"/>
                <a:ea typeface="Arial"/>
                <a:cs typeface="Arial"/>
              </a:defRPr>
            </a:lvl4pPr>
            <a:lvl5pPr>
              <a:defRPr sz="1875" b="1">
                <a:solidFill>
                  <a:srgbClr val="205F7A"/>
                </a:solidFill>
                <a:latin typeface="Arial"/>
                <a:ea typeface="Arial"/>
                <a:cs typeface="Arial"/>
              </a:defRPr>
            </a:lvl5pPr>
            <a:lvl6pPr>
              <a:defRPr sz="1875" b="1">
                <a:solidFill>
                  <a:srgbClr val="205F7A"/>
                </a:solidFill>
                <a:latin typeface="Arial"/>
                <a:ea typeface="Arial"/>
                <a:cs typeface="Arial"/>
              </a:defRPr>
            </a:lvl6pPr>
            <a:lvl7pPr>
              <a:defRPr sz="1875" b="1">
                <a:solidFill>
                  <a:srgbClr val="205F7A"/>
                </a:solidFill>
                <a:latin typeface="Arial"/>
                <a:ea typeface="Arial"/>
                <a:cs typeface="Arial"/>
              </a:defRPr>
            </a:lvl7pPr>
            <a:lvl8pPr>
              <a:defRPr sz="1875" b="1">
                <a:solidFill>
                  <a:srgbClr val="205F7A"/>
                </a:solidFill>
                <a:latin typeface="Arial"/>
                <a:ea typeface="Arial"/>
                <a:cs typeface="Arial"/>
              </a:defRPr>
            </a:lvl8pPr>
            <a:lvl9pPr>
              <a:defRPr sz="1875" b="1">
                <a:solidFill>
                  <a:srgbClr val="205F7A"/>
                </a:solidFill>
                <a:latin typeface="Arial"/>
                <a:ea typeface="Arial"/>
                <a:cs typeface="Arial"/>
              </a:defRPr>
            </a:lvl9pPr>
          </a:lstStyle>
          <a:p xmlns:a="http://schemas.openxmlformats.org/drawingml/2006/main">
            <a:pPr>
              <a:defRPr sz="1875" b="1">
                <a:solidFill>
                  <a:srgbClr val="205F7A"/>
                </a:solidFill>
                <a:latin typeface="Arial"/>
                <a:ea typeface="Arial"/>
                <a:cs typeface="Arial"/>
              </a:defRPr>
            </a:pPr>
            <a:r>
              <a:rPr sz="1875" b="1">
                <a:solidFill>
                  <a:srgbClr val="205F7A"/>
                </a:solidFill>
                <a:latin typeface="Arial"/>
                <a:ea typeface="Arial"/>
                <a:cs typeface="Arial"/>
              </a:rPr>
              <a:t>No flags: 300 (10.8%)</a:t>
            </a:r>
          </a:p>
        </p:txBody>
      </p:sp>
      <p:sp>
        <p:nvSpPr>
          <p:cNvPr id="6" name="">
            <a:extLst xmlns:a="http://schemas.openxmlformats.org/drawingml/2006/main">
              <a:ext uri="{FF2B5EF4-FFF2-40B4-BE49-F238E27FC236}">
                <a16:creationId xmlns:a16="http://schemas.microsoft.com/office/drawing/2014/main" id="{785D2485-D5D2-45D6-A457-E8DE1FF63727}"/>
              </a:ext>
            </a:extLst>
          </p:cNvPr>
          <p:cNvSpPr>
            <a:spLocks xmlns:a="http://schemas.openxmlformats.org/drawingml/2006/main" noGrp="1"/>
          </p:cNvSpPr>
          <p:nvPr/>
        </p:nvSpPr>
        <p:spPr>
          <a:xfrm xmlns:a="http://schemas.openxmlformats.org/drawingml/2006/main">
            <a:off x="8286750" y="24765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E5BB66"/>
                </a:solidFill>
                <a:latin typeface="Arial"/>
                <a:ea typeface="Arial"/>
                <a:cs typeface="Arial"/>
              </a:defRPr>
            </a:defPPr>
            <a:lvl1pPr>
              <a:defRPr sz="1650" b="1">
                <a:solidFill>
                  <a:srgbClr val="E5BB66"/>
                </a:solidFill>
                <a:latin typeface="Arial"/>
                <a:ea typeface="Arial"/>
                <a:cs typeface="Arial"/>
              </a:defRPr>
            </a:lvl1pPr>
            <a:lvl2pPr>
              <a:defRPr sz="1650" b="1">
                <a:solidFill>
                  <a:srgbClr val="E5BB66"/>
                </a:solidFill>
                <a:latin typeface="Arial"/>
                <a:ea typeface="Arial"/>
                <a:cs typeface="Arial"/>
              </a:defRPr>
            </a:lvl2pPr>
            <a:lvl3pPr>
              <a:defRPr sz="1650" b="1">
                <a:solidFill>
                  <a:srgbClr val="E5BB66"/>
                </a:solidFill>
                <a:latin typeface="Arial"/>
                <a:ea typeface="Arial"/>
                <a:cs typeface="Arial"/>
              </a:defRPr>
            </a:lvl3pPr>
            <a:lvl4pPr>
              <a:defRPr sz="1650" b="1">
                <a:solidFill>
                  <a:srgbClr val="E5BB66"/>
                </a:solidFill>
                <a:latin typeface="Arial"/>
                <a:ea typeface="Arial"/>
                <a:cs typeface="Arial"/>
              </a:defRPr>
            </a:lvl4pPr>
            <a:lvl5pPr>
              <a:defRPr sz="1650" b="1">
                <a:solidFill>
                  <a:srgbClr val="E5BB66"/>
                </a:solidFill>
                <a:latin typeface="Arial"/>
                <a:ea typeface="Arial"/>
                <a:cs typeface="Arial"/>
              </a:defRPr>
            </a:lvl5pPr>
            <a:lvl6pPr>
              <a:defRPr sz="1650" b="1">
                <a:solidFill>
                  <a:srgbClr val="E5BB66"/>
                </a:solidFill>
                <a:latin typeface="Arial"/>
                <a:ea typeface="Arial"/>
                <a:cs typeface="Arial"/>
              </a:defRPr>
            </a:lvl6pPr>
            <a:lvl7pPr>
              <a:defRPr sz="1650" b="1">
                <a:solidFill>
                  <a:srgbClr val="E5BB66"/>
                </a:solidFill>
                <a:latin typeface="Arial"/>
                <a:ea typeface="Arial"/>
                <a:cs typeface="Arial"/>
              </a:defRPr>
            </a:lvl7pPr>
            <a:lvl8pPr>
              <a:defRPr sz="1650" b="1">
                <a:solidFill>
                  <a:srgbClr val="E5BB66"/>
                </a:solidFill>
                <a:latin typeface="Arial"/>
                <a:ea typeface="Arial"/>
                <a:cs typeface="Arial"/>
              </a:defRPr>
            </a:lvl8pPr>
            <a:lvl9pPr>
              <a:defRPr sz="1650" b="1">
                <a:solidFill>
                  <a:srgbClr val="E5BB66"/>
                </a:solidFill>
                <a:latin typeface="Arial"/>
                <a:ea typeface="Arial"/>
                <a:cs typeface="Arial"/>
              </a:defRPr>
            </a:lvl9pPr>
          </a:lstStyle>
          <a:p xmlns:a="http://schemas.openxmlformats.org/drawingml/2006/main">
            <a:pPr>
              <a:defRPr sz="1650" b="1">
                <a:solidFill>
                  <a:srgbClr val="E5BB66"/>
                </a:solidFill>
                <a:latin typeface="Arial"/>
                <a:ea typeface="Arial"/>
                <a:cs typeface="Arial"/>
              </a:defRPr>
            </a:pPr>
            <a:r>
              <a:rPr sz="1650" b="1">
                <a:solidFill>
                  <a:srgbClr val="E5BB66"/>
                </a:solidFill>
                <a:latin typeface="Arial"/>
                <a:ea typeface="Arial"/>
                <a:cs typeface="Arial"/>
              </a:rPr>
              <a:t>1 flag: 683 (24.6%)</a:t>
            </a:r>
          </a:p>
        </p:txBody>
      </p:sp>
      <p:sp>
        <p:nvSpPr>
          <p:cNvPr id="7" name="">
            <a:extLst xmlns:a="http://schemas.openxmlformats.org/drawingml/2006/main">
              <a:ext uri="{FF2B5EF4-FFF2-40B4-BE49-F238E27FC236}">
                <a16:creationId xmlns:a16="http://schemas.microsoft.com/office/drawing/2014/main" id="{47F04237-8AB0-424E-B7A9-C43C5583DF0C}"/>
              </a:ext>
            </a:extLst>
          </p:cNvPr>
          <p:cNvSpPr>
            <a:spLocks xmlns:a="http://schemas.openxmlformats.org/drawingml/2006/main" noGrp="1"/>
          </p:cNvSpPr>
          <p:nvPr/>
        </p:nvSpPr>
        <p:spPr>
          <a:xfrm xmlns:a="http://schemas.openxmlformats.org/drawingml/2006/main">
            <a:off x="8286750" y="28384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CC9637"/>
                </a:solidFill>
                <a:latin typeface="Arial"/>
                <a:ea typeface="Arial"/>
                <a:cs typeface="Arial"/>
              </a:defRPr>
            </a:defPPr>
            <a:lvl1pPr>
              <a:defRPr sz="1650" b="1">
                <a:solidFill>
                  <a:srgbClr val="CC9637"/>
                </a:solidFill>
                <a:latin typeface="Arial"/>
                <a:ea typeface="Arial"/>
                <a:cs typeface="Arial"/>
              </a:defRPr>
            </a:lvl1pPr>
            <a:lvl2pPr>
              <a:defRPr sz="1650" b="1">
                <a:solidFill>
                  <a:srgbClr val="CC9637"/>
                </a:solidFill>
                <a:latin typeface="Arial"/>
                <a:ea typeface="Arial"/>
                <a:cs typeface="Arial"/>
              </a:defRPr>
            </a:lvl2pPr>
            <a:lvl3pPr>
              <a:defRPr sz="1650" b="1">
                <a:solidFill>
                  <a:srgbClr val="CC9637"/>
                </a:solidFill>
                <a:latin typeface="Arial"/>
                <a:ea typeface="Arial"/>
                <a:cs typeface="Arial"/>
              </a:defRPr>
            </a:lvl3pPr>
            <a:lvl4pPr>
              <a:defRPr sz="1650" b="1">
                <a:solidFill>
                  <a:srgbClr val="CC9637"/>
                </a:solidFill>
                <a:latin typeface="Arial"/>
                <a:ea typeface="Arial"/>
                <a:cs typeface="Arial"/>
              </a:defRPr>
            </a:lvl4pPr>
            <a:lvl5pPr>
              <a:defRPr sz="1650" b="1">
                <a:solidFill>
                  <a:srgbClr val="CC9637"/>
                </a:solidFill>
                <a:latin typeface="Arial"/>
                <a:ea typeface="Arial"/>
                <a:cs typeface="Arial"/>
              </a:defRPr>
            </a:lvl5pPr>
            <a:lvl6pPr>
              <a:defRPr sz="1650" b="1">
                <a:solidFill>
                  <a:srgbClr val="CC9637"/>
                </a:solidFill>
                <a:latin typeface="Arial"/>
                <a:ea typeface="Arial"/>
                <a:cs typeface="Arial"/>
              </a:defRPr>
            </a:lvl6pPr>
            <a:lvl7pPr>
              <a:defRPr sz="1650" b="1">
                <a:solidFill>
                  <a:srgbClr val="CC9637"/>
                </a:solidFill>
                <a:latin typeface="Arial"/>
                <a:ea typeface="Arial"/>
                <a:cs typeface="Arial"/>
              </a:defRPr>
            </a:lvl7pPr>
            <a:lvl8pPr>
              <a:defRPr sz="1650" b="1">
                <a:solidFill>
                  <a:srgbClr val="CC9637"/>
                </a:solidFill>
                <a:latin typeface="Arial"/>
                <a:ea typeface="Arial"/>
                <a:cs typeface="Arial"/>
              </a:defRPr>
            </a:lvl8pPr>
            <a:lvl9pPr>
              <a:defRPr sz="1650" b="1">
                <a:solidFill>
                  <a:srgbClr val="CC9637"/>
                </a:solidFill>
                <a:latin typeface="Arial"/>
                <a:ea typeface="Arial"/>
                <a:cs typeface="Arial"/>
              </a:defRPr>
            </a:lvl9pPr>
          </a:lstStyle>
          <a:p xmlns:a="http://schemas.openxmlformats.org/drawingml/2006/main">
            <a:pPr>
              <a:defRPr sz="1650" b="1">
                <a:solidFill>
                  <a:srgbClr val="CC9637"/>
                </a:solidFill>
                <a:latin typeface="Arial"/>
                <a:ea typeface="Arial"/>
                <a:cs typeface="Arial"/>
              </a:defRPr>
            </a:pPr>
            <a:r>
              <a:rPr sz="1650" b="1">
                <a:solidFill>
                  <a:srgbClr val="CC9637"/>
                </a:solidFill>
                <a:latin typeface="Arial"/>
                <a:ea typeface="Arial"/>
                <a:cs typeface="Arial"/>
              </a:rPr>
              <a:t>2 flags: 842 (30.3%)</a:t>
            </a:r>
          </a:p>
        </p:txBody>
      </p:sp>
      <p:sp>
        <p:nvSpPr>
          <p:cNvPr id="8" name="">
            <a:extLst xmlns:a="http://schemas.openxmlformats.org/drawingml/2006/main">
              <a:ext uri="{FF2B5EF4-FFF2-40B4-BE49-F238E27FC236}">
                <a16:creationId xmlns:a16="http://schemas.microsoft.com/office/drawing/2014/main" id="{5DDFC82B-0C40-4F62-9E9F-12DD47060E20}"/>
              </a:ext>
            </a:extLst>
          </p:cNvPr>
          <p:cNvSpPr>
            <a:spLocks xmlns:a="http://schemas.openxmlformats.org/drawingml/2006/main" noGrp="1"/>
          </p:cNvSpPr>
          <p:nvPr/>
        </p:nvSpPr>
        <p:spPr>
          <a:xfrm xmlns:a="http://schemas.openxmlformats.org/drawingml/2006/main">
            <a:off x="8286750" y="32004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A66B24"/>
                </a:solidFill>
                <a:latin typeface="Arial"/>
                <a:ea typeface="Arial"/>
                <a:cs typeface="Arial"/>
              </a:defRPr>
            </a:defPPr>
            <a:lvl1pPr>
              <a:defRPr sz="1650" b="1">
                <a:solidFill>
                  <a:srgbClr val="A66B24"/>
                </a:solidFill>
                <a:latin typeface="Arial"/>
                <a:ea typeface="Arial"/>
                <a:cs typeface="Arial"/>
              </a:defRPr>
            </a:lvl1pPr>
            <a:lvl2pPr>
              <a:defRPr sz="1650" b="1">
                <a:solidFill>
                  <a:srgbClr val="A66B24"/>
                </a:solidFill>
                <a:latin typeface="Arial"/>
                <a:ea typeface="Arial"/>
                <a:cs typeface="Arial"/>
              </a:defRPr>
            </a:lvl2pPr>
            <a:lvl3pPr>
              <a:defRPr sz="1650" b="1">
                <a:solidFill>
                  <a:srgbClr val="A66B24"/>
                </a:solidFill>
                <a:latin typeface="Arial"/>
                <a:ea typeface="Arial"/>
                <a:cs typeface="Arial"/>
              </a:defRPr>
            </a:lvl3pPr>
            <a:lvl4pPr>
              <a:defRPr sz="1650" b="1">
                <a:solidFill>
                  <a:srgbClr val="A66B24"/>
                </a:solidFill>
                <a:latin typeface="Arial"/>
                <a:ea typeface="Arial"/>
                <a:cs typeface="Arial"/>
              </a:defRPr>
            </a:lvl4pPr>
            <a:lvl5pPr>
              <a:defRPr sz="1650" b="1">
                <a:solidFill>
                  <a:srgbClr val="A66B24"/>
                </a:solidFill>
                <a:latin typeface="Arial"/>
                <a:ea typeface="Arial"/>
                <a:cs typeface="Arial"/>
              </a:defRPr>
            </a:lvl5pPr>
            <a:lvl6pPr>
              <a:defRPr sz="1650" b="1">
                <a:solidFill>
                  <a:srgbClr val="A66B24"/>
                </a:solidFill>
                <a:latin typeface="Arial"/>
                <a:ea typeface="Arial"/>
                <a:cs typeface="Arial"/>
              </a:defRPr>
            </a:lvl6pPr>
            <a:lvl7pPr>
              <a:defRPr sz="1650" b="1">
                <a:solidFill>
                  <a:srgbClr val="A66B24"/>
                </a:solidFill>
                <a:latin typeface="Arial"/>
                <a:ea typeface="Arial"/>
                <a:cs typeface="Arial"/>
              </a:defRPr>
            </a:lvl7pPr>
            <a:lvl8pPr>
              <a:defRPr sz="1650" b="1">
                <a:solidFill>
                  <a:srgbClr val="A66B24"/>
                </a:solidFill>
                <a:latin typeface="Arial"/>
                <a:ea typeface="Arial"/>
                <a:cs typeface="Arial"/>
              </a:defRPr>
            </a:lvl8pPr>
            <a:lvl9pPr>
              <a:defRPr sz="1650" b="1">
                <a:solidFill>
                  <a:srgbClr val="A66B24"/>
                </a:solidFill>
                <a:latin typeface="Arial"/>
                <a:ea typeface="Arial"/>
                <a:cs typeface="Arial"/>
              </a:defRPr>
            </a:lvl9pPr>
          </a:lstStyle>
          <a:p xmlns:a="http://schemas.openxmlformats.org/drawingml/2006/main">
            <a:pPr>
              <a:defRPr sz="1650" b="1">
                <a:solidFill>
                  <a:srgbClr val="A66B24"/>
                </a:solidFill>
                <a:latin typeface="Arial"/>
                <a:ea typeface="Arial"/>
                <a:cs typeface="Arial"/>
              </a:defRPr>
            </a:pPr>
            <a:r>
              <a:rPr sz="1650" b="1">
                <a:solidFill>
                  <a:srgbClr val="A66B24"/>
                </a:solidFill>
                <a:latin typeface="Arial"/>
                <a:ea typeface="Arial"/>
                <a:cs typeface="Arial"/>
              </a:rPr>
              <a:t>3 flags: 660 (23.8%)</a:t>
            </a:r>
          </a:p>
        </p:txBody>
      </p:sp>
      <p:sp>
        <p:nvSpPr>
          <p:cNvPr id="9" name="">
            <a:extLst xmlns:a="http://schemas.openxmlformats.org/drawingml/2006/main">
              <a:ext uri="{FF2B5EF4-FFF2-40B4-BE49-F238E27FC236}">
                <a16:creationId xmlns:a16="http://schemas.microsoft.com/office/drawing/2014/main" id="{C413A5AD-D258-4544-B2FA-DE6E651217B8}"/>
              </a:ext>
            </a:extLst>
          </p:cNvPr>
          <p:cNvSpPr>
            <a:spLocks xmlns:a="http://schemas.openxmlformats.org/drawingml/2006/main" noGrp="1"/>
          </p:cNvSpPr>
          <p:nvPr/>
        </p:nvSpPr>
        <p:spPr>
          <a:xfrm xmlns:a="http://schemas.openxmlformats.org/drawingml/2006/main">
            <a:off x="8286750" y="35623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2441C"/>
                </a:solidFill>
                <a:latin typeface="Arial"/>
                <a:ea typeface="Arial"/>
                <a:cs typeface="Arial"/>
              </a:defRPr>
            </a:defPPr>
            <a:lvl1pPr>
              <a:defRPr sz="1650" b="1">
                <a:solidFill>
                  <a:srgbClr val="72441C"/>
                </a:solidFill>
                <a:latin typeface="Arial"/>
                <a:ea typeface="Arial"/>
                <a:cs typeface="Arial"/>
              </a:defRPr>
            </a:lvl1pPr>
            <a:lvl2pPr>
              <a:defRPr sz="1650" b="1">
                <a:solidFill>
                  <a:srgbClr val="72441C"/>
                </a:solidFill>
                <a:latin typeface="Arial"/>
                <a:ea typeface="Arial"/>
                <a:cs typeface="Arial"/>
              </a:defRPr>
            </a:lvl2pPr>
            <a:lvl3pPr>
              <a:defRPr sz="1650" b="1">
                <a:solidFill>
                  <a:srgbClr val="72441C"/>
                </a:solidFill>
                <a:latin typeface="Arial"/>
                <a:ea typeface="Arial"/>
                <a:cs typeface="Arial"/>
              </a:defRPr>
            </a:lvl3pPr>
            <a:lvl4pPr>
              <a:defRPr sz="1650" b="1">
                <a:solidFill>
                  <a:srgbClr val="72441C"/>
                </a:solidFill>
                <a:latin typeface="Arial"/>
                <a:ea typeface="Arial"/>
                <a:cs typeface="Arial"/>
              </a:defRPr>
            </a:lvl4pPr>
            <a:lvl5pPr>
              <a:defRPr sz="1650" b="1">
                <a:solidFill>
                  <a:srgbClr val="72441C"/>
                </a:solidFill>
                <a:latin typeface="Arial"/>
                <a:ea typeface="Arial"/>
                <a:cs typeface="Arial"/>
              </a:defRPr>
            </a:lvl5pPr>
            <a:lvl6pPr>
              <a:defRPr sz="1650" b="1">
                <a:solidFill>
                  <a:srgbClr val="72441C"/>
                </a:solidFill>
                <a:latin typeface="Arial"/>
                <a:ea typeface="Arial"/>
                <a:cs typeface="Arial"/>
              </a:defRPr>
            </a:lvl6pPr>
            <a:lvl7pPr>
              <a:defRPr sz="1650" b="1">
                <a:solidFill>
                  <a:srgbClr val="72441C"/>
                </a:solidFill>
                <a:latin typeface="Arial"/>
                <a:ea typeface="Arial"/>
                <a:cs typeface="Arial"/>
              </a:defRPr>
            </a:lvl7pPr>
            <a:lvl8pPr>
              <a:defRPr sz="1650" b="1">
                <a:solidFill>
                  <a:srgbClr val="72441C"/>
                </a:solidFill>
                <a:latin typeface="Arial"/>
                <a:ea typeface="Arial"/>
                <a:cs typeface="Arial"/>
              </a:defRPr>
            </a:lvl8pPr>
            <a:lvl9pPr>
              <a:defRPr sz="1650" b="1">
                <a:solidFill>
                  <a:srgbClr val="72441C"/>
                </a:solidFill>
                <a:latin typeface="Arial"/>
                <a:ea typeface="Arial"/>
                <a:cs typeface="Arial"/>
              </a:defRPr>
            </a:lvl9pPr>
          </a:lstStyle>
          <a:p xmlns:a="http://schemas.openxmlformats.org/drawingml/2006/main">
            <a:pPr>
              <a:defRPr sz="1650" b="1">
                <a:solidFill>
                  <a:srgbClr val="72441C"/>
                </a:solidFill>
                <a:latin typeface="Arial"/>
                <a:ea typeface="Arial"/>
                <a:cs typeface="Arial"/>
              </a:defRPr>
            </a:pPr>
            <a:r>
              <a:rPr sz="1650" b="1">
                <a:solidFill>
                  <a:srgbClr val="72441C"/>
                </a:solidFill>
                <a:latin typeface="Arial"/>
                <a:ea typeface="Arial"/>
                <a:cs typeface="Arial"/>
              </a:rPr>
              <a:t>4 flags: 191 (6.9%)</a:t>
            </a:r>
          </a:p>
        </p:txBody>
      </p:sp>
      <p:sp>
        <p:nvSpPr>
          <p:cNvPr id="10" name="">
            <a:extLst xmlns:a="http://schemas.openxmlformats.org/drawingml/2006/main">
              <a:ext uri="{FF2B5EF4-FFF2-40B4-BE49-F238E27FC236}">
                <a16:creationId xmlns:a16="http://schemas.microsoft.com/office/drawing/2014/main" id="{97F64F50-DC4E-4EE4-B8D0-7CADF3B6DB21}"/>
              </a:ext>
            </a:extLst>
          </p:cNvPr>
          <p:cNvSpPr>
            <a:spLocks xmlns:a="http://schemas.openxmlformats.org/drawingml/2006/main" noGrp="1"/>
          </p:cNvSpPr>
          <p:nvPr/>
        </p:nvSpPr>
        <p:spPr>
          <a:xfrm xmlns:a="http://schemas.openxmlformats.org/drawingml/2006/main">
            <a:off x="8286750" y="39243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754E79"/>
                </a:solidFill>
                <a:latin typeface="Arial"/>
                <a:ea typeface="Arial"/>
                <a:cs typeface="Arial"/>
              </a:defRPr>
            </a:defPPr>
            <a:lvl1pPr>
              <a:defRPr sz="1650" b="1">
                <a:solidFill>
                  <a:srgbClr val="754E79"/>
                </a:solidFill>
                <a:latin typeface="Arial"/>
                <a:ea typeface="Arial"/>
                <a:cs typeface="Arial"/>
              </a:defRPr>
            </a:lvl1pPr>
            <a:lvl2pPr>
              <a:defRPr sz="1650" b="1">
                <a:solidFill>
                  <a:srgbClr val="754E79"/>
                </a:solidFill>
                <a:latin typeface="Arial"/>
                <a:ea typeface="Arial"/>
                <a:cs typeface="Arial"/>
              </a:defRPr>
            </a:lvl2pPr>
            <a:lvl3pPr>
              <a:defRPr sz="1650" b="1">
                <a:solidFill>
                  <a:srgbClr val="754E79"/>
                </a:solidFill>
                <a:latin typeface="Arial"/>
                <a:ea typeface="Arial"/>
                <a:cs typeface="Arial"/>
              </a:defRPr>
            </a:lvl3pPr>
            <a:lvl4pPr>
              <a:defRPr sz="1650" b="1">
                <a:solidFill>
                  <a:srgbClr val="754E79"/>
                </a:solidFill>
                <a:latin typeface="Arial"/>
                <a:ea typeface="Arial"/>
                <a:cs typeface="Arial"/>
              </a:defRPr>
            </a:lvl4pPr>
            <a:lvl5pPr>
              <a:defRPr sz="1650" b="1">
                <a:solidFill>
                  <a:srgbClr val="754E79"/>
                </a:solidFill>
                <a:latin typeface="Arial"/>
                <a:ea typeface="Arial"/>
                <a:cs typeface="Arial"/>
              </a:defRPr>
            </a:lvl5pPr>
            <a:lvl6pPr>
              <a:defRPr sz="1650" b="1">
                <a:solidFill>
                  <a:srgbClr val="754E79"/>
                </a:solidFill>
                <a:latin typeface="Arial"/>
                <a:ea typeface="Arial"/>
                <a:cs typeface="Arial"/>
              </a:defRPr>
            </a:lvl6pPr>
            <a:lvl7pPr>
              <a:defRPr sz="1650" b="1">
                <a:solidFill>
                  <a:srgbClr val="754E79"/>
                </a:solidFill>
                <a:latin typeface="Arial"/>
                <a:ea typeface="Arial"/>
                <a:cs typeface="Arial"/>
              </a:defRPr>
            </a:lvl7pPr>
            <a:lvl8pPr>
              <a:defRPr sz="1650" b="1">
                <a:solidFill>
                  <a:srgbClr val="754E79"/>
                </a:solidFill>
                <a:latin typeface="Arial"/>
                <a:ea typeface="Arial"/>
                <a:cs typeface="Arial"/>
              </a:defRPr>
            </a:lvl8pPr>
            <a:lvl9pPr>
              <a:defRPr sz="1650" b="1">
                <a:solidFill>
                  <a:srgbClr val="754E79"/>
                </a:solidFill>
                <a:latin typeface="Arial"/>
                <a:ea typeface="Arial"/>
                <a:cs typeface="Arial"/>
              </a:defRPr>
            </a:lvl9pPr>
          </a:lstStyle>
          <a:p xmlns:a="http://schemas.openxmlformats.org/drawingml/2006/main">
            <a:pPr>
              <a:defRPr sz="1650" b="1">
                <a:solidFill>
                  <a:srgbClr val="754E79"/>
                </a:solidFill>
                <a:latin typeface="Arial"/>
                <a:ea typeface="Arial"/>
                <a:cs typeface="Arial"/>
              </a:defRPr>
            </a:pPr>
            <a:r>
              <a:rPr sz="1650" b="1">
                <a:solidFill>
                  <a:srgbClr val="754E79"/>
                </a:solidFill>
                <a:latin typeface="Arial"/>
                <a:ea typeface="Arial"/>
                <a:cs typeface="Arial"/>
              </a:rPr>
              <a:t>5 flags: 59 (2.1%)</a:t>
            </a:r>
          </a:p>
        </p:txBody>
      </p:sp>
      <p:sp>
        <p:nvSpPr>
          <p:cNvPr id="11" name="">
            <a:extLst xmlns:a="http://schemas.openxmlformats.org/drawingml/2006/main">
              <a:ext uri="{FF2B5EF4-FFF2-40B4-BE49-F238E27FC236}">
                <a16:creationId xmlns:a16="http://schemas.microsoft.com/office/drawing/2014/main" id="{D7FB54A1-2185-4DE1-826C-71459CECC3FD}"/>
              </a:ext>
            </a:extLst>
          </p:cNvPr>
          <p:cNvSpPr>
            <a:spLocks xmlns:a="http://schemas.openxmlformats.org/drawingml/2006/main" noGrp="1"/>
          </p:cNvSpPr>
          <p:nvPr/>
        </p:nvSpPr>
        <p:spPr>
          <a:xfrm xmlns:a="http://schemas.openxmlformats.org/drawingml/2006/main">
            <a:off x="8286750" y="42862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563B60"/>
                </a:solidFill>
                <a:latin typeface="Arial"/>
                <a:ea typeface="Arial"/>
                <a:cs typeface="Arial"/>
              </a:defRPr>
            </a:defPPr>
            <a:lvl1pPr>
              <a:defRPr sz="1650" b="1">
                <a:solidFill>
                  <a:srgbClr val="563B60"/>
                </a:solidFill>
                <a:latin typeface="Arial"/>
                <a:ea typeface="Arial"/>
                <a:cs typeface="Arial"/>
              </a:defRPr>
            </a:lvl1pPr>
            <a:lvl2pPr>
              <a:defRPr sz="1650" b="1">
                <a:solidFill>
                  <a:srgbClr val="563B60"/>
                </a:solidFill>
                <a:latin typeface="Arial"/>
                <a:ea typeface="Arial"/>
                <a:cs typeface="Arial"/>
              </a:defRPr>
            </a:lvl2pPr>
            <a:lvl3pPr>
              <a:defRPr sz="1650" b="1">
                <a:solidFill>
                  <a:srgbClr val="563B60"/>
                </a:solidFill>
                <a:latin typeface="Arial"/>
                <a:ea typeface="Arial"/>
                <a:cs typeface="Arial"/>
              </a:defRPr>
            </a:lvl3pPr>
            <a:lvl4pPr>
              <a:defRPr sz="1650" b="1">
                <a:solidFill>
                  <a:srgbClr val="563B60"/>
                </a:solidFill>
                <a:latin typeface="Arial"/>
                <a:ea typeface="Arial"/>
                <a:cs typeface="Arial"/>
              </a:defRPr>
            </a:lvl4pPr>
            <a:lvl5pPr>
              <a:defRPr sz="1650" b="1">
                <a:solidFill>
                  <a:srgbClr val="563B60"/>
                </a:solidFill>
                <a:latin typeface="Arial"/>
                <a:ea typeface="Arial"/>
                <a:cs typeface="Arial"/>
              </a:defRPr>
            </a:lvl5pPr>
            <a:lvl6pPr>
              <a:defRPr sz="1650" b="1">
                <a:solidFill>
                  <a:srgbClr val="563B60"/>
                </a:solidFill>
                <a:latin typeface="Arial"/>
                <a:ea typeface="Arial"/>
                <a:cs typeface="Arial"/>
              </a:defRPr>
            </a:lvl6pPr>
            <a:lvl7pPr>
              <a:defRPr sz="1650" b="1">
                <a:solidFill>
                  <a:srgbClr val="563B60"/>
                </a:solidFill>
                <a:latin typeface="Arial"/>
                <a:ea typeface="Arial"/>
                <a:cs typeface="Arial"/>
              </a:defRPr>
            </a:lvl7pPr>
            <a:lvl8pPr>
              <a:defRPr sz="1650" b="1">
                <a:solidFill>
                  <a:srgbClr val="563B60"/>
                </a:solidFill>
                <a:latin typeface="Arial"/>
                <a:ea typeface="Arial"/>
                <a:cs typeface="Arial"/>
              </a:defRPr>
            </a:lvl8pPr>
            <a:lvl9pPr>
              <a:defRPr sz="1650" b="1">
                <a:solidFill>
                  <a:srgbClr val="563B60"/>
                </a:solidFill>
                <a:latin typeface="Arial"/>
                <a:ea typeface="Arial"/>
                <a:cs typeface="Arial"/>
              </a:defRPr>
            </a:lvl9pPr>
          </a:lstStyle>
          <a:p xmlns:a="http://schemas.openxmlformats.org/drawingml/2006/main">
            <a:pPr>
              <a:defRPr sz="1650" b="1">
                <a:solidFill>
                  <a:srgbClr val="563B60"/>
                </a:solidFill>
                <a:latin typeface="Arial"/>
                <a:ea typeface="Arial"/>
                <a:cs typeface="Arial"/>
              </a:defRPr>
            </a:pPr>
            <a:r>
              <a:rPr sz="1650" b="1">
                <a:solidFill>
                  <a:srgbClr val="563B60"/>
                </a:solidFill>
                <a:latin typeface="Arial"/>
                <a:ea typeface="Arial"/>
                <a:cs typeface="Arial"/>
              </a:rPr>
              <a:t>6 flags: 30 (1.1%)</a:t>
            </a:r>
          </a:p>
        </p:txBody>
      </p:sp>
      <p:sp>
        <p:nvSpPr>
          <p:cNvPr id="12" name="">
            <a:extLst xmlns:a="http://schemas.openxmlformats.org/drawingml/2006/main">
              <a:ext uri="{FF2B5EF4-FFF2-40B4-BE49-F238E27FC236}">
                <a16:creationId xmlns:a16="http://schemas.microsoft.com/office/drawing/2014/main" id="{3BB30B66-572C-44AA-9821-2243DEF95D54}"/>
              </a:ext>
            </a:extLst>
          </p:cNvPr>
          <p:cNvSpPr>
            <a:spLocks xmlns:a="http://schemas.openxmlformats.org/drawingml/2006/main" noGrp="1"/>
          </p:cNvSpPr>
          <p:nvPr/>
        </p:nvSpPr>
        <p:spPr>
          <a:xfrm xmlns:a="http://schemas.openxmlformats.org/drawingml/2006/main">
            <a:off x="8286750" y="46482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4A587A"/>
                </a:solidFill>
                <a:latin typeface="Arial"/>
                <a:ea typeface="Arial"/>
                <a:cs typeface="Arial"/>
              </a:defRPr>
            </a:defPPr>
            <a:lvl1pPr>
              <a:defRPr sz="1650" b="1">
                <a:solidFill>
                  <a:srgbClr val="4A587A"/>
                </a:solidFill>
                <a:latin typeface="Arial"/>
                <a:ea typeface="Arial"/>
                <a:cs typeface="Arial"/>
              </a:defRPr>
            </a:lvl1pPr>
            <a:lvl2pPr>
              <a:defRPr sz="1650" b="1">
                <a:solidFill>
                  <a:srgbClr val="4A587A"/>
                </a:solidFill>
                <a:latin typeface="Arial"/>
                <a:ea typeface="Arial"/>
                <a:cs typeface="Arial"/>
              </a:defRPr>
            </a:lvl2pPr>
            <a:lvl3pPr>
              <a:defRPr sz="1650" b="1">
                <a:solidFill>
                  <a:srgbClr val="4A587A"/>
                </a:solidFill>
                <a:latin typeface="Arial"/>
                <a:ea typeface="Arial"/>
                <a:cs typeface="Arial"/>
              </a:defRPr>
            </a:lvl3pPr>
            <a:lvl4pPr>
              <a:defRPr sz="1650" b="1">
                <a:solidFill>
                  <a:srgbClr val="4A587A"/>
                </a:solidFill>
                <a:latin typeface="Arial"/>
                <a:ea typeface="Arial"/>
                <a:cs typeface="Arial"/>
              </a:defRPr>
            </a:lvl4pPr>
            <a:lvl5pPr>
              <a:defRPr sz="1650" b="1">
                <a:solidFill>
                  <a:srgbClr val="4A587A"/>
                </a:solidFill>
                <a:latin typeface="Arial"/>
                <a:ea typeface="Arial"/>
                <a:cs typeface="Arial"/>
              </a:defRPr>
            </a:lvl5pPr>
            <a:lvl6pPr>
              <a:defRPr sz="1650" b="1">
                <a:solidFill>
                  <a:srgbClr val="4A587A"/>
                </a:solidFill>
                <a:latin typeface="Arial"/>
                <a:ea typeface="Arial"/>
                <a:cs typeface="Arial"/>
              </a:defRPr>
            </a:lvl6pPr>
            <a:lvl7pPr>
              <a:defRPr sz="1650" b="1">
                <a:solidFill>
                  <a:srgbClr val="4A587A"/>
                </a:solidFill>
                <a:latin typeface="Arial"/>
                <a:ea typeface="Arial"/>
                <a:cs typeface="Arial"/>
              </a:defRPr>
            </a:lvl7pPr>
            <a:lvl8pPr>
              <a:defRPr sz="1650" b="1">
                <a:solidFill>
                  <a:srgbClr val="4A587A"/>
                </a:solidFill>
                <a:latin typeface="Arial"/>
                <a:ea typeface="Arial"/>
                <a:cs typeface="Arial"/>
              </a:defRPr>
            </a:lvl8pPr>
            <a:lvl9pPr>
              <a:defRPr sz="1650" b="1">
                <a:solidFill>
                  <a:srgbClr val="4A587A"/>
                </a:solidFill>
                <a:latin typeface="Arial"/>
                <a:ea typeface="Arial"/>
                <a:cs typeface="Arial"/>
              </a:defRPr>
            </a:lvl9pPr>
          </a:lstStyle>
          <a:p xmlns:a="http://schemas.openxmlformats.org/drawingml/2006/main">
            <a:pPr>
              <a:defRPr sz="1650" b="1">
                <a:solidFill>
                  <a:srgbClr val="4A587A"/>
                </a:solidFill>
                <a:latin typeface="Arial"/>
                <a:ea typeface="Arial"/>
                <a:cs typeface="Arial"/>
              </a:defRPr>
            </a:pPr>
            <a:r>
              <a:rPr sz="1650" b="1">
                <a:solidFill>
                  <a:srgbClr val="4A587A"/>
                </a:solidFill>
                <a:latin typeface="Arial"/>
                <a:ea typeface="Arial"/>
                <a:cs typeface="Arial"/>
              </a:rPr>
              <a:t>7 flags: 5 (0.2%)</a:t>
            </a:r>
          </a:p>
        </p:txBody>
      </p:sp>
      <p:sp>
        <p:nvSpPr>
          <p:cNvPr id="13" name="">
            <a:extLst xmlns:a="http://schemas.openxmlformats.org/drawingml/2006/main">
              <a:ext uri="{FF2B5EF4-FFF2-40B4-BE49-F238E27FC236}">
                <a16:creationId xmlns:a16="http://schemas.microsoft.com/office/drawing/2014/main" id="{26604973-D099-4462-B8A2-BA038339EF8E}"/>
              </a:ext>
            </a:extLst>
          </p:cNvPr>
          <p:cNvSpPr>
            <a:spLocks xmlns:a="http://schemas.openxmlformats.org/drawingml/2006/main" noGrp="1"/>
          </p:cNvSpPr>
          <p:nvPr/>
        </p:nvSpPr>
        <p:spPr>
          <a:xfrm xmlns:a="http://schemas.openxmlformats.org/drawingml/2006/main">
            <a:off x="8286750" y="50101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4E7B71"/>
                </a:solidFill>
                <a:latin typeface="Arial"/>
                <a:ea typeface="Arial"/>
                <a:cs typeface="Arial"/>
              </a:defRPr>
            </a:defPPr>
            <a:lvl1pPr>
              <a:defRPr sz="1650" b="1">
                <a:solidFill>
                  <a:srgbClr val="4E7B71"/>
                </a:solidFill>
                <a:latin typeface="Arial"/>
                <a:ea typeface="Arial"/>
                <a:cs typeface="Arial"/>
              </a:defRPr>
            </a:lvl1pPr>
            <a:lvl2pPr>
              <a:defRPr sz="1650" b="1">
                <a:solidFill>
                  <a:srgbClr val="4E7B71"/>
                </a:solidFill>
                <a:latin typeface="Arial"/>
                <a:ea typeface="Arial"/>
                <a:cs typeface="Arial"/>
              </a:defRPr>
            </a:lvl2pPr>
            <a:lvl3pPr>
              <a:defRPr sz="1650" b="1">
                <a:solidFill>
                  <a:srgbClr val="4E7B71"/>
                </a:solidFill>
                <a:latin typeface="Arial"/>
                <a:ea typeface="Arial"/>
                <a:cs typeface="Arial"/>
              </a:defRPr>
            </a:lvl3pPr>
            <a:lvl4pPr>
              <a:defRPr sz="1650" b="1">
                <a:solidFill>
                  <a:srgbClr val="4E7B71"/>
                </a:solidFill>
                <a:latin typeface="Arial"/>
                <a:ea typeface="Arial"/>
                <a:cs typeface="Arial"/>
              </a:defRPr>
            </a:lvl4pPr>
            <a:lvl5pPr>
              <a:defRPr sz="1650" b="1">
                <a:solidFill>
                  <a:srgbClr val="4E7B71"/>
                </a:solidFill>
                <a:latin typeface="Arial"/>
                <a:ea typeface="Arial"/>
                <a:cs typeface="Arial"/>
              </a:defRPr>
            </a:lvl5pPr>
            <a:lvl6pPr>
              <a:defRPr sz="1650" b="1">
                <a:solidFill>
                  <a:srgbClr val="4E7B71"/>
                </a:solidFill>
                <a:latin typeface="Arial"/>
                <a:ea typeface="Arial"/>
                <a:cs typeface="Arial"/>
              </a:defRPr>
            </a:lvl6pPr>
            <a:lvl7pPr>
              <a:defRPr sz="1650" b="1">
                <a:solidFill>
                  <a:srgbClr val="4E7B71"/>
                </a:solidFill>
                <a:latin typeface="Arial"/>
                <a:ea typeface="Arial"/>
                <a:cs typeface="Arial"/>
              </a:defRPr>
            </a:lvl7pPr>
            <a:lvl8pPr>
              <a:defRPr sz="1650" b="1">
                <a:solidFill>
                  <a:srgbClr val="4E7B71"/>
                </a:solidFill>
                <a:latin typeface="Arial"/>
                <a:ea typeface="Arial"/>
                <a:cs typeface="Arial"/>
              </a:defRPr>
            </a:lvl8pPr>
            <a:lvl9pPr>
              <a:defRPr sz="1650" b="1">
                <a:solidFill>
                  <a:srgbClr val="4E7B71"/>
                </a:solidFill>
                <a:latin typeface="Arial"/>
                <a:ea typeface="Arial"/>
                <a:cs typeface="Arial"/>
              </a:defRPr>
            </a:lvl9pPr>
          </a:lstStyle>
          <a:p xmlns:a="http://schemas.openxmlformats.org/drawingml/2006/main">
            <a:pPr>
              <a:defRPr sz="1650" b="1">
                <a:solidFill>
                  <a:srgbClr val="4E7B71"/>
                </a:solidFill>
                <a:latin typeface="Arial"/>
                <a:ea typeface="Arial"/>
                <a:cs typeface="Arial"/>
              </a:defRPr>
            </a:pPr>
            <a:r>
              <a:rPr sz="1650" b="1">
                <a:solidFill>
                  <a:srgbClr val="4E7B71"/>
                </a:solidFill>
                <a:latin typeface="Arial"/>
                <a:ea typeface="Arial"/>
                <a:cs typeface="Arial"/>
              </a:rPr>
              <a:t>8 flags: 1 (&lt;0.1%)</a:t>
            </a:r>
          </a:p>
        </p:txBody>
      </p:sp>
      <p:sp>
        <p:nvSpPr>
          <p:cNvPr id="14" name="">
            <a:extLst xmlns:a="http://schemas.openxmlformats.org/drawingml/2006/main">
              <a:ext uri="{FF2B5EF4-FFF2-40B4-BE49-F238E27FC236}">
                <a16:creationId xmlns:a16="http://schemas.microsoft.com/office/drawing/2014/main" id="{9C011DBC-5F6C-4FB6-96FC-0E8A219F75D1}"/>
              </a:ext>
            </a:extLst>
          </p:cNvPr>
          <p:cNvSpPr>
            <a:spLocks xmlns:a="http://schemas.openxmlformats.org/drawingml/2006/main" noGrp="1"/>
          </p:cNvSpPr>
          <p:nvPr/>
        </p:nvSpPr>
        <p:spPr>
          <a:xfrm xmlns:a="http://schemas.openxmlformats.org/drawingml/2006/main">
            <a:off x="8286750" y="5467350"/>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A43C38"/>
                </a:solidFill>
                <a:latin typeface="Arial"/>
                <a:ea typeface="Arial"/>
                <a:cs typeface="Arial"/>
              </a:defRPr>
            </a:defPPr>
            <a:lvl1pPr>
              <a:defRPr sz="1650" b="1">
                <a:solidFill>
                  <a:srgbClr val="A43C38"/>
                </a:solidFill>
                <a:latin typeface="Arial"/>
                <a:ea typeface="Arial"/>
                <a:cs typeface="Arial"/>
              </a:defRPr>
            </a:lvl1pPr>
            <a:lvl2pPr>
              <a:defRPr sz="1650" b="1">
                <a:solidFill>
                  <a:srgbClr val="A43C38"/>
                </a:solidFill>
                <a:latin typeface="Arial"/>
                <a:ea typeface="Arial"/>
                <a:cs typeface="Arial"/>
              </a:defRPr>
            </a:lvl2pPr>
            <a:lvl3pPr>
              <a:defRPr sz="1650" b="1">
                <a:solidFill>
                  <a:srgbClr val="A43C38"/>
                </a:solidFill>
                <a:latin typeface="Arial"/>
                <a:ea typeface="Arial"/>
                <a:cs typeface="Arial"/>
              </a:defRPr>
            </a:lvl3pPr>
            <a:lvl4pPr>
              <a:defRPr sz="1650" b="1">
                <a:solidFill>
                  <a:srgbClr val="A43C38"/>
                </a:solidFill>
                <a:latin typeface="Arial"/>
                <a:ea typeface="Arial"/>
                <a:cs typeface="Arial"/>
              </a:defRPr>
            </a:lvl4pPr>
            <a:lvl5pPr>
              <a:defRPr sz="1650" b="1">
                <a:solidFill>
                  <a:srgbClr val="A43C38"/>
                </a:solidFill>
                <a:latin typeface="Arial"/>
                <a:ea typeface="Arial"/>
                <a:cs typeface="Arial"/>
              </a:defRPr>
            </a:lvl5pPr>
            <a:lvl6pPr>
              <a:defRPr sz="1650" b="1">
                <a:solidFill>
                  <a:srgbClr val="A43C38"/>
                </a:solidFill>
                <a:latin typeface="Arial"/>
                <a:ea typeface="Arial"/>
                <a:cs typeface="Arial"/>
              </a:defRPr>
            </a:lvl6pPr>
            <a:lvl7pPr>
              <a:defRPr sz="1650" b="1">
                <a:solidFill>
                  <a:srgbClr val="A43C38"/>
                </a:solidFill>
                <a:latin typeface="Arial"/>
                <a:ea typeface="Arial"/>
                <a:cs typeface="Arial"/>
              </a:defRPr>
            </a:lvl7pPr>
            <a:lvl8pPr>
              <a:defRPr sz="1650" b="1">
                <a:solidFill>
                  <a:srgbClr val="A43C38"/>
                </a:solidFill>
                <a:latin typeface="Arial"/>
                <a:ea typeface="Arial"/>
                <a:cs typeface="Arial"/>
              </a:defRPr>
            </a:lvl8pPr>
            <a:lvl9pPr>
              <a:defRPr sz="1650" b="1">
                <a:solidFill>
                  <a:srgbClr val="A43C38"/>
                </a:solidFill>
                <a:latin typeface="Arial"/>
                <a:ea typeface="Arial"/>
                <a:cs typeface="Arial"/>
              </a:defRPr>
            </a:lvl9pPr>
          </a:lstStyle>
          <a:p xmlns:a="http://schemas.openxmlformats.org/drawingml/2006/main">
            <a:pPr>
              <a:defRPr sz="1650" b="1">
                <a:solidFill>
                  <a:srgbClr val="A43C38"/>
                </a:solidFill>
                <a:latin typeface="Arial"/>
                <a:ea typeface="Arial"/>
                <a:cs typeface="Arial"/>
              </a:defRPr>
            </a:pPr>
            <a:r>
              <a:rPr sz="1650" b="1">
                <a:solidFill>
                  <a:srgbClr val="A43C38"/>
                </a:solidFill>
                <a:latin typeface="Arial"/>
                <a:ea typeface="Arial"/>
                <a:cs typeface="Arial"/>
              </a:rPr>
              <a:t>Failed: 6 (0.2%)</a:t>
            </a:r>
          </a:p>
        </p:txBody>
      </p:sp>
      <p:sp>
        <p:nvSpPr>
          <p:cNvPr id="15" name="">
            <a:extLst xmlns:a="http://schemas.openxmlformats.org/drawingml/2006/main">
              <a:ext uri="{FF2B5EF4-FFF2-40B4-BE49-F238E27FC236}">
                <a16:creationId xmlns:a16="http://schemas.microsoft.com/office/drawing/2014/main" id="{8E85DAAA-D39B-4C04-830A-498019B89044}"/>
              </a:ext>
            </a:extLst>
          </p:cNvPr>
          <p:cNvSpPr>
            <a:spLocks xmlns:a="http://schemas.openxmlformats.org/drawingml/2006/main" noGrp="1"/>
          </p:cNvSpPr>
          <p:nvPr/>
        </p:nvSpPr>
        <p:spPr>
          <a:xfrm xmlns:a="http://schemas.openxmlformats.org/drawingml/2006/main">
            <a:off x="609600" y="58578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Recovery and missing-bar warnings are counted. QI also includes partial cutout coverage.</a:t>
            </a:r>
          </a:p>
        </p:txBody>
      </p:sp>
    </p:spTree>
    <p:extLst>
      <p:ext uri="{BB962C8B-B14F-4D97-AF65-F5344CB8AC3E}">
        <p14:creationId xmlns:p14="http://schemas.microsoft.com/office/powerpoint/2010/main" val="19908285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96353A-7911-4ED4-BFCA-018D680A9D2A}"/>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Current quality issues and information</a:t>
            </a:r>
          </a:p>
        </p:txBody>
      </p:sp>
      <p:sp>
        <p:nvSpPr>
          <p:cNvPr id="2" name="">
            <a:extLst xmlns:a="http://schemas.openxmlformats.org/drawingml/2006/main">
              <a:ext uri="{FF2B5EF4-FFF2-40B4-BE49-F238E27FC236}">
                <a16:creationId xmlns:a16="http://schemas.microsoft.com/office/drawing/2014/main" id="{F4ADD62D-6DD3-4122-BE43-36A5AAFB542E}"/>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17</a:t>
            </a:r>
          </a:p>
        </p:txBody>
      </p:sp>
      <p:graphicFrame>
        <p:nvGraphicFramePr>
          <p:cNvPr id="3" name="Chart">
            <a:extLst xmlns:a="http://schemas.openxmlformats.org/drawingml/2006/main">
              <a:ext uri="{FF2B5EF4-FFF2-40B4-BE49-F238E27FC236}">
                <a16:creationId xmlns:a16="http://schemas.microsoft.com/office/drawing/2014/main" id="{98842CA0-9332-4D87-AE29-FE3F06F75FB5}"/>
              </a:ext>
            </a:extLst>
          </p:cNvPr>
          <p:cNvGraphicFramePr/>
          <p:nvPr/>
        </p:nvGraphicFramePr>
        <p:xfrm>
          <a:off xmlns:a="http://schemas.openxmlformats.org/drawingml/2006/main" x="457200" y="1666875"/>
          <a:ext xmlns:a="http://schemas.openxmlformats.org/drawingml/2006/main" cx="10953750" cy="4000500"/>
        </p:xfrm>
        <a:graphic xmlns:a="http://schemas.openxmlformats.org/drawingml/2006/main">
          <a:graphicData uri="http://schemas.openxmlformats.org/drawingml/2006/chart">
            <c:chart xmlns:r="http://schemas.openxmlformats.org/officeDocument/2006/relationships" xmlns:c="http://schemas.openxmlformats.org/drawingml/2006/chart" r:id="R28c9246402b244a3"/>
          </a:graphicData>
        </a:graphic>
      </p:graphicFrame>
      <p:sp>
        <p:nvSpPr>
          <p:cNvPr id="4" name="">
            <a:extLst xmlns:a="http://schemas.openxmlformats.org/drawingml/2006/main">
              <a:ext uri="{FF2B5EF4-FFF2-40B4-BE49-F238E27FC236}">
                <a16:creationId xmlns:a16="http://schemas.microsoft.com/office/drawing/2014/main" id="{5C2726B2-8255-40FC-9F7E-CABE5EA396B5}"/>
              </a:ext>
            </a:extLst>
          </p:cNvPr>
          <p:cNvSpPr>
            <a:spLocks xmlns:a="http://schemas.openxmlformats.org/drawingml/2006/main" noGrp="1"/>
          </p:cNvSpPr>
          <p:nvPr/>
        </p:nvSpPr>
        <p:spPr>
          <a:xfrm xmlns:a="http://schemas.openxmlformats.org/drawingml/2006/main">
            <a:off x="609600" y="5810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59 nearly face-on fits: informational, not a defect. Disc PA instability is ignored for them.</a:t>
            </a:r>
          </a:p>
        </p:txBody>
      </p:sp>
    </p:spTree>
    <p:extLst>
      <p:ext uri="{BB962C8B-B14F-4D97-AF65-F5344CB8AC3E}">
        <p14:creationId xmlns:p14="http://schemas.microsoft.com/office/powerpoint/2010/main" val="20942745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7C7BF1-E41C-445C-AA29-BA6326DC9A1E}"/>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Comparison with Euclid and supplied geometry</a:t>
            </a:r>
          </a:p>
        </p:txBody>
      </p:sp>
      <p:sp>
        <p:nvSpPr>
          <p:cNvPr id="2" name="">
            <a:extLst xmlns:a="http://schemas.openxmlformats.org/drawingml/2006/main">
              <a:ext uri="{FF2B5EF4-FFF2-40B4-BE49-F238E27FC236}">
                <a16:creationId xmlns:a16="http://schemas.microsoft.com/office/drawing/2014/main" id="{FBF5D449-F061-40CA-8C98-B004E47D5E96}"/>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17</a:t>
            </a:r>
          </a:p>
        </p:txBody>
      </p:sp>
      <p:graphicFrame>
        <p:nvGraphicFramePr>
          <p:cNvPr id="3" name="">
            <a:extLst xmlns:a="http://schemas.openxmlformats.org/drawingml/2006/main">
              <a:ext uri="{FF2B5EF4-FFF2-40B4-BE49-F238E27FC236}">
                <a16:creationId xmlns:a16="http://schemas.microsoft.com/office/drawing/2014/main" id="{B43C2EEA-3A7C-480C-8304-CE01E0960485}"/>
              </a:ext>
            </a:extLst>
          </p:cNvPr>
          <p:cNvGraphicFramePr/>
          <p:nvPr/>
        </p:nvGraphicFramePr>
        <p:xfrm>
          <a:off xmlns:a="http://schemas.openxmlformats.org/drawingml/2006/main" x="609600" y="1619250"/>
          <a:ext xmlns:a="http://schemas.openxmlformats.org/drawingml/2006/main" cx="10953750" cy="2286000"/>
        </p:xfrm>
        <a:graphic xmlns:a="http://schemas.openxmlformats.org/drawingml/2006/main">
          <a:graphicData uri="http://schemas.openxmlformats.org/drawingml/2006/table">
            <a:tbl>
              <a:tblPr/>
              <a:tblGrid>
                <a:gridCol w="7620000"/>
                <a:gridCol w="3333750"/>
              </a:tblGrid>
              <a:tr h="571500">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Current run</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71500">
                <a:tc>
                  <a:txBody>
                    <a:bodyPr/>
                    <a:lstStyle/>
                    <a:p>
                      <a:r>
                        <a:rPr sz="1875" b="0">
                          <a:solidFill>
                            <a:srgbClr val="142633"/>
                          </a:solidFill>
                          <a:latin typeface="Arial"/>
                          <a:ea typeface="Arial"/>
                          <a:cs typeface="Arial"/>
                        </a:rPr>
                        <a:t>Adjusted Euclid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8.05°</a:t>
                      </a:r>
                    </a:p>
                  </a:txBody>
                  <a:tcPr marL="91440" marR="91440" marT="45720" marB="45720">
                    <a:lnR w="6668">
                      <a:solidFill>
                        <a:srgbClr val="D6E0E5"/>
                      </a:solidFill>
                      <a:prstDash val="solid"/>
                    </a:lnR>
                    <a:lnB w="6668">
                      <a:solidFill>
                        <a:srgbClr val="D6E0E5"/>
                      </a:solidFill>
                      <a:prstDash val="solid"/>
                    </a:lnB>
                    <a:solidFill>
                      <a:srgbClr val="FFFFFF"/>
                    </a:solidFill>
                  </a:tcPr>
                </a:tc>
              </a:tr>
              <a:tr h="571500">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6.52°</a:t>
                      </a:r>
                    </a:p>
                  </a:txBody>
                  <a:tcPr marL="91440" marR="91440" marT="45720" marB="45720">
                    <a:lnR w="6668">
                      <a:solidFill>
                        <a:srgbClr val="D6E0E5"/>
                      </a:solidFill>
                      <a:prstDash val="solid"/>
                    </a:lnR>
                    <a:lnB w="6668">
                      <a:solidFill>
                        <a:srgbClr val="D6E0E5"/>
                      </a:solidFill>
                      <a:prstDash val="solid"/>
                    </a:lnB>
                    <a:solidFill>
                      <a:srgbClr val="FFFFFF"/>
                    </a:solidFill>
                  </a:tcPr>
                </a:tc>
              </a:tr>
              <a:tr h="571500">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5.50°</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BBC148F-B732-4D75-972C-57E24B6D397B}"/>
              </a:ext>
            </a:extLst>
          </p:cNvPr>
          <p:cNvSpPr>
            <a:spLocks xmlns:a="http://schemas.openxmlformats.org/drawingml/2006/main" noGrp="1"/>
          </p:cNvSpPr>
          <p:nvPr/>
        </p:nvSpPr>
        <p:spPr>
          <a:xfrm xmlns:a="http://schemas.openxmlformats.org/drawingml/2006/main">
            <a:off x="609600" y="41910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Codex PA: North towards East. N = 0°, E = 90°, modulo 180°.</a:t>
            </a:r>
          </a:p>
        </p:txBody>
      </p:sp>
      <p:sp>
        <p:nvSpPr>
          <p:cNvPr id="5" name="">
            <a:extLst xmlns:a="http://schemas.openxmlformats.org/drawingml/2006/main">
              <a:ext uri="{FF2B5EF4-FFF2-40B4-BE49-F238E27FC236}">
                <a16:creationId xmlns:a16="http://schemas.microsoft.com/office/drawing/2014/main" id="{6962F49A-9114-45DA-A388-46890F7F9DE6}"/>
              </a:ext>
            </a:extLst>
          </p:cNvPr>
          <p:cNvSpPr>
            <a:spLocks xmlns:a="http://schemas.openxmlformats.org/drawingml/2006/main" noGrp="1"/>
          </p:cNvSpPr>
          <p:nvPr/>
        </p:nvSpPr>
        <p:spPr>
          <a:xfrm xmlns:a="http://schemas.openxmlformats.org/drawingml/2006/main">
            <a:off x="609600" y="47148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Counterclockwise on a North-up, East-left image. WCS handles local orientation.</a:t>
            </a:r>
          </a:p>
        </p:txBody>
      </p:sp>
      <p:sp>
        <p:nvSpPr>
          <p:cNvPr id="6" name="">
            <a:extLst xmlns:a="http://schemas.openxmlformats.org/drawingml/2006/main">
              <a:ext uri="{FF2B5EF4-FFF2-40B4-BE49-F238E27FC236}">
                <a16:creationId xmlns:a16="http://schemas.microsoft.com/office/drawing/2014/main" id="{3CCD638D-7BC4-4942-B38E-49A15649D083}"/>
              </a:ext>
            </a:extLst>
          </p:cNvPr>
          <p:cNvSpPr>
            <a:spLocks xmlns:a="http://schemas.openxmlformats.org/drawingml/2006/main" noGrp="1"/>
          </p:cNvSpPr>
          <p:nvPr/>
        </p:nvSpPr>
        <p:spPr>
          <a:xfrm xmlns:a="http://schemas.openxmlformats.org/drawingml/2006/main">
            <a:off x="609600" y="5381625"/>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Euclid comparison retains the adopted additional +90° after WCS conversion. A detection-image y-axis reference is plausible but unconfirmed.</a:t>
            </a:r>
          </a:p>
        </p:txBody>
      </p:sp>
    </p:spTree>
    <p:extLst>
      <p:ext uri="{BB962C8B-B14F-4D97-AF65-F5344CB8AC3E}">
        <p14:creationId xmlns:p14="http://schemas.microsoft.com/office/powerpoint/2010/main" val="12072958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D19DA8-7917-45D1-8A23-A9EFE2357434}"/>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Galaxy centres are measured and checked</a:t>
            </a:r>
          </a:p>
        </p:txBody>
      </p:sp>
      <p:sp>
        <p:nvSpPr>
          <p:cNvPr id="2" name="">
            <a:extLst xmlns:a="http://schemas.openxmlformats.org/drawingml/2006/main">
              <a:ext uri="{FF2B5EF4-FFF2-40B4-BE49-F238E27FC236}">
                <a16:creationId xmlns:a16="http://schemas.microsoft.com/office/drawing/2014/main" id="{8156B281-35B2-449E-8EAF-17805FC11301}"/>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17</a:t>
            </a:r>
          </a:p>
        </p:txBody>
      </p:sp>
      <p:sp>
        <p:nvSpPr>
          <p:cNvPr id="3" name="">
            <a:extLst xmlns:a="http://schemas.openxmlformats.org/drawingml/2006/main">
              <a:ext uri="{FF2B5EF4-FFF2-40B4-BE49-F238E27FC236}">
                <a16:creationId xmlns:a16="http://schemas.microsoft.com/office/drawing/2014/main" id="{3EB483D4-7943-46F3-90AA-DD3862060D7D}"/>
              </a:ext>
            </a:extLst>
          </p:cNvPr>
          <p:cNvSpPr>
            <a:spLocks xmlns:a="http://schemas.openxmlformats.org/drawingml/2006/main" noGrp="1"/>
          </p:cNvSpPr>
          <p:nvPr/>
        </p:nvSpPr>
        <p:spPr>
          <a:xfrm xmlns:a="http://schemas.openxmlformats.org/drawingml/2006/main">
            <a:off x="609600" y="13144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A catalogue position can lie on off-centre light rather than the galaxy centre.</a:t>
            </a:r>
          </a:p>
        </p:txBody>
      </p:sp>
      <p:pic>
        <p:nvPicPr>
          <p:cNvPr id="4" name="">
            <a:extLst xmlns:a="http://schemas.openxmlformats.org/drawingml/2006/main">
              <a:ext uri="{FF2B5EF4-FFF2-40B4-BE49-F238E27FC236}">
                <a16:creationId xmlns:a16="http://schemas.microsoft.com/office/drawing/2014/main" id="{419306BF-8654-4E5E-BC65-282FA9AAA21E}"/>
              </a:ext>
            </a:extLst>
          </p:cNvPr>
          <p:cNvPicPr>
            <a:picLocks xmlns:a="http://schemas.openxmlformats.org/drawingml/2006/main" noChangeAspect="1"/>
          </p:cNvPicPr>
          <p:nvPr/>
        </p:nvPicPr>
        <p:blipFill>
          <a:blip xmlns:r="http://schemas.openxmlformats.org/officeDocument/2006/relationships" xmlns:a="http://schemas.openxmlformats.org/drawingml/2006/main" r:embed="Rdf795a77ae964512"/>
          <a:stretch xmlns:a="http://schemas.openxmlformats.org/drawingml/2006/main"/>
        </p:blipFill>
        <p:spPr>
          <a:xfrm xmlns:a="http://schemas.openxmlformats.org/drawingml/2006/main">
            <a:off x="1231167" y="1952625"/>
            <a:ext cx="4567115" cy="4048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4C41F6-CF57-432E-BE2F-8A6E4A3DF791}"/>
              </a:ext>
            </a:extLst>
          </p:cNvPr>
          <p:cNvSpPr>
            <a:spLocks xmlns:a="http://schemas.openxmlformats.org/drawingml/2006/main" noGrp="1"/>
          </p:cNvSpPr>
          <p:nvPr/>
        </p:nvSpPr>
        <p:spPr>
          <a:xfrm xmlns:a="http://schemas.openxmlformats.org/drawingml/2006/main">
            <a:off x="6762750" y="20955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633"/>
                </a:solidFill>
                <a:latin typeface="Arial"/>
                <a:ea typeface="Arial"/>
                <a:cs typeface="Arial"/>
              </a:defRPr>
            </a:defPPr>
            <a:lvl1pPr>
              <a:defRPr sz="2100" b="1">
                <a:solidFill>
                  <a:srgbClr val="142633"/>
                </a:solidFill>
                <a:latin typeface="Arial"/>
                <a:ea typeface="Arial"/>
                <a:cs typeface="Arial"/>
              </a:defRPr>
            </a:lvl1pPr>
            <a:lvl2pPr>
              <a:defRPr sz="2100" b="1">
                <a:solidFill>
                  <a:srgbClr val="142633"/>
                </a:solidFill>
                <a:latin typeface="Arial"/>
                <a:ea typeface="Arial"/>
                <a:cs typeface="Arial"/>
              </a:defRPr>
            </a:lvl2pPr>
            <a:lvl3pPr>
              <a:defRPr sz="2100" b="1">
                <a:solidFill>
                  <a:srgbClr val="142633"/>
                </a:solidFill>
                <a:latin typeface="Arial"/>
                <a:ea typeface="Arial"/>
                <a:cs typeface="Arial"/>
              </a:defRPr>
            </a:lvl3pPr>
            <a:lvl4pPr>
              <a:defRPr sz="2100" b="1">
                <a:solidFill>
                  <a:srgbClr val="142633"/>
                </a:solidFill>
                <a:latin typeface="Arial"/>
                <a:ea typeface="Arial"/>
                <a:cs typeface="Arial"/>
              </a:defRPr>
            </a:lvl4pPr>
            <a:lvl5pPr>
              <a:defRPr sz="2100" b="1">
                <a:solidFill>
                  <a:srgbClr val="142633"/>
                </a:solidFill>
                <a:latin typeface="Arial"/>
                <a:ea typeface="Arial"/>
                <a:cs typeface="Arial"/>
              </a:defRPr>
            </a:lvl5pPr>
            <a:lvl6pPr>
              <a:defRPr sz="2100" b="1">
                <a:solidFill>
                  <a:srgbClr val="142633"/>
                </a:solidFill>
                <a:latin typeface="Arial"/>
                <a:ea typeface="Arial"/>
                <a:cs typeface="Arial"/>
              </a:defRPr>
            </a:lvl6pPr>
            <a:lvl7pPr>
              <a:defRPr sz="2100" b="1">
                <a:solidFill>
                  <a:srgbClr val="142633"/>
                </a:solidFill>
                <a:latin typeface="Arial"/>
                <a:ea typeface="Arial"/>
                <a:cs typeface="Arial"/>
              </a:defRPr>
            </a:lvl7pPr>
            <a:lvl8pPr>
              <a:defRPr sz="2100" b="1">
                <a:solidFill>
                  <a:srgbClr val="142633"/>
                </a:solidFill>
                <a:latin typeface="Arial"/>
                <a:ea typeface="Arial"/>
                <a:cs typeface="Arial"/>
              </a:defRPr>
            </a:lvl8pPr>
            <a:lvl9pPr>
              <a:defRPr sz="2100" b="1">
                <a:solidFill>
                  <a:srgbClr val="142633"/>
                </a:solidFill>
                <a:latin typeface="Arial"/>
                <a:ea typeface="Arial"/>
                <a:cs typeface="Arial"/>
              </a:defRPr>
            </a:lvl9pPr>
          </a:lstStyle>
          <a:p xmlns:a="http://schemas.openxmlformats.org/drawingml/2006/main">
            <a:pPr>
              <a:defRPr sz="2100" b="1">
                <a:solidFill>
                  <a:srgbClr val="142633"/>
                </a:solidFill>
                <a:latin typeface="Arial"/>
                <a:ea typeface="Arial"/>
                <a:cs typeface="Arial"/>
              </a:defRPr>
            </a:pPr>
            <a:r>
              <a:rPr sz="2100" b="1">
                <a:solidFill>
                  <a:srgbClr val="142633"/>
                </a:solidFill>
                <a:latin typeface="Arial"/>
                <a:ea typeface="Arial"/>
                <a:cs typeface="Arial"/>
              </a:rPr>
              <a:t>White x: catalogue position.</a:t>
            </a:r>
          </a:p>
          <a:p xmlns:a="http://schemas.openxmlformats.org/drawingml/2006/main">
            <a:pPr>
              <a:defRPr sz="2100" b="1">
                <a:solidFill>
                  <a:srgbClr val="142633"/>
                </a:solidFill>
                <a:latin typeface="Arial"/>
                <a:ea typeface="Arial"/>
                <a:cs typeface="Arial"/>
              </a:defRPr>
            </a:pPr>
            <a:r>
              <a:rPr sz="2100" b="1">
                <a:solidFill>
                  <a:srgbClr val="142633"/>
                </a:solidFill>
                <a:latin typeface="Arial"/>
                <a:ea typeface="Arial"/>
                <a:cs typeface="Arial"/>
              </a:rPr>
              <a:t>Red +: fitted disc centre.</a:t>
            </a:r>
          </a:p>
        </p:txBody>
      </p:sp>
      <p:sp>
        <p:nvSpPr>
          <p:cNvPr id="6" name="">
            <a:extLst xmlns:a="http://schemas.openxmlformats.org/drawingml/2006/main">
              <a:ext uri="{FF2B5EF4-FFF2-40B4-BE49-F238E27FC236}">
                <a16:creationId xmlns:a16="http://schemas.microsoft.com/office/drawing/2014/main" id="{AF85AFFC-1847-4C90-982F-33B26314F705}"/>
              </a:ext>
            </a:extLst>
          </p:cNvPr>
          <p:cNvSpPr>
            <a:spLocks xmlns:a="http://schemas.openxmlformats.org/drawingml/2006/main" noGrp="1"/>
          </p:cNvSpPr>
          <p:nvPr/>
        </p:nvSpPr>
        <p:spPr>
          <a:xfrm xmlns:a="http://schemas.openxmlformats.org/drawingml/2006/main">
            <a:off x="6762750" y="32385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05F7A"/>
                </a:solidFill>
                <a:latin typeface="Arial"/>
                <a:ea typeface="Arial"/>
                <a:cs typeface="Arial"/>
              </a:defRPr>
            </a:defPPr>
            <a:lvl1pPr>
              <a:defRPr sz="2100" b="1">
                <a:solidFill>
                  <a:srgbClr val="205F7A"/>
                </a:solidFill>
                <a:latin typeface="Arial"/>
                <a:ea typeface="Arial"/>
                <a:cs typeface="Arial"/>
              </a:defRPr>
            </a:lvl1pPr>
            <a:lvl2pPr>
              <a:defRPr sz="2100" b="1">
                <a:solidFill>
                  <a:srgbClr val="205F7A"/>
                </a:solidFill>
                <a:latin typeface="Arial"/>
                <a:ea typeface="Arial"/>
                <a:cs typeface="Arial"/>
              </a:defRPr>
            </a:lvl2pPr>
            <a:lvl3pPr>
              <a:defRPr sz="2100" b="1">
                <a:solidFill>
                  <a:srgbClr val="205F7A"/>
                </a:solidFill>
                <a:latin typeface="Arial"/>
                <a:ea typeface="Arial"/>
                <a:cs typeface="Arial"/>
              </a:defRPr>
            </a:lvl3pPr>
            <a:lvl4pPr>
              <a:defRPr sz="2100" b="1">
                <a:solidFill>
                  <a:srgbClr val="205F7A"/>
                </a:solidFill>
                <a:latin typeface="Arial"/>
                <a:ea typeface="Arial"/>
                <a:cs typeface="Arial"/>
              </a:defRPr>
            </a:lvl4pPr>
            <a:lvl5pPr>
              <a:defRPr sz="2100" b="1">
                <a:solidFill>
                  <a:srgbClr val="205F7A"/>
                </a:solidFill>
                <a:latin typeface="Arial"/>
                <a:ea typeface="Arial"/>
                <a:cs typeface="Arial"/>
              </a:defRPr>
            </a:lvl5pPr>
            <a:lvl6pPr>
              <a:defRPr sz="2100" b="1">
                <a:solidFill>
                  <a:srgbClr val="205F7A"/>
                </a:solidFill>
                <a:latin typeface="Arial"/>
                <a:ea typeface="Arial"/>
                <a:cs typeface="Arial"/>
              </a:defRPr>
            </a:lvl6pPr>
            <a:lvl7pPr>
              <a:defRPr sz="2100" b="1">
                <a:solidFill>
                  <a:srgbClr val="205F7A"/>
                </a:solidFill>
                <a:latin typeface="Arial"/>
                <a:ea typeface="Arial"/>
                <a:cs typeface="Arial"/>
              </a:defRPr>
            </a:lvl7pPr>
            <a:lvl8pPr>
              <a:defRPr sz="2100" b="1">
                <a:solidFill>
                  <a:srgbClr val="205F7A"/>
                </a:solidFill>
                <a:latin typeface="Arial"/>
                <a:ea typeface="Arial"/>
                <a:cs typeface="Arial"/>
              </a:defRPr>
            </a:lvl8pPr>
            <a:lvl9pPr>
              <a:defRPr sz="2100" b="1">
                <a:solidFill>
                  <a:srgbClr val="205F7A"/>
                </a:solidFill>
                <a:latin typeface="Arial"/>
                <a:ea typeface="Arial"/>
                <a:cs typeface="Arial"/>
              </a:defRPr>
            </a:lvl9pPr>
          </a:lstStyle>
          <a:p xmlns:a="http://schemas.openxmlformats.org/drawingml/2006/main">
            <a:pPr>
              <a:defRPr sz="2100" b="1">
                <a:solidFill>
                  <a:srgbClr val="205F7A"/>
                </a:solidFill>
                <a:latin typeface="Arial"/>
                <a:ea typeface="Arial"/>
                <a:cs typeface="Arial"/>
              </a:defRPr>
            </a:pPr>
            <a:r>
              <a:rPr sz="2100" b="1">
                <a:solidFill>
                  <a:srgbClr val="205F7A"/>
                </a:solidFill>
                <a:latin typeface="Arial"/>
                <a:ea typeface="Arial"/>
                <a:cs typeface="Arial"/>
              </a:rPr>
              <a:t>This example: 17.32 arcsec shift.</a:t>
            </a:r>
          </a:p>
          <a:p xmlns:a="http://schemas.openxmlformats.org/drawingml/2006/main">
            <a:pPr>
              <a:defRPr sz="2100" b="1">
                <a:solidFill>
                  <a:srgbClr val="205F7A"/>
                </a:solidFill>
                <a:latin typeface="Arial"/>
                <a:ea typeface="Arial"/>
                <a:cs typeface="Arial"/>
              </a:defRPr>
            </a:pPr>
            <a:r>
              <a:rPr sz="2100" b="1">
                <a:solidFill>
                  <a:srgbClr val="205F7A"/>
                </a:solidFill>
                <a:latin typeface="Arial"/>
                <a:ea typeface="Arial"/>
                <a:cs typeface="Arial"/>
              </a:rPr>
              <a:t>Sample median: 0.083 arcsec.</a:t>
            </a:r>
          </a:p>
        </p:txBody>
      </p:sp>
      <p:sp>
        <p:nvSpPr>
          <p:cNvPr id="7" name="">
            <a:extLst xmlns:a="http://schemas.openxmlformats.org/drawingml/2006/main">
              <a:ext uri="{FF2B5EF4-FFF2-40B4-BE49-F238E27FC236}">
                <a16:creationId xmlns:a16="http://schemas.microsoft.com/office/drawing/2014/main" id="{8B0EAEAC-D672-439E-A422-6EC566BDA989}"/>
              </a:ext>
            </a:extLst>
          </p:cNvPr>
          <p:cNvSpPr>
            <a:spLocks xmlns:a="http://schemas.openxmlformats.org/drawingml/2006/main" noGrp="1"/>
          </p:cNvSpPr>
          <p:nvPr/>
        </p:nvSpPr>
        <p:spPr>
          <a:xfrm xmlns:a="http://schemas.openxmlformats.org/drawingml/2006/main">
            <a:off x="6762750" y="452437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Large offsets and centre changes across radius remain flagged for review. The catalogue and fitted positions are both retained.</a:t>
            </a:r>
          </a:p>
        </p:txBody>
      </p:sp>
      <p:sp>
        <p:nvSpPr>
          <p:cNvPr id="8" name="">
            <a:extLst xmlns:a="http://schemas.openxmlformats.org/drawingml/2006/main">
              <a:ext uri="{FF2B5EF4-FFF2-40B4-BE49-F238E27FC236}">
                <a16:creationId xmlns:a16="http://schemas.microsoft.com/office/drawing/2014/main" id="{3A1AE060-2F47-441A-9AA4-006AE91F35A9}"/>
              </a:ext>
            </a:extLst>
          </p:cNvPr>
          <p:cNvSpPr>
            <a:spLocks xmlns:a="http://schemas.openxmlformats.org/drawingml/2006/main" noGrp="1"/>
          </p:cNvSpPr>
          <p:nvPr/>
        </p:nvSpPr>
        <p:spPr>
          <a:xfrm xmlns:a="http://schemas.openxmlformats.org/drawingml/2006/main">
            <a:off x="609600" y="61150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Synthetic check recovered the known centre within 0.01 pixel and PA/inclination within 0.01°.</a:t>
            </a:r>
          </a:p>
        </p:txBody>
      </p:sp>
    </p:spTree>
    <p:extLst>
      <p:ext uri="{BB962C8B-B14F-4D97-AF65-F5344CB8AC3E}">
        <p14:creationId xmlns:p14="http://schemas.microsoft.com/office/powerpoint/2010/main" val="4078393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7D67EC-BB71-4CCE-B7E2-55F0B6A24278}"/>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Updated review collection</a:t>
            </a:r>
          </a:p>
        </p:txBody>
      </p:sp>
      <p:sp>
        <p:nvSpPr>
          <p:cNvPr id="2" name="">
            <a:extLst xmlns:a="http://schemas.openxmlformats.org/drawingml/2006/main">
              <a:ext uri="{FF2B5EF4-FFF2-40B4-BE49-F238E27FC236}">
                <a16:creationId xmlns:a16="http://schemas.microsoft.com/office/drawing/2014/main" id="{13EFC5F8-7B61-4324-BF61-369B65D8B25C}"/>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17</a:t>
            </a:r>
          </a:p>
        </p:txBody>
      </p:sp>
      <p:graphicFrame>
        <p:nvGraphicFramePr>
          <p:cNvPr id="3" name="">
            <a:extLst xmlns:a="http://schemas.openxmlformats.org/drawingml/2006/main">
              <a:ext uri="{FF2B5EF4-FFF2-40B4-BE49-F238E27FC236}">
                <a16:creationId xmlns:a16="http://schemas.microsoft.com/office/drawing/2014/main" id="{1C395556-E99A-45BD-B044-C2EA5811CC8F}"/>
              </a:ext>
            </a:extLst>
          </p:cNvPr>
          <p:cNvGraphicFramePr/>
          <p:nvPr/>
        </p:nvGraphicFramePr>
        <p:xfrm>
          <a:off xmlns:a="http://schemas.openxmlformats.org/drawingml/2006/main" x="609600" y="1571625"/>
          <a:ext xmlns:a="http://schemas.openxmlformats.org/drawingml/2006/main" cx="10953750" cy="2190750"/>
        </p:xfrm>
        <a:graphic xmlns:a="http://schemas.openxmlformats.org/drawingml/2006/main">
          <a:graphicData uri="http://schemas.openxmlformats.org/drawingml/2006/table">
            <a:tbl>
              <a:tblPr/>
              <a:tblGrid>
                <a:gridCol w="7620000"/>
                <a:gridCol w="3333750"/>
              </a:tblGrid>
              <a:tr h="547688">
                <a:tc>
                  <a:txBody>
                    <a:bodyPr/>
                    <a:lstStyle/>
                    <a:p>
                      <a:r>
                        <a:rPr sz="2025"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2025" b="1">
                          <a:solidFill>
                            <a:srgbClr val="142633"/>
                          </a:solidFill>
                          <a:latin typeface="Arial"/>
                          <a:ea typeface="Arial"/>
                          <a:cs typeface="Arial"/>
                        </a:rPr>
                        <a:t>PNG reports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47688">
                <a:tc>
                  <a:txBody>
                    <a:bodyPr/>
                    <a:lstStyle/>
                    <a:p>
                      <a:r>
                        <a:rPr sz="2025"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2491</a:t>
                      </a:r>
                    </a:p>
                  </a:txBody>
                  <a:tcPr marL="91440" marR="91440" marT="45720" marB="45720">
                    <a:lnR w="6668">
                      <a:solidFill>
                        <a:srgbClr val="D6E0E5"/>
                      </a:solidFill>
                      <a:prstDash val="solid"/>
                    </a:lnR>
                    <a:lnB w="6668">
                      <a:solidFill>
                        <a:srgbClr val="D6E0E5"/>
                      </a:solidFill>
                      <a:prstDash val="solid"/>
                    </a:lnB>
                    <a:solidFill>
                      <a:srgbClr val="FFFFFF"/>
                    </a:solidFill>
                  </a:tcPr>
                </a:tc>
              </a:tr>
              <a:tr h="547688">
                <a:tc>
                  <a:txBody>
                    <a:bodyPr/>
                    <a:lstStyle/>
                    <a:p>
                      <a:r>
                        <a:rPr sz="2025"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286</a:t>
                      </a:r>
                    </a:p>
                  </a:txBody>
                  <a:tcPr marL="91440" marR="91440" marT="45720" marB="45720">
                    <a:lnR w="6668">
                      <a:solidFill>
                        <a:srgbClr val="D6E0E5"/>
                      </a:solidFill>
                      <a:prstDash val="solid"/>
                    </a:lnR>
                    <a:lnB w="6668">
                      <a:solidFill>
                        <a:srgbClr val="D6E0E5"/>
                      </a:solidFill>
                      <a:prstDash val="solid"/>
                    </a:lnB>
                    <a:solidFill>
                      <a:srgbClr val="FFFFFF"/>
                    </a:solidFill>
                  </a:tcPr>
                </a:tc>
              </a:tr>
              <a:tr h="547688">
                <a:tc>
                  <a:txBody>
                    <a:bodyPr/>
                    <a:lstStyle/>
                    <a:p>
                      <a:r>
                        <a:rPr sz="2025" b="0">
                          <a:solidFill>
                            <a:srgbClr val="142633"/>
                          </a:solidFill>
                          <a:latin typeface="Arial"/>
                          <a:ea typeface="Arial"/>
                          <a:cs typeface="Arial"/>
                        </a:rPr>
                        <a:t>Total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2025" b="0">
                          <a:solidFill>
                            <a:srgbClr val="142633"/>
                          </a:solidFill>
                          <a:latin typeface="Arial"/>
                          <a:ea typeface="Arial"/>
                          <a:cs typeface="Arial"/>
                        </a:rPr>
                        <a:t>2777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A37BFB6-5A5D-46EC-A25F-CE05B32C61D6}"/>
              </a:ext>
            </a:extLst>
          </p:cNvPr>
          <p:cNvSpPr>
            <a:spLocks xmlns:a="http://schemas.openxmlformats.org/drawingml/2006/main" noGrp="1"/>
          </p:cNvSpPr>
          <p:nvPr/>
        </p:nvSpPr>
        <p:spPr>
          <a:xfrm xmlns:a="http://schemas.openxmlformats.org/drawingml/2006/main">
            <a:off x="609600" y="4191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47 PDFs; 464 pages; six galaxies per page.</a:t>
            </a:r>
          </a:p>
        </p:txBody>
      </p:sp>
      <p:sp>
        <p:nvSpPr>
          <p:cNvPr id="5" name="">
            <a:extLst xmlns:a="http://schemas.openxmlformats.org/drawingml/2006/main">
              <a:ext uri="{FF2B5EF4-FFF2-40B4-BE49-F238E27FC236}">
                <a16:creationId xmlns:a16="http://schemas.microsoft.com/office/drawing/2014/main" id="{DB4BDC38-5970-495C-BF82-CBA5572ED62E}"/>
              </a:ext>
            </a:extLst>
          </p:cNvPr>
          <p:cNvSpPr>
            <a:spLocks xmlns:a="http://schemas.openxmlformats.org/drawingml/2006/main" noGrp="1"/>
          </p:cNvSpPr>
          <p:nvPr/>
        </p:nvSpPr>
        <p:spPr>
          <a:xfrm xmlns:a="http://schemas.openxmlformats.org/drawingml/2006/main">
            <a:off x="609600" y="49053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Each card includes selected ellipses, profiles, angles, Euclid deltas, centre offset and recovery method. No accepted bar leaves bar PA blank.</a:t>
            </a:r>
          </a:p>
        </p:txBody>
      </p:sp>
      <p:sp>
        <p:nvSpPr>
          <p:cNvPr id="6" name="">
            <a:extLst xmlns:a="http://schemas.openxmlformats.org/drawingml/2006/main">
              <a:ext uri="{FF2B5EF4-FFF2-40B4-BE49-F238E27FC236}">
                <a16:creationId xmlns:a16="http://schemas.microsoft.com/office/drawing/2014/main" id="{2DEA376F-7CE6-4489-BF9E-5656F528F367}"/>
              </a:ext>
            </a:extLst>
          </p:cNvPr>
          <p:cNvSpPr>
            <a:spLocks xmlns:a="http://schemas.openxmlformats.org/drawingml/2006/main" noGrp="1"/>
          </p:cNvSpPr>
          <p:nvPr/>
        </p:nvSpPr>
        <p:spPr>
          <a:xfrm xmlns:a="http://schemas.openxmlformats.org/drawingml/2006/main">
            <a:off x="609600" y="60007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Next slides use current examples. Recovery warnings may co-occur; isolated examples are shown only where available.</a:t>
            </a:r>
          </a:p>
        </p:txBody>
      </p:sp>
    </p:spTree>
    <p:extLst>
      <p:ext uri="{BB962C8B-B14F-4D97-AF65-F5344CB8AC3E}">
        <p14:creationId xmlns:p14="http://schemas.microsoft.com/office/powerpoint/2010/main" val="12836902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14391A-3A74-403A-ABFB-D4D40555E676}"/>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Small selected bar interval</a:t>
            </a:r>
          </a:p>
        </p:txBody>
      </p:sp>
      <p:sp>
        <p:nvSpPr>
          <p:cNvPr id="2" name="">
            <a:extLst xmlns:a="http://schemas.openxmlformats.org/drawingml/2006/main">
              <a:ext uri="{FF2B5EF4-FFF2-40B4-BE49-F238E27FC236}">
                <a16:creationId xmlns:a16="http://schemas.microsoft.com/office/drawing/2014/main" id="{553A12E8-1DBF-416A-AC98-CFF3BA182923}"/>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17</a:t>
            </a:r>
          </a:p>
        </p:txBody>
      </p:sp>
      <p:sp>
        <p:nvSpPr>
          <p:cNvPr id="3" name="">
            <a:extLst xmlns:a="http://schemas.openxmlformats.org/drawingml/2006/main">
              <a:ext uri="{FF2B5EF4-FFF2-40B4-BE49-F238E27FC236}">
                <a16:creationId xmlns:a16="http://schemas.microsoft.com/office/drawing/2014/main" id="{E855FFCA-F177-4B39-96A9-8067E5BA987F}"/>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B8CBD510-15F0-4B9D-9C03-47BE133B1547}"/>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-518659917291205827</a:t>
            </a:r>
          </a:p>
        </p:txBody>
      </p:sp>
      <p:pic>
        <p:nvPicPr>
          <p:cNvPr id="5" name="">
            <a:extLst xmlns:a="http://schemas.openxmlformats.org/drawingml/2006/main">
              <a:ext uri="{FF2B5EF4-FFF2-40B4-BE49-F238E27FC236}">
                <a16:creationId xmlns:a16="http://schemas.microsoft.com/office/drawing/2014/main" id="{73D99635-48CA-40B5-B420-B722407116F5}"/>
              </a:ext>
            </a:extLst>
          </p:cNvPr>
          <p:cNvPicPr>
            <a:picLocks xmlns:a="http://schemas.openxmlformats.org/drawingml/2006/main" noChangeAspect="1"/>
          </p:cNvPicPr>
          <p:nvPr/>
        </p:nvPicPr>
        <p:blipFill>
          <a:blip xmlns:r="http://schemas.openxmlformats.org/officeDocument/2006/relationships" xmlns:a="http://schemas.openxmlformats.org/drawingml/2006/main" r:embed="Rdce2e19d733e475c"/>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5C89336-5162-46CC-A9C0-F7F64DD76B3F}"/>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67.98°; bar 63.85°; i 47.29°</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0.07 arcsec; 31 accepted ellipses.</a:t>
            </a:r>
          </a:p>
        </p:txBody>
      </p:sp>
      <p:sp>
        <p:nvSpPr>
          <p:cNvPr id="7" name="">
            <a:extLst xmlns:a="http://schemas.openxmlformats.org/drawingml/2006/main">
              <a:ext uri="{FF2B5EF4-FFF2-40B4-BE49-F238E27FC236}">
                <a16:creationId xmlns:a16="http://schemas.microsoft.com/office/drawing/2014/main" id="{48B51013-43A3-4101-AB98-893B16FA9378}"/>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-518003489287870292</a:t>
            </a:r>
          </a:p>
        </p:txBody>
      </p:sp>
      <p:pic>
        <p:nvPicPr>
          <p:cNvPr id="8" name="">
            <a:extLst xmlns:a="http://schemas.openxmlformats.org/drawingml/2006/main">
              <a:ext uri="{FF2B5EF4-FFF2-40B4-BE49-F238E27FC236}">
                <a16:creationId xmlns:a16="http://schemas.microsoft.com/office/drawing/2014/main" id="{BBE7DF4C-6E7A-4F54-977B-CB6948B5B5BB}"/>
              </a:ext>
            </a:extLst>
          </p:cNvPr>
          <p:cNvPicPr>
            <a:picLocks xmlns:a="http://schemas.openxmlformats.org/drawingml/2006/main" noChangeAspect="1"/>
          </p:cNvPicPr>
          <p:nvPr/>
        </p:nvPicPr>
        <p:blipFill>
          <a:blip xmlns:r="http://schemas.openxmlformats.org/officeDocument/2006/relationships" xmlns:a="http://schemas.openxmlformats.org/drawingml/2006/main" r:embed="R4cc821e6ed304f93"/>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9A3728D-D5C4-4996-996A-7E124DBBBCE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87.46°; bar 167.23°; i 31.57°</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0.04 arcsec; 22 accepted ellipses.</a:t>
            </a:r>
          </a:p>
        </p:txBody>
      </p:sp>
      <p:sp>
        <p:nvSpPr>
          <p:cNvPr id="10" name="">
            <a:extLst xmlns:a="http://schemas.openxmlformats.org/drawingml/2006/main">
              <a:ext uri="{FF2B5EF4-FFF2-40B4-BE49-F238E27FC236}">
                <a16:creationId xmlns:a16="http://schemas.microsoft.com/office/drawing/2014/main" id="{6F10B253-CAAB-461F-9AA2-F3AA89F90C06}"/>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316 isolated cases available. Orange: selected bar. Green: selected disc. Blue: accepted samples. Grey: rejected samples.</a:t>
            </a:r>
          </a:p>
        </p:txBody>
      </p:sp>
    </p:spTree>
    <p:extLst>
      <p:ext uri="{BB962C8B-B14F-4D97-AF65-F5344CB8AC3E}">
        <p14:creationId xmlns:p14="http://schemas.microsoft.com/office/powerpoint/2010/main" val="15773842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364281-CB02-4273-B64A-C0181379FF75}"/>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B289E8B4-EC11-481C-9DA4-DD60974096E1}"/>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17</a:t>
            </a:r>
          </a:p>
        </p:txBody>
      </p:sp>
      <p:sp>
        <p:nvSpPr>
          <p:cNvPr id="3" name="">
            <a:extLst xmlns:a="http://schemas.openxmlformats.org/drawingml/2006/main">
              <a:ext uri="{FF2B5EF4-FFF2-40B4-BE49-F238E27FC236}">
                <a16:creationId xmlns:a16="http://schemas.microsoft.com/office/drawing/2014/main" id="{2666328F-5589-4C62-9496-048C8F6AC610}"/>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70810705-23B7-40F5-8B9B-12CEA0883F5B}"/>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-518633776290631360</a:t>
            </a:r>
          </a:p>
        </p:txBody>
      </p:sp>
      <p:pic>
        <p:nvPicPr>
          <p:cNvPr id="5" name="">
            <a:extLst xmlns:a="http://schemas.openxmlformats.org/drawingml/2006/main">
              <a:ext uri="{FF2B5EF4-FFF2-40B4-BE49-F238E27FC236}">
                <a16:creationId xmlns:a16="http://schemas.microsoft.com/office/drawing/2014/main" id="{A87A81DE-C093-451F-B9D8-F542AE4EACF9}"/>
              </a:ext>
            </a:extLst>
          </p:cNvPr>
          <p:cNvPicPr>
            <a:picLocks xmlns:a="http://schemas.openxmlformats.org/drawingml/2006/main" noChangeAspect="1"/>
          </p:cNvPicPr>
          <p:nvPr/>
        </p:nvPicPr>
        <p:blipFill>
          <a:blip xmlns:r="http://schemas.openxmlformats.org/officeDocument/2006/relationships" xmlns:a="http://schemas.openxmlformats.org/drawingml/2006/main" r:embed="R875fea9a0b4b4ab6"/>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A28F696-F413-4350-A19F-988CC5212E5F}"/>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113.69°; bar 113.87°; i 49.48°</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0.15 arcsec; 28 accepted ellipses.</a:t>
            </a:r>
          </a:p>
        </p:txBody>
      </p:sp>
      <p:sp>
        <p:nvSpPr>
          <p:cNvPr id="7" name="">
            <a:extLst xmlns:a="http://schemas.openxmlformats.org/drawingml/2006/main">
              <a:ext uri="{FF2B5EF4-FFF2-40B4-BE49-F238E27FC236}">
                <a16:creationId xmlns:a16="http://schemas.microsoft.com/office/drawing/2014/main" id="{CD4064CD-E20A-4B49-9321-E7C8149FB418}"/>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-601121275504424227</a:t>
            </a:r>
          </a:p>
        </p:txBody>
      </p:sp>
      <p:pic>
        <p:nvPicPr>
          <p:cNvPr id="8" name="">
            <a:extLst xmlns:a="http://schemas.openxmlformats.org/drawingml/2006/main">
              <a:ext uri="{FF2B5EF4-FFF2-40B4-BE49-F238E27FC236}">
                <a16:creationId xmlns:a16="http://schemas.microsoft.com/office/drawing/2014/main" id="{D1E37184-31A2-4150-B6C1-FB3807799F4C}"/>
              </a:ext>
            </a:extLst>
          </p:cNvPr>
          <p:cNvPicPr>
            <a:picLocks xmlns:a="http://schemas.openxmlformats.org/drawingml/2006/main" noChangeAspect="1"/>
          </p:cNvPicPr>
          <p:nvPr/>
        </p:nvPicPr>
        <p:blipFill>
          <a:blip xmlns:r="http://schemas.openxmlformats.org/officeDocument/2006/relationships" xmlns:a="http://schemas.openxmlformats.org/drawingml/2006/main" r:embed="R75bb493509df4ba3"/>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5774E20-3A15-4E30-9900-270718950511}"/>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60.75°; bar 20.23°; i 40.93°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0.04 arcsec; 33 accepted ellipses.</a:t>
            </a:r>
          </a:p>
        </p:txBody>
      </p:sp>
      <p:sp>
        <p:nvSpPr>
          <p:cNvPr id="10" name="">
            <a:extLst xmlns:a="http://schemas.openxmlformats.org/drawingml/2006/main">
              <a:ext uri="{FF2B5EF4-FFF2-40B4-BE49-F238E27FC236}">
                <a16:creationId xmlns:a16="http://schemas.microsoft.com/office/drawing/2014/main" id="{307B8E46-8D8C-478C-870E-36127D6063BC}"/>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89 isolated cases available. Orange: selected bar. Green: selected disc. Blue: accepted samples. Grey: rejected samples.</a:t>
            </a:r>
          </a:p>
        </p:txBody>
      </p:sp>
    </p:spTree>
    <p:extLst>
      <p:ext uri="{BB962C8B-B14F-4D97-AF65-F5344CB8AC3E}">
        <p14:creationId xmlns:p14="http://schemas.microsoft.com/office/powerpoint/2010/main" val="15417821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D4BEE9-C83E-4970-9E31-FBDF626C67B9}"/>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938F3D59-CF03-491B-9B36-2B488E756D6E}"/>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17</a:t>
            </a:r>
          </a:p>
        </p:txBody>
      </p:sp>
      <p:sp>
        <p:nvSpPr>
          <p:cNvPr id="3" name="">
            <a:extLst xmlns:a="http://schemas.openxmlformats.org/drawingml/2006/main">
              <a:ext uri="{FF2B5EF4-FFF2-40B4-BE49-F238E27FC236}">
                <a16:creationId xmlns:a16="http://schemas.microsoft.com/office/drawing/2014/main" id="{5B1E0FAC-212F-41E7-B5EF-68E1387A6BF8}"/>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AF39D71B-0CB0-49B4-8E07-A0C58E677549}"/>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-515262325287813002</a:t>
            </a:r>
          </a:p>
        </p:txBody>
      </p:sp>
      <p:pic>
        <p:nvPicPr>
          <p:cNvPr id="5" name="">
            <a:extLst xmlns:a="http://schemas.openxmlformats.org/drawingml/2006/main">
              <a:ext uri="{FF2B5EF4-FFF2-40B4-BE49-F238E27FC236}">
                <a16:creationId xmlns:a16="http://schemas.microsoft.com/office/drawing/2014/main" id="{FBAF4DF7-C595-42E1-808C-113BF0863E05}"/>
              </a:ext>
            </a:extLst>
          </p:cNvPr>
          <p:cNvPicPr>
            <a:picLocks xmlns:a="http://schemas.openxmlformats.org/drawingml/2006/main" noChangeAspect="1"/>
          </p:cNvPicPr>
          <p:nvPr/>
        </p:nvPicPr>
        <p:blipFill>
          <a:blip xmlns:r="http://schemas.openxmlformats.org/officeDocument/2006/relationships" xmlns:a="http://schemas.openxmlformats.org/drawingml/2006/main" r:embed="R290433872dc0439e"/>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81B21B1-C5AA-473D-97C7-6CD7173A4460}"/>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66.04°; bar 68.86°; i 64.73°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0.14 arcsec; 25 accepted ellipses.</a:t>
            </a:r>
          </a:p>
        </p:txBody>
      </p:sp>
      <p:sp>
        <p:nvSpPr>
          <p:cNvPr id="7" name="">
            <a:extLst xmlns:a="http://schemas.openxmlformats.org/drawingml/2006/main">
              <a:ext uri="{FF2B5EF4-FFF2-40B4-BE49-F238E27FC236}">
                <a16:creationId xmlns:a16="http://schemas.microsoft.com/office/drawing/2014/main" id="{6F23B4A8-6F70-4136-B91A-B44507336DF3}"/>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2696479031648186651</a:t>
            </a:r>
          </a:p>
        </p:txBody>
      </p:sp>
      <p:pic>
        <p:nvPicPr>
          <p:cNvPr id="8" name="">
            <a:extLst xmlns:a="http://schemas.openxmlformats.org/drawingml/2006/main">
              <a:ext uri="{FF2B5EF4-FFF2-40B4-BE49-F238E27FC236}">
                <a16:creationId xmlns:a16="http://schemas.microsoft.com/office/drawing/2014/main" id="{D07C1B80-2BB9-4B17-8F29-A42AF4E7C27B}"/>
              </a:ext>
            </a:extLst>
          </p:cNvPr>
          <p:cNvPicPr>
            <a:picLocks xmlns:a="http://schemas.openxmlformats.org/drawingml/2006/main" noChangeAspect="1"/>
          </p:cNvPicPr>
          <p:nvPr/>
        </p:nvPicPr>
        <p:blipFill>
          <a:blip xmlns:r="http://schemas.openxmlformats.org/officeDocument/2006/relationships" xmlns:a="http://schemas.openxmlformats.org/drawingml/2006/main" r:embed="R37e133bff0bd4f76"/>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A9A5FB7-ED3C-43D6-9DA0-F8B84304F1DB}"/>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77.11°; bar 59.69°; i 55.74°</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0.17 arcsec; 26 accepted ellipses.</a:t>
            </a:r>
          </a:p>
        </p:txBody>
      </p:sp>
      <p:sp>
        <p:nvSpPr>
          <p:cNvPr id="10" name="">
            <a:extLst xmlns:a="http://schemas.openxmlformats.org/drawingml/2006/main">
              <a:ext uri="{FF2B5EF4-FFF2-40B4-BE49-F238E27FC236}">
                <a16:creationId xmlns:a16="http://schemas.microsoft.com/office/drawing/2014/main" id="{A97C5FAB-ABCE-4666-A682-B61CBBCE766D}"/>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109 isolated cases available. Orange: selected bar. Green: selected disc. Blue: accepted samples. Grey: rejected samples.</a:t>
            </a:r>
          </a:p>
        </p:txBody>
      </p:sp>
    </p:spTree>
    <p:extLst>
      <p:ext uri="{BB962C8B-B14F-4D97-AF65-F5344CB8AC3E}">
        <p14:creationId xmlns:p14="http://schemas.microsoft.com/office/powerpoint/2010/main" val="11993552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30CAA6-D3D6-4F3E-A045-AB9C226B5414}"/>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Weaker accepted bar signature</a:t>
            </a:r>
          </a:p>
        </p:txBody>
      </p:sp>
      <p:sp>
        <p:nvSpPr>
          <p:cNvPr id="2" name="">
            <a:extLst xmlns:a="http://schemas.openxmlformats.org/drawingml/2006/main">
              <a:ext uri="{FF2B5EF4-FFF2-40B4-BE49-F238E27FC236}">
                <a16:creationId xmlns:a16="http://schemas.microsoft.com/office/drawing/2014/main" id="{D6E74886-557A-4967-BFAD-0B150010FDD5}"/>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17</a:t>
            </a:r>
          </a:p>
        </p:txBody>
      </p:sp>
      <p:sp>
        <p:nvSpPr>
          <p:cNvPr id="3" name="">
            <a:extLst xmlns:a="http://schemas.openxmlformats.org/drawingml/2006/main">
              <a:ext uri="{FF2B5EF4-FFF2-40B4-BE49-F238E27FC236}">
                <a16:creationId xmlns:a16="http://schemas.microsoft.com/office/drawing/2014/main" id="{9B6BAAE1-861E-4636-9EC8-D11B726B6A5E}"/>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25270D90-E9EF-4B07-9001-CC5D75B80000}"/>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-586037871514112362</a:t>
            </a:r>
          </a:p>
        </p:txBody>
      </p:sp>
      <p:pic>
        <p:nvPicPr>
          <p:cNvPr id="5" name="">
            <a:extLst xmlns:a="http://schemas.openxmlformats.org/drawingml/2006/main">
              <a:ext uri="{FF2B5EF4-FFF2-40B4-BE49-F238E27FC236}">
                <a16:creationId xmlns:a16="http://schemas.microsoft.com/office/drawing/2014/main" id="{D416213B-EFFF-4653-9025-56EE3C685D6A}"/>
              </a:ext>
            </a:extLst>
          </p:cNvPr>
          <p:cNvPicPr>
            <a:picLocks xmlns:a="http://schemas.openxmlformats.org/drawingml/2006/main" noChangeAspect="1"/>
          </p:cNvPicPr>
          <p:nvPr/>
        </p:nvPicPr>
        <p:blipFill>
          <a:blip xmlns:r="http://schemas.openxmlformats.org/officeDocument/2006/relationships" xmlns:a="http://schemas.openxmlformats.org/drawingml/2006/main" r:embed="R64fe70d65f584c05"/>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499088C-E150-4618-ADFA-165B281C2CC2}"/>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9.11°; bar 34.11°; i 62.89°</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0.20 arcsec; 31 accepted ellipses.</a:t>
            </a:r>
          </a:p>
        </p:txBody>
      </p:sp>
      <p:sp>
        <p:nvSpPr>
          <p:cNvPr id="7" name="">
            <a:extLst xmlns:a="http://schemas.openxmlformats.org/drawingml/2006/main">
              <a:ext uri="{FF2B5EF4-FFF2-40B4-BE49-F238E27FC236}">
                <a16:creationId xmlns:a16="http://schemas.microsoft.com/office/drawing/2014/main" id="{110393E4-45DE-4640-9CC5-BA3155348C3C}"/>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-593494399504450575</a:t>
            </a:r>
          </a:p>
        </p:txBody>
      </p:sp>
      <p:pic>
        <p:nvPicPr>
          <p:cNvPr id="8" name="">
            <a:extLst xmlns:a="http://schemas.openxmlformats.org/drawingml/2006/main">
              <a:ext uri="{FF2B5EF4-FFF2-40B4-BE49-F238E27FC236}">
                <a16:creationId xmlns:a16="http://schemas.microsoft.com/office/drawing/2014/main" id="{1F244A23-48CF-419B-AA76-CE14A601A1F7}"/>
              </a:ext>
            </a:extLst>
          </p:cNvPr>
          <p:cNvPicPr>
            <a:picLocks xmlns:a="http://schemas.openxmlformats.org/drawingml/2006/main" noChangeAspect="1"/>
          </p:cNvPicPr>
          <p:nvPr/>
        </p:nvPicPr>
        <p:blipFill>
          <a:blip xmlns:r="http://schemas.openxmlformats.org/officeDocument/2006/relationships" xmlns:a="http://schemas.openxmlformats.org/drawingml/2006/main" r:embed="R1e0d87643e8e4488"/>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DC211CE-CD10-4C40-8BFF-27779AB9BCE2}"/>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56.81°; bar 53.95°; i 60.45°</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0.14 arcsec; 37 accepted ellipses.</a:t>
            </a:r>
          </a:p>
        </p:txBody>
      </p:sp>
      <p:sp>
        <p:nvSpPr>
          <p:cNvPr id="10" name="">
            <a:extLst xmlns:a="http://schemas.openxmlformats.org/drawingml/2006/main">
              <a:ext uri="{FF2B5EF4-FFF2-40B4-BE49-F238E27FC236}">
                <a16:creationId xmlns:a16="http://schemas.microsoft.com/office/drawing/2014/main" id="{BA8F1D3E-7CB8-447D-868B-76194C1F2E8B}"/>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37 isolated cases available. Orange: selected bar. Green: selected disc. Blue: accepted samples. Grey: rejected samples.</a:t>
            </a:r>
          </a:p>
        </p:txBody>
      </p:sp>
    </p:spTree>
    <p:extLst>
      <p:ext uri="{BB962C8B-B14F-4D97-AF65-F5344CB8AC3E}">
        <p14:creationId xmlns:p14="http://schemas.microsoft.com/office/powerpoint/2010/main" val="10265610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829058-B97C-4D61-86CE-DA0193262EC2}"/>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No accepted bar; disc retained</a:t>
            </a:r>
          </a:p>
        </p:txBody>
      </p:sp>
      <p:sp>
        <p:nvSpPr>
          <p:cNvPr id="2" name="">
            <a:extLst xmlns:a="http://schemas.openxmlformats.org/drawingml/2006/main">
              <a:ext uri="{FF2B5EF4-FFF2-40B4-BE49-F238E27FC236}">
                <a16:creationId xmlns:a16="http://schemas.microsoft.com/office/drawing/2014/main" id="{FF490720-811C-4480-9F9B-DB249396E350}"/>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17</a:t>
            </a:r>
          </a:p>
        </p:txBody>
      </p:sp>
      <p:sp>
        <p:nvSpPr>
          <p:cNvPr id="3" name="">
            <a:extLst xmlns:a="http://schemas.openxmlformats.org/drawingml/2006/main">
              <a:ext uri="{FF2B5EF4-FFF2-40B4-BE49-F238E27FC236}">
                <a16:creationId xmlns:a16="http://schemas.microsoft.com/office/drawing/2014/main" id="{4B124DA6-E349-44D3-B40C-9D116681C2D3}"/>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A54A201D-7F78-44A1-9FCD-CB75778F3225}"/>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-550331516283529196</a:t>
            </a:r>
          </a:p>
        </p:txBody>
      </p:sp>
      <p:pic>
        <p:nvPicPr>
          <p:cNvPr id="5" name="">
            <a:extLst xmlns:a="http://schemas.openxmlformats.org/drawingml/2006/main">
              <a:ext uri="{FF2B5EF4-FFF2-40B4-BE49-F238E27FC236}">
                <a16:creationId xmlns:a16="http://schemas.microsoft.com/office/drawing/2014/main" id="{B7FCACF1-9168-4E0E-BDAA-F3081693D708}"/>
              </a:ext>
            </a:extLst>
          </p:cNvPr>
          <p:cNvPicPr>
            <a:picLocks xmlns:a="http://schemas.openxmlformats.org/drawingml/2006/main" noChangeAspect="1"/>
          </p:cNvPicPr>
          <p:nvPr/>
        </p:nvPicPr>
        <p:blipFill>
          <a:blip xmlns:r="http://schemas.openxmlformats.org/officeDocument/2006/relationships" xmlns:a="http://schemas.openxmlformats.org/drawingml/2006/main" r:embed="R71fb4d760d9c406d"/>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26781E6-A098-42E3-B3A8-41229EA131CD}"/>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13.45°; bar unavailable; i 53.20°</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0.08 arcsec; 23 accepted ellipses.</a:t>
            </a:r>
          </a:p>
        </p:txBody>
      </p:sp>
      <p:sp>
        <p:nvSpPr>
          <p:cNvPr id="7" name="">
            <a:extLst xmlns:a="http://schemas.openxmlformats.org/drawingml/2006/main">
              <a:ext uri="{FF2B5EF4-FFF2-40B4-BE49-F238E27FC236}">
                <a16:creationId xmlns:a16="http://schemas.microsoft.com/office/drawing/2014/main" id="{0317C35A-DCAA-4BCF-95DA-E6FD17D6CFB4}"/>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-547491640287288205</a:t>
            </a:r>
          </a:p>
        </p:txBody>
      </p:sp>
      <p:pic>
        <p:nvPicPr>
          <p:cNvPr id="8" name="">
            <a:extLst xmlns:a="http://schemas.openxmlformats.org/drawingml/2006/main">
              <a:ext uri="{FF2B5EF4-FFF2-40B4-BE49-F238E27FC236}">
                <a16:creationId xmlns:a16="http://schemas.microsoft.com/office/drawing/2014/main" id="{802F53F1-637E-46A0-BFB4-DEEA575BFE1D}"/>
              </a:ext>
            </a:extLst>
          </p:cNvPr>
          <p:cNvPicPr>
            <a:picLocks xmlns:a="http://schemas.openxmlformats.org/drawingml/2006/main" noChangeAspect="1"/>
          </p:cNvPicPr>
          <p:nvPr/>
        </p:nvPicPr>
        <p:blipFill>
          <a:blip xmlns:r="http://schemas.openxmlformats.org/officeDocument/2006/relationships" xmlns:a="http://schemas.openxmlformats.org/drawingml/2006/main" r:embed="R9e3f56ca25844a24"/>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C875B3A-CD57-4034-AD50-77DFE8E6805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82.00°; bar unavailable; i 68.38°</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0.34 arcsec; 35 accepted ellipses.</a:t>
            </a:r>
          </a:p>
        </p:txBody>
      </p:sp>
      <p:sp>
        <p:nvSpPr>
          <p:cNvPr id="10" name="">
            <a:extLst xmlns:a="http://schemas.openxmlformats.org/drawingml/2006/main">
              <a:ext uri="{FF2B5EF4-FFF2-40B4-BE49-F238E27FC236}">
                <a16:creationId xmlns:a16="http://schemas.microsoft.com/office/drawing/2014/main" id="{4A8599F2-8E7C-4129-8245-FF85C972BA37}"/>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101 isolated cases available. Orange: selected bar. Green: selected disc. Blue: accepted samples. Grey: rejected samples.</a:t>
            </a:r>
          </a:p>
        </p:txBody>
      </p:sp>
    </p:spTree>
    <p:extLst>
      <p:ext uri="{BB962C8B-B14F-4D97-AF65-F5344CB8AC3E}">
        <p14:creationId xmlns:p14="http://schemas.microsoft.com/office/powerpoint/2010/main" val="13814999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E8409F-A728-4279-97E8-CF251F9BB6F4}"/>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Large centre offset</a:t>
            </a:r>
          </a:p>
        </p:txBody>
      </p:sp>
      <p:sp>
        <p:nvSpPr>
          <p:cNvPr id="2" name="">
            <a:extLst xmlns:a="http://schemas.openxmlformats.org/drawingml/2006/main">
              <a:ext uri="{FF2B5EF4-FFF2-40B4-BE49-F238E27FC236}">
                <a16:creationId xmlns:a16="http://schemas.microsoft.com/office/drawing/2014/main" id="{FE41C3B8-AE05-4408-A429-485C50C387B0}"/>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17</a:t>
            </a:r>
          </a:p>
        </p:txBody>
      </p:sp>
      <p:sp>
        <p:nvSpPr>
          <p:cNvPr id="3" name="">
            <a:extLst xmlns:a="http://schemas.openxmlformats.org/drawingml/2006/main">
              <a:ext uri="{FF2B5EF4-FFF2-40B4-BE49-F238E27FC236}">
                <a16:creationId xmlns:a16="http://schemas.microsoft.com/office/drawing/2014/main" id="{B5EE49F9-2A60-498F-B5D0-F6B3EB4ED1E4}"/>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Exactly one counted quality flag in each example; full cutout coverage.</a:t>
            </a:r>
          </a:p>
        </p:txBody>
      </p:sp>
      <p:sp>
        <p:nvSpPr>
          <p:cNvPr id="4" name="">
            <a:extLst xmlns:a="http://schemas.openxmlformats.org/drawingml/2006/main">
              <a:ext uri="{FF2B5EF4-FFF2-40B4-BE49-F238E27FC236}">
                <a16:creationId xmlns:a16="http://schemas.microsoft.com/office/drawing/2014/main" id="{A432B7AD-B1C7-4DD5-9D89-DDFB3C4ED4F9}"/>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-596168966496153208</a:t>
            </a:r>
          </a:p>
        </p:txBody>
      </p:sp>
      <p:pic>
        <p:nvPicPr>
          <p:cNvPr id="5" name="">
            <a:extLst xmlns:a="http://schemas.openxmlformats.org/drawingml/2006/main">
              <a:ext uri="{FF2B5EF4-FFF2-40B4-BE49-F238E27FC236}">
                <a16:creationId xmlns:a16="http://schemas.microsoft.com/office/drawing/2014/main" id="{73883E01-5621-4972-A3C6-9D925541974C}"/>
              </a:ext>
            </a:extLst>
          </p:cNvPr>
          <p:cNvPicPr>
            <a:picLocks xmlns:a="http://schemas.openxmlformats.org/drawingml/2006/main" noChangeAspect="1"/>
          </p:cNvPicPr>
          <p:nvPr/>
        </p:nvPicPr>
        <p:blipFill>
          <a:blip xmlns:r="http://schemas.openxmlformats.org/officeDocument/2006/relationships" xmlns:a="http://schemas.openxmlformats.org/drawingml/2006/main" r:embed="R592d5de2b2bf4180"/>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7CEA281-C07E-4D04-9255-B3CCD4A54CC7}"/>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54.40°; bar 60.50°; i 61.73°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1.65 arcsec; 23 accepted ellipses.</a:t>
            </a:r>
          </a:p>
        </p:txBody>
      </p:sp>
      <p:sp>
        <p:nvSpPr>
          <p:cNvPr id="7" name="">
            <a:extLst xmlns:a="http://schemas.openxmlformats.org/drawingml/2006/main">
              <a:ext uri="{FF2B5EF4-FFF2-40B4-BE49-F238E27FC236}">
                <a16:creationId xmlns:a16="http://schemas.microsoft.com/office/drawing/2014/main" id="{2B5C416F-1785-469C-8C5C-345D3B51CB63}"/>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-647912843459445604</a:t>
            </a:r>
          </a:p>
        </p:txBody>
      </p:sp>
      <p:pic>
        <p:nvPicPr>
          <p:cNvPr id="8" name="">
            <a:extLst xmlns:a="http://schemas.openxmlformats.org/drawingml/2006/main">
              <a:ext uri="{FF2B5EF4-FFF2-40B4-BE49-F238E27FC236}">
                <a16:creationId xmlns:a16="http://schemas.microsoft.com/office/drawing/2014/main" id="{D4A25AE4-BC0A-4E30-A5DD-F5B77323CF9D}"/>
              </a:ext>
            </a:extLst>
          </p:cNvPr>
          <p:cNvPicPr>
            <a:picLocks xmlns:a="http://schemas.openxmlformats.org/drawingml/2006/main" noChangeAspect="1"/>
          </p:cNvPicPr>
          <p:nvPr/>
        </p:nvPicPr>
        <p:blipFill>
          <a:blip xmlns:r="http://schemas.openxmlformats.org/officeDocument/2006/relationships" xmlns:a="http://schemas.openxmlformats.org/drawingml/2006/main" r:embed="R3827b43795e64277"/>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CAD3839-F3FF-4963-AF8A-E25C45CD9B0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24.55°; bar 147.96°; i 44.73°</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0.65 arcsec; 27 accepted ellipses.</a:t>
            </a:r>
          </a:p>
        </p:txBody>
      </p:sp>
      <p:sp>
        <p:nvSpPr>
          <p:cNvPr id="10" name="">
            <a:extLst xmlns:a="http://schemas.openxmlformats.org/drawingml/2006/main">
              <a:ext uri="{FF2B5EF4-FFF2-40B4-BE49-F238E27FC236}">
                <a16:creationId xmlns:a16="http://schemas.microsoft.com/office/drawing/2014/main" id="{0A582FDD-EBDC-4629-9F3D-C09293A4174C}"/>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3 isolated cases available. Orange: selected bar. Green: selected disc. Blue: accepted samples. Grey: rejected samples.</a:t>
            </a:r>
          </a:p>
        </p:txBody>
      </p:sp>
    </p:spTree>
    <p:extLst>
      <p:ext uri="{BB962C8B-B14F-4D97-AF65-F5344CB8AC3E}">
        <p14:creationId xmlns:p14="http://schemas.microsoft.com/office/powerpoint/2010/main" val="14609956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F7A86A-1766-46E2-AB2F-EEB438BC8CFD}"/>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Recovered interval failures</a:t>
            </a:r>
          </a:p>
        </p:txBody>
      </p:sp>
      <p:sp>
        <p:nvSpPr>
          <p:cNvPr id="2" name="">
            <a:extLst xmlns:a="http://schemas.openxmlformats.org/drawingml/2006/main">
              <a:ext uri="{FF2B5EF4-FFF2-40B4-BE49-F238E27FC236}">
                <a16:creationId xmlns:a16="http://schemas.microsoft.com/office/drawing/2014/main" id="{F7A4D5CC-A69B-4D66-8226-E69C82004EFA}"/>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17</a:t>
            </a:r>
          </a:p>
        </p:txBody>
      </p:sp>
      <p:sp>
        <p:nvSpPr>
          <p:cNvPr id="3" name="">
            <a:extLst xmlns:a="http://schemas.openxmlformats.org/drawingml/2006/main">
              <a:ext uri="{FF2B5EF4-FFF2-40B4-BE49-F238E27FC236}">
                <a16:creationId xmlns:a16="http://schemas.microsoft.com/office/drawing/2014/main" id="{A6D5E6BE-A871-4F36-8D34-48FD61A70251}"/>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These galaxies previously failed; the current pipeline returns provisional geometry.</a:t>
            </a:r>
          </a:p>
        </p:txBody>
      </p:sp>
      <p:sp>
        <p:nvSpPr>
          <p:cNvPr id="4" name="">
            <a:extLst xmlns:a="http://schemas.openxmlformats.org/drawingml/2006/main">
              <a:ext uri="{FF2B5EF4-FFF2-40B4-BE49-F238E27FC236}">
                <a16:creationId xmlns:a16="http://schemas.microsoft.com/office/drawing/2014/main" id="{DBE938BB-8B27-4AE2-92D5-BE4E6CED7141}"/>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-637379992495894829</a:t>
            </a:r>
          </a:p>
        </p:txBody>
      </p:sp>
      <p:pic>
        <p:nvPicPr>
          <p:cNvPr id="5" name="">
            <a:extLst xmlns:a="http://schemas.openxmlformats.org/drawingml/2006/main">
              <a:ext uri="{FF2B5EF4-FFF2-40B4-BE49-F238E27FC236}">
                <a16:creationId xmlns:a16="http://schemas.microsoft.com/office/drawing/2014/main" id="{93B1DA95-7E9C-4BCE-8A16-67F809EE96BF}"/>
              </a:ext>
            </a:extLst>
          </p:cNvPr>
          <p:cNvPicPr>
            <a:picLocks xmlns:a="http://schemas.openxmlformats.org/drawingml/2006/main" noChangeAspect="1"/>
          </p:cNvPicPr>
          <p:nvPr/>
        </p:nvPicPr>
        <p:blipFill>
          <a:blip xmlns:r="http://schemas.openxmlformats.org/officeDocument/2006/relationships" xmlns:a="http://schemas.openxmlformats.org/drawingml/2006/main" r:embed="Rc00fb26dfaca495d"/>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8B1052-628B-455D-BC5C-A953681F3A8C}"/>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83.79°; bar 88.98°; i 70.95°</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0.96 arcsec; 38 accepted ellipses.</a:t>
            </a:r>
          </a:p>
        </p:txBody>
      </p:sp>
      <p:sp>
        <p:nvSpPr>
          <p:cNvPr id="7" name="">
            <a:extLst xmlns:a="http://schemas.openxmlformats.org/drawingml/2006/main">
              <a:ext uri="{FF2B5EF4-FFF2-40B4-BE49-F238E27FC236}">
                <a16:creationId xmlns:a16="http://schemas.microsoft.com/office/drawing/2014/main" id="{DC12FEE7-5281-4DF7-8298-8C76591137DE}"/>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2660732568647808880</a:t>
            </a:r>
          </a:p>
        </p:txBody>
      </p:sp>
      <p:pic>
        <p:nvPicPr>
          <p:cNvPr id="8" name="">
            <a:extLst xmlns:a="http://schemas.openxmlformats.org/drawingml/2006/main">
              <a:ext uri="{FF2B5EF4-FFF2-40B4-BE49-F238E27FC236}">
                <a16:creationId xmlns:a16="http://schemas.microsoft.com/office/drawing/2014/main" id="{0A25D112-2EE1-4B9D-ADBB-4BFAA5E87C8D}"/>
              </a:ext>
            </a:extLst>
          </p:cNvPr>
          <p:cNvPicPr>
            <a:picLocks xmlns:a="http://schemas.openxmlformats.org/drawingml/2006/main" noChangeAspect="1"/>
          </p:cNvPicPr>
          <p:nvPr/>
        </p:nvPicPr>
        <p:blipFill>
          <a:blip xmlns:r="http://schemas.openxmlformats.org/officeDocument/2006/relationships" xmlns:a="http://schemas.openxmlformats.org/drawingml/2006/main" r:embed="R972d4855e5814ff4"/>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BA1EE7D-26BC-4929-87C1-1F6FDD9DAD5C}"/>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151.04°; bar 159.58°; i 71.14°</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0.21 arcsec; 36 accepted ellipses.</a:t>
            </a:r>
          </a:p>
        </p:txBody>
      </p:sp>
      <p:sp>
        <p:nvSpPr>
          <p:cNvPr id="10" name="">
            <a:extLst xmlns:a="http://schemas.openxmlformats.org/drawingml/2006/main">
              <a:ext uri="{FF2B5EF4-FFF2-40B4-BE49-F238E27FC236}">
                <a16:creationId xmlns:a16="http://schemas.microsoft.com/office/drawing/2014/main" id="{E764E131-7CFC-48EF-AE70-5B16200485EC}"/>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Recovery does not imply an unflagged result. Inspect the selected intervals, centre and method.</a:t>
            </a:r>
          </a:p>
        </p:txBody>
      </p:sp>
    </p:spTree>
    <p:extLst>
      <p:ext uri="{BB962C8B-B14F-4D97-AF65-F5344CB8AC3E}">
        <p14:creationId xmlns:p14="http://schemas.microsoft.com/office/powerpoint/2010/main" val="17347291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80242B-D923-48C6-BFB0-74376C79784F}"/>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Recovered short-profile failures</a:t>
            </a:r>
          </a:p>
        </p:txBody>
      </p:sp>
      <p:sp>
        <p:nvSpPr>
          <p:cNvPr id="2" name="">
            <a:extLst xmlns:a="http://schemas.openxmlformats.org/drawingml/2006/main">
              <a:ext uri="{FF2B5EF4-FFF2-40B4-BE49-F238E27FC236}">
                <a16:creationId xmlns:a16="http://schemas.microsoft.com/office/drawing/2014/main" id="{1D573FC5-3C55-45D9-8710-89C1A56CEC33}"/>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14 / 17</a:t>
            </a:r>
          </a:p>
        </p:txBody>
      </p:sp>
      <p:sp>
        <p:nvSpPr>
          <p:cNvPr id="3" name="">
            <a:extLst xmlns:a="http://schemas.openxmlformats.org/drawingml/2006/main">
              <a:ext uri="{FF2B5EF4-FFF2-40B4-BE49-F238E27FC236}">
                <a16:creationId xmlns:a16="http://schemas.microsoft.com/office/drawing/2014/main" id="{9E2C8B88-03B2-460E-B9E7-7E18936E93A0}"/>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These galaxies previously failed; the current pipeline returns provisional geometry.</a:t>
            </a:r>
          </a:p>
        </p:txBody>
      </p:sp>
      <p:sp>
        <p:nvSpPr>
          <p:cNvPr id="4" name="">
            <a:extLst xmlns:a="http://schemas.openxmlformats.org/drawingml/2006/main">
              <a:ext uri="{FF2B5EF4-FFF2-40B4-BE49-F238E27FC236}">
                <a16:creationId xmlns:a16="http://schemas.microsoft.com/office/drawing/2014/main" id="{60CF65CC-9C07-4A91-8FBD-D16C265FFFDC}"/>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-649179107478547159</a:t>
            </a:r>
          </a:p>
        </p:txBody>
      </p:sp>
      <p:pic>
        <p:nvPicPr>
          <p:cNvPr id="5" name="">
            <a:extLst xmlns:a="http://schemas.openxmlformats.org/drawingml/2006/main">
              <a:ext uri="{FF2B5EF4-FFF2-40B4-BE49-F238E27FC236}">
                <a16:creationId xmlns:a16="http://schemas.microsoft.com/office/drawing/2014/main" id="{B80EFCFF-19C9-4EEC-BC99-CC400E52C67B}"/>
              </a:ext>
            </a:extLst>
          </p:cNvPr>
          <p:cNvPicPr>
            <a:picLocks xmlns:a="http://schemas.openxmlformats.org/drawingml/2006/main" noChangeAspect="1"/>
          </p:cNvPicPr>
          <p:nvPr/>
        </p:nvPicPr>
        <p:blipFill>
          <a:blip xmlns:r="http://schemas.openxmlformats.org/officeDocument/2006/relationships" xmlns:a="http://schemas.openxmlformats.org/drawingml/2006/main" r:embed="R8bc657405fc743a8"/>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30A144-EAA6-4DFF-ABFE-BFD05A45708A}"/>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119.74°; bar 117.80°; i 62.26°</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0.39 arcsec; 35 accepted ellipses.</a:t>
            </a:r>
          </a:p>
        </p:txBody>
      </p:sp>
      <p:sp>
        <p:nvSpPr>
          <p:cNvPr id="7" name="">
            <a:extLst xmlns:a="http://schemas.openxmlformats.org/drawingml/2006/main">
              <a:ext uri="{FF2B5EF4-FFF2-40B4-BE49-F238E27FC236}">
                <a16:creationId xmlns:a16="http://schemas.microsoft.com/office/drawing/2014/main" id="{6BE37A81-0EE8-4FDB-AE6D-911F1A01CA49}"/>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-559696446492621477</a:t>
            </a:r>
          </a:p>
        </p:txBody>
      </p:sp>
      <p:pic>
        <p:nvPicPr>
          <p:cNvPr id="8" name="">
            <a:extLst xmlns:a="http://schemas.openxmlformats.org/drawingml/2006/main">
              <a:ext uri="{FF2B5EF4-FFF2-40B4-BE49-F238E27FC236}">
                <a16:creationId xmlns:a16="http://schemas.microsoft.com/office/drawing/2014/main" id="{8FC3ED3B-B04C-4391-8155-4B6B578DAD05}"/>
              </a:ext>
            </a:extLst>
          </p:cNvPr>
          <p:cNvPicPr>
            <a:picLocks xmlns:a="http://schemas.openxmlformats.org/drawingml/2006/main" noChangeAspect="1"/>
          </p:cNvPicPr>
          <p:nvPr/>
        </p:nvPicPr>
        <p:blipFill>
          <a:blip xmlns:r="http://schemas.openxmlformats.org/officeDocument/2006/relationships" xmlns:a="http://schemas.openxmlformats.org/drawingml/2006/main" r:embed="Rea67cfb49b284daf"/>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20DC15B-8E60-4971-B47A-462F7AF5CDC1}"/>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166.58°; bar 137.17°; i 54.96°</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0.21 arcsec; 34 accepted ellipses.</a:t>
            </a:r>
          </a:p>
        </p:txBody>
      </p:sp>
      <p:sp>
        <p:nvSpPr>
          <p:cNvPr id="10" name="">
            <a:extLst xmlns:a="http://schemas.openxmlformats.org/drawingml/2006/main">
              <a:ext uri="{FF2B5EF4-FFF2-40B4-BE49-F238E27FC236}">
                <a16:creationId xmlns:a16="http://schemas.microsoft.com/office/drawing/2014/main" id="{5376CC32-9743-4816-B177-4D59CFE3324F}"/>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Recovery does not imply an unflagged result. Inspect the selected intervals, centre and method.</a:t>
            </a:r>
          </a:p>
        </p:txBody>
      </p:sp>
    </p:spTree>
    <p:extLst>
      <p:ext uri="{BB962C8B-B14F-4D97-AF65-F5344CB8AC3E}">
        <p14:creationId xmlns:p14="http://schemas.microsoft.com/office/powerpoint/2010/main" val="13205017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E65E19-CA5B-48D3-9849-244A136E5BB8}"/>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Remaining fit failures</a:t>
            </a:r>
          </a:p>
        </p:txBody>
      </p:sp>
      <p:sp>
        <p:nvSpPr>
          <p:cNvPr id="2" name="">
            <a:extLst xmlns:a="http://schemas.openxmlformats.org/drawingml/2006/main">
              <a:ext uri="{FF2B5EF4-FFF2-40B4-BE49-F238E27FC236}">
                <a16:creationId xmlns:a16="http://schemas.microsoft.com/office/drawing/2014/main" id="{DE43E554-FC61-4C48-B88B-1DB10F06A9DD}"/>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15 / 17</a:t>
            </a:r>
          </a:p>
        </p:txBody>
      </p:sp>
      <p:sp>
        <p:nvSpPr>
          <p:cNvPr id="3" name="">
            <a:extLst xmlns:a="http://schemas.openxmlformats.org/drawingml/2006/main">
              <a:ext uri="{FF2B5EF4-FFF2-40B4-BE49-F238E27FC236}">
                <a16:creationId xmlns:a16="http://schemas.microsoft.com/office/drawing/2014/main" id="{D9CE3771-E3EC-4D3D-90D4-4AE62BB08C3B}"/>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Actual remaining failures. No geometry is invented to fill missing values.</a:t>
            </a:r>
          </a:p>
        </p:txBody>
      </p:sp>
      <p:sp>
        <p:nvSpPr>
          <p:cNvPr id="4" name="">
            <a:extLst xmlns:a="http://schemas.openxmlformats.org/drawingml/2006/main">
              <a:ext uri="{FF2B5EF4-FFF2-40B4-BE49-F238E27FC236}">
                <a16:creationId xmlns:a16="http://schemas.microsoft.com/office/drawing/2014/main" id="{E5897991-FF9A-49C8-8692-723349A5FB09}"/>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-586374330510251740</a:t>
            </a:r>
          </a:p>
        </p:txBody>
      </p:sp>
      <p:pic>
        <p:nvPicPr>
          <p:cNvPr id="5" name="">
            <a:extLst xmlns:a="http://schemas.openxmlformats.org/drawingml/2006/main">
              <a:ext uri="{FF2B5EF4-FFF2-40B4-BE49-F238E27FC236}">
                <a16:creationId xmlns:a16="http://schemas.microsoft.com/office/drawing/2014/main" id="{ED82F2D5-4279-4B98-99E8-76C3FEA0C2AF}"/>
              </a:ext>
            </a:extLst>
          </p:cNvPr>
          <p:cNvPicPr>
            <a:picLocks xmlns:a="http://schemas.openxmlformats.org/drawingml/2006/main" noChangeAspect="1"/>
          </p:cNvPicPr>
          <p:nvPr/>
        </p:nvPicPr>
        <p:blipFill>
          <a:blip xmlns:r="http://schemas.openxmlformats.org/officeDocument/2006/relationships" xmlns:a="http://schemas.openxmlformats.org/drawingml/2006/main" r:embed="Rbedcf4794e734dc6"/>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18A2A58-38C2-49A7-A96B-0F74D45A6E7A}"/>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7" name="">
            <a:extLst xmlns:a="http://schemas.openxmlformats.org/drawingml/2006/main">
              <a:ext uri="{FF2B5EF4-FFF2-40B4-BE49-F238E27FC236}">
                <a16:creationId xmlns:a16="http://schemas.microsoft.com/office/drawing/2014/main" id="{3B3D5253-E9CD-48C8-931D-3242E06708E7}"/>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-584896980492699093</a:t>
            </a:r>
          </a:p>
        </p:txBody>
      </p:sp>
      <p:pic>
        <p:nvPicPr>
          <p:cNvPr id="8" name="">
            <a:extLst xmlns:a="http://schemas.openxmlformats.org/drawingml/2006/main">
              <a:ext uri="{FF2B5EF4-FFF2-40B4-BE49-F238E27FC236}">
                <a16:creationId xmlns:a16="http://schemas.microsoft.com/office/drawing/2014/main" id="{9962D63C-05DE-4EF5-AD52-6398110F5CA8}"/>
              </a:ext>
            </a:extLst>
          </p:cNvPr>
          <p:cNvPicPr>
            <a:picLocks xmlns:a="http://schemas.openxmlformats.org/drawingml/2006/main" noChangeAspect="1"/>
          </p:cNvPicPr>
          <p:nvPr/>
        </p:nvPicPr>
        <p:blipFill>
          <a:blip xmlns:r="http://schemas.openxmlformats.org/officeDocument/2006/relationships" xmlns:a="http://schemas.openxmlformats.org/drawingml/2006/main" r:embed="R660ca6763eca4e0b"/>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C16B083-CE51-451F-BB20-AAE4F531D75E}"/>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10" name="">
            <a:extLst xmlns:a="http://schemas.openxmlformats.org/drawingml/2006/main">
              <a:ext uri="{FF2B5EF4-FFF2-40B4-BE49-F238E27FC236}">
                <a16:creationId xmlns:a16="http://schemas.microsoft.com/office/drawing/2014/main" id="{F1CFC7F9-B49E-46B1-9F6C-67A744FA6288}"/>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Consult the failure log and the image; remaining objects may require an individual fit.</a:t>
            </a:r>
          </a:p>
        </p:txBody>
      </p:sp>
    </p:spTree>
    <p:extLst>
      <p:ext uri="{BB962C8B-B14F-4D97-AF65-F5344CB8AC3E}">
        <p14:creationId xmlns:p14="http://schemas.microsoft.com/office/powerpoint/2010/main" val="2485000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64A9BE-E229-4E60-A87F-34E5FC1B3AB5}"/>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Remaining fit failures</a:t>
            </a:r>
          </a:p>
        </p:txBody>
      </p:sp>
      <p:sp>
        <p:nvSpPr>
          <p:cNvPr id="2" name="">
            <a:extLst xmlns:a="http://schemas.openxmlformats.org/drawingml/2006/main">
              <a:ext uri="{FF2B5EF4-FFF2-40B4-BE49-F238E27FC236}">
                <a16:creationId xmlns:a16="http://schemas.microsoft.com/office/drawing/2014/main" id="{12DE374F-0872-41B2-82D2-8FD01700688B}"/>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16 / 17</a:t>
            </a:r>
          </a:p>
        </p:txBody>
      </p:sp>
      <p:sp>
        <p:nvSpPr>
          <p:cNvPr id="3" name="">
            <a:extLst xmlns:a="http://schemas.openxmlformats.org/drawingml/2006/main">
              <a:ext uri="{FF2B5EF4-FFF2-40B4-BE49-F238E27FC236}">
                <a16:creationId xmlns:a16="http://schemas.microsoft.com/office/drawing/2014/main" id="{01CFCC7C-E4B6-4B82-876E-6C27DFE737AB}"/>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Actual remaining failures. No geometry is invented to fill missing values.</a:t>
            </a:r>
          </a:p>
        </p:txBody>
      </p:sp>
      <p:sp>
        <p:nvSpPr>
          <p:cNvPr id="4" name="">
            <a:extLst xmlns:a="http://schemas.openxmlformats.org/drawingml/2006/main">
              <a:ext uri="{FF2B5EF4-FFF2-40B4-BE49-F238E27FC236}">
                <a16:creationId xmlns:a16="http://schemas.microsoft.com/office/drawing/2014/main" id="{B02ACB67-D024-4000-B958-CF6DBA71FF54}"/>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-524824554283124036</a:t>
            </a:r>
          </a:p>
        </p:txBody>
      </p:sp>
      <p:pic>
        <p:nvPicPr>
          <p:cNvPr id="5" name="">
            <a:extLst xmlns:a="http://schemas.openxmlformats.org/drawingml/2006/main">
              <a:ext uri="{FF2B5EF4-FFF2-40B4-BE49-F238E27FC236}">
                <a16:creationId xmlns:a16="http://schemas.microsoft.com/office/drawing/2014/main" id="{6B6CB3DB-9724-41E6-822C-A9CE27B5F27E}"/>
              </a:ext>
            </a:extLst>
          </p:cNvPr>
          <p:cNvPicPr>
            <a:picLocks xmlns:a="http://schemas.openxmlformats.org/drawingml/2006/main" noChangeAspect="1"/>
          </p:cNvPicPr>
          <p:nvPr/>
        </p:nvPicPr>
        <p:blipFill>
          <a:blip xmlns:r="http://schemas.openxmlformats.org/officeDocument/2006/relationships" xmlns:a="http://schemas.openxmlformats.org/drawingml/2006/main" r:embed="R67ef68b870364b1c"/>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D158B9E-2182-4F02-9A40-FAFA29463B51}"/>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7" name="">
            <a:extLst xmlns:a="http://schemas.openxmlformats.org/drawingml/2006/main">
              <a:ext uri="{FF2B5EF4-FFF2-40B4-BE49-F238E27FC236}">
                <a16:creationId xmlns:a16="http://schemas.microsoft.com/office/drawing/2014/main" id="{51A842C0-F2F8-4F72-AB37-BCF2A93C1658}"/>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2645436353651870062</a:t>
            </a:r>
          </a:p>
        </p:txBody>
      </p:sp>
      <p:pic>
        <p:nvPicPr>
          <p:cNvPr id="8" name="">
            <a:extLst xmlns:a="http://schemas.openxmlformats.org/drawingml/2006/main">
              <a:ext uri="{FF2B5EF4-FFF2-40B4-BE49-F238E27FC236}">
                <a16:creationId xmlns:a16="http://schemas.microsoft.com/office/drawing/2014/main" id="{C71D0A74-BDDC-4CF8-8112-8E435A1C49EC}"/>
              </a:ext>
            </a:extLst>
          </p:cNvPr>
          <p:cNvPicPr>
            <a:picLocks xmlns:a="http://schemas.openxmlformats.org/drawingml/2006/main" noChangeAspect="1"/>
          </p:cNvPicPr>
          <p:nvPr/>
        </p:nvPicPr>
        <p:blipFill>
          <a:blip xmlns:r="http://schemas.openxmlformats.org/officeDocument/2006/relationships" xmlns:a="http://schemas.openxmlformats.org/drawingml/2006/main" r:embed="Rcc806e93d73c4506"/>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5AFDC3B-C064-48E1-A456-0CAB275F4E38}"/>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10" name="">
            <a:extLst xmlns:a="http://schemas.openxmlformats.org/drawingml/2006/main">
              <a:ext uri="{FF2B5EF4-FFF2-40B4-BE49-F238E27FC236}">
                <a16:creationId xmlns:a16="http://schemas.microsoft.com/office/drawing/2014/main" id="{F60AECD5-E667-49A0-B34A-45F45EE63122}"/>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Consult the failure log and the image; remaining objects may require an individual fit.</a:t>
            </a:r>
          </a:p>
        </p:txBody>
      </p:sp>
    </p:spTree>
    <p:extLst>
      <p:ext uri="{BB962C8B-B14F-4D97-AF65-F5344CB8AC3E}">
        <p14:creationId xmlns:p14="http://schemas.microsoft.com/office/powerpoint/2010/main" val="14714798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57EAE3-6A45-446B-ACE1-3411CF0FB3D9}"/>
              </a:ext>
            </a:extLst>
          </p:cNvPr>
          <p:cNvSpPr>
            <a:spLocks xmlns:a="http://schemas.openxmlformats.org/drawingml/2006/main" noGrp="1"/>
          </p:cNvSpPr>
          <p:nvPr/>
        </p:nvSpPr>
        <p:spPr>
          <a:xfrm xmlns:a="http://schemas.openxmlformats.org/drawingml/2006/main">
            <a:off x="609600" y="3810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2633"/>
                </a:solidFill>
                <a:latin typeface="Arial"/>
                <a:ea typeface="Arial"/>
                <a:cs typeface="Arial"/>
              </a:defRPr>
            </a:defPPr>
            <a:lvl1pPr>
              <a:defRPr sz="3150" b="1">
                <a:solidFill>
                  <a:srgbClr val="142633"/>
                </a:solidFill>
                <a:latin typeface="Arial"/>
                <a:ea typeface="Arial"/>
                <a:cs typeface="Arial"/>
              </a:defRPr>
            </a:lvl1pPr>
            <a:lvl2pPr>
              <a:defRPr sz="3150" b="1">
                <a:solidFill>
                  <a:srgbClr val="142633"/>
                </a:solidFill>
                <a:latin typeface="Arial"/>
                <a:ea typeface="Arial"/>
                <a:cs typeface="Arial"/>
              </a:defRPr>
            </a:lvl2pPr>
            <a:lvl3pPr>
              <a:defRPr sz="3150" b="1">
                <a:solidFill>
                  <a:srgbClr val="142633"/>
                </a:solidFill>
                <a:latin typeface="Arial"/>
                <a:ea typeface="Arial"/>
                <a:cs typeface="Arial"/>
              </a:defRPr>
            </a:lvl3pPr>
            <a:lvl4pPr>
              <a:defRPr sz="3150" b="1">
                <a:solidFill>
                  <a:srgbClr val="142633"/>
                </a:solidFill>
                <a:latin typeface="Arial"/>
                <a:ea typeface="Arial"/>
                <a:cs typeface="Arial"/>
              </a:defRPr>
            </a:lvl4pPr>
            <a:lvl5pPr>
              <a:defRPr sz="3150" b="1">
                <a:solidFill>
                  <a:srgbClr val="142633"/>
                </a:solidFill>
                <a:latin typeface="Arial"/>
                <a:ea typeface="Arial"/>
                <a:cs typeface="Arial"/>
              </a:defRPr>
            </a:lvl5pPr>
            <a:lvl6pPr>
              <a:defRPr sz="3150" b="1">
                <a:solidFill>
                  <a:srgbClr val="142633"/>
                </a:solidFill>
                <a:latin typeface="Arial"/>
                <a:ea typeface="Arial"/>
                <a:cs typeface="Arial"/>
              </a:defRPr>
            </a:lvl6pPr>
            <a:lvl7pPr>
              <a:defRPr sz="3150" b="1">
                <a:solidFill>
                  <a:srgbClr val="142633"/>
                </a:solidFill>
                <a:latin typeface="Arial"/>
                <a:ea typeface="Arial"/>
                <a:cs typeface="Arial"/>
              </a:defRPr>
            </a:lvl7pPr>
            <a:lvl8pPr>
              <a:defRPr sz="3150" b="1">
                <a:solidFill>
                  <a:srgbClr val="142633"/>
                </a:solidFill>
                <a:latin typeface="Arial"/>
                <a:ea typeface="Arial"/>
                <a:cs typeface="Arial"/>
              </a:defRPr>
            </a:lvl8pPr>
            <a:lvl9pPr>
              <a:defRPr sz="3150" b="1">
                <a:solidFill>
                  <a:srgbClr val="142633"/>
                </a:solidFill>
                <a:latin typeface="Arial"/>
                <a:ea typeface="Arial"/>
                <a:cs typeface="Arial"/>
              </a:defRPr>
            </a:lvl9pPr>
          </a:lstStyle>
          <a:p xmlns:a="http://schemas.openxmlformats.org/drawingml/2006/main">
            <a:pPr>
              <a:defRPr sz="3150" b="1">
                <a:solidFill>
                  <a:srgbClr val="142633"/>
                </a:solidFill>
                <a:latin typeface="Arial"/>
                <a:ea typeface="Arial"/>
                <a:cs typeface="Arial"/>
              </a:defRPr>
            </a:pPr>
            <a:r>
              <a:rPr sz="3150" b="1">
                <a:solidFill>
                  <a:srgbClr val="142633"/>
                </a:solidFill>
                <a:latin typeface="Arial"/>
                <a:ea typeface="Arial"/>
                <a:cs typeface="Arial"/>
              </a:rPr>
              <a:t>Remaining fit failures</a:t>
            </a:r>
          </a:p>
        </p:txBody>
      </p:sp>
      <p:sp>
        <p:nvSpPr>
          <p:cNvPr id="2" name="">
            <a:extLst xmlns:a="http://schemas.openxmlformats.org/drawingml/2006/main">
              <a:ext uri="{FF2B5EF4-FFF2-40B4-BE49-F238E27FC236}">
                <a16:creationId xmlns:a16="http://schemas.microsoft.com/office/drawing/2014/main" id="{A76875A9-EAF6-459C-A891-06D2372517E4}"/>
              </a:ext>
            </a:extLst>
          </p:cNvPr>
          <p:cNvSpPr>
            <a:spLocks xmlns:a="http://schemas.openxmlformats.org/drawingml/2006/main" noGrp="1"/>
          </p:cNvSpPr>
          <p:nvPr/>
        </p:nvSpPr>
        <p:spPr>
          <a:xfrm xmlns:a="http://schemas.openxmlformats.org/drawingml/2006/main">
            <a:off x="10668000" y="64770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17 / 17</a:t>
            </a:r>
          </a:p>
        </p:txBody>
      </p:sp>
      <p:sp>
        <p:nvSpPr>
          <p:cNvPr id="3" name="">
            <a:extLst xmlns:a="http://schemas.openxmlformats.org/drawingml/2006/main">
              <a:ext uri="{FF2B5EF4-FFF2-40B4-BE49-F238E27FC236}">
                <a16:creationId xmlns:a16="http://schemas.microsoft.com/office/drawing/2014/main" id="{2427C8D9-A7CC-4AB1-A240-3BC8F2A7635A}"/>
              </a:ext>
            </a:extLst>
          </p:cNvPr>
          <p:cNvSpPr>
            <a:spLocks xmlns:a="http://schemas.openxmlformats.org/drawingml/2006/main" noGrp="1"/>
          </p:cNvSpPr>
          <p:nvPr/>
        </p:nvSpPr>
        <p:spPr>
          <a:xfrm xmlns:a="http://schemas.openxmlformats.org/drawingml/2006/main">
            <a:off x="609600" y="12954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Actual remaining failures. No geometry is invented to fill missing values.</a:t>
            </a:r>
          </a:p>
        </p:txBody>
      </p:sp>
      <p:sp>
        <p:nvSpPr>
          <p:cNvPr id="4" name="">
            <a:extLst xmlns:a="http://schemas.openxmlformats.org/drawingml/2006/main">
              <a:ext uri="{FF2B5EF4-FFF2-40B4-BE49-F238E27FC236}">
                <a16:creationId xmlns:a16="http://schemas.microsoft.com/office/drawing/2014/main" id="{5243924D-D450-4F8A-953B-BE12B82FE1CF}"/>
              </a:ext>
            </a:extLst>
          </p:cNvPr>
          <p:cNvSpPr>
            <a:spLocks xmlns:a="http://schemas.openxmlformats.org/drawingml/2006/main" noGrp="1"/>
          </p:cNvSpPr>
          <p:nvPr/>
        </p:nvSpPr>
        <p:spPr>
          <a:xfrm xmlns:a="http://schemas.openxmlformats.org/drawingml/2006/main">
            <a:off x="6096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2697242050653408730</a:t>
            </a:r>
          </a:p>
        </p:txBody>
      </p:sp>
      <p:pic>
        <p:nvPicPr>
          <p:cNvPr id="5" name="">
            <a:extLst xmlns:a="http://schemas.openxmlformats.org/drawingml/2006/main">
              <a:ext uri="{FF2B5EF4-FFF2-40B4-BE49-F238E27FC236}">
                <a16:creationId xmlns:a16="http://schemas.microsoft.com/office/drawing/2014/main" id="{D3B9E2AA-C1BC-45F1-9B79-2049C89B7412}"/>
              </a:ext>
            </a:extLst>
          </p:cNvPr>
          <p:cNvPicPr>
            <a:picLocks xmlns:a="http://schemas.openxmlformats.org/drawingml/2006/main" noChangeAspect="1"/>
          </p:cNvPicPr>
          <p:nvPr/>
        </p:nvPicPr>
        <p:blipFill>
          <a:blip xmlns:r="http://schemas.openxmlformats.org/officeDocument/2006/relationships" xmlns:a="http://schemas.openxmlformats.org/drawingml/2006/main" r:embed="R587f1dccbd6d4e20"/>
          <a:stretch xmlns:a="http://schemas.openxmlformats.org/drawingml/2006/main"/>
        </p:blipFill>
        <p:spPr>
          <a:xfrm xmlns:a="http://schemas.openxmlformats.org/drawingml/2006/main">
            <a:off x="615203" y="2333625"/>
            <a:ext cx="5322794"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48C05AB-EA05-4D83-BB9E-4876905DBBF2}"/>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7" name="">
            <a:extLst xmlns:a="http://schemas.openxmlformats.org/drawingml/2006/main">
              <a:ext uri="{FF2B5EF4-FFF2-40B4-BE49-F238E27FC236}">
                <a16:creationId xmlns:a16="http://schemas.microsoft.com/office/drawing/2014/main" id="{1CB2AEFC-CA83-40B0-8F27-42ADFF318E7A}"/>
              </a:ext>
            </a:extLst>
          </p:cNvPr>
          <p:cNvSpPr>
            <a:spLocks xmlns:a="http://schemas.openxmlformats.org/drawingml/2006/main" noGrp="1"/>
          </p:cNvSpPr>
          <p:nvPr/>
        </p:nvSpPr>
        <p:spPr>
          <a:xfrm xmlns:a="http://schemas.openxmlformats.org/drawingml/2006/main">
            <a:off x="6172200"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2690276161666121755</a:t>
            </a:r>
          </a:p>
        </p:txBody>
      </p:sp>
      <p:pic>
        <p:nvPicPr>
          <p:cNvPr id="8" name="">
            <a:extLst xmlns:a="http://schemas.openxmlformats.org/drawingml/2006/main">
              <a:ext uri="{FF2B5EF4-FFF2-40B4-BE49-F238E27FC236}">
                <a16:creationId xmlns:a16="http://schemas.microsoft.com/office/drawing/2014/main" id="{3F111637-341A-43B5-A00F-5419F922CA5A}"/>
              </a:ext>
            </a:extLst>
          </p:cNvPr>
          <p:cNvPicPr>
            <a:picLocks xmlns:a="http://schemas.openxmlformats.org/drawingml/2006/main" noChangeAspect="1"/>
          </p:cNvPicPr>
          <p:nvPr/>
        </p:nvPicPr>
        <p:blipFill>
          <a:blip xmlns:r="http://schemas.openxmlformats.org/officeDocument/2006/relationships" xmlns:a="http://schemas.openxmlformats.org/drawingml/2006/main" r:embed="R5c98e8081b5c4106"/>
          <a:stretch xmlns:a="http://schemas.openxmlformats.org/drawingml/2006/main"/>
        </p:blipFill>
        <p:spPr>
          <a:xfrm xmlns:a="http://schemas.openxmlformats.org/drawingml/2006/main">
            <a:off x="6177803" y="2333625"/>
            <a:ext cx="5322794"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E3991E9-9E0A-4461-B417-AB7BB6DFD48B}"/>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633"/>
                </a:solidFill>
                <a:latin typeface="Arial"/>
                <a:ea typeface="Arial"/>
                <a:cs typeface="Arial"/>
              </a:defRPr>
            </a:defPPr>
            <a:lvl1pPr>
              <a:defRPr sz="1650" b="0">
                <a:solidFill>
                  <a:srgbClr val="142633"/>
                </a:solidFill>
                <a:latin typeface="Arial"/>
                <a:ea typeface="Arial"/>
                <a:cs typeface="Arial"/>
              </a:defRPr>
            </a:lvl1pPr>
            <a:lvl2pPr>
              <a:defRPr sz="1650" b="0">
                <a:solidFill>
                  <a:srgbClr val="142633"/>
                </a:solidFill>
                <a:latin typeface="Arial"/>
                <a:ea typeface="Arial"/>
                <a:cs typeface="Arial"/>
              </a:defRPr>
            </a:lvl2pPr>
            <a:lvl3pPr>
              <a:defRPr sz="1650" b="0">
                <a:solidFill>
                  <a:srgbClr val="142633"/>
                </a:solidFill>
                <a:latin typeface="Arial"/>
                <a:ea typeface="Arial"/>
                <a:cs typeface="Arial"/>
              </a:defRPr>
            </a:lvl3pPr>
            <a:lvl4pPr>
              <a:defRPr sz="1650" b="0">
                <a:solidFill>
                  <a:srgbClr val="142633"/>
                </a:solidFill>
                <a:latin typeface="Arial"/>
                <a:ea typeface="Arial"/>
                <a:cs typeface="Arial"/>
              </a:defRPr>
            </a:lvl4pPr>
            <a:lvl5pPr>
              <a:defRPr sz="1650" b="0">
                <a:solidFill>
                  <a:srgbClr val="142633"/>
                </a:solidFill>
                <a:latin typeface="Arial"/>
                <a:ea typeface="Arial"/>
                <a:cs typeface="Arial"/>
              </a:defRPr>
            </a:lvl5pPr>
            <a:lvl6pPr>
              <a:defRPr sz="1650" b="0">
                <a:solidFill>
                  <a:srgbClr val="142633"/>
                </a:solidFill>
                <a:latin typeface="Arial"/>
                <a:ea typeface="Arial"/>
                <a:cs typeface="Arial"/>
              </a:defRPr>
            </a:lvl6pPr>
            <a:lvl7pPr>
              <a:defRPr sz="1650" b="0">
                <a:solidFill>
                  <a:srgbClr val="142633"/>
                </a:solidFill>
                <a:latin typeface="Arial"/>
                <a:ea typeface="Arial"/>
                <a:cs typeface="Arial"/>
              </a:defRPr>
            </a:lvl7pPr>
            <a:lvl8pPr>
              <a:defRPr sz="1650" b="0">
                <a:solidFill>
                  <a:srgbClr val="142633"/>
                </a:solidFill>
                <a:latin typeface="Arial"/>
                <a:ea typeface="Arial"/>
                <a:cs typeface="Arial"/>
              </a:defRPr>
            </a:lvl8pPr>
            <a:lvl9pPr>
              <a:defRPr sz="1650" b="0">
                <a:solidFill>
                  <a:srgbClr val="142633"/>
                </a:solidFill>
                <a:latin typeface="Arial"/>
                <a:ea typeface="Arial"/>
                <a:cs typeface="Arial"/>
              </a:defRPr>
            </a:lvl9pPr>
          </a:lstStyle>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Disc unavailable; bar unavailable; i unavailable</a:t>
            </a:r>
          </a:p>
          <a:p xmlns:a="http://schemas.openxmlformats.org/drawingml/2006/main">
            <a:pPr>
              <a:defRPr sz="1650" b="0">
                <a:solidFill>
                  <a:srgbClr val="142633"/>
                </a:solidFill>
                <a:latin typeface="Arial"/>
                <a:ea typeface="Arial"/>
                <a:cs typeface="Arial"/>
              </a:defRPr>
            </a:pPr>
            <a:r>
              <a:rPr sz="1650" b="0">
                <a:solidFill>
                  <a:srgbClr val="142633"/>
                </a:solidFill>
                <a:latin typeface="Arial"/>
                <a:ea typeface="Arial"/>
                <a:cs typeface="Arial"/>
              </a:rPr>
              <a:t>Centre offset unavailable arcsec; 0 accepted ellipses.</a:t>
            </a:r>
          </a:p>
        </p:txBody>
      </p:sp>
      <p:sp>
        <p:nvSpPr>
          <p:cNvPr id="10" name="">
            <a:extLst xmlns:a="http://schemas.openxmlformats.org/drawingml/2006/main">
              <a:ext uri="{FF2B5EF4-FFF2-40B4-BE49-F238E27FC236}">
                <a16:creationId xmlns:a16="http://schemas.microsoft.com/office/drawing/2014/main" id="{23A2FBF9-0C61-4A44-BDBE-7C77DB5795E0}"/>
              </a:ext>
            </a:extLst>
          </p:cNvPr>
          <p:cNvSpPr>
            <a:spLocks xmlns:a="http://schemas.openxmlformats.org/drawingml/2006/main" noGrp="1"/>
          </p:cNvSpPr>
          <p:nvPr/>
        </p:nvSpPr>
        <p:spPr>
          <a:xfrm xmlns:a="http://schemas.openxmlformats.org/drawingml/2006/main">
            <a:off x="60960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Consult the failure log and the image; remaining objects may require an individual fit.</a:t>
            </a:r>
          </a:p>
        </p:txBody>
      </p:sp>
    </p:spTree>
    <p:extLst>
      <p:ext uri="{BB962C8B-B14F-4D97-AF65-F5344CB8AC3E}">
        <p14:creationId xmlns:p14="http://schemas.microsoft.com/office/powerpoint/2010/main" val="1070943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2026-10-20T15:44:28.8970000Z</dcterms:created>
  <dcterms:modified xsi:type="dcterms:W3CDTF">2026-10-20T15:44:28.8970000Z</dcterms:modified>
</coreProperties>
</file>