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8bb84e75184094" /><Relationship Type="http://schemas.openxmlformats.org/officeDocument/2006/relationships/extended-properties" Target="/docProps/app.xml" Id="Ra9737422b52d499c" /><Relationship Type="http://schemas.openxmlformats.org/officeDocument/2006/relationships/officeDocument" Target="/ppt/presentation.xml" Id="R1f0a79eb9063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9f1d6399e488b"/>
  </p:sldMasterIdLst>
  <p:notesMasterIdLst>
    <p:notesMasterId xmlns:r="http://schemas.openxmlformats.org/officeDocument/2006/relationships" r:id="Recbf7c69fda941e1"/>
  </p:notesMasterIdLst>
  <p:sldIdLst>
    <p:sldId xmlns:r="http://schemas.openxmlformats.org/officeDocument/2006/relationships" id="256" r:id="Ra860d2e580ec412f"/>
    <p:sldId xmlns:r="http://schemas.openxmlformats.org/officeDocument/2006/relationships" id="257" r:id="Rb2c249d3acb2457f"/>
    <p:sldId xmlns:r="http://schemas.openxmlformats.org/officeDocument/2006/relationships" id="258" r:id="R80fb8941a8fb4d8a"/>
    <p:sldId xmlns:r="http://schemas.openxmlformats.org/officeDocument/2006/relationships" id="259" r:id="Rd1333cf95d4247f6"/>
    <p:sldId xmlns:r="http://schemas.openxmlformats.org/officeDocument/2006/relationships" id="260" r:id="R6fd49c2f79ef4909"/>
    <p:sldId xmlns:r="http://schemas.openxmlformats.org/officeDocument/2006/relationships" id="261" r:id="Rb8b6d92bcd304983"/>
    <p:sldId xmlns:r="http://schemas.openxmlformats.org/officeDocument/2006/relationships" id="262" r:id="Ra752a225cbc041c1"/>
    <p:sldId xmlns:r="http://schemas.openxmlformats.org/officeDocument/2006/relationships" id="263" r:id="R967845b0719045e1"/>
    <p:sldId xmlns:r="http://schemas.openxmlformats.org/officeDocument/2006/relationships" id="264" r:id="Rbc7b620f003a4ddb"/>
    <p:sldId xmlns:r="http://schemas.openxmlformats.org/officeDocument/2006/relationships" id="265" r:id="Rcd0ff2f9169246a5"/>
    <p:sldId xmlns:r="http://schemas.openxmlformats.org/officeDocument/2006/relationships" id="266" r:id="R0f1582c9c7bf453c"/>
    <p:sldId xmlns:r="http://schemas.openxmlformats.org/officeDocument/2006/relationships" id="267" r:id="Rc33c3b288a234b25"/>
    <p:sldId xmlns:r="http://schemas.openxmlformats.org/officeDocument/2006/relationships" id="268" r:id="R2a3eea5c63e04e82"/>
    <p:sldId xmlns:r="http://schemas.openxmlformats.org/officeDocument/2006/relationships" id="269" r:id="R5c8c67086d5e4a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fa0d9fccb4bd7" /><Relationship Type="http://schemas.openxmlformats.org/officeDocument/2006/relationships/slideMaster" Target="/ppt/slideMasters/slideMaster1.xml" Id="R7709f1d6399e488b" /><Relationship Type="http://schemas.openxmlformats.org/officeDocument/2006/relationships/notesMaster" Target="/ppt/notesMasters/notesMaster1.xml" Id="Recbf7c69fda941e1" /><Relationship Type="http://schemas.openxmlformats.org/officeDocument/2006/relationships/presProps" Target="/ppt/presProps.xml" Id="Rfd31d3ec139f4ba6" /><Relationship Type="http://schemas.openxmlformats.org/officeDocument/2006/relationships/tableStyles" Target="/ppt/tableStyles.xml" Id="Rcd99a91715774627" /><Relationship Type="http://schemas.openxmlformats.org/officeDocument/2006/relationships/slide" Target="/ppt/slides/slide1.xml" Id="Ra860d2e580ec412f" /><Relationship Type="http://schemas.openxmlformats.org/officeDocument/2006/relationships/slide" Target="/ppt/slides/slide2.xml" Id="Rb2c249d3acb2457f" /><Relationship Type="http://schemas.openxmlformats.org/officeDocument/2006/relationships/slide" Target="/ppt/slides/slide3.xml" Id="R80fb8941a8fb4d8a" /><Relationship Type="http://schemas.openxmlformats.org/officeDocument/2006/relationships/slide" Target="/ppt/slides/slide4.xml" Id="Rd1333cf95d4247f6" /><Relationship Type="http://schemas.openxmlformats.org/officeDocument/2006/relationships/slide" Target="/ppt/slides/slide5.xml" Id="R6fd49c2f79ef4909" /><Relationship Type="http://schemas.openxmlformats.org/officeDocument/2006/relationships/slide" Target="/ppt/slides/slide6.xml" Id="Rb8b6d92bcd304983" /><Relationship Type="http://schemas.openxmlformats.org/officeDocument/2006/relationships/slide" Target="/ppt/slides/slide7.xml" Id="Ra752a225cbc041c1" /><Relationship Type="http://schemas.openxmlformats.org/officeDocument/2006/relationships/slide" Target="/ppt/slides/slide8.xml" Id="R967845b0719045e1" /><Relationship Type="http://schemas.openxmlformats.org/officeDocument/2006/relationships/slide" Target="/ppt/slides/slide9.xml" Id="Rbc7b620f003a4ddb" /><Relationship Type="http://schemas.openxmlformats.org/officeDocument/2006/relationships/slide" Target="/ppt/slides/slide10.xml" Id="Rcd0ff2f9169246a5" /><Relationship Type="http://schemas.openxmlformats.org/officeDocument/2006/relationships/slide" Target="/ppt/slides/slide11.xml" Id="R0f1582c9c7bf453c" /><Relationship Type="http://schemas.openxmlformats.org/officeDocument/2006/relationships/slide" Target="/ppt/slides/slide12.xml" Id="Rc33c3b288a234b25" /><Relationship Type="http://schemas.openxmlformats.org/officeDocument/2006/relationships/slide" Target="/ppt/slides/slide13.xml" Id="R2a3eea5c63e04e82" /><Relationship Type="http://schemas.openxmlformats.org/officeDocument/2006/relationships/slide" Target="/ppt/slides/slide14.xml" Id="R5c8c67086d5e4a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8eb4ee2c84f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0203ff38134d92" /><Relationship Type="http://schemas.openxmlformats.org/officeDocument/2006/relationships/notesMaster" Target="/ppt/notesMasters/notesMaster1.xml" Id="R9d08e0a66f8f4d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b79d244ce4796" /><Relationship Type="http://schemas.openxmlformats.org/officeDocument/2006/relationships/notesMaster" Target="/ppt/notesMasters/notesMaster1.xml" Id="R77f57013685347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d56e1d602403b" /><Relationship Type="http://schemas.openxmlformats.org/officeDocument/2006/relationships/notesMaster" Target="/ppt/notesMasters/notesMaster1.xml" Id="R2c57b986974d41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1c418d09554f35" /><Relationship Type="http://schemas.openxmlformats.org/officeDocument/2006/relationships/notesMaster" Target="/ppt/notesMasters/notesMaster1.xml" Id="Rc7c5c536123a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c10c3d57546a9" /><Relationship Type="http://schemas.openxmlformats.org/officeDocument/2006/relationships/notesMaster" Target="/ppt/notesMasters/notesMaster1.xml" Id="Reaaa6bc3406143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379d78274d4335" /><Relationship Type="http://schemas.openxmlformats.org/officeDocument/2006/relationships/notesMaster" Target="/ppt/notesMasters/notesMaster1.xml" Id="Rd0507160e65e4e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672ef75a4540be" /><Relationship Type="http://schemas.openxmlformats.org/officeDocument/2006/relationships/notesMaster" Target="/ppt/notesMasters/notesMaster1.xml" Id="R2888d7b803af46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2889de64e64a7e" /><Relationship Type="http://schemas.openxmlformats.org/officeDocument/2006/relationships/notesMaster" Target="/ppt/notesMasters/notesMaster1.xml" Id="R7956821dce1a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87fa5654f54f9b" /><Relationship Type="http://schemas.openxmlformats.org/officeDocument/2006/relationships/notesMaster" Target="/ppt/notesMasters/notesMaster1.xml" Id="R324f56ab03ff42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a8a969499b4d7b" /><Relationship Type="http://schemas.openxmlformats.org/officeDocument/2006/relationships/notesMaster" Target="/ppt/notesMasters/notesMaster1.xml" Id="Reec47d9b973746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80423f74e748f0" /><Relationship Type="http://schemas.openxmlformats.org/officeDocument/2006/relationships/notesMaster" Target="/ppt/notesMasters/notesMaster1.xml" Id="R962000fd745548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8b9b8dd32b4dec" /><Relationship Type="http://schemas.openxmlformats.org/officeDocument/2006/relationships/notesMaster" Target="/ppt/notesMasters/notesMaster1.xml" Id="R4acdf86d6c144f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7ba59075144058" /><Relationship Type="http://schemas.openxmlformats.org/officeDocument/2006/relationships/notesMaster" Target="/ppt/notesMasters/notesMaster1.xml" Id="R2157a7be134642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8c2432229848fc" /><Relationship Type="http://schemas.openxmlformats.org/officeDocument/2006/relationships/notesMaster" Target="/ppt/notesMasters/notesMaster1.xml" Id="R0d899b35c6ba48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Flags overlap. Chart shows the eleven most frequent issues; the Word report and manifest retain every flag. A no_bar_detected warning does not invalidate the disc estimate. Individual PA scatter is not a formal independent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Supplied fitted-manifest comparison: {"disc":{"n":2773,"median_abs":2.76077815661057,"median_signed":0.021808524369362203,"within10":2169},"bar":{"n":2292,"median_abs":0.4539355276748722,"median_signed":-0.0040814688521066955,"within10":2237},"inclination":{"n":2773,"median_abs":2.3744889759578527,"median_signed":-0.9662639215711621,"within10":2428}}. Supplied inclination uses intrinsic q0=.2; ours remains q0=0. Euclid whole-object shapes are proxies, not independent outer-disc measurements. No Euclid bar PA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Centre example (multiple flags, not an isolated-flag demonstration): {"id":"2700376345666189458","image":"C:\\Users\\gordo\\Documents\\Github\\PythonScripts\\Foreground Masking\\MER_VIS_pipeline_v2\\current_report\\images\\2700376345666189458.png","full_card":"D:\\Dropbox\\Public Documents\\UCLAN\\MSc Research\\Euclid\\MER_VIS_galaxy_reports\\all_2777\\png_QI\\2448_Euclid_2700376345666189458_MER_VIS_geometry_report_QI.png","disc":101.52336049391899,"bar":101.48498053450594,"inc":71.05369315170853,"centre_offset":17.320432011634527,"method":"recentred","flags":["centre_offset_large","disc_axis_ratio_unstable","disc_PA_sparse_sampling"],"bar_status":"detected_A","error":"","n_good":"43","n_disc":"5","n_bar":"4","disc_scatter":0.9310092684915722,"disc_span":0.3545431996625442,"bar_end":19.181222769615243,"information":"","detail_image":"C:\\Users\\gordo\\Documents\\Github\\PythonScripts\\Foreground Masking\\MER_VIS_pipeline_v2\\current_report\\images\\centre_detail.png"}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Isolated example counts (full coverage): {"no_bar_detected":57,"disc_PA_unstable":30,"disc_axis_ratio_unstable":38,"small_bar_sensitive_to_resolution":176,"disc_PA_sparse_sampling":262,"disc_range_fallback":0,"bar_disc_ranges_close":0,"small_disc":0,"weak_ellipse_bar_signature":5,"centre_offset_large":1,"relaxed_fit":0,"iteration_limited_samples":0,"star_mask_removed":0,"neighbour_mask_removed":0,"centre_unstable":0,"short_accepted_profile":0,"high_inclination":0}. Flags without two isolated cases are not represented as single-flag examples. Bar acceptance requires a stable PA 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{"key":"disc_PA_sparse_sampling","title":"Sparse disc sampling","kind":"isolated_flag","examples":[{"id":"-518633776290631360","image":"C:\\Users\\gordo\\Documents\\Github\\PythonScripts\\Foreground Masking\\MER_VIS_pipeline_v2\\current_report\\images\\-518633776290631360.png","full_card":"D:\\Dropbox\\Public Documents\\UCLAN\\MSc Research\\Euclid\\MER_VIS_galaxy_reports\\all_2777\\png_QI\\0005_Euclid_-518633776290631360_MER_VIS_geometry_report_QI.png","disc":113.69021016263804,"bar":113.86950382756103,"inc":49.47781434213959,"centre_offset":0.15091616609311526,"method":"standard","flags":["disc_PA_sparse_sampling"],"bar_status":"detected_A","error":"","n_good":"28","n_disc":"3","n_bar":"11","disc_scatter":17.55097022310975,"disc_span":0.06326608973174502,"bar_end":1.7950070214699363,"information":""},{"id":"-591772188508612550","image":"C:\\Users\\gordo\\Documents\\Github\\PythonScripts\\Foreground Masking\\MER_VIS_pipeline_v2\\current_report\\images\\-591772188508612550.png","full_card":"D:\\Dropbox\\Public Documents\\UCLAN\\MSc Research\\Euclid\\MER_VIS_galaxy_reports\\all_2777\\png_QI\\0052_Euclid_-591772188508612550_MER_VIS_geometry_report_QI.png","disc":86.43656085258868,"bar":164.63490061547776,"inc":35.695330342099226,"centre_offset":0.02832371713181012,"method":"standard","flags":["disc_PA_sparse_sampling"],"bar_status":"detected_A","error":"","n_good":"23","n_disc":"4","n_bar":"7","disc_scatter":5.250885360677478,"disc_span":0.1029346552749289,"bar_end":1.6382758850469108,"information":""}],"available":262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{"key":"small_bar_sensitive_to_resolution","title":"Bar identification uncertain: small interval","kind":"isolated_flag","examples":[{"id":"-518659917291205827","image":"C:\\Users\\gordo\\Documents\\Github\\PythonScripts\\Foreground Masking\\MER_VIS_pipeline_v2\\current_report\\images\\-518659917291205827.png","full_card":"D:\\Dropbox\\Public Documents\\UCLAN\\MSc Research\\Euclid\\MER_VIS_galaxy_reports\\all_2777\\png_QI\\0004_Euclid_-518659917291205827_MER_VIS_geometry_report_QI.png","disc":67.98049109589249,"bar":63.85453266313511,"inc":47.29360925833979,"centre_offset":0.06901554767367604,"method":"standard","flags":["small_bar_sensitive_to_resolution"],"bar_status":"detected_A","error":"","n_good":"31","n_disc":"6","n_bar":"6","disc_scatter":6.536223807890531,"disc_span":0.1305755018371826,"bar_end":1.3365451794213465,"information":""},{"id":"-518003489287870292","image":"C:\\Users\\gordo\\Documents\\Github\\PythonScripts\\Foreground Masking\\MER_VIS_pipeline_v2\\current_report\\images\\-518003489287870292.png","full_card":"D:\\Dropbox\\Public Documents\\UCLAN\\MSc Research\\Euclid\\MER_VIS_galaxy_reports\\all_2777\\png_QI\\0007_Euclid_-518003489287870292_MER_VIS_geometry_report_QI.png","disc":87.46210239608925,"bar":167.22729398125324,"inc":31.574961051993903,"centre_offset":0.043422001129307254,"method":"standard","flags":["small_bar_sensitive_to_resolution"],"bar_status":"detected_A","error":"","n_good":"22","n_disc":"6","n_bar":"4","disc_scatter":5.924727031910115,"disc_span":0.11007119226523457,"bar_end":1.3673627605688643,"information":""}],"available":176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{"key":"disc_PA_unstable","title":"Disc PA varies across radius","kind":"isolated_flag","examples":[{"id":"-601121275504424227","image":"C:\\Users\\gordo\\Documents\\Github\\PythonScripts\\Foreground Masking\\MER_VIS_pipeline_v2\\current_report\\images\\-601121275504424227.png","full_card":"D:\\Dropbox\\Public Documents\\UCLAN\\MSc Research\\Euclid\\MER_VIS_galaxy_reports\\all_2777\\png_QI\\0118_Euclid_-601121275504424227_MER_VIS_geometry_report_QI.png","disc":60.75482419435342,"bar":20.23373226136634,"inc":40.93111225561656,"centre_offset":0.038965526533334946,"method":"standard","flags":["disc_PA_unstable"],"bar_status":"detected_A","error":"","n_good":"33","n_disc":"7","n_bar":"6","disc_scatter":15.878385450188937,"disc_span":0.08169376743863846,"bar_end":1.5289036078363487,"information":""},{"id":"-610687143492806705","image":"C:\\Users\\gordo\\Documents\\Github\\PythonScripts\\Foreground Masking\\MER_VIS_pipeline_v2\\current_report\\images\\-610687143492806705.png","full_card":"D:\\Dropbox\\Public Documents\\UCLAN\\MSc Research\\Euclid\\MER_VIS_galaxy_reports\\all_2777\\png_QI\\0333_Euclid_-610687143492806705_MER_VIS_geometry_report_QI.png","disc":158.36096695742282,"bar":125.22937713244133,"inc":47.29362942331274,"centre_offset":0.2338082376742416,"method":"standard","flags":["disc_PA_unstable"],"bar_status":"detected_A","error":"","n_good":"31","n_disc":"7","n_bar":"4","disc_scatter":25.28294471714209,"disc_span":0.07966992794101968,"bar_end":1.9994762262228183,"information":""}],"available":30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{"key":"disc_axis_ratio_unstable","title":"Changing disc ellipticity","kind":"isolated_flag","examples":[{"id":"-591287408514481131","image":"C:\\Users\\gordo\\Documents\\Github\\PythonScripts\\Foreground Masking\\MER_VIS_pipeline_v2\\current_report\\images\\-591287408514481131.png","full_card":"D:\\Dropbox\\Public Documents\\UCLAN\\MSc Research\\Euclid\\MER_VIS_galaxy_reports\\all_2777\\png_QI\\0034_Euclid_-591287408514481131_MER_VIS_geometry_report_QI.png","disc":17.53323680563758,"bar":22.81336189671468,"inc":36.63266403692604,"centre_offset":0.11119406232473457,"method":"standard","flags":["disc_axis_ratio_unstable"],"bar_status":"detected_A","error":"","n_good":"34","n_disc":"6","n_bar":"4","disc_scatter":7.239400804142461,"disc_span":0.16838843455844482,"bar_end":2.1798696595074465,"information":""},{"id":"-566750185501100067","image":"C:\\Users\\gordo\\Documents\\Github\\PythonScripts\\Foreground Masking\\MER_VIS_pipeline_v2\\current_report\\images\\-566750185501100067.png","full_card":"D:\\Dropbox\\Public Documents\\UCLAN\\MSc Research\\Euclid\\MER_VIS_galaxy_reports\\all_2777\\png_QI\\0159_Euclid_-566750185501100067_MER_VIS_geometry_report_QI.png","disc":102.79246432693091,"bar":96.42893198907605,"inc":52.53634125610519,"centre_offset":0.08662419418159002,"method":"standard","flags":["disc_axis_ratio_unstable"],"bar_status":"detected_A","error":"","n_good":"32","n_disc":"7","n_bar":"6","disc_scatter":3.9332905839691543,"disc_span":0.15097490297862415,"bar_end":1.593205928470762,"information":""}],"available":38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{"key":"weak_ellipse_bar_signature","title":"Weaker accepted bar signature","kind":"isolated_flag","examples":[{"id":"-555209522496440415","image":"C:\\Users\\gordo\\Documents\\Github\\PythonScripts\\Foreground Masking\\MER_VIS_pipeline_v2\\current_report\\images\\-555209522496440415.png","full_card":"D:\\Dropbox\\Public Documents\\UCLAN\\MSc Research\\Euclid\\MER_VIS_galaxy_reports\\all_2777\\png_QI\\0261_Euclid_-555209522496440415_MER_VIS_geometry_report_QI.png","disc":100.26081295628182,"bar":105.11218163316383,"inc":42.90154861988472,"centre_offset":0.0903332976252752,"method":"standard","flags":["weak_ellipse_bar_signature"],"bar_status":"detected_B","error":"","n_good":"37","n_disc":"7","n_bar":"5","disc_scatter":7.517163372934988,"disc_span":0.13826008157628691,"bar_end":1.6744832428633671,"information":""},{"id":"-567651923481293863","image":"C:\\Users\\gordo\\Documents\\Github\\PythonScripts\\Foreground Masking\\MER_VIS_pipeline_v2\\current_report\\images\\-567651923481293863.png","full_card":"D:\\Dropbox\\Public Documents\\UCLAN\\MSc Research\\Euclid\\MER_VIS_galaxy_reports\\all_2777\\png_QI\\0728_Euclid_-567651923481293863_MER_VIS_geometry_report_QI.png","disc":133.5783320289558,"bar":23.001901678884632,"inc":25.238239011239592,"centre_offset":0.17164453119414078,"method":"standard","flags":["weak_ellipse_bar_signature"],"bar_status":"detected_B","error":"","n_good":"28","n_disc":"3","n_bar":"13","disc_scatter":6.795861954450147,"disc_span":0.01434370836758432,"bar_end":3.1004653606061714,"information":"nearly_face_on_disc_PA_uncertain"}],"available":5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{"key":"no_bar_detected","title":"No accepted bar; disc retained","kind":"isolated_flag","examples":[{"id":"2693239635649457485","image":"C:\\Users\\gordo\\Documents\\Github\\PythonScripts\\Foreground Masking\\MER_VIS_pipeline_v2\\current_report\\images\\2693239635649457485.png","full_card":"D:\\Dropbox\\Public Documents\\UCLAN\\MSc Research\\Euclid\\MER_VIS_galaxy_reports\\all_2777\\png_QI\\0030_Euclid_2693239635649457485_MER_VIS_geometry_report_QI.png","disc":115.27426229228769,"bar":null,"inc":57.10822351022106,"centre_offset":0.20803110605860703,"method":"standard","flags":["no_bar_detected"],"bar_status":"no_bar_detected","error":"","n_good":"28","n_disc":"6","n_bar":"","disc_scatter":1.534821119062622,"disc_span":0.07954589557362018,"bar_end":null,"information":""},{"id":"-600909396508240903","image":"C:\\Users\\gordo\\Documents\\Github\\PythonScripts\\Foreground Masking\\MER_VIS_pipeline_v2\\current_report\\images\\-600909396508240903.png","full_card":"D:\\Dropbox\\Public Documents\\UCLAN\\MSc Research\\Euclid\\MER_VIS_galaxy_reports\\all_2777\\png_QI\\0061_Euclid_-600909396508240903_MER_VIS_geometry_report_QI.png","disc":95.78575386450234,"bar":null,"inc":55.30004037390356,"centre_offset":0.11559495870650695,"method":"standard","flags":["no_bar_detected"],"bar_status":"no_bar_detected","error":"","n_good":"25","n_disc":"6","n_bar":"","disc_scatter":9.116555930006143,"disc_span":0.08951454268036535,"bar_end":null,"information":""}],"available":57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failures","kind":"failure","examples":[{"id":"-586374330510251740","image":"C:\\Users\\gordo\\Documents\\Github\\PythonScripts\\Foreground Masking\\MER_VIS_pipeline_v2\\current_report\\images\\-586374330510251740.png","full_card":"D:\\Dropbox\\Public Documents\\UCLAN\\MSc Research\\Euclid\\MER_VIS_galaxy_reports\\all_2777\\png_QI\\0057_Euclid_-586374330510251740_MER_VIS_geometry_report_QI.png","disc":null,"bar":null,"inc":null,"centre_offset":null,"method":"smoothed_relaxed","flags":[],"bar_status":"not_measured","error":"ValueError: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3","n_good":"0","n_disc":"","n_bar":"","disc_scatter":null,"disc_span":null,"bar_end":null,"information":""},{"id":"-524824554283124036","image":"C:\\Users\\gordo\\Documents\\Github\\PythonScripts\\Foreground Masking\\MER_VIS_pipeline_v2\\current_report\\images\\-524824554283124036.png","full_card":"D:\\Dropbox\\Public Documents\\UCLAN\\MSc Research\\Euclid\\MER_VIS_galaxy_reports\\all_2777\\png_QI\\1557_Euclid_-524824554283124036_MER_VIS_geometry_report_QI.png","disc":null,"bar":null,"inc":null,"centre_offset":null,"method":"extended_light_centre_recovery","flags":[],"bar_status":"not_measured","error":"Visual review: broader peak search switched to a saturated foreground star with diffraction spikes; no valid target-disc geometry adopted.","n_good":"0","n_disc":"6","n_bar":"","disc_scatter":null,"disc_span":0.05319752342879874,"bar_end":null,"information":""}],"available":4}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failures","kind":"failure","examples":[{"id":"2645436353651870062","image":"C:\\Users\\gordo\\Documents\\Github\\PythonScripts\\Foreground Masking\\MER_VIS_pipeline_v2\\current_report\\images\\2645436353651870062.png","full_card":"D:\\Dropbox\\Public Documents\\UCLAN\\MSc Research\\Euclid\\MER_VIS_galaxy_reports\\all_2777\\png_QI\\2079_Euclid_2645436353651870062_MER_VIS_geometry_report_QI.png","disc":null,"bar":null,"inc":null,"centre_offset":null,"method":"smoothed_relaxed","flags":[],"bar_status":"not_measured","error":"ValueError: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3","n_good":"0","n_disc":"","n_bar":"","disc_scatter":null,"disc_span":null,"bar_end":null,"information":""},{"id":"2697242050653408730","image":"C:\\Users\\gordo\\Documents\\Github\\PythonScripts\\Foreground Masking\\MER_VIS_pipeline_v2\\current_report\\images\\2697242050653408730.png","full_card":"D:\\Dropbox\\Public Documents\\UCLAN\\MSc Research\\Euclid\\MER_VIS_galaxy_reports\\all_2777\\png_QI\\2221_Euclid_2697242050653408730_MER_VIS_geometry_report_QI.png","disc":null,"bar":null,"inc":null,"centre_offset":null,"method":"extended_light_centre_recovery","flags":[],"bar_status":"not_measured","error":"Visual review: accepted contours cover only the unresolved central region below 0.5 arcsec; no resolved disc geometry adopted.","n_good":"0","n_disc":"7","n_bar":"","disc_scatter":null,"disc_span":0.1968873533678872,"bar_end":null,"information":""}],"available":4}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7e12af4be43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1856823ec48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9106aa7fb42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cc43f62a740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6bc20f62a46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fb75b662649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95DB7E-A10E-496D-8823-FE017E1D9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E90EEC-EB1E-45F1-B308-AF5D4FB5D8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B0EE2B-032D-41DB-8A7D-9C187AEFE5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7B7BCE-75A5-4B06-938B-A01A5EBFA9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891421-2318-48BF-BF89-2075184934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EF955C-FB6E-4185-A26A-1ADCA6B3F2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0C5718-31AA-4AFF-A2A5-AEA62D9FB6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BAD520-2678-4E52-B987-9600E39D60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93B41B-90E2-4338-B1AE-996866B81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54CEBB-8ED2-478A-9F33-9F0C23A0A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e1d99069814b82" /><Relationship Type="http://schemas.openxmlformats.org/officeDocument/2006/relationships/slideLayout" Target="/ppt/slideLayouts/slideLayout1.xml" Id="R4856fa4278a94344" /><Relationship Type="http://schemas.openxmlformats.org/officeDocument/2006/relationships/slideLayout" Target="/ppt/slideLayouts/slideLayout2.xml" Id="R1e3724fabf9149f3" /><Relationship Type="http://schemas.openxmlformats.org/officeDocument/2006/relationships/slideLayout" Target="/ppt/slideLayouts/slideLayout3.xml" Id="R899c0e8e2e49490a" /><Relationship Type="http://schemas.openxmlformats.org/officeDocument/2006/relationships/slideLayout" Target="/ppt/slideLayouts/slideLayout4.xml" Id="Rf1800639cf6f4448" /><Relationship Type="http://schemas.openxmlformats.org/officeDocument/2006/relationships/slideLayout" Target="/ppt/slideLayouts/slideLayout5.xml" Id="R8a4a9e69097a4552" /><Relationship Type="http://schemas.openxmlformats.org/officeDocument/2006/relationships/slideLayout" Target="/ppt/slideLayouts/slideLayout6.xml" Id="R4ee336947d2a4e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6fa4278a94344"/>
    <p:sldLayoutId xmlns:r="http://schemas.openxmlformats.org/officeDocument/2006/relationships" id="2147483650" r:id="R1e3724fabf9149f3"/>
    <p:sldLayoutId xmlns:r="http://schemas.openxmlformats.org/officeDocument/2006/relationships" id="2147483651" r:id="R899c0e8e2e49490a"/>
    <p:sldLayoutId xmlns:r="http://schemas.openxmlformats.org/officeDocument/2006/relationships" id="2147483652" r:id="Rf1800639cf6f4448"/>
    <p:sldLayoutId xmlns:r="http://schemas.openxmlformats.org/officeDocument/2006/relationships" id="2147483653" r:id="R8a4a9e69097a4552"/>
    <p:sldLayoutId xmlns:r="http://schemas.openxmlformats.org/officeDocument/2006/relationships" id="2147483654" r:id="R4ee336947d2a4e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c1d51ec5843bf" /><Relationship Type="http://schemas.openxmlformats.org/officeDocument/2006/relationships/notesSlide" Target="/ppt/notesSlides/notesSlide1.xml" Id="R7da677b0069548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4e23e7ce0433a" /><Relationship Type="http://schemas.openxmlformats.org/officeDocument/2006/relationships/chart" Target="/ppt/slides/charts/chart1.xml" Id="R103b1e3e5602486d" /><Relationship Type="http://schemas.openxmlformats.org/officeDocument/2006/relationships/notesSlide" Target="/ppt/notesSlides/notesSlide2.xml" Id="R25e14b3ba52d48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aedccc9494093" /><Relationship Type="http://schemas.openxmlformats.org/officeDocument/2006/relationships/chart" Target="/ppt/slides/charts/chart2.xml" Id="R97cf7abbb19a403e" /><Relationship Type="http://schemas.openxmlformats.org/officeDocument/2006/relationships/notesSlide" Target="/ppt/notesSlides/notesSlide3.xml" Id="R301af1afbe7a42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d41982115429b" /><Relationship Type="http://schemas.openxmlformats.org/officeDocument/2006/relationships/notesSlide" Target="/ppt/notesSlides/notesSlide4.xml" Id="R1281c45aa6d74b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16a46cc4d43dd" /><Relationship Type="http://schemas.openxmlformats.org/officeDocument/2006/relationships/image" Target="/ppt/media/image.png" Id="R23a3c6670f194643" /><Relationship Type="http://schemas.openxmlformats.org/officeDocument/2006/relationships/notesSlide" Target="/ppt/notesSlides/notesSlide5.xml" Id="R783cd8bca4f1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e16cde06c4bf1" /><Relationship Type="http://schemas.openxmlformats.org/officeDocument/2006/relationships/notesSlide" Target="/ppt/notesSlides/notesSlide6.xml" Id="R638964cd0d8a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92c6594c34ef8" /><Relationship Type="http://schemas.openxmlformats.org/officeDocument/2006/relationships/image" Target="/ppt/media/image2.png" Id="R71f553c4675f40e6" /><Relationship Type="http://schemas.openxmlformats.org/officeDocument/2006/relationships/image" Target="/ppt/media/image3.png" Id="R5b283f1e74514539" /><Relationship Type="http://schemas.openxmlformats.org/officeDocument/2006/relationships/notesSlide" Target="/ppt/notesSlides/notesSlide7.xml" Id="R6b178d4fa7a342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d6bfdc0204673" /><Relationship Type="http://schemas.openxmlformats.org/officeDocument/2006/relationships/image" Target="/ppt/media/image4.png" Id="R031a315b1ce045d4" /><Relationship Type="http://schemas.openxmlformats.org/officeDocument/2006/relationships/image" Target="/ppt/media/image5.png" Id="Rac9050be30c04207" /><Relationship Type="http://schemas.openxmlformats.org/officeDocument/2006/relationships/notesSlide" Target="/ppt/notesSlides/notesSlide8.xml" Id="R2f06d5d097d54e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9af9c6a594135" /><Relationship Type="http://schemas.openxmlformats.org/officeDocument/2006/relationships/image" Target="/ppt/media/image6.png" Id="R53375aaf0aa34078" /><Relationship Type="http://schemas.openxmlformats.org/officeDocument/2006/relationships/image" Target="/ppt/media/image7.png" Id="Red1ce10d0f7f453b" /><Relationship Type="http://schemas.openxmlformats.org/officeDocument/2006/relationships/notesSlide" Target="/ppt/notesSlides/notesSlide9.xml" Id="R87d63a99665540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70ed6acd14dbd" /><Relationship Type="http://schemas.openxmlformats.org/officeDocument/2006/relationships/image" Target="/ppt/media/image8.png" Id="Rec51fba7e12e43d9" /><Relationship Type="http://schemas.openxmlformats.org/officeDocument/2006/relationships/image" Target="/ppt/media/image9.png" Id="Ra267a5ab8a004f41" /><Relationship Type="http://schemas.openxmlformats.org/officeDocument/2006/relationships/notesSlide" Target="/ppt/notesSlides/notesSlide10.xml" Id="R2053f98bfc0143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72d13b75e405d" /><Relationship Type="http://schemas.openxmlformats.org/officeDocument/2006/relationships/image" Target="/ppt/media/image10.png" Id="R3fa24fc31a8d4e98" /><Relationship Type="http://schemas.openxmlformats.org/officeDocument/2006/relationships/image" Target="/ppt/media/image11.png" Id="R2ce5d4b883a744cc" /><Relationship Type="http://schemas.openxmlformats.org/officeDocument/2006/relationships/notesSlide" Target="/ppt/notesSlides/notesSlide11.xml" Id="Ra47c3d68143246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36acb7c0c24f53" /><Relationship Type="http://schemas.openxmlformats.org/officeDocument/2006/relationships/image" Target="/ppt/media/image12.png" Id="R431eeb9b109f4476" /><Relationship Type="http://schemas.openxmlformats.org/officeDocument/2006/relationships/image" Target="/ppt/media/image13.png" Id="R81988e7c7f2d4e0a" /><Relationship Type="http://schemas.openxmlformats.org/officeDocument/2006/relationships/notesSlide" Target="/ppt/notesSlides/notesSlide12.xml" Id="Rfb16accb4cb748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72bcbb7cf4af0" /><Relationship Type="http://schemas.openxmlformats.org/officeDocument/2006/relationships/image" Target="/ppt/media/image14.png" Id="R97c3c650295747e0" /><Relationship Type="http://schemas.openxmlformats.org/officeDocument/2006/relationships/image" Target="/ppt/media/image15.png" Id="R3080042523534f7f" /><Relationship Type="http://schemas.openxmlformats.org/officeDocument/2006/relationships/notesSlide" Target="/ppt/notesSlides/notesSlide13.xml" Id="Rd4017d296ea54d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b007e87b74427" /><Relationship Type="http://schemas.openxmlformats.org/officeDocument/2006/relationships/image" Target="/ppt/media/image16.png" Id="R43bf993dcce14f12" /><Relationship Type="http://schemas.openxmlformats.org/officeDocument/2006/relationships/image" Target="/ppt/media/image17.png" Id="Rb23a3b3d95114428" /><Relationship Type="http://schemas.openxmlformats.org/officeDocument/2006/relationships/notesSlide" Target="/ppt/notesSlides/notesSlide14.xml" Id="R6842bb12ccdb4b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No flags</c:v>
          </c:tx>
          <c:spPr>
            <a:solidFill xmlns:a="http://schemas.openxmlformats.org/drawingml/2006/main">
              <a:srgbClr val="367A8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0.033489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1 flags</c:v>
          </c:tx>
          <c:spPr>
            <a:solidFill xmlns:a="http://schemas.openxmlformats.org/drawingml/2006/main">
              <a:srgbClr val="E5BB6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</c:v>
                </c:pt>
                <c:pt idx="1">
                  <c:v>0.21282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2 flags</c:v>
          </c:tx>
          <c:spPr>
            <a:solidFill xmlns:a="http://schemas.openxmlformats.org/drawingml/2006/main">
              <a:srgbClr val="CC9637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</c:v>
                </c:pt>
                <c:pt idx="1">
                  <c:v>0.335254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v>3 flags</c:v>
          </c:tx>
          <c:spPr>
            <a:solidFill xmlns:a="http://schemas.openxmlformats.org/drawingml/2006/main">
              <a:srgbClr val="A66B24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Data'!$H$2:$H$4</c:f>
              <c:numCache>
                <c:formatCode>0%</c:formatCode>
                <c:ptCount val="3"/>
                <c:pt idx="0">
                  <c:v>0</c:v>
                </c:pt>
                <c:pt idx="1">
                  <c:v>0.269355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v>4 flags</c:v>
          </c:tx>
          <c:spPr>
            <a:solidFill xmlns:a="http://schemas.openxmlformats.org/drawingml/2006/main">
              <a:srgbClr val="72441C"/>
            </a:solidFill>
          </c:spPr>
          <c:invertIfNegative val="0"/>
          <c:cat>
            <c:strRef>
              <c:f>'Chart Data'!$I$2:$I$4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Data'!$J$2:$J$4</c:f>
              <c:numCache>
                <c:formatCode>0%</c:formatCode>
                <c:ptCount val="3"/>
                <c:pt idx="0">
                  <c:v>0</c:v>
                </c:pt>
                <c:pt idx="1">
                  <c:v>0.10695</c:v>
                </c:pt>
                <c:pt idx="2">
                  <c:v>0</c:v>
                </c:pt>
              </c:numCache>
            </c:numRef>
          </c:val>
        </c:ser>
        <c:ser>
          <c:idx val="5"/>
          <c:order val="5"/>
          <c:tx>
            <c:v>5 flags</c:v>
          </c:tx>
          <c:spPr>
            <a:solidFill xmlns:a="http://schemas.openxmlformats.org/drawingml/2006/main">
              <a:srgbClr val="754E79"/>
            </a:solidFill>
          </c:spPr>
          <c:invertIfNegative val="0"/>
          <c:cat>
            <c:strRef>
              <c:f>'Chart Data'!$K$2:$K$4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Data'!$L$2:$L$4</c:f>
              <c:numCache>
                <c:formatCode>0%</c:formatCode>
                <c:ptCount val="3"/>
                <c:pt idx="0">
                  <c:v>0</c:v>
                </c:pt>
                <c:pt idx="1">
                  <c:v>0.024127</c:v>
                </c:pt>
                <c:pt idx="2">
                  <c:v>0</c:v>
                </c:pt>
              </c:numCache>
            </c:numRef>
          </c:val>
        </c:ser>
        <c:ser>
          <c:idx val="6"/>
          <c:order val="6"/>
          <c:tx>
            <c:v>6 flags</c:v>
          </c:tx>
          <c:spPr>
            <a:solidFill xmlns:a="http://schemas.openxmlformats.org/drawingml/2006/main">
              <a:srgbClr val="563B60"/>
            </a:solidFill>
          </c:spPr>
          <c:invertIfNegative val="0"/>
          <c:cat>
            <c:strRef>
              <c:f>'Chart Data'!$M$2:$M$4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Data'!$N$2:$N$4</c:f>
              <c:numCache>
                <c:formatCode>0%</c:formatCode>
                <c:ptCount val="3"/>
                <c:pt idx="0">
                  <c:v>0</c:v>
                </c:pt>
                <c:pt idx="1">
                  <c:v>0.014044</c:v>
                </c:pt>
                <c:pt idx="2">
                  <c:v>0</c:v>
                </c:pt>
              </c:numCache>
            </c:numRef>
          </c:val>
        </c:ser>
        <c:ser>
          <c:idx val="7"/>
          <c:order val="7"/>
          <c:tx>
            <c:v>7 flags</c:v>
          </c:tx>
          <c:spPr>
            <a:solidFill xmlns:a="http://schemas.openxmlformats.org/drawingml/2006/main">
              <a:srgbClr val="4A587A"/>
            </a:solidFill>
          </c:spPr>
          <c:invertIfNegative val="0"/>
          <c:cat>
            <c:strRef>
              <c:f>'Chart Data'!$O$2:$O$4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Data'!$P$2:$P$4</c:f>
              <c:numCache>
                <c:formatCode>0%</c:formatCode>
                <c:ptCount val="3"/>
                <c:pt idx="0">
                  <c:v>0</c:v>
                </c:pt>
                <c:pt idx="1">
                  <c:v>0.002161</c:v>
                </c:pt>
                <c:pt idx="2">
                  <c:v>0</c:v>
                </c:pt>
              </c:numCache>
            </c:numRef>
          </c:val>
        </c:ser>
        <c:ser>
          <c:idx val="8"/>
          <c:order val="8"/>
          <c:tx>
            <c:v>9 flags</c:v>
          </c:tx>
          <c:spPr>
            <a:solidFill xmlns:a="http://schemas.openxmlformats.org/drawingml/2006/main">
              <a:srgbClr val="A85050"/>
            </a:solidFill>
          </c:spPr>
          <c:invertIfNegative val="0"/>
          <c:cat>
            <c:strRef>
              <c:f>'Chart Data'!$Q$2:$Q$4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Data'!$R$2:$R$4</c:f>
              <c:numCache>
                <c:formatCode>0%</c:formatCode>
                <c:ptCount val="3"/>
                <c:pt idx="0">
                  <c:v>0</c:v>
                </c:pt>
                <c:pt idx="1">
                  <c:v>0.00036</c:v>
                </c:pt>
                <c:pt idx="2">
                  <c:v>0</c:v>
                </c:pt>
              </c:numCache>
            </c:numRef>
          </c:val>
        </c:ser>
        <c:ser>
          <c:idx val="9"/>
          <c:order val="9"/>
          <c:tx>
            <c:v>Failed</c:v>
          </c:tx>
          <c:spPr>
            <a:solidFill xmlns:a="http://schemas.openxmlformats.org/drawingml/2006/main">
              <a:srgbClr val="AC4B47"/>
            </a:solidFill>
          </c:spPr>
          <c:invertIfNegative val="0"/>
          <c:cat>
            <c:strRef>
              <c:f>'Chart Data'!$S$2:$S$4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Data'!$T$2:$T$4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0.00144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Galaxies</c:v>
          </c:tx>
          <c:spPr>
            <a:solidFill xmlns:a="http://schemas.openxmlformats.org/drawingml/2006/main">
              <a:srgbClr val="C18B28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Sparse disc sampling</c:v>
                </c:pt>
                <c:pt idx="1">
                  <c:v>Bar identification uncertain: small interval</c:v>
                </c:pt>
                <c:pt idx="2">
                  <c:v>Changing disc ellipticity</c:v>
                </c:pt>
                <c:pt idx="3">
                  <c:v>Disc PA varies across radius</c:v>
                </c:pt>
                <c:pt idx="4">
                  <c:v>No accepted bar; disc retained</c:v>
                </c:pt>
                <c:pt idx="5">
                  <c:v>Small disc</c:v>
                </c:pt>
                <c:pt idx="6">
                  <c:v>Disc interval fallback</c:v>
                </c:pt>
                <c:pt idx="7">
                  <c:v>Weaker accepted bar signature</c:v>
                </c:pt>
                <c:pt idx="8">
                  <c:v>Bar and disc intervals close</c:v>
                </c:pt>
                <c:pt idx="9">
                  <c:v>Large centre offset</c:v>
                </c:pt>
                <c:pt idx="10">
                  <c:v>Star mask removed in retry</c:v>
                </c:pt>
              </c:strCache>
            </c:strRef>
          </c:cat>
          <c:val>
            <c:numRef>
              <c:f>'Chart Data'!$B$2:$B$12</c:f>
              <c:numCache>
                <c:formatCode>0</c:formatCode>
                <c:ptCount val="11"/>
                <c:pt idx="0">
                  <c:v>1669</c:v>
                </c:pt>
                <c:pt idx="1">
                  <c:v>1447</c:v>
                </c:pt>
                <c:pt idx="2">
                  <c:v>1355</c:v>
                </c:pt>
                <c:pt idx="3">
                  <c:v>476</c:v>
                </c:pt>
                <c:pt idx="4">
                  <c:v>453</c:v>
                </c:pt>
                <c:pt idx="5">
                  <c:v>298</c:v>
                </c:pt>
                <c:pt idx="6">
                  <c:v>269</c:v>
                </c:pt>
                <c:pt idx="7">
                  <c:v>231</c:v>
                </c:pt>
                <c:pt idx="8">
                  <c:v>211</c:v>
                </c:pt>
                <c:pt idx="9">
                  <c:v>44</c:v>
                </c:pt>
                <c:pt idx="10">
                  <c:v>18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3780D-DBF3-4D8D-8713-73E7D8C8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Euclid MER VIS adaptive geometry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3730-1770-42DD-BDE7-778A2F3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A5232-5809-485B-AEBC-1836B4BC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2,777 galaxy cutouts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F50AA-BD08-4E46-BEE0-EC5A88C4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2773 disc measurements; 4 failures or exclusions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F4479-D450-47C2-8BDA-73212AE7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2320 accepted candidate bar measurements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22D46-AE76-4472-9068-FFCAFC18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Centres checked from the images. Disc and bar outcomes reported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C31B1-D2CC-4178-B063-68C3E697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Current run 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249054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45868-0925-4828-9BA3-7AF8A687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Fitting outcomes by counted quality flags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CD6B8-7D83-4567-A89B-164F2E80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030F5-FA5F-4C08-9F08-FF8BADF0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Percentage of all 2,777 galaxies. Face-on is informational.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9FFAB6A-09ED-4A2C-93DF-2F0D87FBD6B2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3b1e3e5602486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95067-1336-4294-A62A-E7F3FF5C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No flags: 93 (3.3%)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147F6-4417-480D-A2B0-52DBBBA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BB66"/>
                </a:solidFill>
                <a:latin typeface="Arial"/>
                <a:ea typeface="Arial"/>
                <a:cs typeface="Arial"/>
              </a:rPr>
              <a:t>1 flag: 591 (21.3%)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FDAB1-D655-415F-9D39-D9A68FA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9637"/>
                </a:solidFill>
                <a:latin typeface="Arial"/>
                <a:ea typeface="Arial"/>
                <a:cs typeface="Arial"/>
              </a:rPr>
              <a:t>2 flags: 931 (33.5%)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60B8E-86AF-45C8-A27E-0C8256D4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6B24"/>
                </a:solidFill>
                <a:latin typeface="Arial"/>
                <a:ea typeface="Arial"/>
                <a:cs typeface="Arial"/>
              </a:rPr>
              <a:t>3 flags: 748 (26.9%)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73F20-3201-4CC8-8A7B-CA060130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2441C"/>
                </a:solidFill>
                <a:latin typeface="Arial"/>
                <a:ea typeface="Arial"/>
                <a:cs typeface="Arial"/>
              </a:rPr>
              <a:t>4 flags: 297 (10.7%)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B2A81-274E-4354-A3E3-EFA41997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4E79"/>
                </a:solidFill>
                <a:latin typeface="Arial"/>
                <a:ea typeface="Arial"/>
                <a:cs typeface="Arial"/>
              </a:rPr>
              <a:t>5 flags: 67 (2.4%)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6E5C0-5576-41E2-8DDB-B20322D8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3B60"/>
                </a:solidFill>
                <a:latin typeface="Arial"/>
                <a:ea typeface="Arial"/>
                <a:cs typeface="Arial"/>
              </a:rPr>
              <a:t>6 flags: 39 (1.4%)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4667A-E3C1-4726-B05E-0171829E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A587A"/>
                </a:solidFill>
                <a:latin typeface="Arial"/>
                <a:ea typeface="Arial"/>
                <a:cs typeface="Arial"/>
              </a:rPr>
              <a:t>7 flags: 6 (0.2%)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057B6-ACFD-478D-AD67-72DB5F9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5050"/>
                </a:solidFill>
                <a:latin typeface="Arial"/>
                <a:ea typeface="Arial"/>
                <a:cs typeface="Arial"/>
              </a:rPr>
              <a:t>9 flags: 1 (&lt;0.1%)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ABB81-DA38-4E02-BF6D-270FBC67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3C38"/>
                </a:solidFill>
                <a:latin typeface="Arial"/>
                <a:ea typeface="Arial"/>
                <a:cs typeface="Arial"/>
              </a:rPr>
              <a:t>Failed: 4 (0.1%)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4C7E9-2A37-4B92-8016-0E22B48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Recovery and missing-bar warnings are counted. QI also includes partial cutout coverage.</a:t>
            </a:r>
          </a:p>
        </p:txBody>
      </p:sp>
    </p:spTree>
    <p:extLst>
      <p:ext uri="{BB962C8B-B14F-4D97-AF65-F5344CB8AC3E}">
        <p14:creationId xmlns:p14="http://schemas.microsoft.com/office/powerpoint/2010/main" val="1679798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C1D94-43FC-4625-8870-ACE5E236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Current quality issues and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877EC-DFCC-445F-808F-6249575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 / 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95AB75E-C4EF-4687-8C4F-3A750EA71D58}"/>
              </a:ext>
            </a:extLst>
          </p:cNvPr>
          <p:cNvGraphicFramePr/>
          <p:nvPr/>
        </p:nvGraphicFramePr>
        <p:xfrm>
          <a:off xmlns:a="http://schemas.openxmlformats.org/drawingml/2006/main" x="457200" y="166687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cf7abbb19a403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F3C05-07D9-4A5D-9267-D5F6125B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59 nearly face-on fits: informational, not a defect. Disc PA instability is ignored for them.</a:t>
            </a:r>
          </a:p>
        </p:txBody>
      </p:sp>
    </p:spTree>
    <p:extLst>
      <p:ext uri="{BB962C8B-B14F-4D97-AF65-F5344CB8AC3E}">
        <p14:creationId xmlns:p14="http://schemas.microsoft.com/office/powerpoint/2010/main" val="1702871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7029A-4F6B-475C-965F-A78B1B1A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Comparison with Euclid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BBD3A-AD0B-408B-B91C-87D820AD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4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A4464-D3CF-459B-BE45-EF95D4752E3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Median absolute difference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Current run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Adjusted Euclid detection PA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8.05°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Detection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6.52°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Sérsic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5.50°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5BD06-EDB0-43B0-B595-11165DE2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Codex PA: North towards East. N = 0°, E = 90°, modulo 180°.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B5F02-F8E6-4113-9448-038EBACE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Counterclockwise on a North-up, East-left image. WCS handles local orientation.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7D06F-2E85-4E0B-B86A-ED617B79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Euclid comparison retains the adopted additional +90° after WCS conversion. A detection-image y-axis reference is plausible but unconfirmed.</a:t>
            </a:r>
          </a:p>
        </p:txBody>
      </p:sp>
    </p:spTree>
    <p:extLst>
      <p:ext uri="{BB962C8B-B14F-4D97-AF65-F5344CB8AC3E}">
        <p14:creationId xmlns:p14="http://schemas.microsoft.com/office/powerpoint/2010/main" val="383001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9E1E4-EF59-413A-9956-7B2989E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centres are measured and checked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755B7-0816-45B3-9F36-D1FEE023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C798D-7A41-4A4F-B0DA-89A9449B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 catalogue position can lie on off-centre light rather than the galaxy centre.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C3253-CF35-4BF4-B3CC-FC2AA21A0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3c6670f194643"/>
          <a:stretch xmlns:a="http://schemas.openxmlformats.org/drawingml/2006/main"/>
        </p:blipFill>
        <p:spPr>
          <a:xfrm xmlns:a="http://schemas.openxmlformats.org/drawingml/2006/main">
            <a:off x="1231167" y="1952625"/>
            <a:ext cx="4567115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31463-FA5D-4218-A31D-AC52EC7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White x: catalogue position.</a:t>
            </a:r>
          </a:p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Red +: fitted disc centre.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B7F90-5D3E-4BD4-B25C-1FA0359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This example: 17.32 arcsec shift.</a:t>
            </a:r>
          </a:p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Sample median: 0.083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4D64C-192E-4C4A-BDF9-C3B024C3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Large offsets and centre changes across radius remain flagged for review. The catalogue and fitted positions are both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BA663-94F7-47EC-9A82-181619E0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Synthetic check recovered the known centre within 0.01 pixel and PA/inclination within 0.01°.</a:t>
            </a:r>
          </a:p>
        </p:txBody>
      </p:sp>
    </p:spTree>
    <p:extLst>
      <p:ext uri="{BB962C8B-B14F-4D97-AF65-F5344CB8AC3E}">
        <p14:creationId xmlns:p14="http://schemas.microsoft.com/office/powerpoint/2010/main" val="392763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3FFD1-3DB5-4455-8AC0-40B49850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review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3C77C-9505-40D2-B726-FB39A074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6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87C17-8051-45A2-9BD3-719948E2652C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47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Review group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PNG reports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2694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NoQI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2777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E2273-2E09-4460-9361-F39D76C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47 PDFs; 463 pages; six galaxies per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415A5-7FBC-42A6-A0D6-0CB32D8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Each card includes selected ellipses, profiles, angles, Euclid deltas, centre offset and recovery method. No accepted bar leaves bar PA blank.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F4E3B-DCF2-4D7F-BBFC-D45768E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Examples show individual review issues. Isolated examples are used where available.</a:t>
            </a:r>
          </a:p>
        </p:txBody>
      </p:sp>
    </p:spTree>
    <p:extLst>
      <p:ext uri="{BB962C8B-B14F-4D97-AF65-F5344CB8AC3E}">
        <p14:creationId xmlns:p14="http://schemas.microsoft.com/office/powerpoint/2010/main" val="463642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53575-92A5-4556-B4CC-C67673F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Sparse disc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760CF-7A9D-4400-81DC-442333F4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7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4762A-D6DB-4B09-8FBF-C332DCC0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A12F1-DB55-4CCE-B406-13A50CF4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-518633776290631360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4F33B-B3EA-4B63-9973-AB34FA904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553c4675f40e6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490F8-8F6E-4796-9BA8-86CC3B21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113.69°; bar 113.87°; i 49.48°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0.15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15FAB-C020-45DF-9D26-3529DF99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-591772188508612550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CD019-AA3D-4AA8-A5DD-F39C842A9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83f1e74514539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DB3C8-D0F0-4C9C-877B-D29897D4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86.44°; bar 164.63°; i 35.70°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4 accepted disc ellipses; centre shift 0.03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FC2E6-4006-48BC-8666-611353B0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Too few accepted disc samples (&lt;6), or a radial gap &gt;50% of span. PA scatter is retained, but no instability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649270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28FF5-E8E5-4CE0-A753-E4875E46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Bar identification uncertain: small interval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68655-A930-458A-8358-FCFE3FCF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8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A0517-447C-44B6-9F3F-4A7C1EA0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56C33-6F41-418F-9C8B-587E1AC4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-518659917291205827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99A27-CA09-4DCD-B5AE-5875635AE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a315b1ce045d4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2B707-6FC6-4477-91A8-0EB0B554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67.98°; bar 63.85°;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0.07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E1FF1-E71F-454A-A68D-E1054826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-518003489287870292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CAB0D-3414-4037-ABB4-45751118B4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050be30c04207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80FF7-EC79-4AF3-A17B-4F0AB876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87.46°; bar 167.23°; i 31.57°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0.04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6C89B-5333-48D2-9AEB-DDE846C3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Candidate interval ends below 1.5 arcsec. This may be an unresolved bar or a different structure; bar identification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1910848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266B5-0CF9-4A3C-8A22-A939F155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PA varies across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08084-143B-4300-98D9-4F6E3F45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9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6AC5F-70C2-4DEC-B046-0FF66B99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8DE54-C6BB-46FE-9B7D-41F16AE8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-601121275504424227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81517-294D-43AF-A5AB-D1734512F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75aaf0aa34078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9F54F-7F3D-4D88-87D4-AF8B9E0C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60.75°; bar 20.23°; i 40.93°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0.04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3AB1A-01FF-43B4-8635-8DFAC482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-610687143492806705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715B8-AB64-4BD0-9DA4-CA1423AE2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ce10d0f7f453b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35EC5-783D-4909-8921-06D832BD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158.36°; bar 125.23°;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0.23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EDD30-3CBB-4208-ADFC-A20EC23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At least 6 accepted disc ellipses, no radial gap &gt;50% of span, and PA scatter &gt;10°. Correlated samples: a review screen, not a confidence test.</a:t>
            </a:r>
          </a:p>
        </p:txBody>
      </p:sp>
    </p:spTree>
    <p:extLst>
      <p:ext uri="{BB962C8B-B14F-4D97-AF65-F5344CB8AC3E}">
        <p14:creationId xmlns:p14="http://schemas.microsoft.com/office/powerpoint/2010/main" val="671587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E3814-DE1D-4444-9490-2CA156C4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Changing disc ellipticity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FA802-0DDB-42F8-9150-B9F9362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CCD41-1F21-4108-AB28-EE2724B5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C2CF0-1F65-4109-89CB-2D1BC2C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-591287408514481131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78BDE-654B-4714-A2A7-F4FE689EAD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1fba7e12e43d9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E940D-8167-4AAF-9E8E-A8C9EA06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17.53°; bar 22.81°; i 36.63°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F0B06-F999-419F-A6EA-2AC4CAD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-566750185501100067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20531-450B-43F9-9978-CB4F1CC13B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7a5ab8a004f41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059B1-B936-46B1-A104-D6638218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102.79°; bar 96.43°; i 52.54°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8CC2D-D5B0-473F-9C34-9C74D67C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38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1936287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3DC37-F76F-4213-92EB-BF0500CD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Weaker accepted bar signature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5EB61-3211-4ADB-94E0-BBB6827B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0B181-B0DB-4311-9828-8E4CCE6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A4DDC-862C-42D1-BF12-ED16AB08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-555209522496440415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94692-8802-4DBD-A1DE-7F53443CEE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24fc31a8d4e98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F7704-5706-4E6B-A9CB-AF086C99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100.26°; bar 105.11°; i 42.90°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DDD6A-8533-46F2-9692-765E31D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-567651923481293863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B64BC-8411-429E-9DC8-39417B294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5d4b883a744cc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36CF3-FAF2-4F62-9A68-219AFE1E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133.58°; bar 23.00°; i 25.24°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0.17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15699-192A-4D3C-8FB4-6D264AFA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Class A: peak ellipticity ≥0.30, drop ≥0.10, PA scatter ≤5°. Class B passes the broader test but misses ≥1 A threshold. Neither confirms a bar.</a:t>
            </a:r>
          </a:p>
        </p:txBody>
      </p:sp>
    </p:spTree>
    <p:extLst>
      <p:ext uri="{BB962C8B-B14F-4D97-AF65-F5344CB8AC3E}">
        <p14:creationId xmlns:p14="http://schemas.microsoft.com/office/powerpoint/2010/main" val="2022655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8B1FF-CA73-4286-BC13-4890522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bar; disc retained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4AA2D-8000-450C-A00F-D5F98BEB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87FE0-5523-4FA7-A67F-15B25F2B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2FABF-58E4-4F8B-9593-08BD0D28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2693239635649457485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C267F-2986-4FD7-9A04-AB09B4A32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eeb9b109f4476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2F10F-FF9E-423D-A409-8081ABEE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115.27°; bar unavailable; i 57.11°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0.21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E6DE2-30F7-43A2-B48D-65511A6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-600909396508240903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D96E3-CB31-4EDD-B155-F337CD5018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88e7c7f2d4e0a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C1A3E-AC79-433B-A6F1-68435ADE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95.79°; bar unavailable; i 55.30°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0.12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66BD9-1F0B-4C0B-A15D-00DFD8EB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57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13339936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15062-E750-4E9D-929E-66D7D9A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A3C6-3A2E-496C-B937-96F3FAFA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666CF-E94C-4550-8E75-8E1BE450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Actual failures or exclusions. No geometry is invented to fill missing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BE2F1-A41F-4AC1-A190-22F8D87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-586374330510251740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3EE87-1630-42D5-86A8-221BD035C8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3c650295747e0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16ABD-B647-44E5-8211-6D45B5BD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0D50B-A636-43EB-ADFF-861A59E6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-524824554283124036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764EE-6315-4AC5-8E41-1B6A3482C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0042523534f7f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CFFD7-B7A5-441F-88FE-81FE161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Rejected trial centred on a foreground star.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41541-8E79-4ACE-96F1-AD066976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3466097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9D23D-3074-48AA-BB1D-D0747601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165DF-3D9E-4862-A5E3-93E6C563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BDB9F-D1E8-4907-8532-D9875FCB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Actual failures or exclusions. No geometry is invented to fill missing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319E9-EA15-4CF2-BEE6-8F696479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2645436353651870062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D9717-4A3F-41E7-9586-1CF45AFA8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f993dcce14f12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E57EC-7A10-4605-958C-3F9BC06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80C4E-31A7-413F-B2C3-1807DBD3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2697242050653408730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2964-9B5F-4434-9E0F-1B00100654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a3b3d95114428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AD261-B2F6-4D34-A2A0-1CBB349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Only an unresolved core was fitted.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48E0E-0B60-45B6-8383-B370A0F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769488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2026-10-20T17:06:38.3670000Z</dcterms:created>
  <dcterms:modified xsi:type="dcterms:W3CDTF">2026-10-20T17:06:38.3670000Z</dcterms:modified>
</coreProperties>
</file>