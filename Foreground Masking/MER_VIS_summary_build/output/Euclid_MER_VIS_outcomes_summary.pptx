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adb87daf46a42be" /><Relationship Type="http://schemas.openxmlformats.org/officeDocument/2006/relationships/extended-properties" Target="/docProps/app.xml" Id="R88549f18a31e46b3" /><Relationship Type="http://schemas.openxmlformats.org/officeDocument/2006/relationships/officeDocument" Target="/ppt/presentation.xml" Id="R0800058b5c4648e9" /></Relationships>
</file>

<file path=ppt/presentation.xml><?xml version="1.0" encoding="utf-8"?>
<p:presentation xmlns:p="http://schemas.openxmlformats.org/presentationml/2006/main">
  <p:sldMasterIdLst>
    <p:sldMasterId xmlns:r="http://schemas.openxmlformats.org/officeDocument/2006/relationships" id="2147483648" r:id="Ra1c57cbb36c24b06"/>
  </p:sldMasterIdLst>
  <p:notesMasterIdLst>
    <p:notesMasterId xmlns:r="http://schemas.openxmlformats.org/officeDocument/2006/relationships" r:id="Rda071c6935c54b29"/>
  </p:notesMasterIdLst>
  <p:sldIdLst>
    <p:sldId xmlns:r="http://schemas.openxmlformats.org/officeDocument/2006/relationships" id="256" r:id="Rd5b2d33b639d4ab4"/>
    <p:sldId xmlns:r="http://schemas.openxmlformats.org/officeDocument/2006/relationships" id="257" r:id="R736db64d080a4f8b"/>
    <p:sldId xmlns:r="http://schemas.openxmlformats.org/officeDocument/2006/relationships" id="258" r:id="R7bdf00b2878a4ca7"/>
    <p:sldId xmlns:r="http://schemas.openxmlformats.org/officeDocument/2006/relationships" id="259" r:id="R783c6c247ed84fe8"/>
    <p:sldId xmlns:r="http://schemas.openxmlformats.org/officeDocument/2006/relationships" id="260" r:id="R026a9e8c553b4d09"/>
    <p:sldId xmlns:r="http://schemas.openxmlformats.org/officeDocument/2006/relationships" id="261" r:id="R3027e895aa3e4f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d6fbba12894490" /><Relationship Type="http://schemas.openxmlformats.org/officeDocument/2006/relationships/slideMaster" Target="/ppt/slideMasters/slideMaster1.xml" Id="Ra1c57cbb36c24b06" /><Relationship Type="http://schemas.openxmlformats.org/officeDocument/2006/relationships/notesMaster" Target="/ppt/notesMasters/notesMaster1.xml" Id="Rda071c6935c54b29" /><Relationship Type="http://schemas.openxmlformats.org/officeDocument/2006/relationships/presProps" Target="/ppt/presProps.xml" Id="Rb7954b19f64a40f0" /><Relationship Type="http://schemas.openxmlformats.org/officeDocument/2006/relationships/tableStyles" Target="/ppt/tableStyles.xml" Id="R40db559419fb4b3e" /><Relationship Type="http://schemas.openxmlformats.org/officeDocument/2006/relationships/slide" Target="/ppt/slides/slide1.xml" Id="Rd5b2d33b639d4ab4" /><Relationship Type="http://schemas.openxmlformats.org/officeDocument/2006/relationships/slide" Target="/ppt/slides/slide2.xml" Id="R736db64d080a4f8b" /><Relationship Type="http://schemas.openxmlformats.org/officeDocument/2006/relationships/slide" Target="/ppt/slides/slide3.xml" Id="R7bdf00b2878a4ca7" /><Relationship Type="http://schemas.openxmlformats.org/officeDocument/2006/relationships/slide" Target="/ppt/slides/slide4.xml" Id="R783c6c247ed84fe8" /><Relationship Type="http://schemas.openxmlformats.org/officeDocument/2006/relationships/slide" Target="/ppt/slides/slide5.xml" Id="R026a9e8c553b4d09" /><Relationship Type="http://schemas.openxmlformats.org/officeDocument/2006/relationships/slide" Target="/ppt/slides/slide6.xml" Id="R3027e895aa3e4f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4c5dd013704d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6e833b6eba4b99" /><Relationship Type="http://schemas.openxmlformats.org/officeDocument/2006/relationships/notesMaster" Target="/ppt/notesMasters/notesMaster1.xml" Id="R85c19022d2234a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7220a6b3114e59" /><Relationship Type="http://schemas.openxmlformats.org/officeDocument/2006/relationships/notesMaster" Target="/ppt/notesMasters/notesMaster1.xml" Id="Rf9acff98e29547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c75314e2484814" /><Relationship Type="http://schemas.openxmlformats.org/officeDocument/2006/relationships/notesMaster" Target="/ppt/notesMasters/notesMaster1.xml" Id="R1b85b3d686a748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822e4c2d0b4a24" /><Relationship Type="http://schemas.openxmlformats.org/officeDocument/2006/relationships/notesMaster" Target="/ppt/notesMasters/notesMaster1.xml" Id="Rc510f59f010849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caa384bc4a4289" /><Relationship Type="http://schemas.openxmlformats.org/officeDocument/2006/relationships/notesMaster" Target="/ppt/notesMasters/notesMaster1.xml" Id="R8652a88d229341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9eff3adefc49ce" /><Relationship Type="http://schemas.openxmlformats.org/officeDocument/2006/relationships/notesMaster" Target="/ppt/notesMasters/notesMaster1.xml" Id="R2f4736ebf06240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The +90-degree adjustment is the adopted project rule for the current Q1 sample.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790b1bc4b0461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ce80be97de48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816ff4824c44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3b9fce4aec4e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e611d8b0d845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527d1ef7e247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B559CD-20CD-4AA8-8344-FF22711CF6C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04B544-66D6-4919-A152-34A457013C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BE0F8A-7073-46ED-B497-B1FC8DBE1A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52CCBC-A520-4E70-824D-D358C83A1C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A595417-844E-4469-892E-13CF03B7C5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38F2CD-A579-4F9E-BDA9-69BD265FC2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B3D385-72C7-4875-B9F6-5D1BA9ED73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5B75078-22F0-4CF8-8A71-C238B608E9D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0753B8-9F0D-4BF4-B763-08E1C8EA18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19C96D-F55E-4D4E-B43E-014AEF1AE5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c7b99aae1e409e" /><Relationship Type="http://schemas.openxmlformats.org/officeDocument/2006/relationships/slideLayout" Target="/ppt/slideLayouts/slideLayout1.xml" Id="Rf90b416e2472440a" /><Relationship Type="http://schemas.openxmlformats.org/officeDocument/2006/relationships/slideLayout" Target="/ppt/slideLayouts/slideLayout2.xml" Id="R8af4fd1a440f4061" /><Relationship Type="http://schemas.openxmlformats.org/officeDocument/2006/relationships/slideLayout" Target="/ppt/slideLayouts/slideLayout3.xml" Id="Rfb69fb21238c45b6" /><Relationship Type="http://schemas.openxmlformats.org/officeDocument/2006/relationships/slideLayout" Target="/ppt/slideLayouts/slideLayout4.xml" Id="Ra1f26b9df4194f41" /><Relationship Type="http://schemas.openxmlformats.org/officeDocument/2006/relationships/slideLayout" Target="/ppt/slideLayouts/slideLayout5.xml" Id="R19f4f4ec35054a72" /><Relationship Type="http://schemas.openxmlformats.org/officeDocument/2006/relationships/slideLayout" Target="/ppt/slideLayouts/slideLayout6.xml" Id="R59953a78365448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0b416e2472440a"/>
    <p:sldLayoutId xmlns:r="http://schemas.openxmlformats.org/officeDocument/2006/relationships" id="2147483650" r:id="R8af4fd1a440f4061"/>
    <p:sldLayoutId xmlns:r="http://schemas.openxmlformats.org/officeDocument/2006/relationships" id="2147483651" r:id="Rfb69fb21238c45b6"/>
    <p:sldLayoutId xmlns:r="http://schemas.openxmlformats.org/officeDocument/2006/relationships" id="2147483652" r:id="Ra1f26b9df4194f41"/>
    <p:sldLayoutId xmlns:r="http://schemas.openxmlformats.org/officeDocument/2006/relationships" id="2147483653" r:id="R19f4f4ec35054a72"/>
    <p:sldLayoutId xmlns:r="http://schemas.openxmlformats.org/officeDocument/2006/relationships" id="2147483654" r:id="R59953a78365448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ce0e2d070848de" /><Relationship Type="http://schemas.openxmlformats.org/officeDocument/2006/relationships/notesSlide" Target="/ppt/notesSlides/notesSlide1.xml" Id="R8df745fe620344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0f3d6428779497d" /><Relationship Type="http://schemas.openxmlformats.org/officeDocument/2006/relationships/chart" Target="/ppt/slides/charts/chart1.xml" Id="R458a45aeac3846c3" /><Relationship Type="http://schemas.openxmlformats.org/officeDocument/2006/relationships/notesSlide" Target="/ppt/notesSlides/notesSlide2.xml" Id="Rec344e913aa04e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69f74375c9456c" /><Relationship Type="http://schemas.openxmlformats.org/officeDocument/2006/relationships/notesSlide" Target="/ppt/notesSlides/notesSlide3.xml" Id="Reb587d4d57f044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936db9d7654a9b" /><Relationship Type="http://schemas.openxmlformats.org/officeDocument/2006/relationships/notesSlide" Target="/ppt/notesSlides/notesSlide4.xml" Id="R2fec54b97df740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d9aba7d63684877" /><Relationship Type="http://schemas.openxmlformats.org/officeDocument/2006/relationships/image" Target="/ppt/media/image.png" Id="Rfbfcd63ef6774c6b" /><Relationship Type="http://schemas.openxmlformats.org/officeDocument/2006/relationships/notesSlide" Target="/ppt/notesSlides/notesSlide5.xml" Id="R09d574f3221a44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d4b53ed8164830" /><Relationship Type="http://schemas.openxmlformats.org/officeDocument/2006/relationships/notesSlide" Target="/ppt/notesSlides/notesSlide6.xml" Id="R25e648be2d6d458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Ref>
              <c:f>'Chart Data'!$A$2:$A$4</c:f>
              <c:strCache>
                <c:ptCount val="3"/>
                <c:pt idx="0">
                  <c:v>No geometry flags</c:v>
                </c:pt>
                <c:pt idx="1">
                  <c:v>Flagged fit</c:v>
                </c:pt>
                <c:pt idx="2">
                  <c:v>Failed fit</c:v>
                </c:pt>
              </c:strCache>
            </c:strRef>
          </c:cat>
          <c:val>
            <c:numRef>
              <c:f>'Chart Data'!$B$2:$B$4</c:f>
              <c:numCache>
                <c:formatCode>0</c:formatCode>
                <c:ptCount val="3"/>
                <c:pt idx="0">
                  <c:v>546</c:v>
                </c:pt>
                <c:pt idx="1">
                  <c:v>1661</c:v>
                </c:pt>
                <c:pt idx="2">
                  <c:v>570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6B3BC0-908B-4E97-B3B7-F1071A20191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6F8E8C80-7A33-4640-BB9F-99389768E02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987DC75F-3304-4546-8565-65F038722746}"/>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EAC71294-5ECE-4423-9A65-0940876AC0C2}"/>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F66316BF-A1EF-471B-8C83-5AFFC645438F}"/>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DCA697BA-2248-413C-A93C-3AB960A41F8B}"/>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19 October 2026</a:t>
            </a:r>
          </a:p>
        </p:txBody>
      </p:sp>
    </p:spTree>
    <p:extLst>
      <p:ext uri="{BB962C8B-B14F-4D97-AF65-F5344CB8AC3E}">
        <p14:creationId xmlns:p14="http://schemas.microsoft.com/office/powerpoint/2010/main" val="19055117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1ECCCB-76DB-4FAF-B1A6-8FFD359A986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a:t>
            </a:r>
          </a:p>
        </p:txBody>
      </p:sp>
      <p:sp>
        <p:nvSpPr>
          <p:cNvPr id="2" name="">
            <a:extLst xmlns:a="http://schemas.openxmlformats.org/drawingml/2006/main">
              <a:ext uri="{FF2B5EF4-FFF2-40B4-BE49-F238E27FC236}">
                <a16:creationId xmlns:a16="http://schemas.microsoft.com/office/drawing/2014/main" id="{4C182695-9BA0-42CB-8728-E99CF268E87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graphicFrame>
        <p:nvGraphicFramePr>
          <p:cNvPr id="3" name="Chart">
            <a:extLst xmlns:a="http://schemas.openxmlformats.org/drawingml/2006/main">
              <a:ext uri="{FF2B5EF4-FFF2-40B4-BE49-F238E27FC236}">
                <a16:creationId xmlns:a16="http://schemas.microsoft.com/office/drawing/2014/main" id="{7575C9E0-9789-417E-835E-36093C723183}"/>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458a45aeac3846c3"/>
          </a:graphicData>
        </a:graphic>
      </p:graphicFrame>
      <p:sp>
        <p:nvSpPr>
          <p:cNvPr id="4" name="">
            <a:extLst xmlns:a="http://schemas.openxmlformats.org/drawingml/2006/main">
              <a:ext uri="{FF2B5EF4-FFF2-40B4-BE49-F238E27FC236}">
                <a16:creationId xmlns:a16="http://schemas.microsoft.com/office/drawing/2014/main" id="{A69CFC83-8025-4956-8BBC-E6709B21835E}"/>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2,207 provisional fits</a:t>
            </a:r>
          </a:p>
        </p:txBody>
      </p:sp>
      <p:sp>
        <p:nvSpPr>
          <p:cNvPr id="5" name="">
            <a:extLst xmlns:a="http://schemas.openxmlformats.org/drawingml/2006/main">
              <a:ext uri="{FF2B5EF4-FFF2-40B4-BE49-F238E27FC236}">
                <a16:creationId xmlns:a16="http://schemas.microsoft.com/office/drawing/2014/main" id="{EE51E22E-A8E2-44C6-ADFD-9E23C4307DFE}"/>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79.5% of the sample</a:t>
            </a:r>
          </a:p>
        </p:txBody>
      </p:sp>
      <p:sp>
        <p:nvSpPr>
          <p:cNvPr id="6" name="">
            <a:extLst xmlns:a="http://schemas.openxmlformats.org/drawingml/2006/main">
              <a:ext uri="{FF2B5EF4-FFF2-40B4-BE49-F238E27FC236}">
                <a16:creationId xmlns:a16="http://schemas.microsoft.com/office/drawing/2014/main" id="{1C296BDC-0D7C-4053-A35D-641CD95327E6}"/>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latin typeface="Arial"/>
                <a:ea typeface="Arial"/>
                <a:cs typeface="Arial"/>
              </a:defRPr>
            </a:defPPr>
            <a:lvl1pPr>
              <a:defRPr sz="2250" b="1">
                <a:solidFill>
                  <a:srgbClr val="A43C38"/>
                </a:solidFill>
                <a:latin typeface="Arial"/>
                <a:ea typeface="Arial"/>
                <a:cs typeface="Arial"/>
              </a:defRPr>
            </a:lvl1pPr>
            <a:lvl2pPr>
              <a:defRPr sz="2250" b="1">
                <a:solidFill>
                  <a:srgbClr val="A43C38"/>
                </a:solidFill>
                <a:latin typeface="Arial"/>
                <a:ea typeface="Arial"/>
                <a:cs typeface="Arial"/>
              </a:defRPr>
            </a:lvl2pPr>
            <a:lvl3pPr>
              <a:defRPr sz="2250" b="1">
                <a:solidFill>
                  <a:srgbClr val="A43C38"/>
                </a:solidFill>
                <a:latin typeface="Arial"/>
                <a:ea typeface="Arial"/>
                <a:cs typeface="Arial"/>
              </a:defRPr>
            </a:lvl3pPr>
            <a:lvl4pPr>
              <a:defRPr sz="2250" b="1">
                <a:solidFill>
                  <a:srgbClr val="A43C38"/>
                </a:solidFill>
                <a:latin typeface="Arial"/>
                <a:ea typeface="Arial"/>
                <a:cs typeface="Arial"/>
              </a:defRPr>
            </a:lvl4pPr>
            <a:lvl5pPr>
              <a:defRPr sz="2250" b="1">
                <a:solidFill>
                  <a:srgbClr val="A43C38"/>
                </a:solidFill>
                <a:latin typeface="Arial"/>
                <a:ea typeface="Arial"/>
                <a:cs typeface="Arial"/>
              </a:defRPr>
            </a:lvl5pPr>
            <a:lvl6pPr>
              <a:defRPr sz="2250" b="1">
                <a:solidFill>
                  <a:srgbClr val="A43C38"/>
                </a:solidFill>
                <a:latin typeface="Arial"/>
                <a:ea typeface="Arial"/>
                <a:cs typeface="Arial"/>
              </a:defRPr>
            </a:lvl6pPr>
            <a:lvl7pPr>
              <a:defRPr sz="2250" b="1">
                <a:solidFill>
                  <a:srgbClr val="A43C38"/>
                </a:solidFill>
                <a:latin typeface="Arial"/>
                <a:ea typeface="Arial"/>
                <a:cs typeface="Arial"/>
              </a:defRPr>
            </a:lvl7pPr>
            <a:lvl8pPr>
              <a:defRPr sz="2250" b="1">
                <a:solidFill>
                  <a:srgbClr val="A43C38"/>
                </a:solidFill>
                <a:latin typeface="Arial"/>
                <a:ea typeface="Arial"/>
                <a:cs typeface="Arial"/>
              </a:defRPr>
            </a:lvl8pPr>
            <a:lvl9pPr>
              <a:defRPr sz="2250" b="1">
                <a:solidFill>
                  <a:srgbClr val="A43C38"/>
                </a:solidFill>
                <a:latin typeface="Arial"/>
                <a:ea typeface="Arial"/>
                <a:cs typeface="Arial"/>
              </a:defRPr>
            </a:lvl9pPr>
          </a:lstStyle>
          <a:p xmlns:a="http://schemas.openxmlformats.org/drawingml/2006/main">
            <a:pPr>
              <a:defRPr sz="2250" b="1">
                <a:solidFill>
                  <a:srgbClr val="A43C38"/>
                </a:solidFill>
                <a:latin typeface="Arial"/>
                <a:ea typeface="Arial"/>
                <a:cs typeface="Arial"/>
              </a:defRPr>
            </a:pPr>
            <a:r>
              <a:rPr sz="2250" b="1">
                <a:solidFill>
                  <a:srgbClr val="A43C38"/>
                </a:solidFill>
                <a:latin typeface="Arial"/>
                <a:ea typeface="Arial"/>
                <a:cs typeface="Arial"/>
              </a:rPr>
              <a:t>570 failed fits</a:t>
            </a:r>
          </a:p>
        </p:txBody>
      </p:sp>
      <p:sp>
        <p:nvSpPr>
          <p:cNvPr id="7" name="">
            <a:extLst xmlns:a="http://schemas.openxmlformats.org/drawingml/2006/main">
              <a:ext uri="{FF2B5EF4-FFF2-40B4-BE49-F238E27FC236}">
                <a16:creationId xmlns:a16="http://schemas.microsoft.com/office/drawing/2014/main" id="{EF943F1C-A297-42A0-B0B1-91E749759C98}"/>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20.5% of the sample</a:t>
            </a:r>
          </a:p>
        </p:txBody>
      </p:sp>
      <p:sp>
        <p:nvSpPr>
          <p:cNvPr id="8" name="">
            <a:extLst xmlns:a="http://schemas.openxmlformats.org/drawingml/2006/main">
              <a:ext uri="{FF2B5EF4-FFF2-40B4-BE49-F238E27FC236}">
                <a16:creationId xmlns:a16="http://schemas.microsoft.com/office/drawing/2014/main" id="{9A301C9E-D2AF-4FCC-AA74-289E13E8A4B1}"/>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A completed fit still requires physical review of the selected disc and bar.</a:t>
            </a:r>
          </a:p>
        </p:txBody>
      </p:sp>
    </p:spTree>
    <p:extLst>
      <p:ext uri="{BB962C8B-B14F-4D97-AF65-F5344CB8AC3E}">
        <p14:creationId xmlns:p14="http://schemas.microsoft.com/office/powerpoint/2010/main" val="1538801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B018A5-8258-425F-B635-258E58A5700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failed fits</a:t>
            </a:r>
          </a:p>
        </p:txBody>
      </p:sp>
      <p:sp>
        <p:nvSpPr>
          <p:cNvPr id="2" name="">
            <a:extLst xmlns:a="http://schemas.openxmlformats.org/drawingml/2006/main">
              <a:ext uri="{FF2B5EF4-FFF2-40B4-BE49-F238E27FC236}">
                <a16:creationId xmlns:a16="http://schemas.microsoft.com/office/drawing/2014/main" id="{DB7F5E6C-CCD3-423F-9A77-5DAE08A2FF6F}"/>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graphicFrame>
        <p:nvGraphicFramePr>
          <p:cNvPr id="3" name="">
            <a:extLst xmlns:a="http://schemas.openxmlformats.org/drawingml/2006/main">
              <a:ext uri="{FF2B5EF4-FFF2-40B4-BE49-F238E27FC236}">
                <a16:creationId xmlns:a16="http://schemas.microsoft.com/office/drawing/2014/main" id="{258DB346-CE85-48DB-98DE-48B38319A648}"/>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latin typeface="Arial"/>
                          <a:ea typeface="Arial"/>
                          <a:cs typeface="Aria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latin typeface="Arial"/>
                          <a:ea typeface="Arial"/>
                          <a:cs typeface="Aria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0ACA17D-DD38-4497-B31A-2FA578F6BBC9}"/>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Flags overlap</a:t>
            </a:r>
          </a:p>
        </p:txBody>
      </p:sp>
      <p:sp>
        <p:nvSpPr>
          <p:cNvPr id="5" name="">
            <a:extLst xmlns:a="http://schemas.openxmlformats.org/drawingml/2006/main">
              <a:ext uri="{FF2B5EF4-FFF2-40B4-BE49-F238E27FC236}">
                <a16:creationId xmlns:a16="http://schemas.microsoft.com/office/drawing/2014/main" id="{D46E4463-5971-46BA-B868-336E812E714B}"/>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Counts refer to the 2,207 fits.</a:t>
            </a:r>
          </a:p>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They cannot be added.</a:t>
            </a:r>
          </a:p>
        </p:txBody>
      </p:sp>
      <p:sp>
        <p:nvSpPr>
          <p:cNvPr id="6" name="">
            <a:extLst xmlns:a="http://schemas.openxmlformats.org/drawingml/2006/main">
              <a:ext uri="{FF2B5EF4-FFF2-40B4-BE49-F238E27FC236}">
                <a16:creationId xmlns:a16="http://schemas.microsoft.com/office/drawing/2014/main" id="{C8C932DE-4919-4187-BBAA-88B4CF4C8FA3}"/>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latin typeface="Arial"/>
                <a:ea typeface="Arial"/>
                <a:cs typeface="Arial"/>
              </a:defRPr>
            </a:defPPr>
            <a:lvl1pPr>
              <a:defRPr sz="2250" b="1">
                <a:solidFill>
                  <a:srgbClr val="142633"/>
                </a:solidFill>
                <a:latin typeface="Arial"/>
                <a:ea typeface="Arial"/>
                <a:cs typeface="Arial"/>
              </a:defRPr>
            </a:lvl1pPr>
            <a:lvl2pPr>
              <a:defRPr sz="2250" b="1">
                <a:solidFill>
                  <a:srgbClr val="142633"/>
                </a:solidFill>
                <a:latin typeface="Arial"/>
                <a:ea typeface="Arial"/>
                <a:cs typeface="Arial"/>
              </a:defRPr>
            </a:lvl2pPr>
            <a:lvl3pPr>
              <a:defRPr sz="2250" b="1">
                <a:solidFill>
                  <a:srgbClr val="142633"/>
                </a:solidFill>
                <a:latin typeface="Arial"/>
                <a:ea typeface="Arial"/>
                <a:cs typeface="Arial"/>
              </a:defRPr>
            </a:lvl3pPr>
            <a:lvl4pPr>
              <a:defRPr sz="2250" b="1">
                <a:solidFill>
                  <a:srgbClr val="142633"/>
                </a:solidFill>
                <a:latin typeface="Arial"/>
                <a:ea typeface="Arial"/>
                <a:cs typeface="Arial"/>
              </a:defRPr>
            </a:lvl4pPr>
            <a:lvl5pPr>
              <a:defRPr sz="2250" b="1">
                <a:solidFill>
                  <a:srgbClr val="142633"/>
                </a:solidFill>
                <a:latin typeface="Arial"/>
                <a:ea typeface="Arial"/>
                <a:cs typeface="Arial"/>
              </a:defRPr>
            </a:lvl5pPr>
            <a:lvl6pPr>
              <a:defRPr sz="2250" b="1">
                <a:solidFill>
                  <a:srgbClr val="142633"/>
                </a:solidFill>
                <a:latin typeface="Arial"/>
                <a:ea typeface="Arial"/>
                <a:cs typeface="Arial"/>
              </a:defRPr>
            </a:lvl6pPr>
            <a:lvl7pPr>
              <a:defRPr sz="2250" b="1">
                <a:solidFill>
                  <a:srgbClr val="142633"/>
                </a:solidFill>
                <a:latin typeface="Arial"/>
                <a:ea typeface="Arial"/>
                <a:cs typeface="Arial"/>
              </a:defRPr>
            </a:lvl7pPr>
            <a:lvl8pPr>
              <a:defRPr sz="2250" b="1">
                <a:solidFill>
                  <a:srgbClr val="142633"/>
                </a:solidFill>
                <a:latin typeface="Arial"/>
                <a:ea typeface="Arial"/>
                <a:cs typeface="Arial"/>
              </a:defRPr>
            </a:lvl8pPr>
            <a:lvl9pPr>
              <a:defRPr sz="2250" b="1">
                <a:solidFill>
                  <a:srgbClr val="142633"/>
                </a:solidFill>
                <a:latin typeface="Arial"/>
                <a:ea typeface="Arial"/>
                <a:cs typeface="Arial"/>
              </a:defRPr>
            </a:lvl9pPr>
          </a:lstStyle>
          <a:p xmlns:a="http://schemas.openxmlformats.org/drawingml/2006/main">
            <a:pPr>
              <a:defRPr sz="2250" b="1">
                <a:solidFill>
                  <a:srgbClr val="142633"/>
                </a:solidFill>
                <a:latin typeface="Arial"/>
                <a:ea typeface="Arial"/>
                <a:cs typeface="Arial"/>
              </a:defRPr>
            </a:pPr>
            <a:r>
              <a:rPr sz="2250" b="1">
                <a:solidFill>
                  <a:srgbClr val="142633"/>
                </a:solidFill>
                <a:latin typeface="Arial"/>
                <a:ea typeface="Arial"/>
                <a:cs typeface="Arial"/>
              </a:rPr>
              <a:t>431 of 570 failures</a:t>
            </a:r>
          </a:p>
        </p:txBody>
      </p:sp>
      <p:sp>
        <p:nvSpPr>
          <p:cNvPr id="7" name="">
            <a:extLst xmlns:a="http://schemas.openxmlformats.org/drawingml/2006/main">
              <a:ext uri="{FF2B5EF4-FFF2-40B4-BE49-F238E27FC236}">
                <a16:creationId xmlns:a16="http://schemas.microsoft.com/office/drawing/2014/main" id="{C1BDE69D-0759-4C80-81DA-CBCF76B4EA79}"/>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F134D513-7843-428F-83CF-52CD5CDA9F4F}"/>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62 requested cutouts have partial coverage, which also triggers the QI label.</a:t>
            </a:r>
          </a:p>
        </p:txBody>
      </p:sp>
    </p:spTree>
    <p:extLst>
      <p:ext uri="{BB962C8B-B14F-4D97-AF65-F5344CB8AC3E}">
        <p14:creationId xmlns:p14="http://schemas.microsoft.com/office/powerpoint/2010/main" val="575714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3B5A2D-9F78-4479-811D-4B4B646A638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420A9D0D-31EE-4828-8B06-05660B2D6FA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3A30BB10-F31C-4CAA-A577-AF1997DE7CC9}"/>
              </a:ext>
            </a:extLst>
          </p:cNvPr>
          <p:cNvSpPr>
            <a:spLocks xmlns:a="http://schemas.openxmlformats.org/drawingml/2006/main" noGrp="1"/>
          </p:cNvSpPr>
          <p:nvPr/>
        </p:nvSpPr>
        <p:spPr>
          <a:xfrm xmlns:a="http://schemas.openxmlformats.org/drawingml/2006/main">
            <a:off x="609600" y="13906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Adopted rule: adjusted Euclid sky PA = (converted PA + 90°) mod 180°</a:t>
            </a:r>
          </a:p>
        </p:txBody>
      </p:sp>
      <p:graphicFrame>
        <p:nvGraphicFramePr>
          <p:cNvPr id="4" name="">
            <a:extLst xmlns:a="http://schemas.openxmlformats.org/drawingml/2006/main">
              <a:ext uri="{FF2B5EF4-FFF2-40B4-BE49-F238E27FC236}">
                <a16:creationId xmlns:a16="http://schemas.microsoft.com/office/drawing/2014/main" id="{54A54735-6D5D-4665-8767-26FFE99EB50F}"/>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7DBA304-2630-4ABE-95B5-24472503AA32}"/>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6715D58E-3C7E-4664-9950-5F3528B481E9}"/>
              </a:ext>
            </a:extLst>
          </p:cNvPr>
          <p:cNvSpPr>
            <a:spLocks xmlns:a="http://schemas.openxmlformats.org/drawingml/2006/main" noGrp="1"/>
          </p:cNvSpPr>
          <p:nvPr/>
        </p:nvSpPr>
        <p:spPr>
          <a:xfrm xmlns:a="http://schemas.openxmlformats.org/drawingml/2006/main">
            <a:off x="609600" y="583882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Euclid shapes describe whole-object light. No independent Euclid bar PA is available.</a:t>
            </a:r>
          </a:p>
        </p:txBody>
      </p:sp>
    </p:spTree>
    <p:extLst>
      <p:ext uri="{BB962C8B-B14F-4D97-AF65-F5344CB8AC3E}">
        <p14:creationId xmlns:p14="http://schemas.microsoft.com/office/powerpoint/2010/main" val="18040182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A5FD80-870B-4C40-98D8-EBE4C83123E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D63B2355-903C-42AA-8433-E88F73C0CEE2}"/>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A32F502D-A6B7-4CFD-B382-2AFECC27F58F}"/>
              </a:ext>
            </a:extLst>
          </p:cNvPr>
          <p:cNvPicPr>
            <a:picLocks xmlns:a="http://schemas.openxmlformats.org/drawingml/2006/main" noChangeAspect="1"/>
          </p:cNvPicPr>
          <p:nvPr/>
        </p:nvPicPr>
        <p:blipFill>
          <a:blip xmlns:r="http://schemas.openxmlformats.org/officeDocument/2006/relationships" xmlns:a="http://schemas.openxmlformats.org/drawingml/2006/main" r:embed="Rfbfcd63ef6774c6b"/>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A4D5EB2-8C7A-4943-B626-11CD3BDCFE1F}"/>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34F9C2D0-F559-4452-A31F-6F24851C3F29}"/>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C72E2047-B6B9-4856-96CE-3F6F9EEDC645}"/>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E46AD2EA-9255-4549-B247-6FEA1B6CA7D7}"/>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7D440114-8C89-49E2-8B99-C9B152AF1BCD}"/>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6123301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A2434A-741C-49C6-9C93-8D833F84FC0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22BD4A6F-90A8-4823-AAED-1836B6675AC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26BD9A4E-A1BF-44AA-85AF-9AD7FD4B54C4}"/>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D3DD104-B1EC-46E2-BB93-D1A40981C6AF}"/>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C9F340CE-4E33-41A3-9088-C16CB367E6AC}"/>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10FC17EF-3B0E-4A63-B471-64EA45905EF6}"/>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195195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2026-10-19T18:18:08.6500000Z</dcterms:created>
  <dcterms:modified xsi:type="dcterms:W3CDTF">2026-10-19T18:18:08.6500000Z</dcterms:modified>
</coreProperties>
</file>