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f303e88c3364eb4" /><Relationship Type="http://schemas.openxmlformats.org/officeDocument/2006/relationships/extended-properties" Target="/docProps/app.xml" Id="R0dd54a8111bb492b" /><Relationship Type="http://schemas.openxmlformats.org/officeDocument/2006/relationships/officeDocument" Target="/ppt/presentation.xml" Id="R56df0a955d7b4f43" /></Relationships>
</file>

<file path=ppt/presentation.xml><?xml version="1.0" encoding="utf-8"?>
<p:presentation xmlns:p="http://schemas.openxmlformats.org/presentationml/2006/main">
  <p:sldMasterIdLst>
    <p:sldMasterId xmlns:r="http://schemas.openxmlformats.org/officeDocument/2006/relationships" id="2147483648" r:id="Rffadbb32b264419a"/>
  </p:sldMasterIdLst>
  <p:notesMasterIdLst>
    <p:notesMasterId xmlns:r="http://schemas.openxmlformats.org/officeDocument/2006/relationships" r:id="Ra8acd3bddef94b48"/>
  </p:notesMasterIdLst>
  <p:sldIdLst>
    <p:sldId xmlns:r="http://schemas.openxmlformats.org/officeDocument/2006/relationships" id="256" r:id="R0d1e40bf47dd44ba"/>
    <p:sldId xmlns:r="http://schemas.openxmlformats.org/officeDocument/2006/relationships" id="257" r:id="R125ac4075a484dce"/>
    <p:sldId xmlns:r="http://schemas.openxmlformats.org/officeDocument/2006/relationships" id="258" r:id="R896a74d0e118425e"/>
    <p:sldId xmlns:r="http://schemas.openxmlformats.org/officeDocument/2006/relationships" id="259" r:id="R0aeb3814cea14f9e"/>
    <p:sldId xmlns:r="http://schemas.openxmlformats.org/officeDocument/2006/relationships" id="260" r:id="R82b93d00b7ab4d5c"/>
    <p:sldId xmlns:r="http://schemas.openxmlformats.org/officeDocument/2006/relationships" id="261" r:id="R84963b3c00394c74"/>
    <p:sldId xmlns:r="http://schemas.openxmlformats.org/officeDocument/2006/relationships" id="262" r:id="Rddaba7a3a12243b9"/>
    <p:sldId xmlns:r="http://schemas.openxmlformats.org/officeDocument/2006/relationships" id="263" r:id="R3688609f4cd54d32"/>
    <p:sldId xmlns:r="http://schemas.openxmlformats.org/officeDocument/2006/relationships" id="264" r:id="Rb74598240a68491c"/>
    <p:sldId xmlns:r="http://schemas.openxmlformats.org/officeDocument/2006/relationships" id="265" r:id="R27ccbe0a7917496c"/>
    <p:sldId xmlns:r="http://schemas.openxmlformats.org/officeDocument/2006/relationships" id="266" r:id="R8869392b8c0944da"/>
    <p:sldId xmlns:r="http://schemas.openxmlformats.org/officeDocument/2006/relationships" id="267" r:id="R922e813f61954895"/>
    <p:sldId xmlns:r="http://schemas.openxmlformats.org/officeDocument/2006/relationships" id="268" r:id="R550b4c8d7fef4a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257b110f6d4755" /><Relationship Type="http://schemas.openxmlformats.org/officeDocument/2006/relationships/slideMaster" Target="/ppt/slideMasters/slideMaster1.xml" Id="Rffadbb32b264419a" /><Relationship Type="http://schemas.openxmlformats.org/officeDocument/2006/relationships/notesMaster" Target="/ppt/notesMasters/notesMaster1.xml" Id="Ra8acd3bddef94b48" /><Relationship Type="http://schemas.openxmlformats.org/officeDocument/2006/relationships/presProps" Target="/ppt/presProps.xml" Id="Race6e54479fa4b91" /><Relationship Type="http://schemas.openxmlformats.org/officeDocument/2006/relationships/tableStyles" Target="/ppt/tableStyles.xml" Id="R4c8a6ddf17a04510" /><Relationship Type="http://schemas.openxmlformats.org/officeDocument/2006/relationships/slide" Target="/ppt/slides/slide1.xml" Id="R0d1e40bf47dd44ba" /><Relationship Type="http://schemas.openxmlformats.org/officeDocument/2006/relationships/slide" Target="/ppt/slides/slide2.xml" Id="R125ac4075a484dce" /><Relationship Type="http://schemas.openxmlformats.org/officeDocument/2006/relationships/slide" Target="/ppt/slides/slide3.xml" Id="R896a74d0e118425e" /><Relationship Type="http://schemas.openxmlformats.org/officeDocument/2006/relationships/slide" Target="/ppt/slides/slide4.xml" Id="R0aeb3814cea14f9e" /><Relationship Type="http://schemas.openxmlformats.org/officeDocument/2006/relationships/slide" Target="/ppt/slides/slide5.xml" Id="R82b93d00b7ab4d5c" /><Relationship Type="http://schemas.openxmlformats.org/officeDocument/2006/relationships/slide" Target="/ppt/slides/slide6.xml" Id="R84963b3c00394c74" /><Relationship Type="http://schemas.openxmlformats.org/officeDocument/2006/relationships/slide" Target="/ppt/slides/slide7.xml" Id="Rddaba7a3a12243b9" /><Relationship Type="http://schemas.openxmlformats.org/officeDocument/2006/relationships/slide" Target="/ppt/slides/slide8.xml" Id="R3688609f4cd54d32" /><Relationship Type="http://schemas.openxmlformats.org/officeDocument/2006/relationships/slide" Target="/ppt/slides/slide9.xml" Id="Rb74598240a68491c" /><Relationship Type="http://schemas.openxmlformats.org/officeDocument/2006/relationships/slide" Target="/ppt/slides/slide10.xml" Id="R27ccbe0a7917496c" /><Relationship Type="http://schemas.openxmlformats.org/officeDocument/2006/relationships/slide" Target="/ppt/slides/slide11.xml" Id="R8869392b8c0944da" /><Relationship Type="http://schemas.openxmlformats.org/officeDocument/2006/relationships/slide" Target="/ppt/slides/slide12.xml" Id="R922e813f61954895" /><Relationship Type="http://schemas.openxmlformats.org/officeDocument/2006/relationships/slide" Target="/ppt/slides/slide13.xml" Id="R550b4c8d7fef4a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08c24debee4d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df704fd24548d2" /><Relationship Type="http://schemas.openxmlformats.org/officeDocument/2006/relationships/notesMaster" Target="/ppt/notesMasters/notesMaster1.xml" Id="Rf54ffe5b94ac4f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4f2b91ccbc429e" /><Relationship Type="http://schemas.openxmlformats.org/officeDocument/2006/relationships/notesMaster" Target="/ppt/notesMasters/notesMaster1.xml" Id="R53368201ca3f47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eae4dfda534259" /><Relationship Type="http://schemas.openxmlformats.org/officeDocument/2006/relationships/notesMaster" Target="/ppt/notesMasters/notesMaster1.xml" Id="R9d8f18c04e0948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c47ffe29dd4778" /><Relationship Type="http://schemas.openxmlformats.org/officeDocument/2006/relationships/notesMaster" Target="/ppt/notesMasters/notesMaster1.xml" Id="Rdc0f0ab1e9d74b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ecb97070b844d4" /><Relationship Type="http://schemas.openxmlformats.org/officeDocument/2006/relationships/notesMaster" Target="/ppt/notesMasters/notesMaster1.xml" Id="R4c3aacf3328a4d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19f82d96ae49c4" /><Relationship Type="http://schemas.openxmlformats.org/officeDocument/2006/relationships/notesMaster" Target="/ppt/notesMasters/notesMaster1.xml" Id="R09b38d5918d846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9494b256bc47d3" /><Relationship Type="http://schemas.openxmlformats.org/officeDocument/2006/relationships/notesMaster" Target="/ppt/notesMasters/notesMaster1.xml" Id="Ref703821d5684c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c367995558463e" /><Relationship Type="http://schemas.openxmlformats.org/officeDocument/2006/relationships/notesMaster" Target="/ppt/notesMasters/notesMaster1.xml" Id="R4c733d038c6f40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6f98eb1bd84f33" /><Relationship Type="http://schemas.openxmlformats.org/officeDocument/2006/relationships/notesMaster" Target="/ppt/notesMasters/notesMaster1.xml" Id="R1a833f6f124e42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92ab601ed54b8c" /><Relationship Type="http://schemas.openxmlformats.org/officeDocument/2006/relationships/notesMaster" Target="/ppt/notesMasters/notesMaster1.xml" Id="R7410ed85189442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feb5c3da1849af" /><Relationship Type="http://schemas.openxmlformats.org/officeDocument/2006/relationships/notesMaster" Target="/ppt/notesMasters/notesMaster1.xml" Id="R7fc18d9da3b641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9476a0bbf84193" /><Relationship Type="http://schemas.openxmlformats.org/officeDocument/2006/relationships/notesMaster" Target="/ppt/notesMasters/notesMaster1.xml" Id="R7fdf9cd5b2da4e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49c22f1bd947e7" /><Relationship Type="http://schemas.openxmlformats.org/officeDocument/2006/relationships/notesMaster" Target="/ppt/notesMasters/notesMaster1.xml" Id="Ra8dcb307c40944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-520196615291310590: Bar interval upper bound: 1.15 arcsec (threshold &lt;1.5). Original flag: small_bar_sensitive_to_resolution. Source: D:\Dropbox\Public Documents\UCLAN\MSc Research\Euclid\MER_VIS_galaxy_reports\all_2777\png_QI\0001_Euclid_-520196615291310590_MER_VIS_geometry_report_QI.png Galaxy -519465826287599179: Bar interval upper bound: 1.48 arcsec (threshold &lt;1.5). Original flag: small_bar_sensitive_to_resolution. Source: D:\Dropbox\Public Documents\UCLAN\MSc Research\Euclid\MER_VIS_galaxy_reports\all_2777\png_QI\0002_Euclid_-519465826287599179_MER_VIS_geometry_report_QI.png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-591287408514481131: Disc PA radial scatter: 11.2° (threshold &gt;10°). Original flag: disc_PA_unstable. Source: D:\Dropbox\Public Documents\UCLAN\MSc Research\Euclid\MER_VIS_galaxy_reports\all_2777\png_QI\0034_Euclid_-591287408514481131_MER_VIS_geometry_report_QI.png Galaxy -591265046503894332: Disc PA radial scatter: 12.4° (threshold &gt;10°). Original flag: disc_PA_unstable. Source: D:\Dropbox\Public Documents\UCLAN\MSc Research\Euclid\MER_VIS_galaxy_reports\all_2777\png_QI\0109_Euclid_-591265046503894332_MER_VIS_geometry_report_QI.png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-548398753282885623: Disc ellipticity span: 0.168 (threshold &gt;0.15). Original flag: disc_axis_ratio_unstable. Source: D:\Dropbox\Public Documents\UCLAN\MSc Research\Euclid\MER_VIS_galaxy_reports\all_2777\png_QI\0020_Euclid_-548398753282885623_MER_VIS_geometry_report_QI.png Galaxy 2694485455649440299: Disc ellipticity span: 0.196 (threshold &gt;0.15). Original flag: disc_axis_ratio_unstable. Source: D:\Dropbox\Public Documents\UCLAN\MSc Research\Euclid\MER_VIS_galaxy_reports\all_2777\png_QI\0031_Euclid_2694485455649440299_MER_VIS_geometry_report_QI.png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-560500769490472523: Bar PA radial scatter: 10.8° (threshold &gt;10°). Original flag: bar_PA_unstable. Source: D:\Dropbox\Public Documents\UCLAN\MSc Research\Euclid\MER_VIS_galaxy_reports\all_2777\png_QI\0401_Euclid_-560500769490472523_MER_VIS_geometry_report_QI.png Galaxy -630490045487791289: Bar PA radial scatter: 11.6° (threshold &gt;10°). Original flag: bar_PA_unstable. Source: D:\Dropbox\Public Documents\UCLAN\MSc Research\Euclid\MER_VIS_galaxy_reports\all_2777\png_QI\0514_Euclid_-630490045487791289_MER_VIS_geometry_report_QI.png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2654979879662853093: Median bar ellipticity: 0.180 (threshold &lt;0.25). Original flag: weak_ellipse_bar_signature. Source: D:\Dropbox\Public Documents\UCLAN\MSc Research\Euclid\MER_VIS_galaxy_reports\all_2777\png_QI\2423_Euclid_2654979879662853093_MER_VIS_geometry_report_QI.png Galaxy 2719973573665957979: Median bar ellipticity: 0.222 (threshold &lt;0.25). Original flag: weak_ellipse_bar_signature. Source: D:\Dropbox\Public Documents\UCLAN\MSc Research\Euclid\MER_VIS_galaxy_reports\all_2777\png_QI\2469_Euclid_2719973573665957979_MER_VIS_geometry_report_QI.png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-519246610291156594: Insufficient bar/disc isophotes in selected radial ranges. Reliable ellipses overall: 20. Original flag: none; failed fit. Source: D:\Dropbox\Public Documents\UCLAN\MSc Research\Euclid\MER_VIS_galaxy_reports\all_2777\png_QI\0003_Euclid_-519246610291156594_MER_VIS_geometry_report_QI.png Galaxy -517222724292083077: Insufficient bar/disc isophotes in selected radial ranges. Reliable ellipses overall: 16. Original flag: none; failed fit. Source: D:\Dropbox\Public Documents\UCLAN\MSc Research\Euclid\MER_VIS_galaxy_reports\all_2777\png_QI\0008_Euclid_-517222724292083077_MER_VIS_geometry_report_QI.png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-550147948285020121: Only 8 reliable isophotes; inspect profile. Reliable ellipses overall: 8. Original flag: none; failed fit. Source: D:\Dropbox\Public Documents\UCLAN\MSc Research\Euclid\MER_VIS_galaxy_reports\all_2777\png_QI\0016_Euclid_-550147948285020121_MER_VIS_geometry_report_QI.png Galaxy -560894756493198556: Only 9 reliable isophotes; inspect profile. Reliable ellipses overall: 9. Original flag: none; failed fit. Source: D:\Dropbox\Public Documents\UCLAN\MSc Research\Euclid\MER_VIS_galaxy_reports\all_2777\png_QI\0281_Euclid_-560894756493198556_MER_VIS_geometry_report_QI.png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7892bff2e94a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548c7bf0a349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19e2baf0964d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46b42395f443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d0257d305743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2c7a3bbded48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E736A1-BB39-434D-9870-6BE09921AF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AD7373-2626-46C9-A712-5776EDB0A2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AB2ECC4-1C24-49A0-9F6D-55504EA720F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35263F-56A6-443C-867A-09B64671B9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A0D069-3793-43A9-B00D-28CCE7D4B2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B0EBF0-8532-44B9-A48E-F6229093C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80B9D5-2D12-477B-A839-43AE0B9216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A412FE-D9E1-4054-8105-B8FCA44DE7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91E5E7-7A00-4999-B128-986FE42F86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2E2041-973E-41DE-9C73-5A8CC489D5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937b9c2f0449e1" /><Relationship Type="http://schemas.openxmlformats.org/officeDocument/2006/relationships/slideLayout" Target="/ppt/slideLayouts/slideLayout1.xml" Id="Re98ff238c9e843d8" /><Relationship Type="http://schemas.openxmlformats.org/officeDocument/2006/relationships/slideLayout" Target="/ppt/slideLayouts/slideLayout2.xml" Id="R8095d4580d274226" /><Relationship Type="http://schemas.openxmlformats.org/officeDocument/2006/relationships/slideLayout" Target="/ppt/slideLayouts/slideLayout3.xml" Id="Rc54056a04aa84eb1" /><Relationship Type="http://schemas.openxmlformats.org/officeDocument/2006/relationships/slideLayout" Target="/ppt/slideLayouts/slideLayout4.xml" Id="Rdb7443e288e5433e" /><Relationship Type="http://schemas.openxmlformats.org/officeDocument/2006/relationships/slideLayout" Target="/ppt/slideLayouts/slideLayout5.xml" Id="Ra9805fe3a2b04387" /><Relationship Type="http://schemas.openxmlformats.org/officeDocument/2006/relationships/slideLayout" Target="/ppt/slideLayouts/slideLayout6.xml" Id="R79ae53c3022d41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8ff238c9e843d8"/>
    <p:sldLayoutId xmlns:r="http://schemas.openxmlformats.org/officeDocument/2006/relationships" id="2147483650" r:id="R8095d4580d274226"/>
    <p:sldLayoutId xmlns:r="http://schemas.openxmlformats.org/officeDocument/2006/relationships" id="2147483651" r:id="Rc54056a04aa84eb1"/>
    <p:sldLayoutId xmlns:r="http://schemas.openxmlformats.org/officeDocument/2006/relationships" id="2147483652" r:id="Rdb7443e288e5433e"/>
    <p:sldLayoutId xmlns:r="http://schemas.openxmlformats.org/officeDocument/2006/relationships" id="2147483653" r:id="Ra9805fe3a2b04387"/>
    <p:sldLayoutId xmlns:r="http://schemas.openxmlformats.org/officeDocument/2006/relationships" id="2147483654" r:id="R79ae53c3022d41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5a9e77aa99492c" /><Relationship Type="http://schemas.openxmlformats.org/officeDocument/2006/relationships/notesSlide" Target="/ppt/notesSlides/notesSlide1.xml" Id="R13fe549e5e8e4f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c30d5c9df94dbd" /><Relationship Type="http://schemas.openxmlformats.org/officeDocument/2006/relationships/chart" Target="/ppt/slides/charts/chart1.xml" Id="R669b4b6d85ed474d" /><Relationship Type="http://schemas.openxmlformats.org/officeDocument/2006/relationships/notesSlide" Target="/ppt/notesSlides/notesSlide2.xml" Id="R1c22826ccfac41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117a9a12c24af6" /><Relationship Type="http://schemas.openxmlformats.org/officeDocument/2006/relationships/chart" Target="/ppt/slides/charts/chart2.xml" Id="R7e012cee18df4e2b" /><Relationship Type="http://schemas.openxmlformats.org/officeDocument/2006/relationships/chart" Target="/ppt/slides/charts/chart3.xml" Id="R158c75e700404cdf" /><Relationship Type="http://schemas.openxmlformats.org/officeDocument/2006/relationships/notesSlide" Target="/ppt/notesSlides/notesSlide3.xml" Id="R6ccf60f48bf043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0c80f5640f495a" /><Relationship Type="http://schemas.openxmlformats.org/officeDocument/2006/relationships/notesSlide" Target="/ppt/notesSlides/notesSlide4.xml" Id="R5a0a247aa5ae41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645a44ac8f845c1" /><Relationship Type="http://schemas.openxmlformats.org/officeDocument/2006/relationships/image" Target="/ppt/media/image.png" Id="R9022846e855a442d" /><Relationship Type="http://schemas.openxmlformats.org/officeDocument/2006/relationships/notesSlide" Target="/ppt/notesSlides/notesSlide5.xml" Id="R544d2748fd1840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627ccb912a434a" /><Relationship Type="http://schemas.openxmlformats.org/officeDocument/2006/relationships/notesSlide" Target="/ppt/notesSlides/notesSlide6.xml" Id="Rd74d6a9ee90d41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d03c06886d464f" /><Relationship Type="http://schemas.openxmlformats.org/officeDocument/2006/relationships/image" Target="/ppt/media/image2.png" Id="R2888322f8b144218" /><Relationship Type="http://schemas.openxmlformats.org/officeDocument/2006/relationships/image" Target="/ppt/media/image3.png" Id="R5acd4ff4817f42b9" /><Relationship Type="http://schemas.openxmlformats.org/officeDocument/2006/relationships/notesSlide" Target="/ppt/notesSlides/notesSlide7.xml" Id="R68cda9b58e5648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1f4aa899a534107" /><Relationship Type="http://schemas.openxmlformats.org/officeDocument/2006/relationships/image" Target="/ppt/media/image4.png" Id="R9b7c0b8024d247cb" /><Relationship Type="http://schemas.openxmlformats.org/officeDocument/2006/relationships/image" Target="/ppt/media/image5.png" Id="Ra718d1f95a4a4571" /><Relationship Type="http://schemas.openxmlformats.org/officeDocument/2006/relationships/notesSlide" Target="/ppt/notesSlides/notesSlide8.xml" Id="Rf7b4b81b001e48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afdb73784a441bc" /><Relationship Type="http://schemas.openxmlformats.org/officeDocument/2006/relationships/image" Target="/ppt/media/image6.png" Id="Re8a8cbe1a09148b7" /><Relationship Type="http://schemas.openxmlformats.org/officeDocument/2006/relationships/image" Target="/ppt/media/image7.png" Id="R14c68c1ef609402a" /><Relationship Type="http://schemas.openxmlformats.org/officeDocument/2006/relationships/notesSlide" Target="/ppt/notesSlides/notesSlide9.xml" Id="R57e8f838c7184c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b64071509d4e47" /><Relationship Type="http://schemas.openxmlformats.org/officeDocument/2006/relationships/image" Target="/ppt/media/image8.png" Id="R756e470232554b1c" /><Relationship Type="http://schemas.openxmlformats.org/officeDocument/2006/relationships/image" Target="/ppt/media/image9.png" Id="R4859ed66b1254a2e" /><Relationship Type="http://schemas.openxmlformats.org/officeDocument/2006/relationships/notesSlide" Target="/ppt/notesSlides/notesSlide10.xml" Id="R3e150ef9f2ce4c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4ac8af9bc14209" /><Relationship Type="http://schemas.openxmlformats.org/officeDocument/2006/relationships/image" Target="/ppt/media/image10.png" Id="R99e1f96302534818" /><Relationship Type="http://schemas.openxmlformats.org/officeDocument/2006/relationships/image" Target="/ppt/media/image11.png" Id="Re657796b4da44bb9" /><Relationship Type="http://schemas.openxmlformats.org/officeDocument/2006/relationships/notesSlide" Target="/ppt/notesSlides/notesSlide11.xml" Id="R8e3f01a46b244c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93b6d10fe4f4678" /><Relationship Type="http://schemas.openxmlformats.org/officeDocument/2006/relationships/image" Target="/ppt/media/image12.png" Id="R3a01ba62f6d54273" /><Relationship Type="http://schemas.openxmlformats.org/officeDocument/2006/relationships/image" Target="/ppt/media/image13.png" Id="R6934b1d371584d2e" /><Relationship Type="http://schemas.openxmlformats.org/officeDocument/2006/relationships/notesSlide" Target="/ppt/notesSlides/notesSlide12.xml" Id="R580bc38a9b1846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b9dcd8a0e01455b" /><Relationship Type="http://schemas.openxmlformats.org/officeDocument/2006/relationships/image" Target="/ppt/media/image14.png" Id="R7deeeac16baf465b" /><Relationship Type="http://schemas.openxmlformats.org/officeDocument/2006/relationships/image" Target="/ppt/media/image15.png" Id="R51d8b60093964522" /><Relationship Type="http://schemas.openxmlformats.org/officeDocument/2006/relationships/notesSlide" Target="/ppt/notesSlides/notesSlide13.xml" Id="Rb66e6baac1064fc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Ref>
              <c:f>'Chart Data'!$A$2:$A$4</c:f>
              <c:strCache>
                <c:ptCount val="3"/>
                <c:pt idx="0">
                  <c:v>No counted flags</c:v>
                </c:pt>
                <c:pt idx="1">
                  <c:v>Flagged fit</c:v>
                </c:pt>
                <c:pt idx="2">
                  <c:v>Failed fit</c:v>
                </c:pt>
              </c:strCache>
            </c:strRef>
          </c:cat>
          <c:val>
            <c:numRef>
              <c:f>'Chart Data'!$B$2:$B$4</c:f>
              <c:numCache>
                <c:formatCode>0.0%</c:formatCode>
                <c:ptCount val="3"/>
                <c:pt idx="0">
                  <c:v>0.216421</c:v>
                </c:pt>
                <c:pt idx="1">
                  <c:v>0</c:v>
                </c:pt>
                <c:pt idx="2">
                  <c:v>0</c:v>
                </c:pt>
              </c:numCache>
            </c:numRef>
          </c:val>
        </c:ser>
        <c:ser>
          <c:idx val="1"/>
          <c:order val="1"/>
          <c:tx>
            <c:v>1 flag</c:v>
          </c:tx>
          <c:spPr>
            <a:solidFill xmlns:a="http://schemas.openxmlformats.org/drawingml/2006/main">
              <a:srgbClr val="E5BB66"/>
            </a:solidFill>
          </c:spPr>
          <c:invertIfNegative val="0"/>
          <c:cat>
            <c:strRef>
              <c:f>'Chart Data'!$C$2:$C$4</c:f>
              <c:strCache>
                <c:ptCount val="3"/>
                <c:pt idx="0">
                  <c:v>No counted flags</c:v>
                </c:pt>
                <c:pt idx="1">
                  <c:v>Flagged fit</c:v>
                </c:pt>
                <c:pt idx="2">
                  <c:v>Failed fit</c:v>
                </c:pt>
              </c:strCache>
            </c:strRef>
          </c:cat>
          <c:val>
            <c:numRef>
              <c:f>'Chart Data'!$D$2:$D$4</c:f>
              <c:numCache>
                <c:formatCode>0.0%</c:formatCode>
                <c:ptCount val="3"/>
                <c:pt idx="0">
                  <c:v>0</c:v>
                </c:pt>
                <c:pt idx="1">
                  <c:v>0.346777</c:v>
                </c:pt>
                <c:pt idx="2">
                  <c:v>0</c:v>
                </c:pt>
              </c:numCache>
            </c:numRef>
          </c:val>
        </c:ser>
        <c:ser>
          <c:idx val="2"/>
          <c:order val="2"/>
          <c:tx>
            <c:v>2 flags</c:v>
          </c:tx>
          <c:spPr>
            <a:solidFill xmlns:a="http://schemas.openxmlformats.org/drawingml/2006/main">
              <a:srgbClr val="CC9637"/>
            </a:solidFill>
          </c:spPr>
          <c:invertIfNegative val="0"/>
          <c:cat>
            <c:strRef>
              <c:f>'Chart Data'!$E$2:$E$4</c:f>
              <c:strCache>
                <c:ptCount val="3"/>
                <c:pt idx="0">
                  <c:v>No counted flags</c:v>
                </c:pt>
                <c:pt idx="1">
                  <c:v>Flagged fit</c:v>
                </c:pt>
                <c:pt idx="2">
                  <c:v>Failed fit</c:v>
                </c:pt>
              </c:strCache>
            </c:strRef>
          </c:cat>
          <c:val>
            <c:numRef>
              <c:f>'Chart Data'!$F$2:$F$4</c:f>
              <c:numCache>
                <c:formatCode>0.0%</c:formatCode>
                <c:ptCount val="3"/>
                <c:pt idx="0">
                  <c:v>0</c:v>
                </c:pt>
                <c:pt idx="1">
                  <c:v>0.167807</c:v>
                </c:pt>
                <c:pt idx="2">
                  <c:v>0</c:v>
                </c:pt>
              </c:numCache>
            </c:numRef>
          </c:val>
        </c:ser>
        <c:ser>
          <c:idx val="3"/>
          <c:order val="3"/>
          <c:tx>
            <c:v>3 flags</c:v>
          </c:tx>
          <c:spPr>
            <a:solidFill xmlns:a="http://schemas.openxmlformats.org/drawingml/2006/main">
              <a:srgbClr val="A66B24"/>
            </a:solidFill>
          </c:spPr>
          <c:invertIfNegative val="0"/>
          <c:cat>
            <c:strRef>
              <c:f>'Chart Data'!$G$2:$G$4</c:f>
              <c:strCache>
                <c:ptCount val="3"/>
                <c:pt idx="0">
                  <c:v>No counted flags</c:v>
                </c:pt>
                <c:pt idx="1">
                  <c:v>Flagged fit</c:v>
                </c:pt>
                <c:pt idx="2">
                  <c:v>Failed fit</c:v>
                </c:pt>
              </c:strCache>
            </c:strRef>
          </c:cat>
          <c:val>
            <c:numRef>
              <c:f>'Chart Data'!$H$2:$H$4</c:f>
              <c:numCache>
                <c:formatCode>0.0%</c:formatCode>
                <c:ptCount val="3"/>
                <c:pt idx="0">
                  <c:v>0</c:v>
                </c:pt>
                <c:pt idx="1">
                  <c:v>0.063378</c:v>
                </c:pt>
                <c:pt idx="2">
                  <c:v>0</c:v>
                </c:pt>
              </c:numCache>
            </c:numRef>
          </c:val>
        </c:ser>
        <c:ser>
          <c:idx val="4"/>
          <c:order val="4"/>
          <c:tx>
            <c:v>4 flags</c:v>
          </c:tx>
          <c:spPr>
            <a:solidFill xmlns:a="http://schemas.openxmlformats.org/drawingml/2006/main">
              <a:srgbClr val="72441C"/>
            </a:solidFill>
          </c:spPr>
          <c:invertIfNegative val="0"/>
          <c:cat>
            <c:strRef>
              <c:f>'Chart Data'!$I$2:$I$4</c:f>
              <c:strCache>
                <c:ptCount val="3"/>
                <c:pt idx="0">
                  <c:v>No counted flags</c:v>
                </c:pt>
                <c:pt idx="1">
                  <c:v>Flagged fit</c:v>
                </c:pt>
                <c:pt idx="2">
                  <c:v>Failed fit</c:v>
                </c:pt>
              </c:strCache>
            </c:strRef>
          </c:cat>
          <c:val>
            <c:numRef>
              <c:f>'Chart Data'!$J$2:$J$4</c:f>
              <c:numCache>
                <c:formatCode>0.0%</c:formatCode>
                <c:ptCount val="3"/>
                <c:pt idx="0">
                  <c:v>0</c:v>
                </c:pt>
                <c:pt idx="1">
                  <c:v>0.00036</c:v>
                </c:pt>
                <c:pt idx="2">
                  <c:v>0</c:v>
                </c:pt>
              </c:numCache>
            </c:numRef>
          </c:val>
        </c:ser>
        <c:ser>
          <c:idx val="5"/>
          <c:order val="5"/>
          <c:tx>
            <c:v>Failed</c:v>
          </c:tx>
          <c:spPr>
            <a:solidFill xmlns:a="http://schemas.openxmlformats.org/drawingml/2006/main">
              <a:srgbClr val="AC4B47"/>
            </a:solidFill>
          </c:spPr>
          <c:invertIfNegative val="0"/>
          <c:cat>
            <c:strRef>
              <c:f>'Chart Data'!$K$2:$K$4</c:f>
              <c:strCache>
                <c:ptCount val="3"/>
                <c:pt idx="0">
                  <c:v>No counted flags</c:v>
                </c:pt>
                <c:pt idx="1">
                  <c:v>Flagged fit</c:v>
                </c:pt>
                <c:pt idx="2">
                  <c:v>Failed fit</c:v>
                </c:pt>
              </c:strCache>
            </c:strRef>
          </c:cat>
          <c:val>
            <c:numRef>
              <c:f>'Chart Data'!$L$2:$L$4</c:f>
              <c:numCache>
                <c:formatCode>0.0%</c:formatCode>
                <c:ptCount val="3"/>
                <c:pt idx="0">
                  <c:v>0</c:v>
                </c:pt>
                <c:pt idx="1">
                  <c:v>0</c:v>
                </c:pt>
                <c:pt idx="2">
                  <c:v>0.205258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Ref>
              <c:f>'Chart Data'!$A$2:$A$6</c:f>
              <c:strCache>
                <c:ptCount val="5"/>
                <c:pt idx="0">
                  <c:v>Small bar interval</c:v>
                </c:pt>
                <c:pt idx="1">
                  <c:v>Unstable disc PA*</c:v>
                </c:pt>
                <c:pt idx="2">
                  <c:v>Changing disc shape</c:v>
                </c:pt>
                <c:pt idx="3">
                  <c:v>Unstable bar PA</c:v>
                </c:pt>
                <c:pt idx="4">
                  <c:v>Weak bar signature</c:v>
                </c:pt>
              </c:strCache>
            </c:strRef>
          </c:cat>
          <c:val>
            <c:numRef>
              <c:f>'Chart Data'!$B$2:$B$6</c:f>
              <c:numCache>
                <c:formatCode>0.0%</c:formatCode>
                <c:ptCount val="5"/>
                <c:pt idx="0">
                  <c:v>0.548256</c:v>
                </c:pt>
                <c:pt idx="1">
                  <c:v>0.303438</c:v>
                </c:pt>
                <c:pt idx="2">
                  <c:v>0.259628</c:v>
                </c:pt>
                <c:pt idx="3">
                  <c:v>0.012687</c:v>
                </c:pt>
                <c:pt idx="4">
                  <c:v>0.003172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Ref>
              <c:f>'Chart Data'!$A$2:$A$4</c:f>
              <c:strCache>
                <c:ptCount val="3"/>
                <c:pt idx="0">
                  <c:v>Interval</c:v>
                </c:pt>
                <c:pt idx="1">
                  <c:v>Short profile</c:v>
                </c:pt>
                <c:pt idx="2">
                  <c:v>Centre</c:v>
                </c:pt>
              </c:strCache>
            </c:strRef>
          </c:cat>
          <c:val>
            <c:numRef>
              <c:f>'Chart Data'!$B$2:$B$4</c:f>
              <c:numCache>
                <c:formatCode>0.0%</c:formatCode>
                <c:ptCount val="3"/>
                <c:pt idx="0">
                  <c:v>0.75614</c:v>
                </c:pt>
                <c:pt idx="1">
                  <c:v>0.242105</c:v>
                </c:pt>
                <c:pt idx="2">
                  <c:v>0.001754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211CF7-21B3-4EB1-BDB3-CE1B4438DDF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EB31D8E5-F9E6-4117-B622-E93D257D8E3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13</a:t>
            </a:r>
          </a:p>
        </p:txBody>
      </p:sp>
      <p:sp>
        <p:nvSpPr>
          <p:cNvPr id="3" name="">
            <a:extLst xmlns:a="http://schemas.openxmlformats.org/drawingml/2006/main">
              <a:ext uri="{FF2B5EF4-FFF2-40B4-BE49-F238E27FC236}">
                <a16:creationId xmlns:a16="http://schemas.microsoft.com/office/drawing/2014/main" id="{D59E8EA2-246A-483F-AED1-B8882BFDFE96}"/>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48551D6D-3D59-4139-BBEC-05459C810C2E}"/>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5A44E1EF-2C25-4206-B801-5C7FF5D20DD0}"/>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7FD77FF8-3CD3-40D4-8400-B358577C4F43}"/>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3559680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0065B5-62A8-49D1-9D47-607D1C43225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70093F19-4063-464D-8B37-0A3780E3280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13</a:t>
            </a:r>
          </a:p>
        </p:txBody>
      </p:sp>
      <p:sp>
        <p:nvSpPr>
          <p:cNvPr id="3" name="">
            <a:extLst xmlns:a="http://schemas.openxmlformats.org/drawingml/2006/main">
              <a:ext uri="{FF2B5EF4-FFF2-40B4-BE49-F238E27FC236}">
                <a16:creationId xmlns:a16="http://schemas.microsoft.com/office/drawing/2014/main" id="{DDB22039-F48E-4BB4-9C7D-27E4759FCA3D}"/>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9D4BE131-C083-4650-A1A4-E6ECE9E59DA9}"/>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669b4b6d85ed474d"/>
          </a:graphicData>
        </a:graphic>
      </p:graphicFrame>
      <p:sp>
        <p:nvSpPr>
          <p:cNvPr id="5" name="">
            <a:extLst xmlns:a="http://schemas.openxmlformats.org/drawingml/2006/main">
              <a:ext uri="{FF2B5EF4-FFF2-40B4-BE49-F238E27FC236}">
                <a16:creationId xmlns:a16="http://schemas.microsoft.com/office/drawing/2014/main" id="{16AF462D-E731-451D-BF03-E9FF833BE5A3}"/>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49409E92-8289-4B61-BE90-D1C6CFE080F3}"/>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73D4C7C5-6F95-4258-9C9E-C1D37DDD418A}"/>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30858452-A8FC-4576-B090-B57F367FAA5A}"/>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1FB9979E-7EF5-4797-AC36-AD0E07A2EEE3}"/>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(&lt;0.1%)</a:t>
            </a:r>
          </a:p>
        </p:txBody>
      </p:sp>
      <p:sp>
        <p:nvSpPr>
          <p:cNvPr id="10" name="">
            <a:extLst xmlns:a="http://schemas.openxmlformats.org/drawingml/2006/main">
              <a:ext uri="{FF2B5EF4-FFF2-40B4-BE49-F238E27FC236}">
                <a16:creationId xmlns:a16="http://schemas.microsoft.com/office/drawing/2014/main" id="{332BE794-7203-470F-BD69-238D52772666}"/>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AED8D442-57C9-45E6-BC96-7853C9AD2119}"/>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12228214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AEB6DB-4427-4880-8CF2-200F282EC7F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927AF406-A49E-4460-8E9F-F34C665DFCC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13</a:t>
            </a:r>
          </a:p>
        </p:txBody>
      </p:sp>
      <p:sp>
        <p:nvSpPr>
          <p:cNvPr id="3" name="">
            <a:extLst xmlns:a="http://schemas.openxmlformats.org/drawingml/2006/main">
              <a:ext uri="{FF2B5EF4-FFF2-40B4-BE49-F238E27FC236}">
                <a16:creationId xmlns:a16="http://schemas.microsoft.com/office/drawing/2014/main" id="{A1F8CBDF-EA59-4051-A2A4-2CF44252C0D9}"/>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3425EAFD-7160-4105-BD06-B364D4A4D000}"/>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7e012cee18df4e2b"/>
          </a:graphicData>
        </a:graphic>
      </p:graphicFrame>
      <p:sp>
        <p:nvSpPr>
          <p:cNvPr id="5" name="">
            <a:extLst xmlns:a="http://schemas.openxmlformats.org/drawingml/2006/main">
              <a:ext uri="{FF2B5EF4-FFF2-40B4-BE49-F238E27FC236}">
                <a16:creationId xmlns:a16="http://schemas.microsoft.com/office/drawing/2014/main" id="{1607C8A0-3D03-4B00-802F-122975D89F0A}"/>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3E705EF5-F919-4274-982D-4AF32193656F}"/>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0B56AF50-B749-4E93-80DD-5691E56DB109}"/>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158c75e700404cdf"/>
          </a:graphicData>
        </a:graphic>
      </p:graphicFrame>
      <p:sp>
        <p:nvSpPr>
          <p:cNvPr id="8" name="">
            <a:extLst xmlns:a="http://schemas.openxmlformats.org/drawingml/2006/main">
              <a:ext uri="{FF2B5EF4-FFF2-40B4-BE49-F238E27FC236}">
                <a16:creationId xmlns:a16="http://schemas.microsoft.com/office/drawing/2014/main" id="{FC924B80-8488-4997-8CBF-E807F02F031C}"/>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7C204D6D-5733-4847-8145-096EB383AD35}"/>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20808370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C0C5E8-AC78-4BBC-B9E6-E514241A711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53145D93-29C2-44B5-8501-2E0AC7514A8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13</a:t>
            </a:r>
          </a:p>
        </p:txBody>
      </p:sp>
      <p:sp>
        <p:nvSpPr>
          <p:cNvPr id="3" name="">
            <a:extLst xmlns:a="http://schemas.openxmlformats.org/drawingml/2006/main">
              <a:ext uri="{FF2B5EF4-FFF2-40B4-BE49-F238E27FC236}">
                <a16:creationId xmlns:a16="http://schemas.microsoft.com/office/drawing/2014/main" id="{1B94EC1A-CC53-4A36-A19D-2272DE9276B3}"/>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F497F6D3-EFA5-45AB-B347-3EC72515F3F7}"/>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4DE5B2D-175D-4204-BA90-6B4924810FF7}"/>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DFADF249-A6F4-4FCB-A083-CD178CD403F5}"/>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6099620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FFE1B4-387A-4AAA-8F12-387B1C85FAB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EDF5D7EE-0362-489A-93E7-E568A780447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13</a:t>
            </a:r>
          </a:p>
        </p:txBody>
      </p:sp>
      <p:pic>
        <p:nvPicPr>
          <p:cNvPr id="3" name="">
            <a:extLst xmlns:a="http://schemas.openxmlformats.org/drawingml/2006/main">
              <a:ext uri="{FF2B5EF4-FFF2-40B4-BE49-F238E27FC236}">
                <a16:creationId xmlns:a16="http://schemas.microsoft.com/office/drawing/2014/main" id="{E9DF3005-E53E-49BC-945E-CFC75DA6DA19}"/>
              </a:ext>
            </a:extLst>
          </p:cNvPr>
          <p:cNvPicPr>
            <a:picLocks xmlns:a="http://schemas.openxmlformats.org/drawingml/2006/main" noChangeAspect="1"/>
          </p:cNvPicPr>
          <p:nvPr/>
        </p:nvPicPr>
        <p:blipFill>
          <a:blip xmlns:r="http://schemas.openxmlformats.org/officeDocument/2006/relationships" xmlns:a="http://schemas.openxmlformats.org/drawingml/2006/main" r:embed="R9022846e855a442d"/>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229C8F5-D50D-450D-ADF8-9F8377256E6F}"/>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A8F4A2FE-8363-4B36-836C-F95EE7F4BC8B}"/>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AF27B39B-B73C-4D20-8E05-525A354AB30E}"/>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26F56BE4-970D-40FA-A929-838618FFDF2C}"/>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D69080F3-9A72-41DD-AB92-825AB77B53B8}"/>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20744118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296154-D92C-4BA8-A535-E243120B75E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B8F00F49-3613-4A48-A157-9167F7AE805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13</a:t>
            </a:r>
          </a:p>
        </p:txBody>
      </p:sp>
      <p:graphicFrame>
        <p:nvGraphicFramePr>
          <p:cNvPr id="3" name="">
            <a:extLst xmlns:a="http://schemas.openxmlformats.org/drawingml/2006/main">
              <a:ext uri="{FF2B5EF4-FFF2-40B4-BE49-F238E27FC236}">
                <a16:creationId xmlns:a16="http://schemas.microsoft.com/office/drawing/2014/main" id="{611D9F2A-E64D-48F7-9DD9-059F7161C31F}"/>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E2AE617-2040-4A9D-9D57-14A9631D4CFE}"/>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76BCFCAC-5E42-4A6C-B882-1EB9B2378F5B}"/>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540FCE45-488D-4373-881D-2F5BE0A01312}"/>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15035817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ADBD4B-9D90-447E-8C47-428B722DC9B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Small bar interval</a:t>
            </a:r>
          </a:p>
        </p:txBody>
      </p:sp>
      <p:sp>
        <p:nvSpPr>
          <p:cNvPr id="2" name="">
            <a:extLst xmlns:a="http://schemas.openxmlformats.org/drawingml/2006/main">
              <a:ext uri="{FF2B5EF4-FFF2-40B4-BE49-F238E27FC236}">
                <a16:creationId xmlns:a16="http://schemas.microsoft.com/office/drawing/2014/main" id="{E0ED9FF7-CECC-412F-8BFB-F30F51A20D9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13</a:t>
            </a:r>
          </a:p>
        </p:txBody>
      </p:sp>
      <p:sp>
        <p:nvSpPr>
          <p:cNvPr id="3" name="">
            <a:extLst xmlns:a="http://schemas.openxmlformats.org/drawingml/2006/main">
              <a:ext uri="{FF2B5EF4-FFF2-40B4-BE49-F238E27FC236}">
                <a16:creationId xmlns:a16="http://schemas.microsoft.com/office/drawing/2014/main" id="{E2EE4C21-3AA0-4638-B62C-59ED2DC32D50}"/>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FDE2DE3A-CA70-4D8F-BA99-21FFF7A7A2F1}"/>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-520196615291310590</a:t>
            </a:r>
          </a:p>
        </p:txBody>
      </p:sp>
      <p:pic>
        <p:nvPicPr>
          <p:cNvPr id="5" name="">
            <a:extLst xmlns:a="http://schemas.openxmlformats.org/drawingml/2006/main">
              <a:ext uri="{FF2B5EF4-FFF2-40B4-BE49-F238E27FC236}">
                <a16:creationId xmlns:a16="http://schemas.microsoft.com/office/drawing/2014/main" id="{CDE57259-BD71-4B90-BB65-270FC77E653C}"/>
              </a:ext>
            </a:extLst>
          </p:cNvPr>
          <p:cNvPicPr>
            <a:picLocks xmlns:a="http://schemas.openxmlformats.org/drawingml/2006/main" noChangeAspect="1"/>
          </p:cNvPicPr>
          <p:nvPr/>
        </p:nvPicPr>
        <p:blipFill>
          <a:blip xmlns:r="http://schemas.openxmlformats.org/officeDocument/2006/relationships" xmlns:a="http://schemas.openxmlformats.org/drawingml/2006/main" r:embed="R2888322f8b144218"/>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3314B6F-DEAD-49B7-A300-B83BFEDA1A6D}"/>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1.15 arcsec (threshold &lt;1.5).</a:t>
            </a:r>
          </a:p>
        </p:txBody>
      </p:sp>
      <p:sp>
        <p:nvSpPr>
          <p:cNvPr id="7" name="">
            <a:extLst xmlns:a="http://schemas.openxmlformats.org/drawingml/2006/main">
              <a:ext uri="{FF2B5EF4-FFF2-40B4-BE49-F238E27FC236}">
                <a16:creationId xmlns:a16="http://schemas.microsoft.com/office/drawing/2014/main" id="{15B876B6-8DA3-4DD7-BFF8-CB7A2D2EB11D}"/>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-519465826287599179</a:t>
            </a:r>
          </a:p>
        </p:txBody>
      </p:sp>
      <p:pic>
        <p:nvPicPr>
          <p:cNvPr id="8" name="">
            <a:extLst xmlns:a="http://schemas.openxmlformats.org/drawingml/2006/main">
              <a:ext uri="{FF2B5EF4-FFF2-40B4-BE49-F238E27FC236}">
                <a16:creationId xmlns:a16="http://schemas.microsoft.com/office/drawing/2014/main" id="{E6A9950A-F06D-4D0C-B0C0-C9E62F8CD15B}"/>
              </a:ext>
            </a:extLst>
          </p:cNvPr>
          <p:cNvPicPr>
            <a:picLocks xmlns:a="http://schemas.openxmlformats.org/drawingml/2006/main" noChangeAspect="1"/>
          </p:cNvPicPr>
          <p:nvPr/>
        </p:nvPicPr>
        <p:blipFill>
          <a:blip xmlns:r="http://schemas.openxmlformats.org/officeDocument/2006/relationships" xmlns:a="http://schemas.openxmlformats.org/drawingml/2006/main" r:embed="R5acd4ff4817f42b9"/>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D7A1529-ECC3-44AD-8C3D-7EC5038B6927}"/>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1.48 arcsec (threshold &lt;1.5).</a:t>
            </a:r>
          </a:p>
        </p:txBody>
      </p:sp>
      <p:sp>
        <p:nvSpPr>
          <p:cNvPr id="10" name="">
            <a:extLst xmlns:a="http://schemas.openxmlformats.org/drawingml/2006/main">
              <a:ext uri="{FF2B5EF4-FFF2-40B4-BE49-F238E27FC236}">
                <a16:creationId xmlns:a16="http://schemas.microsoft.com/office/drawing/2014/main" id="{9EEF896D-77BE-47C3-82E6-7562C68916E9}"/>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selected bar interval ends below 1.5 arcsec. This warns about resolution and range selection, not a measured physical bar length.</a:t>
            </a:r>
          </a:p>
        </p:txBody>
      </p:sp>
    </p:spTree>
    <p:extLst>
      <p:ext uri="{BB962C8B-B14F-4D97-AF65-F5344CB8AC3E}">
        <p14:creationId xmlns:p14="http://schemas.microsoft.com/office/powerpoint/2010/main" val="1967388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3C553C-2F27-4BC7-A8DD-D4E164825F3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F10BF7D6-8817-43B2-8D94-B214FF84064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13</a:t>
            </a:r>
          </a:p>
        </p:txBody>
      </p:sp>
      <p:sp>
        <p:nvSpPr>
          <p:cNvPr id="3" name="">
            <a:extLst xmlns:a="http://schemas.openxmlformats.org/drawingml/2006/main">
              <a:ext uri="{FF2B5EF4-FFF2-40B4-BE49-F238E27FC236}">
                <a16:creationId xmlns:a16="http://schemas.microsoft.com/office/drawing/2014/main" id="{81C26C2E-C7B2-4FB8-A5E1-35FE65D79111}"/>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4BDFC79D-1133-458B-B7B7-9CCE6D83A62A}"/>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-591287408514481131</a:t>
            </a:r>
          </a:p>
        </p:txBody>
      </p:sp>
      <p:pic>
        <p:nvPicPr>
          <p:cNvPr id="5" name="">
            <a:extLst xmlns:a="http://schemas.openxmlformats.org/drawingml/2006/main">
              <a:ext uri="{FF2B5EF4-FFF2-40B4-BE49-F238E27FC236}">
                <a16:creationId xmlns:a16="http://schemas.microsoft.com/office/drawing/2014/main" id="{CD18F098-7929-47AF-943B-4F2557194E6C}"/>
              </a:ext>
            </a:extLst>
          </p:cNvPr>
          <p:cNvPicPr>
            <a:picLocks xmlns:a="http://schemas.openxmlformats.org/drawingml/2006/main" noChangeAspect="1"/>
          </p:cNvPicPr>
          <p:nvPr/>
        </p:nvPicPr>
        <p:blipFill>
          <a:blip xmlns:r="http://schemas.openxmlformats.org/officeDocument/2006/relationships" xmlns:a="http://schemas.openxmlformats.org/drawingml/2006/main" r:embed="R9b7c0b8024d247cb"/>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06A200-AE09-427D-AAD2-FBE51CE310C0}"/>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11.2° (threshold &gt;10°).</a:t>
            </a:r>
          </a:p>
        </p:txBody>
      </p:sp>
      <p:sp>
        <p:nvSpPr>
          <p:cNvPr id="7" name="">
            <a:extLst xmlns:a="http://schemas.openxmlformats.org/drawingml/2006/main">
              <a:ext uri="{FF2B5EF4-FFF2-40B4-BE49-F238E27FC236}">
                <a16:creationId xmlns:a16="http://schemas.microsoft.com/office/drawing/2014/main" id="{9836A973-EF8B-4F29-BCC2-18EB8789C24E}"/>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-591265046503894332</a:t>
            </a:r>
          </a:p>
        </p:txBody>
      </p:sp>
      <p:pic>
        <p:nvPicPr>
          <p:cNvPr id="8" name="">
            <a:extLst xmlns:a="http://schemas.openxmlformats.org/drawingml/2006/main">
              <a:ext uri="{FF2B5EF4-FFF2-40B4-BE49-F238E27FC236}">
                <a16:creationId xmlns:a16="http://schemas.microsoft.com/office/drawing/2014/main" id="{03141BA7-3DBC-4222-9BFF-FD8A79F0D62A}"/>
              </a:ext>
            </a:extLst>
          </p:cNvPr>
          <p:cNvPicPr>
            <a:picLocks xmlns:a="http://schemas.openxmlformats.org/drawingml/2006/main" noChangeAspect="1"/>
          </p:cNvPicPr>
          <p:nvPr/>
        </p:nvPicPr>
        <p:blipFill>
          <a:blip xmlns:r="http://schemas.openxmlformats.org/officeDocument/2006/relationships" xmlns:a="http://schemas.openxmlformats.org/drawingml/2006/main" r:embed="Ra718d1f95a4a4571"/>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2BCAE69-E585-4632-BC42-EAA688775DF1}"/>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12.4° (threshold &gt;10°).</a:t>
            </a:r>
          </a:p>
        </p:txBody>
      </p:sp>
      <p:sp>
        <p:nvSpPr>
          <p:cNvPr id="10" name="">
            <a:extLst xmlns:a="http://schemas.openxmlformats.org/drawingml/2006/main">
              <a:ext uri="{FF2B5EF4-FFF2-40B4-BE49-F238E27FC236}">
                <a16:creationId xmlns:a16="http://schemas.microsoft.com/office/drawing/2014/main" id="{984FFA44-E63B-4BEA-A9DC-7B75F7D0EEC7}"/>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sky PA changes across the green disc interval. The outer contours do not give one stable disc direction.</a:t>
            </a:r>
          </a:p>
        </p:txBody>
      </p:sp>
    </p:spTree>
    <p:extLst>
      <p:ext uri="{BB962C8B-B14F-4D97-AF65-F5344CB8AC3E}">
        <p14:creationId xmlns:p14="http://schemas.microsoft.com/office/powerpoint/2010/main" val="5948201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76E402-813E-4D4B-9DEB-952CDDBAD80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09316E57-02F5-41D9-AED0-0161A43084A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13</a:t>
            </a:r>
          </a:p>
        </p:txBody>
      </p:sp>
      <p:sp>
        <p:nvSpPr>
          <p:cNvPr id="3" name="">
            <a:extLst xmlns:a="http://schemas.openxmlformats.org/drawingml/2006/main">
              <a:ext uri="{FF2B5EF4-FFF2-40B4-BE49-F238E27FC236}">
                <a16:creationId xmlns:a16="http://schemas.microsoft.com/office/drawing/2014/main" id="{00262A7A-54A6-4931-BC6D-F35AD340C11B}"/>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7C63A7F0-1001-4C04-9889-7F36D1B47E1C}"/>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-548398753282885623</a:t>
            </a:r>
          </a:p>
        </p:txBody>
      </p:sp>
      <p:pic>
        <p:nvPicPr>
          <p:cNvPr id="5" name="">
            <a:extLst xmlns:a="http://schemas.openxmlformats.org/drawingml/2006/main">
              <a:ext uri="{FF2B5EF4-FFF2-40B4-BE49-F238E27FC236}">
                <a16:creationId xmlns:a16="http://schemas.microsoft.com/office/drawing/2014/main" id="{AFD5368A-8396-4A21-BFB3-B0ACD450C794}"/>
              </a:ext>
            </a:extLst>
          </p:cNvPr>
          <p:cNvPicPr>
            <a:picLocks xmlns:a="http://schemas.openxmlformats.org/drawingml/2006/main" noChangeAspect="1"/>
          </p:cNvPicPr>
          <p:nvPr/>
        </p:nvPicPr>
        <p:blipFill>
          <a:blip xmlns:r="http://schemas.openxmlformats.org/officeDocument/2006/relationships" xmlns:a="http://schemas.openxmlformats.org/drawingml/2006/main" r:embed="Re8a8cbe1a09148b7"/>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35E4AE-3F2D-418E-B5CE-5333ED615470}"/>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0.168 (threshold &gt;0.15).</a:t>
            </a:r>
          </a:p>
        </p:txBody>
      </p:sp>
      <p:sp>
        <p:nvSpPr>
          <p:cNvPr id="7" name="">
            <a:extLst xmlns:a="http://schemas.openxmlformats.org/drawingml/2006/main">
              <a:ext uri="{FF2B5EF4-FFF2-40B4-BE49-F238E27FC236}">
                <a16:creationId xmlns:a16="http://schemas.microsoft.com/office/drawing/2014/main" id="{1D40BBE6-55B8-498B-90AB-E98697CEEBD4}"/>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2694485455649440299</a:t>
            </a:r>
          </a:p>
        </p:txBody>
      </p:sp>
      <p:pic>
        <p:nvPicPr>
          <p:cNvPr id="8" name="">
            <a:extLst xmlns:a="http://schemas.openxmlformats.org/drawingml/2006/main">
              <a:ext uri="{FF2B5EF4-FFF2-40B4-BE49-F238E27FC236}">
                <a16:creationId xmlns:a16="http://schemas.microsoft.com/office/drawing/2014/main" id="{0FCC98DD-AA93-4B2B-9B18-682451A54FB7}"/>
              </a:ext>
            </a:extLst>
          </p:cNvPr>
          <p:cNvPicPr>
            <a:picLocks xmlns:a="http://schemas.openxmlformats.org/drawingml/2006/main" noChangeAspect="1"/>
          </p:cNvPicPr>
          <p:nvPr/>
        </p:nvPicPr>
        <p:blipFill>
          <a:blip xmlns:r="http://schemas.openxmlformats.org/officeDocument/2006/relationships" xmlns:a="http://schemas.openxmlformats.org/drawingml/2006/main" r:embed="R14c68c1ef609402a"/>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9A9A0C4-E4E9-4828-8450-4BAD343EBE3C}"/>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0.196 (threshold &gt;0.15).</a:t>
            </a:r>
          </a:p>
        </p:txBody>
      </p:sp>
      <p:sp>
        <p:nvSpPr>
          <p:cNvPr id="10" name="">
            <a:extLst xmlns:a="http://schemas.openxmlformats.org/drawingml/2006/main">
              <a:ext uri="{FF2B5EF4-FFF2-40B4-BE49-F238E27FC236}">
                <a16:creationId xmlns:a16="http://schemas.microsoft.com/office/drawing/2014/main" id="{229A4284-723A-4A07-A47E-C22CCAE4F7FD}"/>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Ellipticity changes across the green disc interval. Inclination depends on which outer contours are used.</a:t>
            </a:r>
          </a:p>
        </p:txBody>
      </p:sp>
    </p:spTree>
    <p:extLst>
      <p:ext uri="{BB962C8B-B14F-4D97-AF65-F5344CB8AC3E}">
        <p14:creationId xmlns:p14="http://schemas.microsoft.com/office/powerpoint/2010/main" val="1179460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694290-6863-4251-8C97-79B71345122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bar PA</a:t>
            </a:r>
          </a:p>
        </p:txBody>
      </p:sp>
      <p:sp>
        <p:nvSpPr>
          <p:cNvPr id="2" name="">
            <a:extLst xmlns:a="http://schemas.openxmlformats.org/drawingml/2006/main">
              <a:ext uri="{FF2B5EF4-FFF2-40B4-BE49-F238E27FC236}">
                <a16:creationId xmlns:a16="http://schemas.microsoft.com/office/drawing/2014/main" id="{FA80EAAB-CFF3-4EA8-9557-32B64FCDA28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13</a:t>
            </a:r>
          </a:p>
        </p:txBody>
      </p:sp>
      <p:sp>
        <p:nvSpPr>
          <p:cNvPr id="3" name="">
            <a:extLst xmlns:a="http://schemas.openxmlformats.org/drawingml/2006/main">
              <a:ext uri="{FF2B5EF4-FFF2-40B4-BE49-F238E27FC236}">
                <a16:creationId xmlns:a16="http://schemas.microsoft.com/office/drawing/2014/main" id="{C8D51245-C2D0-43F8-9B66-11B78FA4F792}"/>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08E7B3BC-B580-4679-9C65-58D4546DF76E}"/>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-560500769490472523</a:t>
            </a:r>
          </a:p>
        </p:txBody>
      </p:sp>
      <p:pic>
        <p:nvPicPr>
          <p:cNvPr id="5" name="">
            <a:extLst xmlns:a="http://schemas.openxmlformats.org/drawingml/2006/main">
              <a:ext uri="{FF2B5EF4-FFF2-40B4-BE49-F238E27FC236}">
                <a16:creationId xmlns:a16="http://schemas.microsoft.com/office/drawing/2014/main" id="{37D84D1C-4572-4ABC-85F5-3679D95429AD}"/>
              </a:ext>
            </a:extLst>
          </p:cNvPr>
          <p:cNvPicPr>
            <a:picLocks xmlns:a="http://schemas.openxmlformats.org/drawingml/2006/main" noChangeAspect="1"/>
          </p:cNvPicPr>
          <p:nvPr/>
        </p:nvPicPr>
        <p:blipFill>
          <a:blip xmlns:r="http://schemas.openxmlformats.org/officeDocument/2006/relationships" xmlns:a="http://schemas.openxmlformats.org/drawingml/2006/main" r:embed="R756e470232554b1c"/>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655B74F-6718-4792-BCC0-DC9718C859E9}"/>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10.8° (threshold &gt;10°).</a:t>
            </a:r>
          </a:p>
        </p:txBody>
      </p:sp>
      <p:sp>
        <p:nvSpPr>
          <p:cNvPr id="7" name="">
            <a:extLst xmlns:a="http://schemas.openxmlformats.org/drawingml/2006/main">
              <a:ext uri="{FF2B5EF4-FFF2-40B4-BE49-F238E27FC236}">
                <a16:creationId xmlns:a16="http://schemas.microsoft.com/office/drawing/2014/main" id="{24DAF0B9-FC38-493D-B475-B3683FFB1220}"/>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-630490045487791289</a:t>
            </a:r>
          </a:p>
        </p:txBody>
      </p:sp>
      <p:pic>
        <p:nvPicPr>
          <p:cNvPr id="8" name="">
            <a:extLst xmlns:a="http://schemas.openxmlformats.org/drawingml/2006/main">
              <a:ext uri="{FF2B5EF4-FFF2-40B4-BE49-F238E27FC236}">
                <a16:creationId xmlns:a16="http://schemas.microsoft.com/office/drawing/2014/main" id="{B8BF940F-083A-4D69-A473-1EBAC87A9E7E}"/>
              </a:ext>
            </a:extLst>
          </p:cNvPr>
          <p:cNvPicPr>
            <a:picLocks xmlns:a="http://schemas.openxmlformats.org/drawingml/2006/main" noChangeAspect="1"/>
          </p:cNvPicPr>
          <p:nvPr/>
        </p:nvPicPr>
        <p:blipFill>
          <a:blip xmlns:r="http://schemas.openxmlformats.org/officeDocument/2006/relationships" xmlns:a="http://schemas.openxmlformats.org/drawingml/2006/main" r:embed="R4859ed66b1254a2e"/>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ACC6DCD-AE41-4648-B3A3-19DAA2B37466}"/>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11.6° (threshold &gt;10°).</a:t>
            </a:r>
          </a:p>
        </p:txBody>
      </p:sp>
      <p:sp>
        <p:nvSpPr>
          <p:cNvPr id="10" name="">
            <a:extLst xmlns:a="http://schemas.openxmlformats.org/drawingml/2006/main">
              <a:ext uri="{FF2B5EF4-FFF2-40B4-BE49-F238E27FC236}">
                <a16:creationId xmlns:a16="http://schemas.microsoft.com/office/drawing/2014/main" id="{C2A84A93-74A6-47D2-9309-988827FD28B1}"/>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PA changes across the orange bar interval. A single adopted bar direction is uncertain.</a:t>
            </a:r>
          </a:p>
        </p:txBody>
      </p:sp>
    </p:spTree>
    <p:extLst>
      <p:ext uri="{BB962C8B-B14F-4D97-AF65-F5344CB8AC3E}">
        <p14:creationId xmlns:p14="http://schemas.microsoft.com/office/powerpoint/2010/main" val="12758105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C84538-09CB-4F3D-B0ED-EEAA4677EED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Weak ellipse bar signature</a:t>
            </a:r>
          </a:p>
        </p:txBody>
      </p:sp>
      <p:sp>
        <p:nvSpPr>
          <p:cNvPr id="2" name="">
            <a:extLst xmlns:a="http://schemas.openxmlformats.org/drawingml/2006/main">
              <a:ext uri="{FF2B5EF4-FFF2-40B4-BE49-F238E27FC236}">
                <a16:creationId xmlns:a16="http://schemas.microsoft.com/office/drawing/2014/main" id="{543B47AD-A9DF-4C9A-8650-D4582394799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13</a:t>
            </a:r>
          </a:p>
        </p:txBody>
      </p:sp>
      <p:sp>
        <p:nvSpPr>
          <p:cNvPr id="3" name="">
            <a:extLst xmlns:a="http://schemas.openxmlformats.org/drawingml/2006/main">
              <a:ext uri="{FF2B5EF4-FFF2-40B4-BE49-F238E27FC236}">
                <a16:creationId xmlns:a16="http://schemas.microsoft.com/office/drawing/2014/main" id="{AF3DA9A1-4289-4869-9393-616BFD9C59FF}"/>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473EC077-2D08-4D73-A4C8-E2CFB92D9759}"/>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2654979879662853093</a:t>
            </a:r>
          </a:p>
        </p:txBody>
      </p:sp>
      <p:pic>
        <p:nvPicPr>
          <p:cNvPr id="5" name="">
            <a:extLst xmlns:a="http://schemas.openxmlformats.org/drawingml/2006/main">
              <a:ext uri="{FF2B5EF4-FFF2-40B4-BE49-F238E27FC236}">
                <a16:creationId xmlns:a16="http://schemas.microsoft.com/office/drawing/2014/main" id="{89F342F5-03B4-4A47-841B-33855B4BD3F0}"/>
              </a:ext>
            </a:extLst>
          </p:cNvPr>
          <p:cNvPicPr>
            <a:picLocks xmlns:a="http://schemas.openxmlformats.org/drawingml/2006/main" noChangeAspect="1"/>
          </p:cNvPicPr>
          <p:nvPr/>
        </p:nvPicPr>
        <p:blipFill>
          <a:blip xmlns:r="http://schemas.openxmlformats.org/officeDocument/2006/relationships" xmlns:a="http://schemas.openxmlformats.org/drawingml/2006/main" r:embed="R99e1f96302534818"/>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5DFAC3C-FD4B-4B16-9142-C100A765F101}"/>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0.180 (threshold &lt;0.25).</a:t>
            </a:r>
          </a:p>
        </p:txBody>
      </p:sp>
      <p:sp>
        <p:nvSpPr>
          <p:cNvPr id="7" name="">
            <a:extLst xmlns:a="http://schemas.openxmlformats.org/drawingml/2006/main">
              <a:ext uri="{FF2B5EF4-FFF2-40B4-BE49-F238E27FC236}">
                <a16:creationId xmlns:a16="http://schemas.microsoft.com/office/drawing/2014/main" id="{0208C140-73CC-4285-B514-4F98D52B252D}"/>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2719973573665957979</a:t>
            </a:r>
          </a:p>
        </p:txBody>
      </p:sp>
      <p:pic>
        <p:nvPicPr>
          <p:cNvPr id="8" name="">
            <a:extLst xmlns:a="http://schemas.openxmlformats.org/drawingml/2006/main">
              <a:ext uri="{FF2B5EF4-FFF2-40B4-BE49-F238E27FC236}">
                <a16:creationId xmlns:a16="http://schemas.microsoft.com/office/drawing/2014/main" id="{DCEE02FB-870F-46FB-9891-CFDA4071851D}"/>
              </a:ext>
            </a:extLst>
          </p:cNvPr>
          <p:cNvPicPr>
            <a:picLocks xmlns:a="http://schemas.openxmlformats.org/drawingml/2006/main" noChangeAspect="1"/>
          </p:cNvPicPr>
          <p:nvPr/>
        </p:nvPicPr>
        <p:blipFill>
          <a:blip xmlns:r="http://schemas.openxmlformats.org/officeDocument/2006/relationships" xmlns:a="http://schemas.openxmlformats.org/drawingml/2006/main" r:embed="Re657796b4da44bb9"/>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8DB5E16-E86E-4D2B-BECF-5CCB3A44D3D2}"/>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0.222 (threshold &lt;0.25).</a:t>
            </a:r>
          </a:p>
        </p:txBody>
      </p:sp>
      <p:sp>
        <p:nvSpPr>
          <p:cNvPr id="10" name="">
            <a:extLst xmlns:a="http://schemas.openxmlformats.org/drawingml/2006/main">
              <a:ext uri="{FF2B5EF4-FFF2-40B4-BE49-F238E27FC236}">
                <a16:creationId xmlns:a16="http://schemas.microsoft.com/office/drawing/2014/main" id="{D944BF8F-E45F-47F6-9628-7FD9596E4D67}"/>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Ellipses in the orange interval are relatively round. This weakens the ellipse-based bar signature, rather than proving there is no bar.</a:t>
            </a:r>
          </a:p>
        </p:txBody>
      </p:sp>
    </p:spTree>
    <p:extLst>
      <p:ext uri="{BB962C8B-B14F-4D97-AF65-F5344CB8AC3E}">
        <p14:creationId xmlns:p14="http://schemas.microsoft.com/office/powerpoint/2010/main" val="1091120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441F058-9B3E-4106-98B3-95D5F731E40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selected interval</a:t>
            </a:r>
          </a:p>
        </p:txBody>
      </p:sp>
      <p:sp>
        <p:nvSpPr>
          <p:cNvPr id="2" name="">
            <a:extLst xmlns:a="http://schemas.openxmlformats.org/drawingml/2006/main">
              <a:ext uri="{FF2B5EF4-FFF2-40B4-BE49-F238E27FC236}">
                <a16:creationId xmlns:a16="http://schemas.microsoft.com/office/drawing/2014/main" id="{035CE1F3-6DF9-4127-880A-E4A5FB0FC81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13</a:t>
            </a:r>
          </a:p>
        </p:txBody>
      </p:sp>
      <p:sp>
        <p:nvSpPr>
          <p:cNvPr id="3" name="">
            <a:extLst xmlns:a="http://schemas.openxmlformats.org/drawingml/2006/main">
              <a:ext uri="{FF2B5EF4-FFF2-40B4-BE49-F238E27FC236}">
                <a16:creationId xmlns:a16="http://schemas.microsoft.com/office/drawing/2014/main" id="{AF25327E-C5DF-4DBF-9F07-27455AC30CFF}"/>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D4715D3A-F6F2-4B34-AC58-FB15BE59C870}"/>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-519246610291156594</a:t>
            </a:r>
          </a:p>
        </p:txBody>
      </p:sp>
      <p:pic>
        <p:nvPicPr>
          <p:cNvPr id="5" name="">
            <a:extLst xmlns:a="http://schemas.openxmlformats.org/drawingml/2006/main">
              <a:ext uri="{FF2B5EF4-FFF2-40B4-BE49-F238E27FC236}">
                <a16:creationId xmlns:a16="http://schemas.microsoft.com/office/drawing/2014/main" id="{533069C3-0313-4C40-9826-4C5AC250DC5B}"/>
              </a:ext>
            </a:extLst>
          </p:cNvPr>
          <p:cNvPicPr>
            <a:picLocks xmlns:a="http://schemas.openxmlformats.org/drawingml/2006/main" noChangeAspect="1"/>
          </p:cNvPicPr>
          <p:nvPr/>
        </p:nvPicPr>
        <p:blipFill>
          <a:blip xmlns:r="http://schemas.openxmlformats.org/officeDocument/2006/relationships" xmlns:a="http://schemas.openxmlformats.org/drawingml/2006/main" r:embed="R3a01ba62f6d54273"/>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9211494-EF31-4B54-9C5D-040131CAC29B}"/>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20.</a:t>
            </a:r>
          </a:p>
        </p:txBody>
      </p:sp>
      <p:sp>
        <p:nvSpPr>
          <p:cNvPr id="7" name="">
            <a:extLst xmlns:a="http://schemas.openxmlformats.org/drawingml/2006/main">
              <a:ext uri="{FF2B5EF4-FFF2-40B4-BE49-F238E27FC236}">
                <a16:creationId xmlns:a16="http://schemas.microsoft.com/office/drawing/2014/main" id="{CF227047-22CB-461A-9B67-FF168B7E2D5C}"/>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-517222724292083077</a:t>
            </a:r>
          </a:p>
        </p:txBody>
      </p:sp>
      <p:pic>
        <p:nvPicPr>
          <p:cNvPr id="8" name="">
            <a:extLst xmlns:a="http://schemas.openxmlformats.org/drawingml/2006/main">
              <a:ext uri="{FF2B5EF4-FFF2-40B4-BE49-F238E27FC236}">
                <a16:creationId xmlns:a16="http://schemas.microsoft.com/office/drawing/2014/main" id="{6A3B4399-A3A3-44F1-8011-698F9A19EEAE}"/>
              </a:ext>
            </a:extLst>
          </p:cNvPr>
          <p:cNvPicPr>
            <a:picLocks xmlns:a="http://schemas.openxmlformats.org/drawingml/2006/main" noChangeAspect="1"/>
          </p:cNvPicPr>
          <p:nvPr/>
        </p:nvPicPr>
        <p:blipFill>
          <a:blip xmlns:r="http://schemas.openxmlformats.org/officeDocument/2006/relationships" xmlns:a="http://schemas.openxmlformats.org/drawingml/2006/main" r:embed="R6934b1d371584d2e"/>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791E858-2FDA-47E2-B42C-1C98F84793CC}"/>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16.</a:t>
            </a:r>
          </a:p>
        </p:txBody>
      </p:sp>
      <p:sp>
        <p:nvSpPr>
          <p:cNvPr id="10" name="">
            <a:extLst xmlns:a="http://schemas.openxmlformats.org/drawingml/2006/main">
              <a:ext uri="{FF2B5EF4-FFF2-40B4-BE49-F238E27FC236}">
                <a16:creationId xmlns:a16="http://schemas.microsoft.com/office/drawing/2014/main" id="{52F00DDE-C38E-4F00-A4AD-F704A4837307}"/>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There are at least ten reliable ellipses overall, but fewer than three in at least one selected bar/disc interval. Candidate ranges are not accepted geometry.</a:t>
            </a:r>
          </a:p>
        </p:txBody>
      </p:sp>
    </p:spTree>
    <p:extLst>
      <p:ext uri="{BB962C8B-B14F-4D97-AF65-F5344CB8AC3E}">
        <p14:creationId xmlns:p14="http://schemas.microsoft.com/office/powerpoint/2010/main" val="8922192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C14731-ECB1-42AB-BCAB-6557B2DE6F5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short reliable profile</a:t>
            </a:r>
          </a:p>
        </p:txBody>
      </p:sp>
      <p:sp>
        <p:nvSpPr>
          <p:cNvPr id="2" name="">
            <a:extLst xmlns:a="http://schemas.openxmlformats.org/drawingml/2006/main">
              <a:ext uri="{FF2B5EF4-FFF2-40B4-BE49-F238E27FC236}">
                <a16:creationId xmlns:a16="http://schemas.microsoft.com/office/drawing/2014/main" id="{4F5A3E2F-AFD8-4996-953C-4177AEDC503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13</a:t>
            </a:r>
          </a:p>
        </p:txBody>
      </p:sp>
      <p:sp>
        <p:nvSpPr>
          <p:cNvPr id="3" name="">
            <a:extLst xmlns:a="http://schemas.openxmlformats.org/drawingml/2006/main">
              <a:ext uri="{FF2B5EF4-FFF2-40B4-BE49-F238E27FC236}">
                <a16:creationId xmlns:a16="http://schemas.microsoft.com/office/drawing/2014/main" id="{79D21391-11F3-47E4-82C9-DB28481B43FD}"/>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53F1DACD-71FC-402D-B7A9-006B6F9E324F}"/>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-550147948285020121</a:t>
            </a:r>
          </a:p>
        </p:txBody>
      </p:sp>
      <p:pic>
        <p:nvPicPr>
          <p:cNvPr id="5" name="">
            <a:extLst xmlns:a="http://schemas.openxmlformats.org/drawingml/2006/main">
              <a:ext uri="{FF2B5EF4-FFF2-40B4-BE49-F238E27FC236}">
                <a16:creationId xmlns:a16="http://schemas.microsoft.com/office/drawing/2014/main" id="{B0BC998F-B23E-411C-BB28-1BAE2840CEE3}"/>
              </a:ext>
            </a:extLst>
          </p:cNvPr>
          <p:cNvPicPr>
            <a:picLocks xmlns:a="http://schemas.openxmlformats.org/drawingml/2006/main" noChangeAspect="1"/>
          </p:cNvPicPr>
          <p:nvPr/>
        </p:nvPicPr>
        <p:blipFill>
          <a:blip xmlns:r="http://schemas.openxmlformats.org/officeDocument/2006/relationships" xmlns:a="http://schemas.openxmlformats.org/drawingml/2006/main" r:embed="R7deeeac16baf465b"/>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2A2455-F745-4204-BCD7-C7FD35E2A3AB}"/>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8 reliable isophotes; inspect profile. Reliable ellipses overall: 8.</a:t>
            </a:r>
          </a:p>
        </p:txBody>
      </p:sp>
      <p:sp>
        <p:nvSpPr>
          <p:cNvPr id="7" name="">
            <a:extLst xmlns:a="http://schemas.openxmlformats.org/drawingml/2006/main">
              <a:ext uri="{FF2B5EF4-FFF2-40B4-BE49-F238E27FC236}">
                <a16:creationId xmlns:a16="http://schemas.microsoft.com/office/drawing/2014/main" id="{6C5A7971-EE35-4184-95AA-66DC3379124F}"/>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-560894756493198556</a:t>
            </a:r>
          </a:p>
        </p:txBody>
      </p:sp>
      <p:pic>
        <p:nvPicPr>
          <p:cNvPr id="8" name="">
            <a:extLst xmlns:a="http://schemas.openxmlformats.org/drawingml/2006/main">
              <a:ext uri="{FF2B5EF4-FFF2-40B4-BE49-F238E27FC236}">
                <a16:creationId xmlns:a16="http://schemas.microsoft.com/office/drawing/2014/main" id="{F09622CA-EDE9-44AC-B667-526A60C33E99}"/>
              </a:ext>
            </a:extLst>
          </p:cNvPr>
          <p:cNvPicPr>
            <a:picLocks xmlns:a="http://schemas.openxmlformats.org/drawingml/2006/main" noChangeAspect="1"/>
          </p:cNvPicPr>
          <p:nvPr/>
        </p:nvPicPr>
        <p:blipFill>
          <a:blip xmlns:r="http://schemas.openxmlformats.org/officeDocument/2006/relationships" xmlns:a="http://schemas.openxmlformats.org/drawingml/2006/main" r:embed="R51d8b60093964522"/>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372E553-B364-40F3-9D74-E99B1C60EA80}"/>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9 reliable isophotes; inspect profile. Reliable ellipses overall: 9.</a:t>
            </a:r>
          </a:p>
        </p:txBody>
      </p:sp>
      <p:sp>
        <p:nvSpPr>
          <p:cNvPr id="10" name="">
            <a:extLst xmlns:a="http://schemas.openxmlformats.org/drawingml/2006/main">
              <a:ext uri="{FF2B5EF4-FFF2-40B4-BE49-F238E27FC236}">
                <a16:creationId xmlns:a16="http://schemas.microsoft.com/office/drawing/2014/main" id="{1A0BE0DB-1DE9-4042-B9E2-7E1EA52243C0}"/>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Fewer than ten ellipses pass the reliability checks overall. The fit stops before adopting bar/disc geometry. Grey samples were rejected.</a:t>
            </a:r>
          </a:p>
        </p:txBody>
      </p:sp>
    </p:spTree>
    <p:extLst>
      <p:ext uri="{BB962C8B-B14F-4D97-AF65-F5344CB8AC3E}">
        <p14:creationId xmlns:p14="http://schemas.microsoft.com/office/powerpoint/2010/main" val="97180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2026-10-20T13:10:35.6200000Z</dcterms:created>
  <dcterms:modified xsi:type="dcterms:W3CDTF">2026-10-20T13:10:35.6200000Z</dcterms:modified>
</coreProperties>
</file>