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b957111fe0a4405" /><Relationship Type="http://schemas.openxmlformats.org/officeDocument/2006/relationships/extended-properties" Target="/docProps/app.xml" Id="R97f57139f02d4f72" /><Relationship Type="http://schemas.openxmlformats.org/officeDocument/2006/relationships/officeDocument" Target="/ppt/presentation.xml" Id="R221d569df02148ad" /></Relationships>
</file>

<file path=ppt/presentation.xml><?xml version="1.0" encoding="utf-8"?>
<p:presentation xmlns:p="http://schemas.openxmlformats.org/presentationml/2006/main">
  <p:sldMasterIdLst>
    <p:sldMasterId xmlns:r="http://schemas.openxmlformats.org/officeDocument/2006/relationships" id="2147483648" r:id="R02e8599f24dd422f"/>
  </p:sldMasterIdLst>
  <p:notesMasterIdLst>
    <p:notesMasterId xmlns:r="http://schemas.openxmlformats.org/officeDocument/2006/relationships" r:id="Re35b9a2fad594e89"/>
  </p:notesMasterIdLst>
  <p:sldIdLst>
    <p:sldId xmlns:r="http://schemas.openxmlformats.org/officeDocument/2006/relationships" id="256" r:id="R81557583a00f47c1"/>
    <p:sldId xmlns:r="http://schemas.openxmlformats.org/officeDocument/2006/relationships" id="257" r:id="Ra675f3d7c5474ce8"/>
    <p:sldId xmlns:r="http://schemas.openxmlformats.org/officeDocument/2006/relationships" id="258" r:id="R6e131c79cfca4478"/>
    <p:sldId xmlns:r="http://schemas.openxmlformats.org/officeDocument/2006/relationships" id="259" r:id="R7f1991940edd4079"/>
    <p:sldId xmlns:r="http://schemas.openxmlformats.org/officeDocument/2006/relationships" id="260" r:id="R81cc654cdd7442e7"/>
    <p:sldId xmlns:r="http://schemas.openxmlformats.org/officeDocument/2006/relationships" id="261" r:id="R5c33aeb9510d4b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deb7fcd9f9492e" /><Relationship Type="http://schemas.openxmlformats.org/officeDocument/2006/relationships/slideMaster" Target="/ppt/slideMasters/slideMaster1.xml" Id="R02e8599f24dd422f" /><Relationship Type="http://schemas.openxmlformats.org/officeDocument/2006/relationships/notesMaster" Target="/ppt/notesMasters/notesMaster1.xml" Id="Re35b9a2fad594e89" /><Relationship Type="http://schemas.openxmlformats.org/officeDocument/2006/relationships/presProps" Target="/ppt/presProps.xml" Id="Rab5374afc7894195" /><Relationship Type="http://schemas.openxmlformats.org/officeDocument/2006/relationships/tableStyles" Target="/ppt/tableStyles.xml" Id="R70b5cf4495a24f1e" /><Relationship Type="http://schemas.openxmlformats.org/officeDocument/2006/relationships/slide" Target="/ppt/slides/slide1.xml" Id="R81557583a00f47c1" /><Relationship Type="http://schemas.openxmlformats.org/officeDocument/2006/relationships/slide" Target="/ppt/slides/slide2.xml" Id="Ra675f3d7c5474ce8" /><Relationship Type="http://schemas.openxmlformats.org/officeDocument/2006/relationships/slide" Target="/ppt/slides/slide3.xml" Id="R6e131c79cfca4478" /><Relationship Type="http://schemas.openxmlformats.org/officeDocument/2006/relationships/slide" Target="/ppt/slides/slide4.xml" Id="R7f1991940edd4079" /><Relationship Type="http://schemas.openxmlformats.org/officeDocument/2006/relationships/slide" Target="/ppt/slides/slide5.xml" Id="R81cc654cdd7442e7" /><Relationship Type="http://schemas.openxmlformats.org/officeDocument/2006/relationships/slide" Target="/ppt/slides/slide6.xml" Id="R5c33aeb9510d4b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016303050c43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45a0d35d4e4058" /><Relationship Type="http://schemas.openxmlformats.org/officeDocument/2006/relationships/notesMaster" Target="/ppt/notesMasters/notesMaster1.xml" Id="Rc74182f9d67b4c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3f668635a14c25" /><Relationship Type="http://schemas.openxmlformats.org/officeDocument/2006/relationships/notesMaster" Target="/ppt/notesMasters/notesMaster1.xml" Id="Rd8f3a59cb6b54c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6df09a3e5a4060" /><Relationship Type="http://schemas.openxmlformats.org/officeDocument/2006/relationships/notesMaster" Target="/ppt/notesMasters/notesMaster1.xml" Id="R970ed43e5ee148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e1b38330724981" /><Relationship Type="http://schemas.openxmlformats.org/officeDocument/2006/relationships/notesMaster" Target="/ppt/notesMasters/notesMaster1.xml" Id="R9f3c65637cd44b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b07f114e9b4c76" /><Relationship Type="http://schemas.openxmlformats.org/officeDocument/2006/relationships/notesMaster" Target="/ppt/notesMasters/notesMaster1.xml" Id="R3360a1f5d1ef40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c02beb760a4f0f" /><Relationship Type="http://schemas.openxmlformats.org/officeDocument/2006/relationships/notesMaster" Target="/ppt/notesMasters/notesMaster1.xml" Id="R6930586767d144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Flag multiplicity computed directly from non-empty semicolon-separated codex_quality_flags for provisional_fit rows: 0=546,1=850,2=497,3=291,4=23. Flagged subtotal1661. All stacked segments use denominator2777. Failed fits are separate and not classified by flag count. Partial coverage is not counted as a geometry flag.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Failure counts are grouped directly from codex_error for codex_fit_status=fit_failed. 431 entries say ValueError: Insufficient bar/disc isophotes in selected radial ranges, triggered when either selected interval has fewer than three reliable isophotes. 138 say Only N reliable isophotes; inspect profile, with N&lt;10. One says Catalogue centre is not on a detected galaxy. These are recorded failure stages, not an independent diagnosis of physical cause. Left chart denominator2207, overlapping flags. Right chart denominator570, exclusive failures. Quality flag counts1210,791,573,200,28,7. 62 partial requested cutouts separately trigger QI.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The observed offset is consistent with POSITION_ANGLE being referenced to the detection image y-axis rather than the documented x-axis, assuming the same rotation sense and major-axis definition. Interpreting a y-referenced value as x-referenced introduces a quarter-turn, cancelled by the additional 90-degree adjustment modulo180. This is a plausible explanation, not a confirmed documentation or pipeline error.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93eaab525f456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8f55d9c67f4eb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782fd1b6ff45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4bc4134bec4d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36ccbb2a604b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dd52abb94544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BA503B-557A-4FEC-BBE9-CDF2A8CD35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BAEF87-EBB9-4790-8FBE-92522A43E7A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84349A-2347-46D4-A409-AF129CD7740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C5B610-CE58-4EE8-8092-C0E544CC53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3388B6A-C5A6-4550-A6C3-19044C5D198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3034A9-9930-4FCD-969F-2D59BCFC21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A66A67-2F51-40FF-88BF-AACDCC1A84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942B55-DB26-4A05-98E8-EF0B8A66612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B818E2-B874-445D-B89E-E39A28100F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E69797-7313-4DFA-AF89-10212E4268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0e0bb17f5e45fb" /><Relationship Type="http://schemas.openxmlformats.org/officeDocument/2006/relationships/slideLayout" Target="/ppt/slideLayouts/slideLayout1.xml" Id="Rb191b54ef4d640e3" /><Relationship Type="http://schemas.openxmlformats.org/officeDocument/2006/relationships/slideLayout" Target="/ppt/slideLayouts/slideLayout2.xml" Id="Ra1eb308dfdc94ea1" /><Relationship Type="http://schemas.openxmlformats.org/officeDocument/2006/relationships/slideLayout" Target="/ppt/slideLayouts/slideLayout3.xml" Id="Ra780a746faa0456c" /><Relationship Type="http://schemas.openxmlformats.org/officeDocument/2006/relationships/slideLayout" Target="/ppt/slideLayouts/slideLayout4.xml" Id="Rd67694397c9942cc" /><Relationship Type="http://schemas.openxmlformats.org/officeDocument/2006/relationships/slideLayout" Target="/ppt/slideLayouts/slideLayout5.xml" Id="R894f6624314c452c" /><Relationship Type="http://schemas.openxmlformats.org/officeDocument/2006/relationships/slideLayout" Target="/ppt/slideLayouts/slideLayout6.xml" Id="R957500da148d4b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91b54ef4d640e3"/>
    <p:sldLayoutId xmlns:r="http://schemas.openxmlformats.org/officeDocument/2006/relationships" id="2147483650" r:id="Ra1eb308dfdc94ea1"/>
    <p:sldLayoutId xmlns:r="http://schemas.openxmlformats.org/officeDocument/2006/relationships" id="2147483651" r:id="Ra780a746faa0456c"/>
    <p:sldLayoutId xmlns:r="http://schemas.openxmlformats.org/officeDocument/2006/relationships" id="2147483652" r:id="Rd67694397c9942cc"/>
    <p:sldLayoutId xmlns:r="http://schemas.openxmlformats.org/officeDocument/2006/relationships" id="2147483653" r:id="R894f6624314c452c"/>
    <p:sldLayoutId xmlns:r="http://schemas.openxmlformats.org/officeDocument/2006/relationships" id="2147483654" r:id="R957500da148d4b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5a303fc15c4653" /><Relationship Type="http://schemas.openxmlformats.org/officeDocument/2006/relationships/notesSlide" Target="/ppt/notesSlides/notesSlide1.xml" Id="R896e245071354f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2185b063562439f" /><Relationship Type="http://schemas.openxmlformats.org/officeDocument/2006/relationships/chart" Target="/ppt/slides/charts/chart1.xml" Id="R2069e045635a4a0d" /><Relationship Type="http://schemas.openxmlformats.org/officeDocument/2006/relationships/notesSlide" Target="/ppt/notesSlides/notesSlide2.xml" Id="R29a4d609885c4c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890499d28a74df1" /><Relationship Type="http://schemas.openxmlformats.org/officeDocument/2006/relationships/chart" Target="/ppt/slides/charts/chart2.xml" Id="Re50b268a0e234432" /><Relationship Type="http://schemas.openxmlformats.org/officeDocument/2006/relationships/chart" Target="/ppt/slides/charts/chart3.xml" Id="Rc0f83cc1e86248cc" /><Relationship Type="http://schemas.openxmlformats.org/officeDocument/2006/relationships/notesSlide" Target="/ppt/notesSlides/notesSlide3.xml" Id="R881136c9671b46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530b6b7a054a53" /><Relationship Type="http://schemas.openxmlformats.org/officeDocument/2006/relationships/notesSlide" Target="/ppt/notesSlides/notesSlide4.xml" Id="Rd6498d7a5abf40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87c01134d514462" /><Relationship Type="http://schemas.openxmlformats.org/officeDocument/2006/relationships/image" Target="/ppt/media/image.png" Id="Ra2efc4a1498a43a7" /><Relationship Type="http://schemas.openxmlformats.org/officeDocument/2006/relationships/notesSlide" Target="/ppt/notesSlides/notesSlide5.xml" Id="R9cbc0ba2082749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8dce2d2b7674523" /><Relationship Type="http://schemas.openxmlformats.org/officeDocument/2006/relationships/notesSlide" Target="/ppt/notesSlides/notesSlide6.xml" Id="Rd7df77618381483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No flags</c:v>
          </c:tx>
          <c:spPr>
            <a:solidFill xmlns:a="http://schemas.openxmlformats.org/drawingml/2006/main">
              <a:srgbClr val="367A8C"/>
            </a:solidFill>
          </c:spPr>
          <c:invertIfNegative val="0"/>
          <c:cat>
            <c:strRef>
              <c:f>'Chart Data'!$A$2:$A$4</c:f>
              <c:strCache>
                <c:ptCount val="3"/>
                <c:pt idx="0">
                  <c:v>No geometry flags</c:v>
                </c:pt>
                <c:pt idx="1">
                  <c:v>Flagged fit</c:v>
                </c:pt>
                <c:pt idx="2">
                  <c:v>Failed fit</c:v>
                </c:pt>
              </c:strCache>
            </c:strRef>
          </c:cat>
          <c:val>
            <c:numRef>
              <c:f>'Chart Data'!$B$2:$B$4</c:f>
              <c:numCache>
                <c:formatCode>0.0%</c:formatCode>
                <c:ptCount val="3"/>
                <c:pt idx="0">
                  <c:v>0.196615</c:v>
                </c:pt>
                <c:pt idx="1">
                  <c:v>0</c:v>
                </c:pt>
                <c:pt idx="2">
                  <c:v>0</c:v>
                </c:pt>
              </c:numCache>
            </c:numRef>
          </c:val>
        </c:ser>
        <c:ser>
          <c:idx val="1"/>
          <c:order val="1"/>
          <c:tx>
            <c:v>1 flag</c:v>
          </c:tx>
          <c:spPr>
            <a:solidFill xmlns:a="http://schemas.openxmlformats.org/drawingml/2006/main">
              <a:srgbClr val="E5BB66"/>
            </a:solidFill>
          </c:spPr>
          <c:invertIfNegative val="0"/>
          <c:cat>
            <c:strRef>
              <c:f>'Chart Data'!$C$2:$C$4</c:f>
              <c:strCache>
                <c:ptCount val="3"/>
                <c:pt idx="0">
                  <c:v>No geometry flags</c:v>
                </c:pt>
                <c:pt idx="1">
                  <c:v>Flagged fit</c:v>
                </c:pt>
                <c:pt idx="2">
                  <c:v>Failed fit</c:v>
                </c:pt>
              </c:strCache>
            </c:strRef>
          </c:cat>
          <c:val>
            <c:numRef>
              <c:f>'Chart Data'!$D$2:$D$4</c:f>
              <c:numCache>
                <c:formatCode>0.0%</c:formatCode>
                <c:ptCount val="3"/>
                <c:pt idx="0">
                  <c:v>0</c:v>
                </c:pt>
                <c:pt idx="1">
                  <c:v>0.306086</c:v>
                </c:pt>
                <c:pt idx="2">
                  <c:v>0</c:v>
                </c:pt>
              </c:numCache>
            </c:numRef>
          </c:val>
        </c:ser>
        <c:ser>
          <c:idx val="2"/>
          <c:order val="2"/>
          <c:tx>
            <c:v>2 flags</c:v>
          </c:tx>
          <c:spPr>
            <a:solidFill xmlns:a="http://schemas.openxmlformats.org/drawingml/2006/main">
              <a:srgbClr val="CC9637"/>
            </a:solidFill>
          </c:spPr>
          <c:invertIfNegative val="0"/>
          <c:cat>
            <c:strRef>
              <c:f>'Chart Data'!$E$2:$E$4</c:f>
              <c:strCache>
                <c:ptCount val="3"/>
                <c:pt idx="0">
                  <c:v>No geometry flags</c:v>
                </c:pt>
                <c:pt idx="1">
                  <c:v>Flagged fit</c:v>
                </c:pt>
                <c:pt idx="2">
                  <c:v>Failed fit</c:v>
                </c:pt>
              </c:strCache>
            </c:strRef>
          </c:cat>
          <c:val>
            <c:numRef>
              <c:f>'Chart Data'!$F$2:$F$4</c:f>
              <c:numCache>
                <c:formatCode>0.0%</c:formatCode>
                <c:ptCount val="3"/>
                <c:pt idx="0">
                  <c:v>0</c:v>
                </c:pt>
                <c:pt idx="1">
                  <c:v>0.17897</c:v>
                </c:pt>
                <c:pt idx="2">
                  <c:v>0</c:v>
                </c:pt>
              </c:numCache>
            </c:numRef>
          </c:val>
        </c:ser>
        <c:ser>
          <c:idx val="3"/>
          <c:order val="3"/>
          <c:tx>
            <c:v>3 flags</c:v>
          </c:tx>
          <c:spPr>
            <a:solidFill xmlns:a="http://schemas.openxmlformats.org/drawingml/2006/main">
              <a:srgbClr val="A66B24"/>
            </a:solidFill>
          </c:spPr>
          <c:invertIfNegative val="0"/>
          <c:cat>
            <c:strRef>
              <c:f>'Chart Data'!$G$2:$G$4</c:f>
              <c:strCache>
                <c:ptCount val="3"/>
                <c:pt idx="0">
                  <c:v>No geometry flags</c:v>
                </c:pt>
                <c:pt idx="1">
                  <c:v>Flagged fit</c:v>
                </c:pt>
                <c:pt idx="2">
                  <c:v>Failed fit</c:v>
                </c:pt>
              </c:strCache>
            </c:strRef>
          </c:cat>
          <c:val>
            <c:numRef>
              <c:f>'Chart Data'!$H$2:$H$4</c:f>
              <c:numCache>
                <c:formatCode>0.0%</c:formatCode>
                <c:ptCount val="3"/>
                <c:pt idx="0">
                  <c:v>0</c:v>
                </c:pt>
                <c:pt idx="1">
                  <c:v>0.104789</c:v>
                </c:pt>
                <c:pt idx="2">
                  <c:v>0</c:v>
                </c:pt>
              </c:numCache>
            </c:numRef>
          </c:val>
        </c:ser>
        <c:ser>
          <c:idx val="4"/>
          <c:order val="4"/>
          <c:tx>
            <c:v>4 flags</c:v>
          </c:tx>
          <c:spPr>
            <a:solidFill xmlns:a="http://schemas.openxmlformats.org/drawingml/2006/main">
              <a:srgbClr val="72441C"/>
            </a:solidFill>
          </c:spPr>
          <c:invertIfNegative val="0"/>
          <c:cat>
            <c:strRef>
              <c:f>'Chart Data'!$I$2:$I$4</c:f>
              <c:strCache>
                <c:ptCount val="3"/>
                <c:pt idx="0">
                  <c:v>No geometry flags</c:v>
                </c:pt>
                <c:pt idx="1">
                  <c:v>Flagged fit</c:v>
                </c:pt>
                <c:pt idx="2">
                  <c:v>Failed fit</c:v>
                </c:pt>
              </c:strCache>
            </c:strRef>
          </c:cat>
          <c:val>
            <c:numRef>
              <c:f>'Chart Data'!$J$2:$J$4</c:f>
              <c:numCache>
                <c:formatCode>0.0%</c:formatCode>
                <c:ptCount val="3"/>
                <c:pt idx="0">
                  <c:v>0</c:v>
                </c:pt>
                <c:pt idx="1">
                  <c:v>0.008282</c:v>
                </c:pt>
                <c:pt idx="2">
                  <c:v>0</c:v>
                </c:pt>
              </c:numCache>
            </c:numRef>
          </c:val>
        </c:ser>
        <c:ser>
          <c:idx val="5"/>
          <c:order val="5"/>
          <c:tx>
            <c:v>Failed</c:v>
          </c:tx>
          <c:spPr>
            <a:solidFill xmlns:a="http://schemas.openxmlformats.org/drawingml/2006/main">
              <a:srgbClr val="AC4B47"/>
            </a:solidFill>
          </c:spPr>
          <c:invertIfNegative val="0"/>
          <c:cat>
            <c:strRef>
              <c:f>'Chart Data'!$K$2:$K$4</c:f>
              <c:strCache>
                <c:ptCount val="3"/>
                <c:pt idx="0">
                  <c:v>No geometry flags</c:v>
                </c:pt>
                <c:pt idx="1">
                  <c:v>Flagged fit</c:v>
                </c:pt>
                <c:pt idx="2">
                  <c:v>Failed fit</c:v>
                </c:pt>
              </c:strCache>
            </c:strRef>
          </c:cat>
          <c:val>
            <c:numRef>
              <c:f>'Chart Data'!$L$2:$L$4</c:f>
              <c:numCache>
                <c:formatCode>0.0%</c:formatCode>
                <c:ptCount val="3"/>
                <c:pt idx="0">
                  <c:v>0</c:v>
                </c:pt>
                <c:pt idx="1">
                  <c:v>0</c:v>
                </c:pt>
                <c:pt idx="2">
                  <c:v>0.205258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Share of fitted galaxies</c:v>
          </c:tx>
          <c:spPr>
            <a:solidFill xmlns:a="http://schemas.openxmlformats.org/drawingml/2006/main">
              <a:srgbClr val="C18B28"/>
            </a:solidFill>
          </c:spPr>
          <c:invertIfNegative val="0"/>
          <c:cat>
            <c:strRef>
              <c:f>'Chart Data'!$A$2:$A$7</c:f>
              <c:strCache>
                <c:ptCount val="6"/>
                <c:pt idx="0">
                  <c:v>Small bar interval</c:v>
                </c:pt>
                <c:pt idx="1">
                  <c:v>Unstable disc PA</c:v>
                </c:pt>
                <c:pt idx="2">
                  <c:v>Changing disc shape</c:v>
                </c:pt>
                <c:pt idx="3">
                  <c:v>Nearly face on</c:v>
                </c:pt>
                <c:pt idx="4">
                  <c:v>Unstable bar PA</c:v>
                </c:pt>
                <c:pt idx="5">
                  <c:v>Weak bar signature</c:v>
                </c:pt>
              </c:strCache>
            </c:strRef>
          </c:cat>
          <c:val>
            <c:numRef>
              <c:f>'Chart Data'!$B$2:$B$7</c:f>
              <c:numCache>
                <c:formatCode>0.0%</c:formatCode>
                <c:ptCount val="6"/>
                <c:pt idx="0">
                  <c:v>0.548256</c:v>
                </c:pt>
                <c:pt idx="1">
                  <c:v>0.358405</c:v>
                </c:pt>
                <c:pt idx="2">
                  <c:v>0.259628</c:v>
                </c:pt>
                <c:pt idx="3">
                  <c:v>0.090621</c:v>
                </c:pt>
                <c:pt idx="4">
                  <c:v>0.012687</c:v>
                </c:pt>
                <c:pt idx="5">
                  <c:v>0.003172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failures</c:v>
          </c:tx>
          <c:spPr>
            <a:solidFill xmlns:a="http://schemas.openxmlformats.org/drawingml/2006/main">
              <a:srgbClr val="AC4B47"/>
            </a:solidFill>
          </c:spPr>
          <c:invertIfNegative val="0"/>
          <c:cat>
            <c:strRef>
              <c:f>'Chart Data'!$A$2:$A$4</c:f>
              <c:strCache>
                <c:ptCount val="3"/>
                <c:pt idx="0">
                  <c:v>Interval</c:v>
                </c:pt>
                <c:pt idx="1">
                  <c:v>Short profile</c:v>
                </c:pt>
                <c:pt idx="2">
                  <c:v>Centre</c:v>
                </c:pt>
              </c:strCache>
            </c:strRef>
          </c:cat>
          <c:val>
            <c:numRef>
              <c:f>'Chart Data'!$B$2:$B$4</c:f>
              <c:numCache>
                <c:formatCode>0.0%</c:formatCode>
                <c:ptCount val="3"/>
                <c:pt idx="0">
                  <c:v>0.75614</c:v>
                </c:pt>
                <c:pt idx="1">
                  <c:v>0.242105</c:v>
                </c:pt>
                <c:pt idx="2">
                  <c:v>0.001754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30CEE4-A477-4EB0-AD51-512CCD50EA2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488CE39E-C316-4438-886B-9AC8717BFFD4}"/>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DBFC9886-14B5-4712-AA2A-5862BE52F12B}"/>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34827221-A129-4FEF-88B5-C2B2CC1580E2}"/>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E494BE37-FBEA-4F10-B261-F977583C6327}"/>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0EDB744A-3D43-4469-B395-D10BD0128D25}"/>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9030602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470FC6F-6CC1-48B3-A5D0-8C9A96B7ED8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 by number of flags</a:t>
            </a:r>
          </a:p>
        </p:txBody>
      </p:sp>
      <p:sp>
        <p:nvSpPr>
          <p:cNvPr id="2" name="">
            <a:extLst xmlns:a="http://schemas.openxmlformats.org/drawingml/2006/main">
              <a:ext uri="{FF2B5EF4-FFF2-40B4-BE49-F238E27FC236}">
                <a16:creationId xmlns:a16="http://schemas.microsoft.com/office/drawing/2014/main" id="{035EC1F1-A70D-4CA8-BA62-15B70A0801AD}"/>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sp>
        <p:nvSpPr>
          <p:cNvPr id="3" name="">
            <a:extLst xmlns:a="http://schemas.openxmlformats.org/drawingml/2006/main">
              <a:ext uri="{FF2B5EF4-FFF2-40B4-BE49-F238E27FC236}">
                <a16:creationId xmlns:a16="http://schemas.microsoft.com/office/drawing/2014/main" id="{AA4A9741-AC3C-45BC-A19F-90C98A05559D}"/>
              </a:ext>
            </a:extLst>
          </p:cNvPr>
          <p:cNvSpPr>
            <a:spLocks xmlns:a="http://schemas.openxmlformats.org/drawingml/2006/main" noGrp="1"/>
          </p:cNvSpPr>
          <p:nvPr/>
        </p:nvSpPr>
        <p:spPr>
          <a:xfrm xmlns:a="http://schemas.openxmlformats.org/drawingml/2006/main">
            <a:off x="609600" y="12954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3"/>
                </a:solidFill>
                <a:latin typeface="Arial"/>
                <a:ea typeface="Arial"/>
                <a:cs typeface="Arial"/>
              </a:defRPr>
            </a:defPPr>
            <a:lvl1pPr>
              <a:defRPr sz="1875" b="0">
                <a:solidFill>
                  <a:srgbClr val="526673"/>
                </a:solidFill>
                <a:latin typeface="Arial"/>
                <a:ea typeface="Arial"/>
                <a:cs typeface="Arial"/>
              </a:defRPr>
            </a:lvl1pPr>
            <a:lvl2pPr>
              <a:defRPr sz="1875" b="0">
                <a:solidFill>
                  <a:srgbClr val="526673"/>
                </a:solidFill>
                <a:latin typeface="Arial"/>
                <a:ea typeface="Arial"/>
                <a:cs typeface="Arial"/>
              </a:defRPr>
            </a:lvl2pPr>
            <a:lvl3pPr>
              <a:defRPr sz="1875" b="0">
                <a:solidFill>
                  <a:srgbClr val="526673"/>
                </a:solidFill>
                <a:latin typeface="Arial"/>
                <a:ea typeface="Arial"/>
                <a:cs typeface="Arial"/>
              </a:defRPr>
            </a:lvl3pPr>
            <a:lvl4pPr>
              <a:defRPr sz="1875" b="0">
                <a:solidFill>
                  <a:srgbClr val="526673"/>
                </a:solidFill>
                <a:latin typeface="Arial"/>
                <a:ea typeface="Arial"/>
                <a:cs typeface="Arial"/>
              </a:defRPr>
            </a:lvl4pPr>
            <a:lvl5pPr>
              <a:defRPr sz="1875" b="0">
                <a:solidFill>
                  <a:srgbClr val="526673"/>
                </a:solidFill>
                <a:latin typeface="Arial"/>
                <a:ea typeface="Arial"/>
                <a:cs typeface="Arial"/>
              </a:defRPr>
            </a:lvl5pPr>
            <a:lvl6pPr>
              <a:defRPr sz="1875" b="0">
                <a:solidFill>
                  <a:srgbClr val="526673"/>
                </a:solidFill>
                <a:latin typeface="Arial"/>
                <a:ea typeface="Arial"/>
                <a:cs typeface="Arial"/>
              </a:defRPr>
            </a:lvl6pPr>
            <a:lvl7pPr>
              <a:defRPr sz="1875" b="0">
                <a:solidFill>
                  <a:srgbClr val="526673"/>
                </a:solidFill>
                <a:latin typeface="Arial"/>
                <a:ea typeface="Arial"/>
                <a:cs typeface="Arial"/>
              </a:defRPr>
            </a:lvl7pPr>
            <a:lvl8pPr>
              <a:defRPr sz="1875" b="0">
                <a:solidFill>
                  <a:srgbClr val="526673"/>
                </a:solidFill>
                <a:latin typeface="Arial"/>
                <a:ea typeface="Arial"/>
                <a:cs typeface="Arial"/>
              </a:defRPr>
            </a:lvl8pPr>
            <a:lvl9pPr>
              <a:defRPr sz="1875" b="0">
                <a:solidFill>
                  <a:srgbClr val="526673"/>
                </a:solidFill>
                <a:latin typeface="Arial"/>
                <a:ea typeface="Arial"/>
                <a:cs typeface="Arial"/>
              </a:defRPr>
            </a:lvl9pPr>
          </a:lstStyle>
          <a:p xmlns:a="http://schemas.openxmlformats.org/drawingml/2006/main">
            <a:pPr>
              <a:defRPr sz="1875" b="0">
                <a:solidFill>
                  <a:srgbClr val="526673"/>
                </a:solidFill>
                <a:latin typeface="Arial"/>
                <a:ea typeface="Arial"/>
                <a:cs typeface="Arial"/>
              </a:defRPr>
            </a:pPr>
            <a:r>
              <a:rPr sz="1875" b="0">
                <a:solidFill>
                  <a:srgbClr val="526673"/>
                </a:solidFill>
                <a:latin typeface="Arial"/>
                <a:ea typeface="Arial"/>
                <a:cs typeface="Arial"/>
              </a:rPr>
              <a:t>Percentage of all 2,777 galaxies</a:t>
            </a:r>
          </a:p>
        </p:txBody>
      </p:sp>
      <p:graphicFrame>
        <p:nvGraphicFramePr>
          <p:cNvPr id="4" name="Chart">
            <a:extLst xmlns:a="http://schemas.openxmlformats.org/drawingml/2006/main">
              <a:ext uri="{FF2B5EF4-FFF2-40B4-BE49-F238E27FC236}">
                <a16:creationId xmlns:a16="http://schemas.microsoft.com/office/drawing/2014/main" id="{343A6E50-C9AD-4598-8BD7-E7CD25E93C98}"/>
              </a:ext>
            </a:extLst>
          </p:cNvPr>
          <p:cNvGraphicFramePr/>
          <p:nvPr/>
        </p:nvGraphicFramePr>
        <p:xfrm>
          <a:off xmlns:a="http://schemas.openxmlformats.org/drawingml/2006/main" x="609600" y="176212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2069e045635a4a0d"/>
          </a:graphicData>
        </a:graphic>
      </p:graphicFrame>
      <p:sp>
        <p:nvSpPr>
          <p:cNvPr id="5" name="">
            <a:extLst xmlns:a="http://schemas.openxmlformats.org/drawingml/2006/main">
              <a:ext uri="{FF2B5EF4-FFF2-40B4-BE49-F238E27FC236}">
                <a16:creationId xmlns:a16="http://schemas.microsoft.com/office/drawing/2014/main" id="{25923F12-AAB0-4C40-B0BB-D5EAC48829FB}"/>
              </a:ext>
            </a:extLst>
          </p:cNvPr>
          <p:cNvSpPr>
            <a:spLocks xmlns:a="http://schemas.openxmlformats.org/drawingml/2006/main" noGrp="1"/>
          </p:cNvSpPr>
          <p:nvPr/>
        </p:nvSpPr>
        <p:spPr>
          <a:xfrm xmlns:a="http://schemas.openxmlformats.org/drawingml/2006/main">
            <a:off x="8286750" y="171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Flagged fit: 59.8% total</a:t>
            </a:r>
          </a:p>
        </p:txBody>
      </p:sp>
      <p:sp>
        <p:nvSpPr>
          <p:cNvPr id="6" name="">
            <a:extLst xmlns:a="http://schemas.openxmlformats.org/drawingml/2006/main">
              <a:ext uri="{FF2B5EF4-FFF2-40B4-BE49-F238E27FC236}">
                <a16:creationId xmlns:a16="http://schemas.microsoft.com/office/drawing/2014/main" id="{345F2161-B9CA-40B4-B6A2-F0E3061133F7}"/>
              </a:ext>
            </a:extLst>
          </p:cNvPr>
          <p:cNvSpPr>
            <a:spLocks xmlns:a="http://schemas.openxmlformats.org/drawingml/2006/main" noGrp="1"/>
          </p:cNvSpPr>
          <p:nvPr/>
        </p:nvSpPr>
        <p:spPr>
          <a:xfrm xmlns:a="http://schemas.openxmlformats.org/drawingml/2006/main">
            <a:off x="8286750" y="23336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E5BB66"/>
                </a:solidFill>
                <a:latin typeface="Arial"/>
                <a:ea typeface="Arial"/>
                <a:cs typeface="Arial"/>
              </a:defRPr>
            </a:defPPr>
            <a:lvl1pPr>
              <a:defRPr sz="1875" b="1">
                <a:solidFill>
                  <a:srgbClr val="E5BB66"/>
                </a:solidFill>
                <a:latin typeface="Arial"/>
                <a:ea typeface="Arial"/>
                <a:cs typeface="Arial"/>
              </a:defRPr>
            </a:lvl1pPr>
            <a:lvl2pPr>
              <a:defRPr sz="1875" b="1">
                <a:solidFill>
                  <a:srgbClr val="E5BB66"/>
                </a:solidFill>
                <a:latin typeface="Arial"/>
                <a:ea typeface="Arial"/>
                <a:cs typeface="Arial"/>
              </a:defRPr>
            </a:lvl2pPr>
            <a:lvl3pPr>
              <a:defRPr sz="1875" b="1">
                <a:solidFill>
                  <a:srgbClr val="E5BB66"/>
                </a:solidFill>
                <a:latin typeface="Arial"/>
                <a:ea typeface="Arial"/>
                <a:cs typeface="Arial"/>
              </a:defRPr>
            </a:lvl3pPr>
            <a:lvl4pPr>
              <a:defRPr sz="1875" b="1">
                <a:solidFill>
                  <a:srgbClr val="E5BB66"/>
                </a:solidFill>
                <a:latin typeface="Arial"/>
                <a:ea typeface="Arial"/>
                <a:cs typeface="Arial"/>
              </a:defRPr>
            </a:lvl4pPr>
            <a:lvl5pPr>
              <a:defRPr sz="1875" b="1">
                <a:solidFill>
                  <a:srgbClr val="E5BB66"/>
                </a:solidFill>
                <a:latin typeface="Arial"/>
                <a:ea typeface="Arial"/>
                <a:cs typeface="Arial"/>
              </a:defRPr>
            </a:lvl5pPr>
            <a:lvl6pPr>
              <a:defRPr sz="1875" b="1">
                <a:solidFill>
                  <a:srgbClr val="E5BB66"/>
                </a:solidFill>
                <a:latin typeface="Arial"/>
                <a:ea typeface="Arial"/>
                <a:cs typeface="Arial"/>
              </a:defRPr>
            </a:lvl6pPr>
            <a:lvl7pPr>
              <a:defRPr sz="1875" b="1">
                <a:solidFill>
                  <a:srgbClr val="E5BB66"/>
                </a:solidFill>
                <a:latin typeface="Arial"/>
                <a:ea typeface="Arial"/>
                <a:cs typeface="Arial"/>
              </a:defRPr>
            </a:lvl7pPr>
            <a:lvl8pPr>
              <a:defRPr sz="1875" b="1">
                <a:solidFill>
                  <a:srgbClr val="E5BB66"/>
                </a:solidFill>
                <a:latin typeface="Arial"/>
                <a:ea typeface="Arial"/>
                <a:cs typeface="Arial"/>
              </a:defRPr>
            </a:lvl8pPr>
            <a:lvl9pPr>
              <a:defRPr sz="1875" b="1">
                <a:solidFill>
                  <a:srgbClr val="E5BB66"/>
                </a:solidFill>
                <a:latin typeface="Arial"/>
                <a:ea typeface="Arial"/>
                <a:cs typeface="Arial"/>
              </a:defRPr>
            </a:lvl9pPr>
          </a:lstStyle>
          <a:p xmlns:a="http://schemas.openxmlformats.org/drawingml/2006/main">
            <a:pPr>
              <a:defRPr sz="1875" b="1">
                <a:solidFill>
                  <a:srgbClr val="E5BB66"/>
                </a:solidFill>
                <a:latin typeface="Arial"/>
                <a:ea typeface="Arial"/>
                <a:cs typeface="Arial"/>
              </a:defRPr>
            </a:pPr>
            <a:r>
              <a:rPr sz="1875" b="1">
                <a:solidFill>
                  <a:srgbClr val="E5BB66"/>
                </a:solidFill>
                <a:latin typeface="Arial"/>
                <a:ea typeface="Arial"/>
                <a:cs typeface="Arial"/>
              </a:rPr>
              <a:t>1 flag: 850 (30.6%)</a:t>
            </a:r>
          </a:p>
        </p:txBody>
      </p:sp>
      <p:sp>
        <p:nvSpPr>
          <p:cNvPr id="7" name="">
            <a:extLst xmlns:a="http://schemas.openxmlformats.org/drawingml/2006/main">
              <a:ext uri="{FF2B5EF4-FFF2-40B4-BE49-F238E27FC236}">
                <a16:creationId xmlns:a16="http://schemas.microsoft.com/office/drawing/2014/main" id="{C2BB9D67-4AC0-4256-BA6E-D31990451A38}"/>
              </a:ext>
            </a:extLst>
          </p:cNvPr>
          <p:cNvSpPr>
            <a:spLocks xmlns:a="http://schemas.openxmlformats.org/drawingml/2006/main" noGrp="1"/>
          </p:cNvSpPr>
          <p:nvPr/>
        </p:nvSpPr>
        <p:spPr>
          <a:xfrm xmlns:a="http://schemas.openxmlformats.org/drawingml/2006/main">
            <a:off x="8286750" y="28575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C9637"/>
                </a:solidFill>
                <a:latin typeface="Arial"/>
                <a:ea typeface="Arial"/>
                <a:cs typeface="Arial"/>
              </a:defRPr>
            </a:defPPr>
            <a:lvl1pPr>
              <a:defRPr sz="1875" b="1">
                <a:solidFill>
                  <a:srgbClr val="CC9637"/>
                </a:solidFill>
                <a:latin typeface="Arial"/>
                <a:ea typeface="Arial"/>
                <a:cs typeface="Arial"/>
              </a:defRPr>
            </a:lvl1pPr>
            <a:lvl2pPr>
              <a:defRPr sz="1875" b="1">
                <a:solidFill>
                  <a:srgbClr val="CC9637"/>
                </a:solidFill>
                <a:latin typeface="Arial"/>
                <a:ea typeface="Arial"/>
                <a:cs typeface="Arial"/>
              </a:defRPr>
            </a:lvl2pPr>
            <a:lvl3pPr>
              <a:defRPr sz="1875" b="1">
                <a:solidFill>
                  <a:srgbClr val="CC9637"/>
                </a:solidFill>
                <a:latin typeface="Arial"/>
                <a:ea typeface="Arial"/>
                <a:cs typeface="Arial"/>
              </a:defRPr>
            </a:lvl3pPr>
            <a:lvl4pPr>
              <a:defRPr sz="1875" b="1">
                <a:solidFill>
                  <a:srgbClr val="CC9637"/>
                </a:solidFill>
                <a:latin typeface="Arial"/>
                <a:ea typeface="Arial"/>
                <a:cs typeface="Arial"/>
              </a:defRPr>
            </a:lvl4pPr>
            <a:lvl5pPr>
              <a:defRPr sz="1875" b="1">
                <a:solidFill>
                  <a:srgbClr val="CC9637"/>
                </a:solidFill>
                <a:latin typeface="Arial"/>
                <a:ea typeface="Arial"/>
                <a:cs typeface="Arial"/>
              </a:defRPr>
            </a:lvl5pPr>
            <a:lvl6pPr>
              <a:defRPr sz="1875" b="1">
                <a:solidFill>
                  <a:srgbClr val="CC9637"/>
                </a:solidFill>
                <a:latin typeface="Arial"/>
                <a:ea typeface="Arial"/>
                <a:cs typeface="Arial"/>
              </a:defRPr>
            </a:lvl6pPr>
            <a:lvl7pPr>
              <a:defRPr sz="1875" b="1">
                <a:solidFill>
                  <a:srgbClr val="CC9637"/>
                </a:solidFill>
                <a:latin typeface="Arial"/>
                <a:ea typeface="Arial"/>
                <a:cs typeface="Arial"/>
              </a:defRPr>
            </a:lvl7pPr>
            <a:lvl8pPr>
              <a:defRPr sz="1875" b="1">
                <a:solidFill>
                  <a:srgbClr val="CC9637"/>
                </a:solidFill>
                <a:latin typeface="Arial"/>
                <a:ea typeface="Arial"/>
                <a:cs typeface="Arial"/>
              </a:defRPr>
            </a:lvl8pPr>
            <a:lvl9pPr>
              <a:defRPr sz="1875" b="1">
                <a:solidFill>
                  <a:srgbClr val="CC9637"/>
                </a:solidFill>
                <a:latin typeface="Arial"/>
                <a:ea typeface="Arial"/>
                <a:cs typeface="Arial"/>
              </a:defRPr>
            </a:lvl9pPr>
          </a:lstStyle>
          <a:p xmlns:a="http://schemas.openxmlformats.org/drawingml/2006/main">
            <a:pPr>
              <a:defRPr sz="1875" b="1">
                <a:solidFill>
                  <a:srgbClr val="CC9637"/>
                </a:solidFill>
                <a:latin typeface="Arial"/>
                <a:ea typeface="Arial"/>
                <a:cs typeface="Arial"/>
              </a:defRPr>
            </a:pPr>
            <a:r>
              <a:rPr sz="1875" b="1">
                <a:solidFill>
                  <a:srgbClr val="CC9637"/>
                </a:solidFill>
                <a:latin typeface="Arial"/>
                <a:ea typeface="Arial"/>
                <a:cs typeface="Arial"/>
              </a:rPr>
              <a:t>2 flags: 497 (17.9%)</a:t>
            </a:r>
          </a:p>
        </p:txBody>
      </p:sp>
      <p:sp>
        <p:nvSpPr>
          <p:cNvPr id="8" name="">
            <a:extLst xmlns:a="http://schemas.openxmlformats.org/drawingml/2006/main">
              <a:ext uri="{FF2B5EF4-FFF2-40B4-BE49-F238E27FC236}">
                <a16:creationId xmlns:a16="http://schemas.microsoft.com/office/drawing/2014/main" id="{097ED609-6CBD-4A61-8F32-027473E691E8}"/>
              </a:ext>
            </a:extLst>
          </p:cNvPr>
          <p:cNvSpPr>
            <a:spLocks xmlns:a="http://schemas.openxmlformats.org/drawingml/2006/main" noGrp="1"/>
          </p:cNvSpPr>
          <p:nvPr/>
        </p:nvSpPr>
        <p:spPr>
          <a:xfrm xmlns:a="http://schemas.openxmlformats.org/drawingml/2006/main">
            <a:off x="8286750" y="338137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66B24"/>
                </a:solidFill>
                <a:latin typeface="Arial"/>
                <a:ea typeface="Arial"/>
                <a:cs typeface="Arial"/>
              </a:defRPr>
            </a:defPPr>
            <a:lvl1pPr>
              <a:defRPr sz="1875" b="1">
                <a:solidFill>
                  <a:srgbClr val="A66B24"/>
                </a:solidFill>
                <a:latin typeface="Arial"/>
                <a:ea typeface="Arial"/>
                <a:cs typeface="Arial"/>
              </a:defRPr>
            </a:lvl1pPr>
            <a:lvl2pPr>
              <a:defRPr sz="1875" b="1">
                <a:solidFill>
                  <a:srgbClr val="A66B24"/>
                </a:solidFill>
                <a:latin typeface="Arial"/>
                <a:ea typeface="Arial"/>
                <a:cs typeface="Arial"/>
              </a:defRPr>
            </a:lvl2pPr>
            <a:lvl3pPr>
              <a:defRPr sz="1875" b="1">
                <a:solidFill>
                  <a:srgbClr val="A66B24"/>
                </a:solidFill>
                <a:latin typeface="Arial"/>
                <a:ea typeface="Arial"/>
                <a:cs typeface="Arial"/>
              </a:defRPr>
            </a:lvl3pPr>
            <a:lvl4pPr>
              <a:defRPr sz="1875" b="1">
                <a:solidFill>
                  <a:srgbClr val="A66B24"/>
                </a:solidFill>
                <a:latin typeface="Arial"/>
                <a:ea typeface="Arial"/>
                <a:cs typeface="Arial"/>
              </a:defRPr>
            </a:lvl4pPr>
            <a:lvl5pPr>
              <a:defRPr sz="1875" b="1">
                <a:solidFill>
                  <a:srgbClr val="A66B24"/>
                </a:solidFill>
                <a:latin typeface="Arial"/>
                <a:ea typeface="Arial"/>
                <a:cs typeface="Arial"/>
              </a:defRPr>
            </a:lvl5pPr>
            <a:lvl6pPr>
              <a:defRPr sz="1875" b="1">
                <a:solidFill>
                  <a:srgbClr val="A66B24"/>
                </a:solidFill>
                <a:latin typeface="Arial"/>
                <a:ea typeface="Arial"/>
                <a:cs typeface="Arial"/>
              </a:defRPr>
            </a:lvl6pPr>
            <a:lvl7pPr>
              <a:defRPr sz="1875" b="1">
                <a:solidFill>
                  <a:srgbClr val="A66B24"/>
                </a:solidFill>
                <a:latin typeface="Arial"/>
                <a:ea typeface="Arial"/>
                <a:cs typeface="Arial"/>
              </a:defRPr>
            </a:lvl7pPr>
            <a:lvl8pPr>
              <a:defRPr sz="1875" b="1">
                <a:solidFill>
                  <a:srgbClr val="A66B24"/>
                </a:solidFill>
                <a:latin typeface="Arial"/>
                <a:ea typeface="Arial"/>
                <a:cs typeface="Arial"/>
              </a:defRPr>
            </a:lvl8pPr>
            <a:lvl9pPr>
              <a:defRPr sz="1875" b="1">
                <a:solidFill>
                  <a:srgbClr val="A66B24"/>
                </a:solidFill>
                <a:latin typeface="Arial"/>
                <a:ea typeface="Arial"/>
                <a:cs typeface="Arial"/>
              </a:defRPr>
            </a:lvl9pPr>
          </a:lstStyle>
          <a:p xmlns:a="http://schemas.openxmlformats.org/drawingml/2006/main">
            <a:pPr>
              <a:defRPr sz="1875" b="1">
                <a:solidFill>
                  <a:srgbClr val="A66B24"/>
                </a:solidFill>
                <a:latin typeface="Arial"/>
                <a:ea typeface="Arial"/>
                <a:cs typeface="Arial"/>
              </a:defRPr>
            </a:pPr>
            <a:r>
              <a:rPr sz="1875" b="1">
                <a:solidFill>
                  <a:srgbClr val="A66B24"/>
                </a:solidFill>
                <a:latin typeface="Arial"/>
                <a:ea typeface="Arial"/>
                <a:cs typeface="Arial"/>
              </a:rPr>
              <a:t>3 flags: 291 (10.5%)</a:t>
            </a:r>
          </a:p>
        </p:txBody>
      </p:sp>
      <p:sp>
        <p:nvSpPr>
          <p:cNvPr id="9" name="">
            <a:extLst xmlns:a="http://schemas.openxmlformats.org/drawingml/2006/main">
              <a:ext uri="{FF2B5EF4-FFF2-40B4-BE49-F238E27FC236}">
                <a16:creationId xmlns:a16="http://schemas.microsoft.com/office/drawing/2014/main" id="{450D0306-8849-45F2-8AAE-BDA62D294B23}"/>
              </a:ext>
            </a:extLst>
          </p:cNvPr>
          <p:cNvSpPr>
            <a:spLocks xmlns:a="http://schemas.openxmlformats.org/drawingml/2006/main" noGrp="1"/>
          </p:cNvSpPr>
          <p:nvPr/>
        </p:nvSpPr>
        <p:spPr>
          <a:xfrm xmlns:a="http://schemas.openxmlformats.org/drawingml/2006/main">
            <a:off x="8286750" y="390525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2441C"/>
                </a:solidFill>
                <a:latin typeface="Arial"/>
                <a:ea typeface="Arial"/>
                <a:cs typeface="Arial"/>
              </a:defRPr>
            </a:defPPr>
            <a:lvl1pPr>
              <a:defRPr sz="1875" b="1">
                <a:solidFill>
                  <a:srgbClr val="72441C"/>
                </a:solidFill>
                <a:latin typeface="Arial"/>
                <a:ea typeface="Arial"/>
                <a:cs typeface="Arial"/>
              </a:defRPr>
            </a:lvl1pPr>
            <a:lvl2pPr>
              <a:defRPr sz="1875" b="1">
                <a:solidFill>
                  <a:srgbClr val="72441C"/>
                </a:solidFill>
                <a:latin typeface="Arial"/>
                <a:ea typeface="Arial"/>
                <a:cs typeface="Arial"/>
              </a:defRPr>
            </a:lvl2pPr>
            <a:lvl3pPr>
              <a:defRPr sz="1875" b="1">
                <a:solidFill>
                  <a:srgbClr val="72441C"/>
                </a:solidFill>
                <a:latin typeface="Arial"/>
                <a:ea typeface="Arial"/>
                <a:cs typeface="Arial"/>
              </a:defRPr>
            </a:lvl3pPr>
            <a:lvl4pPr>
              <a:defRPr sz="1875" b="1">
                <a:solidFill>
                  <a:srgbClr val="72441C"/>
                </a:solidFill>
                <a:latin typeface="Arial"/>
                <a:ea typeface="Arial"/>
                <a:cs typeface="Arial"/>
              </a:defRPr>
            </a:lvl4pPr>
            <a:lvl5pPr>
              <a:defRPr sz="1875" b="1">
                <a:solidFill>
                  <a:srgbClr val="72441C"/>
                </a:solidFill>
                <a:latin typeface="Arial"/>
                <a:ea typeface="Arial"/>
                <a:cs typeface="Arial"/>
              </a:defRPr>
            </a:lvl5pPr>
            <a:lvl6pPr>
              <a:defRPr sz="1875" b="1">
                <a:solidFill>
                  <a:srgbClr val="72441C"/>
                </a:solidFill>
                <a:latin typeface="Arial"/>
                <a:ea typeface="Arial"/>
                <a:cs typeface="Arial"/>
              </a:defRPr>
            </a:lvl6pPr>
            <a:lvl7pPr>
              <a:defRPr sz="1875" b="1">
                <a:solidFill>
                  <a:srgbClr val="72441C"/>
                </a:solidFill>
                <a:latin typeface="Arial"/>
                <a:ea typeface="Arial"/>
                <a:cs typeface="Arial"/>
              </a:defRPr>
            </a:lvl7pPr>
            <a:lvl8pPr>
              <a:defRPr sz="1875" b="1">
                <a:solidFill>
                  <a:srgbClr val="72441C"/>
                </a:solidFill>
                <a:latin typeface="Arial"/>
                <a:ea typeface="Arial"/>
                <a:cs typeface="Arial"/>
              </a:defRPr>
            </a:lvl8pPr>
            <a:lvl9pPr>
              <a:defRPr sz="1875" b="1">
                <a:solidFill>
                  <a:srgbClr val="72441C"/>
                </a:solidFill>
                <a:latin typeface="Arial"/>
                <a:ea typeface="Arial"/>
                <a:cs typeface="Arial"/>
              </a:defRPr>
            </a:lvl9pPr>
          </a:lstStyle>
          <a:p xmlns:a="http://schemas.openxmlformats.org/drawingml/2006/main">
            <a:pPr>
              <a:defRPr sz="1875" b="1">
                <a:solidFill>
                  <a:srgbClr val="72441C"/>
                </a:solidFill>
                <a:latin typeface="Arial"/>
                <a:ea typeface="Arial"/>
                <a:cs typeface="Arial"/>
              </a:defRPr>
            </a:pPr>
            <a:r>
              <a:rPr sz="1875" b="1">
                <a:solidFill>
                  <a:srgbClr val="72441C"/>
                </a:solidFill>
                <a:latin typeface="Arial"/>
                <a:ea typeface="Arial"/>
                <a:cs typeface="Arial"/>
              </a:rPr>
              <a:t>4 flags: 23 (0.8%)</a:t>
            </a:r>
          </a:p>
        </p:txBody>
      </p:sp>
      <p:sp>
        <p:nvSpPr>
          <p:cNvPr id="10" name="">
            <a:extLst xmlns:a="http://schemas.openxmlformats.org/drawingml/2006/main">
              <a:ext uri="{FF2B5EF4-FFF2-40B4-BE49-F238E27FC236}">
                <a16:creationId xmlns:a16="http://schemas.microsoft.com/office/drawing/2014/main" id="{D8B7BED3-FE21-4F24-B256-50928C775A05}"/>
              </a:ext>
            </a:extLst>
          </p:cNvPr>
          <p:cNvSpPr>
            <a:spLocks xmlns:a="http://schemas.openxmlformats.org/drawingml/2006/main" noGrp="1"/>
          </p:cNvSpPr>
          <p:nvPr/>
        </p:nvSpPr>
        <p:spPr>
          <a:xfrm xmlns:a="http://schemas.openxmlformats.org/drawingml/2006/main">
            <a:off x="8286750" y="466725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No flags: 19.7% (546)</a:t>
            </a:r>
          </a:p>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Failed: 20.5% (570)</a:t>
            </a:r>
          </a:p>
        </p:txBody>
      </p:sp>
      <p:sp>
        <p:nvSpPr>
          <p:cNvPr id="11" name="">
            <a:extLst xmlns:a="http://schemas.openxmlformats.org/drawingml/2006/main">
              <a:ext uri="{FF2B5EF4-FFF2-40B4-BE49-F238E27FC236}">
                <a16:creationId xmlns:a16="http://schemas.microsoft.com/office/drawing/2014/main" id="{ABC8DFBA-9854-4C8E-A770-1D87AF6FB158}"/>
              </a:ext>
            </a:extLst>
          </p:cNvPr>
          <p:cNvSpPr>
            <a:spLocks xmlns:a="http://schemas.openxmlformats.org/drawingml/2006/main" noGrp="1"/>
          </p:cNvSpPr>
          <p:nvPr/>
        </p:nvSpPr>
        <p:spPr>
          <a:xfrm xmlns:a="http://schemas.openxmlformats.org/drawingml/2006/main">
            <a:off x="609600" y="579120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Segment percentages use the full sample, not just flagged fits. Maximum observed: four flags.</a:t>
            </a:r>
          </a:p>
        </p:txBody>
      </p:sp>
    </p:spTree>
    <p:extLst>
      <p:ext uri="{BB962C8B-B14F-4D97-AF65-F5344CB8AC3E}">
        <p14:creationId xmlns:p14="http://schemas.microsoft.com/office/powerpoint/2010/main" val="12780156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B727056-6B68-45E4-826C-24416AE0B7A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reasons for failure</a:t>
            </a:r>
          </a:p>
        </p:txBody>
      </p:sp>
      <p:sp>
        <p:nvSpPr>
          <p:cNvPr id="2" name="">
            <a:extLst xmlns:a="http://schemas.openxmlformats.org/drawingml/2006/main">
              <a:ext uri="{FF2B5EF4-FFF2-40B4-BE49-F238E27FC236}">
                <a16:creationId xmlns:a16="http://schemas.microsoft.com/office/drawing/2014/main" id="{80688D8C-723B-422A-9CC1-ED747D32A062}"/>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sp>
        <p:nvSpPr>
          <p:cNvPr id="3" name="">
            <a:extLst xmlns:a="http://schemas.openxmlformats.org/drawingml/2006/main">
              <a:ext uri="{FF2B5EF4-FFF2-40B4-BE49-F238E27FC236}">
                <a16:creationId xmlns:a16="http://schemas.microsoft.com/office/drawing/2014/main" id="{476B0A63-55C6-4142-B57D-78089056EE34}"/>
              </a:ext>
            </a:extLst>
          </p:cNvPr>
          <p:cNvSpPr>
            <a:spLocks xmlns:a="http://schemas.openxmlformats.org/drawingml/2006/main" noGrp="1"/>
          </p:cNvSpPr>
          <p:nvPr/>
        </p:nvSpPr>
        <p:spPr>
          <a:xfrm xmlns:a="http://schemas.openxmlformats.org/drawingml/2006/main">
            <a:off x="609600" y="13144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Flags among 2,207 completed fits</a:t>
            </a:r>
          </a:p>
        </p:txBody>
      </p:sp>
      <p:graphicFrame>
        <p:nvGraphicFramePr>
          <p:cNvPr id="4" name="Chart">
            <a:extLst xmlns:a="http://schemas.openxmlformats.org/drawingml/2006/main">
              <a:ext uri="{FF2B5EF4-FFF2-40B4-BE49-F238E27FC236}">
                <a16:creationId xmlns:a16="http://schemas.microsoft.com/office/drawing/2014/main" id="{CC813D4A-108C-47E8-AE14-146A304EAA17}"/>
              </a:ext>
            </a:extLst>
          </p:cNvPr>
          <p:cNvGraphicFramePr/>
          <p:nvPr/>
        </p:nvGraphicFramePr>
        <p:xfrm>
          <a:off xmlns:a="http://schemas.openxmlformats.org/drawingml/2006/main" x="495300" y="1876425"/>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e50b268a0e234432"/>
          </a:graphicData>
        </a:graphic>
      </p:graphicFrame>
      <p:sp>
        <p:nvSpPr>
          <p:cNvPr id="5" name="">
            <a:extLst xmlns:a="http://schemas.openxmlformats.org/drawingml/2006/main">
              <a:ext uri="{FF2B5EF4-FFF2-40B4-BE49-F238E27FC236}">
                <a16:creationId xmlns:a16="http://schemas.microsoft.com/office/drawing/2014/main" id="{F5156D26-4488-4A14-91AA-6D4E4530FD51}"/>
              </a:ext>
            </a:extLst>
          </p:cNvPr>
          <p:cNvSpPr>
            <a:spLocks xmlns:a="http://schemas.openxmlformats.org/drawingml/2006/main" noGrp="1"/>
          </p:cNvSpPr>
          <p:nvPr/>
        </p:nvSpPr>
        <p:spPr>
          <a:xfrm xmlns:a="http://schemas.openxmlformats.org/drawingml/2006/main">
            <a:off x="609600" y="5429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Flags overlap. One galaxy can appear in several bars.</a:t>
            </a:r>
          </a:p>
        </p:txBody>
      </p:sp>
      <p:sp>
        <p:nvSpPr>
          <p:cNvPr id="6" name="">
            <a:extLst xmlns:a="http://schemas.openxmlformats.org/drawingml/2006/main">
              <a:ext uri="{FF2B5EF4-FFF2-40B4-BE49-F238E27FC236}">
                <a16:creationId xmlns:a16="http://schemas.microsoft.com/office/drawing/2014/main" id="{F8D617E3-C524-4661-892C-CC0BFE802DC5}"/>
              </a:ext>
            </a:extLst>
          </p:cNvPr>
          <p:cNvSpPr>
            <a:spLocks xmlns:a="http://schemas.openxmlformats.org/drawingml/2006/main" noGrp="1"/>
          </p:cNvSpPr>
          <p:nvPr/>
        </p:nvSpPr>
        <p:spPr>
          <a:xfrm xmlns:a="http://schemas.openxmlformats.org/drawingml/2006/main">
            <a:off x="7334250" y="1314450"/>
            <a:ext cx="433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570 failed fits: recorded reasons</a:t>
            </a:r>
          </a:p>
        </p:txBody>
      </p:sp>
      <p:graphicFrame>
        <p:nvGraphicFramePr>
          <p:cNvPr id="7" name="Chart">
            <a:extLst xmlns:a="http://schemas.openxmlformats.org/drawingml/2006/main">
              <a:ext uri="{FF2B5EF4-FFF2-40B4-BE49-F238E27FC236}">
                <a16:creationId xmlns:a16="http://schemas.microsoft.com/office/drawing/2014/main" id="{E2648115-2C30-4CCC-A76D-04AF1043C2A4}"/>
              </a:ext>
            </a:extLst>
          </p:cNvPr>
          <p:cNvGraphicFramePr/>
          <p:nvPr/>
        </p:nvGraphicFramePr>
        <p:xfrm>
          <a:off xmlns:a="http://schemas.openxmlformats.org/drawingml/2006/main" x="7286625" y="2000250"/>
          <a:ext xmlns:a="http://schemas.openxmlformats.org/drawingml/2006/main" cx="4333875" cy="2524125"/>
        </p:xfrm>
        <a:graphic xmlns:a="http://schemas.openxmlformats.org/drawingml/2006/main">
          <a:graphicData uri="http://schemas.openxmlformats.org/drawingml/2006/chart">
            <c:chart xmlns:r="http://schemas.openxmlformats.org/officeDocument/2006/relationships" xmlns:c="http://schemas.openxmlformats.org/drawingml/2006/chart" r:id="Rc0f83cc1e86248cc"/>
          </a:graphicData>
        </a:graphic>
      </p:graphicFrame>
      <p:sp>
        <p:nvSpPr>
          <p:cNvPr id="8" name="">
            <a:extLst xmlns:a="http://schemas.openxmlformats.org/drawingml/2006/main">
              <a:ext uri="{FF2B5EF4-FFF2-40B4-BE49-F238E27FC236}">
                <a16:creationId xmlns:a16="http://schemas.microsoft.com/office/drawing/2014/main" id="{A462B739-0203-4008-88D6-162DE6FF3B01}"/>
              </a:ext>
            </a:extLst>
          </p:cNvPr>
          <p:cNvSpPr>
            <a:spLocks xmlns:a="http://schemas.openxmlformats.org/drawingml/2006/main" noGrp="1"/>
          </p:cNvSpPr>
          <p:nvPr/>
        </p:nvSpPr>
        <p:spPr>
          <a:xfrm xmlns:a="http://schemas.openxmlformats.org/drawingml/2006/main">
            <a:off x="7334250" y="4629150"/>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633"/>
                </a:solidFill>
                <a:latin typeface="Arial"/>
                <a:ea typeface="Arial"/>
                <a:cs typeface="Arial"/>
              </a:defRPr>
            </a:defPPr>
            <a:lvl1pPr>
              <a:defRPr sz="1575" b="0">
                <a:solidFill>
                  <a:srgbClr val="142633"/>
                </a:solidFill>
                <a:latin typeface="Arial"/>
                <a:ea typeface="Arial"/>
                <a:cs typeface="Arial"/>
              </a:defRPr>
            </a:lvl1pPr>
            <a:lvl2pPr>
              <a:defRPr sz="1575" b="0">
                <a:solidFill>
                  <a:srgbClr val="142633"/>
                </a:solidFill>
                <a:latin typeface="Arial"/>
                <a:ea typeface="Arial"/>
                <a:cs typeface="Arial"/>
              </a:defRPr>
            </a:lvl2pPr>
            <a:lvl3pPr>
              <a:defRPr sz="1575" b="0">
                <a:solidFill>
                  <a:srgbClr val="142633"/>
                </a:solidFill>
                <a:latin typeface="Arial"/>
                <a:ea typeface="Arial"/>
                <a:cs typeface="Arial"/>
              </a:defRPr>
            </a:lvl3pPr>
            <a:lvl4pPr>
              <a:defRPr sz="1575" b="0">
                <a:solidFill>
                  <a:srgbClr val="142633"/>
                </a:solidFill>
                <a:latin typeface="Arial"/>
                <a:ea typeface="Arial"/>
                <a:cs typeface="Arial"/>
              </a:defRPr>
            </a:lvl4pPr>
            <a:lvl5pPr>
              <a:defRPr sz="1575" b="0">
                <a:solidFill>
                  <a:srgbClr val="142633"/>
                </a:solidFill>
                <a:latin typeface="Arial"/>
                <a:ea typeface="Arial"/>
                <a:cs typeface="Arial"/>
              </a:defRPr>
            </a:lvl5pPr>
            <a:lvl6pPr>
              <a:defRPr sz="1575" b="0">
                <a:solidFill>
                  <a:srgbClr val="142633"/>
                </a:solidFill>
                <a:latin typeface="Arial"/>
                <a:ea typeface="Arial"/>
                <a:cs typeface="Arial"/>
              </a:defRPr>
            </a:lvl6pPr>
            <a:lvl7pPr>
              <a:defRPr sz="1575" b="0">
                <a:solidFill>
                  <a:srgbClr val="142633"/>
                </a:solidFill>
                <a:latin typeface="Arial"/>
                <a:ea typeface="Arial"/>
                <a:cs typeface="Arial"/>
              </a:defRPr>
            </a:lvl7pPr>
            <a:lvl8pPr>
              <a:defRPr sz="1575" b="0">
                <a:solidFill>
                  <a:srgbClr val="142633"/>
                </a:solidFill>
                <a:latin typeface="Arial"/>
                <a:ea typeface="Arial"/>
                <a:cs typeface="Arial"/>
              </a:defRPr>
            </a:lvl8pPr>
            <a:lvl9pPr>
              <a:defRPr sz="1575" b="0">
                <a:solidFill>
                  <a:srgbClr val="142633"/>
                </a:solidFill>
                <a:latin typeface="Arial"/>
                <a:ea typeface="Arial"/>
                <a:cs typeface="Arial"/>
              </a:defRPr>
            </a:lvl9pPr>
          </a:lstStyle>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431: fewer than 3 reliable ellipses in the selected bar or disc interval.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138: fewer than 10 reliable ellipses overall.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 centre outside a detected galaxy.</a:t>
            </a:r>
          </a:p>
        </p:txBody>
      </p:sp>
      <p:sp>
        <p:nvSpPr>
          <p:cNvPr id="9" name="">
            <a:extLst xmlns:a="http://schemas.openxmlformats.org/drawingml/2006/main">
              <a:ext uri="{FF2B5EF4-FFF2-40B4-BE49-F238E27FC236}">
                <a16:creationId xmlns:a16="http://schemas.microsoft.com/office/drawing/2014/main" id="{C60C222E-0413-4A5C-82DC-30A34C0E913A}"/>
              </a:ext>
            </a:extLst>
          </p:cNvPr>
          <p:cNvSpPr>
            <a:spLocks xmlns:a="http://schemas.openxmlformats.org/drawingml/2006/main" noGrp="1"/>
          </p:cNvSpPr>
          <p:nvPr/>
        </p:nvSpPr>
        <p:spPr>
          <a:xfrm xmlns:a="http://schemas.openxmlformats.org/drawingml/2006/main">
            <a:off x="609600" y="61912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Failure categories are mutually exclusive: 431 + 138 + 1 = 570.</a:t>
            </a:r>
          </a:p>
        </p:txBody>
      </p:sp>
    </p:spTree>
    <p:extLst>
      <p:ext uri="{BB962C8B-B14F-4D97-AF65-F5344CB8AC3E}">
        <p14:creationId xmlns:p14="http://schemas.microsoft.com/office/powerpoint/2010/main" val="8948233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DD6B9A-AAA0-4D7E-99AE-24B2AC0A744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8A14169A-DAA9-46A3-890E-69617DE834AA}"/>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C75EF6CC-EA3C-4CC5-8D3B-740CF7298F42}"/>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Possible explanation: catalogue angle from detection-image y rather than documented x (unconfirmed).</a:t>
            </a:r>
          </a:p>
        </p:txBody>
      </p:sp>
      <p:graphicFrame>
        <p:nvGraphicFramePr>
          <p:cNvPr id="4" name="">
            <a:extLst xmlns:a="http://schemas.openxmlformats.org/drawingml/2006/main">
              <a:ext uri="{FF2B5EF4-FFF2-40B4-BE49-F238E27FC236}">
                <a16:creationId xmlns:a16="http://schemas.microsoft.com/office/drawing/2014/main" id="{F8A86D73-FAFF-47E9-AFB6-88A1286CF0D1}"/>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0D0DD15-1F67-4BF7-AD78-E0CB8A4D83C7}"/>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E0DBFA57-4B80-49D6-99EF-6B67AF9E0397}"/>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74419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7E39A1-4A85-4E12-B7A4-B499B10AF1B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1B076F9D-2BCF-421C-96B5-06177251099E}"/>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F14D5B7D-15A4-4BD4-86A9-B2335B0F8461}"/>
              </a:ext>
            </a:extLst>
          </p:cNvPr>
          <p:cNvPicPr>
            <a:picLocks xmlns:a="http://schemas.openxmlformats.org/drawingml/2006/main" noChangeAspect="1"/>
          </p:cNvPicPr>
          <p:nvPr/>
        </p:nvPicPr>
        <p:blipFill>
          <a:blip xmlns:r="http://schemas.openxmlformats.org/officeDocument/2006/relationships" xmlns:a="http://schemas.openxmlformats.org/drawingml/2006/main" r:embed="Ra2efc4a1498a43a7"/>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4EE7363-1004-4183-A254-E264E62BB234}"/>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64BCD1C5-CA51-477A-8512-A333F9F6FDAB}"/>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5ABBD862-F0DA-4A05-9899-D445AFB3D6E5}"/>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A10B75F2-D428-41E2-82C2-E17C81F9E08A}"/>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783B124B-10E2-41D2-B62F-A4DFA809167B}"/>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12933790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9527B2-C421-497E-A0D2-9FE12CEF5B1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D3C9C4AE-815D-4299-8EA1-45DCCAA69130}"/>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2D3C0719-6F85-4123-B2E4-A2DFF6F58999}"/>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CE34670-802F-46B3-9B0B-B26F88A88275}"/>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AADFEB96-99AB-470F-81B0-4CEE97130E23}"/>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B12389CD-6D56-4787-BB44-DD1FFB879363}"/>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367538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2026-10-20T12:55:22.3320000Z</dcterms:created>
  <dcterms:modified xsi:type="dcterms:W3CDTF">2026-10-20T12:55:22.3320000Z</dcterms:modified>
</coreProperties>
</file>