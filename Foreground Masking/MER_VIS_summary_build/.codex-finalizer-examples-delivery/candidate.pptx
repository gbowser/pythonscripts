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80e91b231a432e" /><Relationship Type="http://schemas.openxmlformats.org/officeDocument/2006/relationships/extended-properties" Target="/docProps/app.xml" Id="Rb672919ce74548dd" /><Relationship Type="http://schemas.openxmlformats.org/officeDocument/2006/relationships/officeDocument" Target="/ppt/presentation.xml" Id="R8248505314094dac" /></Relationships>
</file>

<file path=ppt/presentation.xml><?xml version="1.0" encoding="utf-8"?>
<p:presentation xmlns:p="http://schemas.openxmlformats.org/presentationml/2006/main">
  <p:sldMasterIdLst>
    <p:sldMasterId xmlns:r="http://schemas.openxmlformats.org/officeDocument/2006/relationships" id="2147483648" r:id="Rba5b91c5b28047d7"/>
  </p:sldMasterIdLst>
  <p:notesMasterIdLst>
    <p:notesMasterId xmlns:r="http://schemas.openxmlformats.org/officeDocument/2006/relationships" r:id="R9e2c75295ad1431f"/>
  </p:notesMasterIdLst>
  <p:sldIdLst>
    <p:sldId xmlns:r="http://schemas.openxmlformats.org/officeDocument/2006/relationships" id="256" r:id="R2cab3ced50bb4168"/>
    <p:sldId xmlns:r="http://schemas.openxmlformats.org/officeDocument/2006/relationships" id="257" r:id="Rbbf59c4635b74d3b"/>
    <p:sldId xmlns:r="http://schemas.openxmlformats.org/officeDocument/2006/relationships" id="258" r:id="R7b9ebd9ab6c54c92"/>
    <p:sldId xmlns:r="http://schemas.openxmlformats.org/officeDocument/2006/relationships" id="259" r:id="Rb1b76a79b0984dd9"/>
    <p:sldId xmlns:r="http://schemas.openxmlformats.org/officeDocument/2006/relationships" id="260" r:id="R7dc2140c139f4d0f"/>
    <p:sldId xmlns:r="http://schemas.openxmlformats.org/officeDocument/2006/relationships" id="261" r:id="R8177202e8d654510"/>
    <p:sldId xmlns:r="http://schemas.openxmlformats.org/officeDocument/2006/relationships" id="262" r:id="Raaac76fd1ca0407d"/>
    <p:sldId xmlns:r="http://schemas.openxmlformats.org/officeDocument/2006/relationships" id="263" r:id="Rf0ec1158f024497a"/>
    <p:sldId xmlns:r="http://schemas.openxmlformats.org/officeDocument/2006/relationships" id="264" r:id="R83b33793267b4356"/>
    <p:sldId xmlns:r="http://schemas.openxmlformats.org/officeDocument/2006/relationships" id="265" r:id="Re5d3152c25384f9e"/>
    <p:sldId xmlns:r="http://schemas.openxmlformats.org/officeDocument/2006/relationships" id="266" r:id="R8c8be501bae340e7"/>
    <p:sldId xmlns:r="http://schemas.openxmlformats.org/officeDocument/2006/relationships" id="267" r:id="R47d12ec499b4407d"/>
    <p:sldId xmlns:r="http://schemas.openxmlformats.org/officeDocument/2006/relationships" id="268" r:id="Rf3cbda17ecb34e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4a290b1b924e9d" /><Relationship Type="http://schemas.openxmlformats.org/officeDocument/2006/relationships/slideMaster" Target="/ppt/slideMasters/slideMaster1.xml" Id="Rba5b91c5b28047d7" /><Relationship Type="http://schemas.openxmlformats.org/officeDocument/2006/relationships/notesMaster" Target="/ppt/notesMasters/notesMaster1.xml" Id="R9e2c75295ad1431f" /><Relationship Type="http://schemas.openxmlformats.org/officeDocument/2006/relationships/presProps" Target="/ppt/presProps.xml" Id="R2affbf2a57154c8a" /><Relationship Type="http://schemas.openxmlformats.org/officeDocument/2006/relationships/tableStyles" Target="/ppt/tableStyles.xml" Id="R396d6fad436c42d2" /><Relationship Type="http://schemas.openxmlformats.org/officeDocument/2006/relationships/slide" Target="/ppt/slides/slide1.xml" Id="R2cab3ced50bb4168" /><Relationship Type="http://schemas.openxmlformats.org/officeDocument/2006/relationships/slide" Target="/ppt/slides/slide2.xml" Id="Rbbf59c4635b74d3b" /><Relationship Type="http://schemas.openxmlformats.org/officeDocument/2006/relationships/slide" Target="/ppt/slides/slide3.xml" Id="R7b9ebd9ab6c54c92" /><Relationship Type="http://schemas.openxmlformats.org/officeDocument/2006/relationships/slide" Target="/ppt/slides/slide4.xml" Id="Rb1b76a79b0984dd9" /><Relationship Type="http://schemas.openxmlformats.org/officeDocument/2006/relationships/slide" Target="/ppt/slides/slide5.xml" Id="R7dc2140c139f4d0f" /><Relationship Type="http://schemas.openxmlformats.org/officeDocument/2006/relationships/slide" Target="/ppt/slides/slide6.xml" Id="R8177202e8d654510" /><Relationship Type="http://schemas.openxmlformats.org/officeDocument/2006/relationships/slide" Target="/ppt/slides/slide7.xml" Id="Raaac76fd1ca0407d" /><Relationship Type="http://schemas.openxmlformats.org/officeDocument/2006/relationships/slide" Target="/ppt/slides/slide8.xml" Id="Rf0ec1158f024497a" /><Relationship Type="http://schemas.openxmlformats.org/officeDocument/2006/relationships/slide" Target="/ppt/slides/slide9.xml" Id="R83b33793267b4356" /><Relationship Type="http://schemas.openxmlformats.org/officeDocument/2006/relationships/slide" Target="/ppt/slides/slide10.xml" Id="Re5d3152c25384f9e" /><Relationship Type="http://schemas.openxmlformats.org/officeDocument/2006/relationships/slide" Target="/ppt/slides/slide11.xml" Id="R8c8be501bae340e7" /><Relationship Type="http://schemas.openxmlformats.org/officeDocument/2006/relationships/slide" Target="/ppt/slides/slide12.xml" Id="R47d12ec499b4407d" /><Relationship Type="http://schemas.openxmlformats.org/officeDocument/2006/relationships/slide" Target="/ppt/slides/slide13.xml" Id="Rf3cbda17ecb34e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0a59a6766f4a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735c7ae4204fd7" /><Relationship Type="http://schemas.openxmlformats.org/officeDocument/2006/relationships/notesMaster" Target="/ppt/notesMasters/notesMaster1.xml" Id="R7ca48e1ab2cd4c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1bb75ffe884f8e" /><Relationship Type="http://schemas.openxmlformats.org/officeDocument/2006/relationships/notesMaster" Target="/ppt/notesMasters/notesMaster1.xml" Id="Ra77bfb92161048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b673e2b52a42c2" /><Relationship Type="http://schemas.openxmlformats.org/officeDocument/2006/relationships/notesMaster" Target="/ppt/notesMasters/notesMaster1.xml" Id="R0a102e9157244b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9acdf018664b1f" /><Relationship Type="http://schemas.openxmlformats.org/officeDocument/2006/relationships/notesMaster" Target="/ppt/notesMasters/notesMaster1.xml" Id="Rfba8d8b25036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fe33b7789740b1" /><Relationship Type="http://schemas.openxmlformats.org/officeDocument/2006/relationships/notesMaster" Target="/ppt/notesMasters/notesMaster1.xml" Id="Rf7ac751d98fc47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aa6d938e7a44ce" /><Relationship Type="http://schemas.openxmlformats.org/officeDocument/2006/relationships/notesMaster" Target="/ppt/notesMasters/notesMaster1.xml" Id="R021a970615ac4c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460eda37584423" /><Relationship Type="http://schemas.openxmlformats.org/officeDocument/2006/relationships/notesMaster" Target="/ppt/notesMasters/notesMaster1.xml" Id="R859d9c01c1914d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5b1e65e88e4330" /><Relationship Type="http://schemas.openxmlformats.org/officeDocument/2006/relationships/notesMaster" Target="/ppt/notesMasters/notesMaster1.xml" Id="R350d3b6887d443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c242615e984f6c" /><Relationship Type="http://schemas.openxmlformats.org/officeDocument/2006/relationships/notesMaster" Target="/ppt/notesMasters/notesMaster1.xml" Id="R9a8f0c24961e4f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a4726b62b949a2" /><Relationship Type="http://schemas.openxmlformats.org/officeDocument/2006/relationships/notesMaster" Target="/ppt/notesMasters/notesMaster1.xml" Id="R65bfbbec455c4c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7f8ff9bc644ffc" /><Relationship Type="http://schemas.openxmlformats.org/officeDocument/2006/relationships/notesMaster" Target="/ppt/notesMasters/notesMaster1.xml" Id="Rbb4ef445af4c4a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bff089fe8d4293" /><Relationship Type="http://schemas.openxmlformats.org/officeDocument/2006/relationships/notesMaster" Target="/ppt/notesMasters/notesMaster1.xml" Id="Rd2605b40cd6b4e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37585d66614a5b" /><Relationship Type="http://schemas.openxmlformats.org/officeDocument/2006/relationships/notesMaster" Target="/ppt/notesMasters/notesMaster1.xml" Id="Rb2f652a4d420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-520196615291310590: Bar interval upper bound: 1.15 arcsec (threshold &lt;1.5). Original flag: small_bar_sensitive_to_resolution. Source: D:\Dropbox\Public Documents\UCLAN\MSc Research\Euclid\MER_VIS_galaxy_reports\all_2777\png_QI\0001_Euclid_-520196615291310590_MER_VIS_geometry_report_QI.png Galaxy -519465826287599179: Bar interval upper bound: 1.48 arcsec (threshold &lt;1.5). Original flag: small_bar_sensitive_to_resolution. Source: D:\Dropbox\Public Documents\UCLAN\MSc Research\Euclid\MER_VIS_galaxy_reports\all_2777\png_QI\0002_Euclid_-519465826287599179_MER_VIS_geometry_report_QI.png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-591287408514481131: Disc PA radial scatter: 11.2° (threshold &gt;10°). Original flag: disc_PA_unstable. Source: D:\Dropbox\Public Documents\UCLAN\MSc Research\Euclid\MER_VIS_galaxy_reports\all_2777\png_QI\0034_Euclid_-591287408514481131_MER_VIS_geometry_report_QI.png Galaxy -591265046503894332: Disc PA radial scatter: 12.4° (threshold &gt;10°). Original flag: disc_PA_unstable. Source: D:\Dropbox\Public Documents\UCLAN\MSc Research\Euclid\MER_VIS_galaxy_reports\all_2777\png_QI\0109_Euclid_-591265046503894332_MER_VIS_geometry_report_QI.png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-548398753282885623: Disc ellipticity span: 0.168 (threshold &gt;0.15). Original flag: disc_axis_ratio_unstable. Source: D:\Dropbox\Public Documents\UCLAN\MSc Research\Euclid\MER_VIS_galaxy_reports\all_2777\png_QI\0020_Euclid_-548398753282885623_MER_VIS_geometry_report_QI.png Galaxy 2694485455649440299: Disc ellipticity span: 0.196 (threshold &gt;0.15). Original flag: disc_axis_ratio_unstable. Source: D:\Dropbox\Public Documents\UCLAN\MSc Research\Euclid\MER_VIS_galaxy_reports\all_2777\png_QI\0031_Euclid_2694485455649440299_MER_VIS_geometry_report_QI.png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-560500769490472523: Bar PA radial scatter: 10.8° (threshold &gt;10°). Original flag: bar_PA_unstable. Source: D:\Dropbox\Public Documents\UCLAN\MSc Research\Euclid\MER_VIS_galaxy_reports\all_2777\png_QI\0401_Euclid_-560500769490472523_MER_VIS_geometry_report_QI.png Galaxy -630490045487791289: Bar PA radial scatter: 11.6° (threshold &gt;10°). Original flag: bar_PA_unstable. Source: D:\Dropbox\Public Documents\UCLAN\MSc Research\Euclid\MER_VIS_galaxy_reports\all_2777\png_QI\0514_Euclid_-630490045487791289_MER_VIS_geometry_report_QI.png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2654979879662853093: Median bar ellipticity: 0.180 (threshold &lt;0.25). Original flag: weak_ellipse_bar_signature. Source: D:\Dropbox\Public Documents\UCLAN\MSc Research\Euclid\MER_VIS_galaxy_reports\all_2777\png_QI\2423_Euclid_2654979879662853093_MER_VIS_geometry_report_QI.png Galaxy 2719973573665957979: Median bar ellipticity: 0.222 (threshold &lt;0.25). Original flag: weak_ellipse_bar_signature. Source: D:\Dropbox\Public Documents\UCLAN\MSc Research\Euclid\MER_VIS_galaxy_reports\all_2777\png_QI\2469_Euclid_2719973573665957979_MER_VIS_geometry_report_QI.png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-519246610291156594: Insufficient bar/disc isophotes in selected radial ranges. Reliable ellipses overall: 20. Original flag: none; failed fit. Source: D:\Dropbox\Public Documents\UCLAN\MSc Research\Euclid\MER_VIS_galaxy_reports\all_2777\png_QI\0003_Euclid_-519246610291156594_MER_VIS_geometry_report_QI.png Galaxy -517222724292083077: Insufficient bar/disc isophotes in selected radial ranges. Reliable ellipses overall: 16. Original flag: none; failed fit. Source: D:\Dropbox\Public Documents\UCLAN\MSc Research\Euclid\MER_VIS_galaxy_reports\all_2777\png_QI\0008_Euclid_-517222724292083077_MER_VIS_geometry_report_QI.png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-550147948285020121: Only 8 reliable isophotes; inspect profile. Reliable ellipses overall: 8. Original flag: none; failed fit. Source: D:\Dropbox\Public Documents\UCLAN\MSc Research\Euclid\MER_VIS_galaxy_reports\all_2777\png_QI\0016_Euclid_-550147948285020121_MER_VIS_geometry_report_QI.png Galaxy -560894756493198556: Only 9 reliable isophotes; inspect profile. Reliable ellipses overall: 9. Original flag: none; failed fit. Source: D:\Dropbox\Public Documents\UCLAN\MSc Research\Euclid\MER_VIS_galaxy_reports\all_2777\png_QI\0281_Euclid_-560894756493198556_MER_VIS_geometry_report_QI.png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066524c2a84b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25c998b8c04a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61aa9314b24a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7f0c03f77947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9039b6a8124c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ce74e4e50443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5AEC85-40DB-445E-8B67-BA448EFF04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E791ED-A80B-4850-BD2B-6BE62B25BD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9304C2-2BE2-4831-AD92-956784953B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F0F62-FF74-473E-9B39-4D46EF6A81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F65871-4A6B-4C24-B5BC-DCCD463CBA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F322B2-CE19-4234-B1B1-14D6CEB54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D90F7C-ACFB-43FF-9870-65704B715C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042C4A-47B7-4372-8744-8C8C0AC916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6E762F-E95A-4D5C-8656-7C122C2AD6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33A8A2-947E-4A6F-A2D9-7D74007A19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5c5fccd024451e" /><Relationship Type="http://schemas.openxmlformats.org/officeDocument/2006/relationships/slideLayout" Target="/ppt/slideLayouts/slideLayout1.xml" Id="Rfe1367d3153c482d" /><Relationship Type="http://schemas.openxmlformats.org/officeDocument/2006/relationships/slideLayout" Target="/ppt/slideLayouts/slideLayout2.xml" Id="R5f10f626437e4d46" /><Relationship Type="http://schemas.openxmlformats.org/officeDocument/2006/relationships/slideLayout" Target="/ppt/slideLayouts/slideLayout3.xml" Id="R43272583c6804e26" /><Relationship Type="http://schemas.openxmlformats.org/officeDocument/2006/relationships/slideLayout" Target="/ppt/slideLayouts/slideLayout4.xml" Id="Rd8beb2315033497f" /><Relationship Type="http://schemas.openxmlformats.org/officeDocument/2006/relationships/slideLayout" Target="/ppt/slideLayouts/slideLayout5.xml" Id="R76b48e1a8891439d" /><Relationship Type="http://schemas.openxmlformats.org/officeDocument/2006/relationships/slideLayout" Target="/ppt/slideLayouts/slideLayout6.xml" Id="R50a8620ddbc1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1367d3153c482d"/>
    <p:sldLayoutId xmlns:r="http://schemas.openxmlformats.org/officeDocument/2006/relationships" id="2147483650" r:id="R5f10f626437e4d46"/>
    <p:sldLayoutId xmlns:r="http://schemas.openxmlformats.org/officeDocument/2006/relationships" id="2147483651" r:id="R43272583c6804e26"/>
    <p:sldLayoutId xmlns:r="http://schemas.openxmlformats.org/officeDocument/2006/relationships" id="2147483652" r:id="Rd8beb2315033497f"/>
    <p:sldLayoutId xmlns:r="http://schemas.openxmlformats.org/officeDocument/2006/relationships" id="2147483653" r:id="R76b48e1a8891439d"/>
    <p:sldLayoutId xmlns:r="http://schemas.openxmlformats.org/officeDocument/2006/relationships" id="2147483654" r:id="R50a8620ddbc1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8d575f5e2f4139" /><Relationship Type="http://schemas.openxmlformats.org/officeDocument/2006/relationships/notesSlide" Target="/ppt/notesSlides/notesSlide1.xml" Id="R30c68ce5eebe47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dcdb0483384423" /><Relationship Type="http://schemas.openxmlformats.org/officeDocument/2006/relationships/chart" Target="/ppt/slides/charts/chart1.xml" Id="R0ccbf702e9904430" /><Relationship Type="http://schemas.openxmlformats.org/officeDocument/2006/relationships/notesSlide" Target="/ppt/notesSlides/notesSlide2.xml" Id="R8c944318d0984c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a28d2788be4812" /><Relationship Type="http://schemas.openxmlformats.org/officeDocument/2006/relationships/chart" Target="/ppt/slides/charts/chart2.xml" Id="Rddf06fa9cba64756" /><Relationship Type="http://schemas.openxmlformats.org/officeDocument/2006/relationships/chart" Target="/ppt/slides/charts/chart3.xml" Id="Ra531a68225524cef" /><Relationship Type="http://schemas.openxmlformats.org/officeDocument/2006/relationships/notesSlide" Target="/ppt/notesSlides/notesSlide3.xml" Id="R9490e79f64d643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98c3d95c804db0" /><Relationship Type="http://schemas.openxmlformats.org/officeDocument/2006/relationships/notesSlide" Target="/ppt/notesSlides/notesSlide4.xml" Id="R63ce6b63fd6342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ca0855aebb48c0" /><Relationship Type="http://schemas.openxmlformats.org/officeDocument/2006/relationships/image" Target="/ppt/media/image.png" Id="Rf8c1f3a5f77a4f6e" /><Relationship Type="http://schemas.openxmlformats.org/officeDocument/2006/relationships/notesSlide" Target="/ppt/notesSlides/notesSlide5.xml" Id="Rf46ba804682f46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123ffbccc44cb7" /><Relationship Type="http://schemas.openxmlformats.org/officeDocument/2006/relationships/notesSlide" Target="/ppt/notesSlides/notesSlide6.xml" Id="R3646037228cd49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7c7ca4b31549d2" /><Relationship Type="http://schemas.openxmlformats.org/officeDocument/2006/relationships/image" Target="/ppt/media/image2.png" Id="R9d62f183ee92406f" /><Relationship Type="http://schemas.openxmlformats.org/officeDocument/2006/relationships/image" Target="/ppt/media/image3.png" Id="Rd4535f9869dc4b2e" /><Relationship Type="http://schemas.openxmlformats.org/officeDocument/2006/relationships/notesSlide" Target="/ppt/notesSlides/notesSlide7.xml" Id="Ra846f67a865e4c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48488f606a426b" /><Relationship Type="http://schemas.openxmlformats.org/officeDocument/2006/relationships/image" Target="/ppt/media/image4.png" Id="Reb583b70dd7740ad" /><Relationship Type="http://schemas.openxmlformats.org/officeDocument/2006/relationships/image" Target="/ppt/media/image5.png" Id="Rd4488cdc935646f7" /><Relationship Type="http://schemas.openxmlformats.org/officeDocument/2006/relationships/notesSlide" Target="/ppt/notesSlides/notesSlide8.xml" Id="R19988be5bcd742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e4dd37fd994ff4" /><Relationship Type="http://schemas.openxmlformats.org/officeDocument/2006/relationships/image" Target="/ppt/media/image6.png" Id="R2974ba851eee4ebd" /><Relationship Type="http://schemas.openxmlformats.org/officeDocument/2006/relationships/image" Target="/ppt/media/image7.png" Id="Rf6a3bf55c76043d3" /><Relationship Type="http://schemas.openxmlformats.org/officeDocument/2006/relationships/notesSlide" Target="/ppt/notesSlides/notesSlide9.xml" Id="Re7cff9bb434148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4baae4a91e4399" /><Relationship Type="http://schemas.openxmlformats.org/officeDocument/2006/relationships/image" Target="/ppt/media/image8.png" Id="R703f537b64d34f68" /><Relationship Type="http://schemas.openxmlformats.org/officeDocument/2006/relationships/image" Target="/ppt/media/image9.png" Id="R9151eb5fa6004d55" /><Relationship Type="http://schemas.openxmlformats.org/officeDocument/2006/relationships/notesSlide" Target="/ppt/notesSlides/notesSlide10.xml" Id="Rd929a0cd8b0f40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c532dc5301e4df9" /><Relationship Type="http://schemas.openxmlformats.org/officeDocument/2006/relationships/image" Target="/ppt/media/image10.png" Id="R6d661ae5e0f241f2" /><Relationship Type="http://schemas.openxmlformats.org/officeDocument/2006/relationships/image" Target="/ppt/media/image11.png" Id="R0bc2ed6b9dc34fcf" /><Relationship Type="http://schemas.openxmlformats.org/officeDocument/2006/relationships/notesSlide" Target="/ppt/notesSlides/notesSlide11.xml" Id="Rfc2f812fa0f241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704d7bccba649d4" /><Relationship Type="http://schemas.openxmlformats.org/officeDocument/2006/relationships/image" Target="/ppt/media/image12.png" Id="R40c45211e04143ad" /><Relationship Type="http://schemas.openxmlformats.org/officeDocument/2006/relationships/image" Target="/ppt/media/image13.png" Id="R30da760937864c13" /><Relationship Type="http://schemas.openxmlformats.org/officeDocument/2006/relationships/notesSlide" Target="/ppt/notesSlides/notesSlide12.xml" Id="Rdfd3343c2e544d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9502b758c7495f" /><Relationship Type="http://schemas.openxmlformats.org/officeDocument/2006/relationships/image" Target="/ppt/media/image14.png" Id="R637f3b80dd184f46" /><Relationship Type="http://schemas.openxmlformats.org/officeDocument/2006/relationships/image" Target="/ppt/media/image15.png" Id="Rfc39e5c602c24582" /><Relationship Type="http://schemas.openxmlformats.org/officeDocument/2006/relationships/notesSlide" Target="/ppt/notesSlides/notesSlide13.xml" Id="Re48156ffa1e04015" /></Relationships>
</file>

<file path=ppt/slides/charts/chart1.xml><?xml version="1.0" encoding="utf-8"?>
<c:chartSpace xmlns:c="http://schemas.openxmlformats.org/drawingml/2006/chart">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Lit>
              <c:ptCount val="3"/>
              <c:pt idx="0">
                <c:v>No counted flags</c:v>
              </c:pt>
              <c:pt idx="1">
                <c:v>Flagged fit</c:v>
              </c:pt>
              <c:pt idx="2">
                <c:v>Failed fit</c:v>
              </c:pt>
            </c:strLit>
          </c:cat>
          <c:val>
            <c:numLit>
              <c:formatCode>0.0%</c:formatCode>
              <c:ptCount val="3"/>
              <c:pt idx="0">
                <c:v>0.216421</c:v>
              </c:pt>
              <c:pt idx="1">
                <c:v>0</c:v>
              </c:pt>
              <c:pt idx="2">
                <c:v>0</c:v>
              </c:pt>
            </c:numLit>
          </c:val>
        </c:ser>
        <c:ser>
          <c:idx val="1"/>
          <c:order val="1"/>
          <c:tx>
            <c:v>1 flag</c:v>
          </c:tx>
          <c:spPr>
            <a:solidFill xmlns:a="http://schemas.openxmlformats.org/drawingml/2006/main">
              <a:srgbClr val="E5BB66"/>
            </a:solidFill>
          </c:spPr>
          <c:invertIfNegative val="0"/>
          <c:cat>
            <c:strLit>
              <c:ptCount val="3"/>
              <c:pt idx="0">
                <c:v>No counted flags</c:v>
              </c:pt>
              <c:pt idx="1">
                <c:v>Flagged fit</c:v>
              </c:pt>
              <c:pt idx="2">
                <c:v>Failed fit</c:v>
              </c:pt>
            </c:strLit>
          </c:cat>
          <c:val>
            <c:numLit>
              <c:formatCode>0.0%</c:formatCode>
              <c:ptCount val="3"/>
              <c:pt idx="0">
                <c:v>0</c:v>
              </c:pt>
              <c:pt idx="1">
                <c:v>0.346777</c:v>
              </c:pt>
              <c:pt idx="2">
                <c:v>0</c:v>
              </c:pt>
            </c:numLit>
          </c:val>
        </c:ser>
        <c:ser>
          <c:idx val="2"/>
          <c:order val="2"/>
          <c:tx>
            <c:v>2 flags</c:v>
          </c:tx>
          <c:spPr>
            <a:solidFill xmlns:a="http://schemas.openxmlformats.org/drawingml/2006/main">
              <a:srgbClr val="CC9637"/>
            </a:solidFill>
          </c:spPr>
          <c:invertIfNegative val="0"/>
          <c:cat>
            <c:strLit>
              <c:ptCount val="3"/>
              <c:pt idx="0">
                <c:v>No counted flags</c:v>
              </c:pt>
              <c:pt idx="1">
                <c:v>Flagged fit</c:v>
              </c:pt>
              <c:pt idx="2">
                <c:v>Failed fit</c:v>
              </c:pt>
            </c:strLit>
          </c:cat>
          <c:val>
            <c:numLit>
              <c:formatCode>0.0%</c:formatCode>
              <c:ptCount val="3"/>
              <c:pt idx="0">
                <c:v>0</c:v>
              </c:pt>
              <c:pt idx="1">
                <c:v>0.167807</c:v>
              </c:pt>
              <c:pt idx="2">
                <c:v>0</c:v>
              </c:pt>
            </c:numLit>
          </c:val>
        </c:ser>
        <c:ser>
          <c:idx val="3"/>
          <c:order val="3"/>
          <c:tx>
            <c:v>3 flags</c:v>
          </c:tx>
          <c:spPr>
            <a:solidFill xmlns:a="http://schemas.openxmlformats.org/drawingml/2006/main">
              <a:srgbClr val="A66B24"/>
            </a:solidFill>
          </c:spPr>
          <c:invertIfNegative val="0"/>
          <c:cat>
            <c:strLit>
              <c:ptCount val="3"/>
              <c:pt idx="0">
                <c:v>No counted flags</c:v>
              </c:pt>
              <c:pt idx="1">
                <c:v>Flagged fit</c:v>
              </c:pt>
              <c:pt idx="2">
                <c:v>Failed fit</c:v>
              </c:pt>
            </c:strLit>
          </c:cat>
          <c:val>
            <c:numLit>
              <c:formatCode>0.0%</c:formatCode>
              <c:ptCount val="3"/>
              <c:pt idx="0">
                <c:v>0</c:v>
              </c:pt>
              <c:pt idx="1">
                <c:v>0.063378</c:v>
              </c:pt>
              <c:pt idx="2">
                <c:v>0</c:v>
              </c:pt>
            </c:numLit>
          </c:val>
        </c:ser>
        <c:ser>
          <c:idx val="4"/>
          <c:order val="4"/>
          <c:tx>
            <c:v>4 flags</c:v>
          </c:tx>
          <c:spPr>
            <a:solidFill xmlns:a="http://schemas.openxmlformats.org/drawingml/2006/main">
              <a:srgbClr val="72441C"/>
            </a:solidFill>
          </c:spPr>
          <c:invertIfNegative val="0"/>
          <c:cat>
            <c:strLit>
              <c:ptCount val="3"/>
              <c:pt idx="0">
                <c:v>No counted flags</c:v>
              </c:pt>
              <c:pt idx="1">
                <c:v>Flagged fit</c:v>
              </c:pt>
              <c:pt idx="2">
                <c:v>Failed fit</c:v>
              </c:pt>
            </c:strLit>
          </c:cat>
          <c:val>
            <c:numLit>
              <c:formatCode>0.0%</c:formatCode>
              <c:ptCount val="3"/>
              <c:pt idx="0">
                <c:v>0</c:v>
              </c:pt>
              <c:pt idx="1">
                <c:v>0.00036</c:v>
              </c:pt>
              <c:pt idx="2">
                <c:v>0</c:v>
              </c:pt>
            </c:numLit>
          </c:val>
        </c:ser>
        <c:ser>
          <c:idx val="5"/>
          <c:order val="5"/>
          <c:tx>
            <c:v>Failed</c:v>
          </c:tx>
          <c:spPr>
            <a:solidFill xmlns:a="http://schemas.openxmlformats.org/drawingml/2006/main">
              <a:srgbClr val="AC4B47"/>
            </a:solidFill>
          </c:spPr>
          <c:invertIfNegative val="0"/>
          <c:cat>
            <c:strLit>
              <c:ptCount val="3"/>
              <c:pt idx="0">
                <c:v>No counted flags</c:v>
              </c:pt>
              <c:pt idx="1">
                <c:v>Flagged fit</c:v>
              </c:pt>
              <c:pt idx="2">
                <c:v>Failed fit</c:v>
              </c:pt>
            </c:strLit>
          </c:cat>
          <c:val>
            <c:numLit>
              <c:formatCode>0.0%</c:formatCode>
              <c:ptCount val="3"/>
              <c:pt idx="0">
                <c:v>0</c:v>
              </c:pt>
              <c:pt idx="1">
                <c:v>0</c:v>
              </c:pt>
              <c:pt idx="2">
                <c:v>0.205258</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Lit>
              <c:ptCount val="5"/>
              <c:pt idx="0">
                <c:v>Small bar interval</c:v>
              </c:pt>
              <c:pt idx="1">
                <c:v>Unstable disc PA*</c:v>
              </c:pt>
              <c:pt idx="2">
                <c:v>Changing disc shape</c:v>
              </c:pt>
              <c:pt idx="3">
                <c:v>Unstable bar PA</c:v>
              </c:pt>
              <c:pt idx="4">
                <c:v>Weak bar signature</c:v>
              </c:pt>
            </c:strLit>
          </c:cat>
          <c:val>
            <c:numLit>
              <c:formatCode>0.0%</c:formatCode>
              <c:ptCount val="5"/>
              <c:pt idx="0">
                <c:v>0.548256</c:v>
              </c:pt>
              <c:pt idx="1">
                <c:v>0.303438</c:v>
              </c:pt>
              <c:pt idx="2">
                <c:v>0.259628</c:v>
              </c:pt>
              <c:pt idx="3">
                <c:v>0.012687</c:v>
              </c:pt>
              <c:pt idx="4">
                <c:v>0.003172</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Lit>
              <c:ptCount val="3"/>
              <c:pt idx="0">
                <c:v>Interval</c:v>
              </c:pt>
              <c:pt idx="1">
                <c:v>Short profile</c:v>
              </c:pt>
              <c:pt idx="2">
                <c:v>Centre</c:v>
              </c:pt>
            </c:strLit>
          </c:cat>
          <c:val>
            <c:numLit>
              <c:formatCode>0.0%</c:formatCode>
              <c:ptCount val="3"/>
              <c:pt idx="0">
                <c:v>0.75614</c:v>
              </c:pt>
              <c:pt idx="1">
                <c:v>0.242105</c:v>
              </c:pt>
              <c:pt idx="2">
                <c:v>0.001754</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72FD4D-EF62-445C-9FB9-1109A0D338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C9690462-2E23-4C87-A59C-E102490F5E8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13</a:t>
            </a:r>
          </a:p>
        </p:txBody>
      </p:sp>
      <p:sp>
        <p:nvSpPr>
          <p:cNvPr id="3" name="">
            <a:extLst xmlns:a="http://schemas.openxmlformats.org/drawingml/2006/main">
              <a:ext uri="{FF2B5EF4-FFF2-40B4-BE49-F238E27FC236}">
                <a16:creationId xmlns:a16="http://schemas.microsoft.com/office/drawing/2014/main" id="{E7B60A6E-DF96-4C51-B28F-481E92BA5472}"/>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DB56D117-73C4-4773-90DB-78FBE8405498}"/>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54F09BCA-A665-4560-B39B-FF34A3372C10}"/>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AD7F47FB-666A-4820-ACA7-2FC55643D7C5}"/>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676201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D2C458-F5A1-462F-B3FC-6A7D2FF9A98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F71A743E-0485-41BA-8974-21A4ABC602FC}"/>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13</a:t>
            </a:r>
          </a:p>
        </p:txBody>
      </p:sp>
      <p:sp>
        <p:nvSpPr>
          <p:cNvPr id="3" name="">
            <a:extLst xmlns:a="http://schemas.openxmlformats.org/drawingml/2006/main">
              <a:ext uri="{FF2B5EF4-FFF2-40B4-BE49-F238E27FC236}">
                <a16:creationId xmlns:a16="http://schemas.microsoft.com/office/drawing/2014/main" id="{4DBDB7A3-7997-4338-9D6C-B5D602022EAF}"/>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46BFC900-3AEE-4E7F-8870-17BA14F3B347}"/>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0ccbf702e9904430"/>
          </a:graphicData>
        </a:graphic>
      </p:graphicFrame>
      <p:sp>
        <p:nvSpPr>
          <p:cNvPr id="5" name="">
            <a:extLst xmlns:a="http://schemas.openxmlformats.org/drawingml/2006/main">
              <a:ext uri="{FF2B5EF4-FFF2-40B4-BE49-F238E27FC236}">
                <a16:creationId xmlns:a16="http://schemas.microsoft.com/office/drawing/2014/main" id="{22604BE7-EEBD-487A-9DCA-9415A7023047}"/>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1D520624-C848-4C1F-A805-089D920784C2}"/>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9A46BB14-3C5D-4ADB-A45C-A370DCD46B0C}"/>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2C419599-70F5-431E-96AF-FDCB828081BC}"/>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5662E8BF-ECF7-411E-97CE-8942E63BED7F}"/>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28583C49-B21A-4AE6-A3B2-5AAE39279D2C}"/>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F20219C9-4A06-479F-B25E-F4F3D371BACA}"/>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5529863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9E1E41-6F93-4881-99C7-37BDE9A53FD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72924ED4-1DC4-434A-AEF1-571D4615FE0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13</a:t>
            </a:r>
          </a:p>
        </p:txBody>
      </p:sp>
      <p:sp>
        <p:nvSpPr>
          <p:cNvPr id="3" name="">
            <a:extLst xmlns:a="http://schemas.openxmlformats.org/drawingml/2006/main">
              <a:ext uri="{FF2B5EF4-FFF2-40B4-BE49-F238E27FC236}">
                <a16:creationId xmlns:a16="http://schemas.microsoft.com/office/drawing/2014/main" id="{752E0C63-06B7-4553-8122-438A34B0380F}"/>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0B93AB07-C677-4006-A99C-DBD22FDA76FC}"/>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ddf06fa9cba64756"/>
          </a:graphicData>
        </a:graphic>
      </p:graphicFrame>
      <p:sp>
        <p:nvSpPr>
          <p:cNvPr id="5" name="">
            <a:extLst xmlns:a="http://schemas.openxmlformats.org/drawingml/2006/main">
              <a:ext uri="{FF2B5EF4-FFF2-40B4-BE49-F238E27FC236}">
                <a16:creationId xmlns:a16="http://schemas.microsoft.com/office/drawing/2014/main" id="{5CE2476D-E3F3-4B6B-943C-1F0F95FF1F83}"/>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DD82260E-065C-434F-B51C-2B2FEA98CFF5}"/>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817CC90D-102E-4AF4-BC4E-016044EB5CB7}"/>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a531a68225524cef"/>
          </a:graphicData>
        </a:graphic>
      </p:graphicFrame>
      <p:sp>
        <p:nvSpPr>
          <p:cNvPr id="8" name="">
            <a:extLst xmlns:a="http://schemas.openxmlformats.org/drawingml/2006/main">
              <a:ext uri="{FF2B5EF4-FFF2-40B4-BE49-F238E27FC236}">
                <a16:creationId xmlns:a16="http://schemas.microsoft.com/office/drawing/2014/main" id="{3D3E8B63-9E06-41D0-A143-8E0C3376B37D}"/>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7457F9AB-D491-452A-A654-C690527AA9EF}"/>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4495638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EAE57-2598-406C-807E-877156458D1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1FAEF0D5-1BB6-4A25-A9D5-479035A4431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13</a:t>
            </a:r>
          </a:p>
        </p:txBody>
      </p:sp>
      <p:sp>
        <p:nvSpPr>
          <p:cNvPr id="3" name="">
            <a:extLst xmlns:a="http://schemas.openxmlformats.org/drawingml/2006/main">
              <a:ext uri="{FF2B5EF4-FFF2-40B4-BE49-F238E27FC236}">
                <a16:creationId xmlns:a16="http://schemas.microsoft.com/office/drawing/2014/main" id="{9A57ADB8-F42C-4456-A857-10A92602CE8E}"/>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1A239E22-7A0B-49FC-8DC2-89D351464197}"/>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D8C1A31-2FB6-4207-8B86-D63AC6CB835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0635FA3A-E120-4934-86D0-43FE3F16B8A5}"/>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0409703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C541FB-8A0D-4AA4-A660-AE55C5FFDC0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6B8713C2-5E2A-4588-93AA-4CECE94F428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13</a:t>
            </a:r>
          </a:p>
        </p:txBody>
      </p:sp>
      <p:pic>
        <p:nvPicPr>
          <p:cNvPr id="3" name="">
            <a:extLst xmlns:a="http://schemas.openxmlformats.org/drawingml/2006/main">
              <a:ext uri="{FF2B5EF4-FFF2-40B4-BE49-F238E27FC236}">
                <a16:creationId xmlns:a16="http://schemas.microsoft.com/office/drawing/2014/main" id="{8785336F-71C6-4EF6-A42E-0E795A3EAE0E}"/>
              </a:ext>
            </a:extLst>
          </p:cNvPr>
          <p:cNvPicPr>
            <a:picLocks xmlns:a="http://schemas.openxmlformats.org/drawingml/2006/main" noChangeAspect="1"/>
          </p:cNvPicPr>
          <p:nvPr/>
        </p:nvPicPr>
        <p:blipFill>
          <a:blip xmlns:r="http://schemas.openxmlformats.org/officeDocument/2006/relationships" xmlns:a="http://schemas.openxmlformats.org/drawingml/2006/main" r:embed="Rf8c1f3a5f77a4f6e"/>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4A0B1D1-8596-483C-8F86-18E8B23C17E4}"/>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5F8FA20A-8590-4C06-B32F-B02AB5A82F4C}"/>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BB7E2B4A-E1EA-4C08-930D-12E951DAC9D1}"/>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5E15B2B3-225F-4747-A6D7-BD9CDB224D8A}"/>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57D2168E-37BA-48AF-8D37-D0557C03FA78}"/>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91717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FB84C2-A6B1-4AA1-AF92-A088F9FA330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4BF0C428-B30A-4900-BF31-666511FC7E4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13</a:t>
            </a:r>
          </a:p>
        </p:txBody>
      </p:sp>
      <p:graphicFrame>
        <p:nvGraphicFramePr>
          <p:cNvPr id="3" name="">
            <a:extLst xmlns:a="http://schemas.openxmlformats.org/drawingml/2006/main">
              <a:ext uri="{FF2B5EF4-FFF2-40B4-BE49-F238E27FC236}">
                <a16:creationId xmlns:a16="http://schemas.microsoft.com/office/drawing/2014/main" id="{46D81408-BF83-4D3E-B1F3-8E52AE297790}"/>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5C22904-CB0E-43BC-8EB3-534F7A84F4C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11F6FD51-F186-417E-945A-24B10B1C7A66}"/>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DDCCD1F9-1EDC-4F64-A9AE-838831A33461}"/>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6410357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DEA30E-A409-4D28-9FE0-D92B5D55DA4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Small bar interval</a:t>
            </a:r>
          </a:p>
        </p:txBody>
      </p:sp>
      <p:sp>
        <p:nvSpPr>
          <p:cNvPr id="2" name="">
            <a:extLst xmlns:a="http://schemas.openxmlformats.org/drawingml/2006/main">
              <a:ext uri="{FF2B5EF4-FFF2-40B4-BE49-F238E27FC236}">
                <a16:creationId xmlns:a16="http://schemas.microsoft.com/office/drawing/2014/main" id="{E13AAB7B-0F13-4534-AA71-45ACD555B05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13</a:t>
            </a:r>
          </a:p>
        </p:txBody>
      </p:sp>
      <p:sp>
        <p:nvSpPr>
          <p:cNvPr id="3" name="">
            <a:extLst xmlns:a="http://schemas.openxmlformats.org/drawingml/2006/main">
              <a:ext uri="{FF2B5EF4-FFF2-40B4-BE49-F238E27FC236}">
                <a16:creationId xmlns:a16="http://schemas.microsoft.com/office/drawing/2014/main" id="{8095078F-FCC8-4380-B728-7607271E1E89}"/>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DB1E8B03-DBDC-486B-BFFD-9BE0F88EF57F}"/>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-520196615291310590</a:t>
            </a:r>
          </a:p>
        </p:txBody>
      </p:sp>
      <p:pic>
        <p:nvPicPr>
          <p:cNvPr id="5" name="">
            <a:extLst xmlns:a="http://schemas.openxmlformats.org/drawingml/2006/main">
              <a:ext uri="{FF2B5EF4-FFF2-40B4-BE49-F238E27FC236}">
                <a16:creationId xmlns:a16="http://schemas.microsoft.com/office/drawing/2014/main" id="{0230FC2A-F9A3-4DD0-84A3-75D389F58917}"/>
              </a:ext>
            </a:extLst>
          </p:cNvPr>
          <p:cNvPicPr>
            <a:picLocks xmlns:a="http://schemas.openxmlformats.org/drawingml/2006/main" noChangeAspect="1"/>
          </p:cNvPicPr>
          <p:nvPr/>
        </p:nvPicPr>
        <p:blipFill>
          <a:blip xmlns:r="http://schemas.openxmlformats.org/officeDocument/2006/relationships" xmlns:a="http://schemas.openxmlformats.org/drawingml/2006/main" r:embed="R9d62f183ee92406f"/>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EA84B88-BAE8-4307-8CCB-D1BE3DA0273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1.15 arcsec (threshold &lt;1.5).</a:t>
            </a:r>
          </a:p>
        </p:txBody>
      </p:sp>
      <p:sp>
        <p:nvSpPr>
          <p:cNvPr id="7" name="">
            <a:extLst xmlns:a="http://schemas.openxmlformats.org/drawingml/2006/main">
              <a:ext uri="{FF2B5EF4-FFF2-40B4-BE49-F238E27FC236}">
                <a16:creationId xmlns:a16="http://schemas.microsoft.com/office/drawing/2014/main" id="{5873589A-9001-42DD-AA80-E29A052BE742}"/>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-519465826287599179</a:t>
            </a:r>
          </a:p>
        </p:txBody>
      </p:sp>
      <p:pic>
        <p:nvPicPr>
          <p:cNvPr id="8" name="">
            <a:extLst xmlns:a="http://schemas.openxmlformats.org/drawingml/2006/main">
              <a:ext uri="{FF2B5EF4-FFF2-40B4-BE49-F238E27FC236}">
                <a16:creationId xmlns:a16="http://schemas.microsoft.com/office/drawing/2014/main" id="{2C5AFEC4-77FC-4431-BFB4-05DED6A053C9}"/>
              </a:ext>
            </a:extLst>
          </p:cNvPr>
          <p:cNvPicPr>
            <a:picLocks xmlns:a="http://schemas.openxmlformats.org/drawingml/2006/main" noChangeAspect="1"/>
          </p:cNvPicPr>
          <p:nvPr/>
        </p:nvPicPr>
        <p:blipFill>
          <a:blip xmlns:r="http://schemas.openxmlformats.org/officeDocument/2006/relationships" xmlns:a="http://schemas.openxmlformats.org/drawingml/2006/main" r:embed="Rd4535f9869dc4b2e"/>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F2345D4-0668-4DE3-8595-84B7546EBE73}"/>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1.48 arcsec (threshold &lt;1.5).</a:t>
            </a:r>
          </a:p>
        </p:txBody>
      </p:sp>
      <p:sp>
        <p:nvSpPr>
          <p:cNvPr id="10" name="">
            <a:extLst xmlns:a="http://schemas.openxmlformats.org/drawingml/2006/main">
              <a:ext uri="{FF2B5EF4-FFF2-40B4-BE49-F238E27FC236}">
                <a16:creationId xmlns:a16="http://schemas.microsoft.com/office/drawing/2014/main" id="{673E01D8-1F3E-477C-81BF-5D2ED951AB8E}"/>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selected bar interval ends below 1.5 arcsec. This warns about resolution and range selection, not a measured physical bar length.</a:t>
            </a:r>
          </a:p>
        </p:txBody>
      </p:sp>
    </p:spTree>
    <p:extLst>
      <p:ext uri="{BB962C8B-B14F-4D97-AF65-F5344CB8AC3E}">
        <p14:creationId xmlns:p14="http://schemas.microsoft.com/office/powerpoint/2010/main" val="14563905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53111F-9DFC-4DB9-975E-3A0A2716B5A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3ED212F7-82EA-4F79-BD8C-5CBF14C9CDE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13</a:t>
            </a:r>
          </a:p>
        </p:txBody>
      </p:sp>
      <p:sp>
        <p:nvSpPr>
          <p:cNvPr id="3" name="">
            <a:extLst xmlns:a="http://schemas.openxmlformats.org/drawingml/2006/main">
              <a:ext uri="{FF2B5EF4-FFF2-40B4-BE49-F238E27FC236}">
                <a16:creationId xmlns:a16="http://schemas.microsoft.com/office/drawing/2014/main" id="{7A373AE1-30CA-4E92-9D26-3197C0D27C77}"/>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E5EA076E-D26B-4B07-9D2A-CAEC7534910F}"/>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-591287408514481131</a:t>
            </a:r>
          </a:p>
        </p:txBody>
      </p:sp>
      <p:pic>
        <p:nvPicPr>
          <p:cNvPr id="5" name="">
            <a:extLst xmlns:a="http://schemas.openxmlformats.org/drawingml/2006/main">
              <a:ext uri="{FF2B5EF4-FFF2-40B4-BE49-F238E27FC236}">
                <a16:creationId xmlns:a16="http://schemas.microsoft.com/office/drawing/2014/main" id="{04FF384A-B8F5-423F-B16C-370ED4CBBF4D}"/>
              </a:ext>
            </a:extLst>
          </p:cNvPr>
          <p:cNvPicPr>
            <a:picLocks xmlns:a="http://schemas.openxmlformats.org/drawingml/2006/main" noChangeAspect="1"/>
          </p:cNvPicPr>
          <p:nvPr/>
        </p:nvPicPr>
        <p:blipFill>
          <a:blip xmlns:r="http://schemas.openxmlformats.org/officeDocument/2006/relationships" xmlns:a="http://schemas.openxmlformats.org/drawingml/2006/main" r:embed="Reb583b70dd7740ad"/>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793FABC-2514-44E8-A3F3-B262D95B3BB7}"/>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11.2° (threshold &gt;10°).</a:t>
            </a:r>
          </a:p>
        </p:txBody>
      </p:sp>
      <p:sp>
        <p:nvSpPr>
          <p:cNvPr id="7" name="">
            <a:extLst xmlns:a="http://schemas.openxmlformats.org/drawingml/2006/main">
              <a:ext uri="{FF2B5EF4-FFF2-40B4-BE49-F238E27FC236}">
                <a16:creationId xmlns:a16="http://schemas.microsoft.com/office/drawing/2014/main" id="{81F00CBA-CEE3-445F-B3BF-949F64E9B94D}"/>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-591265046503894332</a:t>
            </a:r>
          </a:p>
        </p:txBody>
      </p:sp>
      <p:pic>
        <p:nvPicPr>
          <p:cNvPr id="8" name="">
            <a:extLst xmlns:a="http://schemas.openxmlformats.org/drawingml/2006/main">
              <a:ext uri="{FF2B5EF4-FFF2-40B4-BE49-F238E27FC236}">
                <a16:creationId xmlns:a16="http://schemas.microsoft.com/office/drawing/2014/main" id="{CD268BFE-0AE5-44D9-8903-A3B738041A3C}"/>
              </a:ext>
            </a:extLst>
          </p:cNvPr>
          <p:cNvPicPr>
            <a:picLocks xmlns:a="http://schemas.openxmlformats.org/drawingml/2006/main" noChangeAspect="1"/>
          </p:cNvPicPr>
          <p:nvPr/>
        </p:nvPicPr>
        <p:blipFill>
          <a:blip xmlns:r="http://schemas.openxmlformats.org/officeDocument/2006/relationships" xmlns:a="http://schemas.openxmlformats.org/drawingml/2006/main" r:embed="Rd4488cdc935646f7"/>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69E8618-1BC2-47F8-AC79-1BF353A9BEAA}"/>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12.4° (threshold &gt;10°).</a:t>
            </a:r>
          </a:p>
        </p:txBody>
      </p:sp>
      <p:sp>
        <p:nvSpPr>
          <p:cNvPr id="10" name="">
            <a:extLst xmlns:a="http://schemas.openxmlformats.org/drawingml/2006/main">
              <a:ext uri="{FF2B5EF4-FFF2-40B4-BE49-F238E27FC236}">
                <a16:creationId xmlns:a16="http://schemas.microsoft.com/office/drawing/2014/main" id="{80FE3773-9F86-4A79-8F53-3B909CD6BA55}"/>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sky PA changes across the green disc interval. The outer contours do not give one stable disc direction.</a:t>
            </a:r>
          </a:p>
        </p:txBody>
      </p:sp>
    </p:spTree>
    <p:extLst>
      <p:ext uri="{BB962C8B-B14F-4D97-AF65-F5344CB8AC3E}">
        <p14:creationId xmlns:p14="http://schemas.microsoft.com/office/powerpoint/2010/main" val="364395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510C96-B180-4632-8D50-F0166117FD8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4ED6269C-5FC9-4CCA-B3A9-74EDA6F4564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13</a:t>
            </a:r>
          </a:p>
        </p:txBody>
      </p:sp>
      <p:sp>
        <p:nvSpPr>
          <p:cNvPr id="3" name="">
            <a:extLst xmlns:a="http://schemas.openxmlformats.org/drawingml/2006/main">
              <a:ext uri="{FF2B5EF4-FFF2-40B4-BE49-F238E27FC236}">
                <a16:creationId xmlns:a16="http://schemas.microsoft.com/office/drawing/2014/main" id="{81C812BA-DC89-4800-8940-B90B89718A15}"/>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BAEC69A9-7D75-485A-9F08-707F8F4422FC}"/>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-548398753282885623</a:t>
            </a:r>
          </a:p>
        </p:txBody>
      </p:sp>
      <p:pic>
        <p:nvPicPr>
          <p:cNvPr id="5" name="">
            <a:extLst xmlns:a="http://schemas.openxmlformats.org/drawingml/2006/main">
              <a:ext uri="{FF2B5EF4-FFF2-40B4-BE49-F238E27FC236}">
                <a16:creationId xmlns:a16="http://schemas.microsoft.com/office/drawing/2014/main" id="{2E3DD02A-18FA-48A7-B946-64A27451F75C}"/>
              </a:ext>
            </a:extLst>
          </p:cNvPr>
          <p:cNvPicPr>
            <a:picLocks xmlns:a="http://schemas.openxmlformats.org/drawingml/2006/main" noChangeAspect="1"/>
          </p:cNvPicPr>
          <p:nvPr/>
        </p:nvPicPr>
        <p:blipFill>
          <a:blip xmlns:r="http://schemas.openxmlformats.org/officeDocument/2006/relationships" xmlns:a="http://schemas.openxmlformats.org/drawingml/2006/main" r:embed="R2974ba851eee4ebd"/>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BDE060-4035-469E-863F-100D6BF83D79}"/>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0.168 (threshold &gt;0.15).</a:t>
            </a:r>
          </a:p>
        </p:txBody>
      </p:sp>
      <p:sp>
        <p:nvSpPr>
          <p:cNvPr id="7" name="">
            <a:extLst xmlns:a="http://schemas.openxmlformats.org/drawingml/2006/main">
              <a:ext uri="{FF2B5EF4-FFF2-40B4-BE49-F238E27FC236}">
                <a16:creationId xmlns:a16="http://schemas.microsoft.com/office/drawing/2014/main" id="{11D5BF94-F3EB-4CE3-A3B7-12E81F8EDD8A}"/>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2694485455649440299</a:t>
            </a:r>
          </a:p>
        </p:txBody>
      </p:sp>
      <p:pic>
        <p:nvPicPr>
          <p:cNvPr id="8" name="">
            <a:extLst xmlns:a="http://schemas.openxmlformats.org/drawingml/2006/main">
              <a:ext uri="{FF2B5EF4-FFF2-40B4-BE49-F238E27FC236}">
                <a16:creationId xmlns:a16="http://schemas.microsoft.com/office/drawing/2014/main" id="{F1833A75-9778-4FD8-8DAB-C13053504795}"/>
              </a:ext>
            </a:extLst>
          </p:cNvPr>
          <p:cNvPicPr>
            <a:picLocks xmlns:a="http://schemas.openxmlformats.org/drawingml/2006/main" noChangeAspect="1"/>
          </p:cNvPicPr>
          <p:nvPr/>
        </p:nvPicPr>
        <p:blipFill>
          <a:blip xmlns:r="http://schemas.openxmlformats.org/officeDocument/2006/relationships" xmlns:a="http://schemas.openxmlformats.org/drawingml/2006/main" r:embed="Rf6a3bf55c76043d3"/>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27151C-6429-4013-A27D-44871B8F7D20}"/>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0.196 (threshold &gt;0.15).</a:t>
            </a:r>
          </a:p>
        </p:txBody>
      </p:sp>
      <p:sp>
        <p:nvSpPr>
          <p:cNvPr id="10" name="">
            <a:extLst xmlns:a="http://schemas.openxmlformats.org/drawingml/2006/main">
              <a:ext uri="{FF2B5EF4-FFF2-40B4-BE49-F238E27FC236}">
                <a16:creationId xmlns:a16="http://schemas.microsoft.com/office/drawing/2014/main" id="{0C35C71E-8CCF-4053-A576-9D426FF6293B}"/>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Ellipticity changes across the green disc interval. Inclination depends on which outer contours are used.</a:t>
            </a:r>
          </a:p>
        </p:txBody>
      </p:sp>
    </p:spTree>
    <p:extLst>
      <p:ext uri="{BB962C8B-B14F-4D97-AF65-F5344CB8AC3E}">
        <p14:creationId xmlns:p14="http://schemas.microsoft.com/office/powerpoint/2010/main" val="18196399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012B70-68BE-4607-AAA2-4104797E6DB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bar PA</a:t>
            </a:r>
          </a:p>
        </p:txBody>
      </p:sp>
      <p:sp>
        <p:nvSpPr>
          <p:cNvPr id="2" name="">
            <a:extLst xmlns:a="http://schemas.openxmlformats.org/drawingml/2006/main">
              <a:ext uri="{FF2B5EF4-FFF2-40B4-BE49-F238E27FC236}">
                <a16:creationId xmlns:a16="http://schemas.microsoft.com/office/drawing/2014/main" id="{22D4A79A-E864-4C0D-B236-839799CB642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13</a:t>
            </a:r>
          </a:p>
        </p:txBody>
      </p:sp>
      <p:sp>
        <p:nvSpPr>
          <p:cNvPr id="3" name="">
            <a:extLst xmlns:a="http://schemas.openxmlformats.org/drawingml/2006/main">
              <a:ext uri="{FF2B5EF4-FFF2-40B4-BE49-F238E27FC236}">
                <a16:creationId xmlns:a16="http://schemas.microsoft.com/office/drawing/2014/main" id="{6AE38439-1B52-4BE6-867C-E295BF5F476E}"/>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1D532C76-8D2F-4932-B686-A73477B401B5}"/>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-560500769490472523</a:t>
            </a:r>
          </a:p>
        </p:txBody>
      </p:sp>
      <p:pic>
        <p:nvPicPr>
          <p:cNvPr id="5" name="">
            <a:extLst xmlns:a="http://schemas.openxmlformats.org/drawingml/2006/main">
              <a:ext uri="{FF2B5EF4-FFF2-40B4-BE49-F238E27FC236}">
                <a16:creationId xmlns:a16="http://schemas.microsoft.com/office/drawing/2014/main" id="{F4C8A87C-6F31-473B-84DD-256E81F2F94D}"/>
              </a:ext>
            </a:extLst>
          </p:cNvPr>
          <p:cNvPicPr>
            <a:picLocks xmlns:a="http://schemas.openxmlformats.org/drawingml/2006/main" noChangeAspect="1"/>
          </p:cNvPicPr>
          <p:nvPr/>
        </p:nvPicPr>
        <p:blipFill>
          <a:blip xmlns:r="http://schemas.openxmlformats.org/officeDocument/2006/relationships" xmlns:a="http://schemas.openxmlformats.org/drawingml/2006/main" r:embed="R703f537b64d34f68"/>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70BC5E-5D94-429B-9697-B7EE8320A379}"/>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10.8° (threshold &gt;10°).</a:t>
            </a:r>
          </a:p>
        </p:txBody>
      </p:sp>
      <p:sp>
        <p:nvSpPr>
          <p:cNvPr id="7" name="">
            <a:extLst xmlns:a="http://schemas.openxmlformats.org/drawingml/2006/main">
              <a:ext uri="{FF2B5EF4-FFF2-40B4-BE49-F238E27FC236}">
                <a16:creationId xmlns:a16="http://schemas.microsoft.com/office/drawing/2014/main" id="{1875D930-7AED-453B-B1CC-BA56B2B8F848}"/>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-630490045487791289</a:t>
            </a:r>
          </a:p>
        </p:txBody>
      </p:sp>
      <p:pic>
        <p:nvPicPr>
          <p:cNvPr id="8" name="">
            <a:extLst xmlns:a="http://schemas.openxmlformats.org/drawingml/2006/main">
              <a:ext uri="{FF2B5EF4-FFF2-40B4-BE49-F238E27FC236}">
                <a16:creationId xmlns:a16="http://schemas.microsoft.com/office/drawing/2014/main" id="{BE432AD1-F3EA-4367-9580-A0802F35A2C2}"/>
              </a:ext>
            </a:extLst>
          </p:cNvPr>
          <p:cNvPicPr>
            <a:picLocks xmlns:a="http://schemas.openxmlformats.org/drawingml/2006/main" noChangeAspect="1"/>
          </p:cNvPicPr>
          <p:nvPr/>
        </p:nvPicPr>
        <p:blipFill>
          <a:blip xmlns:r="http://schemas.openxmlformats.org/officeDocument/2006/relationships" xmlns:a="http://schemas.openxmlformats.org/drawingml/2006/main" r:embed="R9151eb5fa6004d55"/>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E3276B-3EF4-4C0E-B441-DBAD72EF3DE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11.6° (threshold &gt;10°).</a:t>
            </a:r>
          </a:p>
        </p:txBody>
      </p:sp>
      <p:sp>
        <p:nvSpPr>
          <p:cNvPr id="10" name="">
            <a:extLst xmlns:a="http://schemas.openxmlformats.org/drawingml/2006/main">
              <a:ext uri="{FF2B5EF4-FFF2-40B4-BE49-F238E27FC236}">
                <a16:creationId xmlns:a16="http://schemas.microsoft.com/office/drawing/2014/main" id="{F58DEE32-6846-4BB7-B625-25FB22836C0D}"/>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PA changes across the orange bar interval. A single adopted bar direction is uncertain.</a:t>
            </a:r>
          </a:p>
        </p:txBody>
      </p:sp>
    </p:spTree>
    <p:extLst>
      <p:ext uri="{BB962C8B-B14F-4D97-AF65-F5344CB8AC3E}">
        <p14:creationId xmlns:p14="http://schemas.microsoft.com/office/powerpoint/2010/main" val="10449888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38DE56-B5A0-410B-9C4A-3C51D946F8C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Weak ellipse bar signature</a:t>
            </a:r>
          </a:p>
        </p:txBody>
      </p:sp>
      <p:sp>
        <p:nvSpPr>
          <p:cNvPr id="2" name="">
            <a:extLst xmlns:a="http://schemas.openxmlformats.org/drawingml/2006/main">
              <a:ext uri="{FF2B5EF4-FFF2-40B4-BE49-F238E27FC236}">
                <a16:creationId xmlns:a16="http://schemas.microsoft.com/office/drawing/2014/main" id="{D81DB146-C74A-43FA-A14B-5B6006DD79F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13</a:t>
            </a:r>
          </a:p>
        </p:txBody>
      </p:sp>
      <p:sp>
        <p:nvSpPr>
          <p:cNvPr id="3" name="">
            <a:extLst xmlns:a="http://schemas.openxmlformats.org/drawingml/2006/main">
              <a:ext uri="{FF2B5EF4-FFF2-40B4-BE49-F238E27FC236}">
                <a16:creationId xmlns:a16="http://schemas.microsoft.com/office/drawing/2014/main" id="{CC4245B2-296D-4108-8297-89FA89335A0B}"/>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1CBBECE2-A1E8-4F9C-8C10-81CFCA77FEC8}"/>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2654979879662853093</a:t>
            </a:r>
          </a:p>
        </p:txBody>
      </p:sp>
      <p:pic>
        <p:nvPicPr>
          <p:cNvPr id="5" name="">
            <a:extLst xmlns:a="http://schemas.openxmlformats.org/drawingml/2006/main">
              <a:ext uri="{FF2B5EF4-FFF2-40B4-BE49-F238E27FC236}">
                <a16:creationId xmlns:a16="http://schemas.microsoft.com/office/drawing/2014/main" id="{2A716D12-B5BD-480E-B1A0-76B0C4814B84}"/>
              </a:ext>
            </a:extLst>
          </p:cNvPr>
          <p:cNvPicPr>
            <a:picLocks xmlns:a="http://schemas.openxmlformats.org/drawingml/2006/main" noChangeAspect="1"/>
          </p:cNvPicPr>
          <p:nvPr/>
        </p:nvPicPr>
        <p:blipFill>
          <a:blip xmlns:r="http://schemas.openxmlformats.org/officeDocument/2006/relationships" xmlns:a="http://schemas.openxmlformats.org/drawingml/2006/main" r:embed="R6d661ae5e0f241f2"/>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ED2F98-9948-470B-8ACA-B525FAF4D28F}"/>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0.180 (threshold &lt;0.25).</a:t>
            </a:r>
          </a:p>
        </p:txBody>
      </p:sp>
      <p:sp>
        <p:nvSpPr>
          <p:cNvPr id="7" name="">
            <a:extLst xmlns:a="http://schemas.openxmlformats.org/drawingml/2006/main">
              <a:ext uri="{FF2B5EF4-FFF2-40B4-BE49-F238E27FC236}">
                <a16:creationId xmlns:a16="http://schemas.microsoft.com/office/drawing/2014/main" id="{8C85B689-92BC-40DA-9FE2-94FC420BDB19}"/>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2719973573665957979</a:t>
            </a:r>
          </a:p>
        </p:txBody>
      </p:sp>
      <p:pic>
        <p:nvPicPr>
          <p:cNvPr id="8" name="">
            <a:extLst xmlns:a="http://schemas.openxmlformats.org/drawingml/2006/main">
              <a:ext uri="{FF2B5EF4-FFF2-40B4-BE49-F238E27FC236}">
                <a16:creationId xmlns:a16="http://schemas.microsoft.com/office/drawing/2014/main" id="{BFF68E37-2FC1-4DAA-8CD9-4257B12E12EA}"/>
              </a:ext>
            </a:extLst>
          </p:cNvPr>
          <p:cNvPicPr>
            <a:picLocks xmlns:a="http://schemas.openxmlformats.org/drawingml/2006/main" noChangeAspect="1"/>
          </p:cNvPicPr>
          <p:nvPr/>
        </p:nvPicPr>
        <p:blipFill>
          <a:blip xmlns:r="http://schemas.openxmlformats.org/officeDocument/2006/relationships" xmlns:a="http://schemas.openxmlformats.org/drawingml/2006/main" r:embed="R0bc2ed6b9dc34fcf"/>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32BDCBE-538B-4640-BD1F-E99339EB6232}"/>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0.222 (threshold &lt;0.25).</a:t>
            </a:r>
          </a:p>
        </p:txBody>
      </p:sp>
      <p:sp>
        <p:nvSpPr>
          <p:cNvPr id="10" name="">
            <a:extLst xmlns:a="http://schemas.openxmlformats.org/drawingml/2006/main">
              <a:ext uri="{FF2B5EF4-FFF2-40B4-BE49-F238E27FC236}">
                <a16:creationId xmlns:a16="http://schemas.microsoft.com/office/drawing/2014/main" id="{E4F32A71-A2B5-49E0-9A3C-69B844E53706}"/>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Ellipses in the orange interval are relatively round. This weakens the ellipse-based bar signature, rather than proving there is no bar.</a:t>
            </a:r>
          </a:p>
        </p:txBody>
      </p:sp>
    </p:spTree>
    <p:extLst>
      <p:ext uri="{BB962C8B-B14F-4D97-AF65-F5344CB8AC3E}">
        <p14:creationId xmlns:p14="http://schemas.microsoft.com/office/powerpoint/2010/main" val="12064965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777C9C-3127-4400-A536-DCA5548B5CD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selected interval</a:t>
            </a:r>
          </a:p>
        </p:txBody>
      </p:sp>
      <p:sp>
        <p:nvSpPr>
          <p:cNvPr id="2" name="">
            <a:extLst xmlns:a="http://schemas.openxmlformats.org/drawingml/2006/main">
              <a:ext uri="{FF2B5EF4-FFF2-40B4-BE49-F238E27FC236}">
                <a16:creationId xmlns:a16="http://schemas.microsoft.com/office/drawing/2014/main" id="{B6FBA1EF-E108-44C1-BDDA-1226C4171E5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1611F2E1-80A9-4A3B-A184-02E64D1F757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EC2F1204-966A-4524-9FB2-AAD3BFEC78C6}"/>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-519246610291156594</a:t>
            </a:r>
          </a:p>
        </p:txBody>
      </p:sp>
      <p:pic>
        <p:nvPicPr>
          <p:cNvPr id="5" name="">
            <a:extLst xmlns:a="http://schemas.openxmlformats.org/drawingml/2006/main">
              <a:ext uri="{FF2B5EF4-FFF2-40B4-BE49-F238E27FC236}">
                <a16:creationId xmlns:a16="http://schemas.microsoft.com/office/drawing/2014/main" id="{35527231-41CF-4B80-B0FB-DAE7BBE998D8}"/>
              </a:ext>
            </a:extLst>
          </p:cNvPr>
          <p:cNvPicPr>
            <a:picLocks xmlns:a="http://schemas.openxmlformats.org/drawingml/2006/main" noChangeAspect="1"/>
          </p:cNvPicPr>
          <p:nvPr/>
        </p:nvPicPr>
        <p:blipFill>
          <a:blip xmlns:r="http://schemas.openxmlformats.org/officeDocument/2006/relationships" xmlns:a="http://schemas.openxmlformats.org/drawingml/2006/main" r:embed="R40c45211e04143ad"/>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22A3F17-51B5-4DAF-BBB8-7D3E70C8E364}"/>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20.</a:t>
            </a:r>
          </a:p>
        </p:txBody>
      </p:sp>
      <p:sp>
        <p:nvSpPr>
          <p:cNvPr id="7" name="">
            <a:extLst xmlns:a="http://schemas.openxmlformats.org/drawingml/2006/main">
              <a:ext uri="{FF2B5EF4-FFF2-40B4-BE49-F238E27FC236}">
                <a16:creationId xmlns:a16="http://schemas.microsoft.com/office/drawing/2014/main" id="{682724CC-6C3D-41FD-8CBC-334A6D08A5A6}"/>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-517222724292083077</a:t>
            </a:r>
          </a:p>
        </p:txBody>
      </p:sp>
      <p:pic>
        <p:nvPicPr>
          <p:cNvPr id="8" name="">
            <a:extLst xmlns:a="http://schemas.openxmlformats.org/drawingml/2006/main">
              <a:ext uri="{FF2B5EF4-FFF2-40B4-BE49-F238E27FC236}">
                <a16:creationId xmlns:a16="http://schemas.microsoft.com/office/drawing/2014/main" id="{53A1611C-D1A2-4704-B3B4-838080E221BE}"/>
              </a:ext>
            </a:extLst>
          </p:cNvPr>
          <p:cNvPicPr>
            <a:picLocks xmlns:a="http://schemas.openxmlformats.org/drawingml/2006/main" noChangeAspect="1"/>
          </p:cNvPicPr>
          <p:nvPr/>
        </p:nvPicPr>
        <p:blipFill>
          <a:blip xmlns:r="http://schemas.openxmlformats.org/officeDocument/2006/relationships" xmlns:a="http://schemas.openxmlformats.org/drawingml/2006/main" r:embed="R30da760937864c13"/>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6111265-AAC0-4036-9647-6DF5563B330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16.</a:t>
            </a:r>
          </a:p>
        </p:txBody>
      </p:sp>
      <p:sp>
        <p:nvSpPr>
          <p:cNvPr id="10" name="">
            <a:extLst xmlns:a="http://schemas.openxmlformats.org/drawingml/2006/main">
              <a:ext uri="{FF2B5EF4-FFF2-40B4-BE49-F238E27FC236}">
                <a16:creationId xmlns:a16="http://schemas.microsoft.com/office/drawing/2014/main" id="{1835F6B8-52D1-4A48-9079-D1FF414E4867}"/>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There are at least ten reliable ellipses overall, but fewer than three in at least one selected bar/disc interval. Candidate ranges are not accepted geometry.</a:t>
            </a:r>
          </a:p>
        </p:txBody>
      </p:sp>
    </p:spTree>
    <p:extLst>
      <p:ext uri="{BB962C8B-B14F-4D97-AF65-F5344CB8AC3E}">
        <p14:creationId xmlns:p14="http://schemas.microsoft.com/office/powerpoint/2010/main" val="21290590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935535-3569-4DB1-88C7-A5537EC8624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short reliable profile</a:t>
            </a:r>
          </a:p>
        </p:txBody>
      </p:sp>
      <p:sp>
        <p:nvSpPr>
          <p:cNvPr id="2" name="">
            <a:extLst xmlns:a="http://schemas.openxmlformats.org/drawingml/2006/main">
              <a:ext uri="{FF2B5EF4-FFF2-40B4-BE49-F238E27FC236}">
                <a16:creationId xmlns:a16="http://schemas.microsoft.com/office/drawing/2014/main" id="{C330135B-7828-4D98-8E13-68F50CA4B4F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13</a:t>
            </a:r>
          </a:p>
        </p:txBody>
      </p:sp>
      <p:sp>
        <p:nvSpPr>
          <p:cNvPr id="3" name="">
            <a:extLst xmlns:a="http://schemas.openxmlformats.org/drawingml/2006/main">
              <a:ext uri="{FF2B5EF4-FFF2-40B4-BE49-F238E27FC236}">
                <a16:creationId xmlns:a16="http://schemas.microsoft.com/office/drawing/2014/main" id="{27213FD1-4733-44B3-A8B5-5ADD260F801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4F88895F-80B0-40AA-B55E-10D09E7D1758}"/>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-550147948285020121</a:t>
            </a:r>
          </a:p>
        </p:txBody>
      </p:sp>
      <p:pic>
        <p:nvPicPr>
          <p:cNvPr id="5" name="">
            <a:extLst xmlns:a="http://schemas.openxmlformats.org/drawingml/2006/main">
              <a:ext uri="{FF2B5EF4-FFF2-40B4-BE49-F238E27FC236}">
                <a16:creationId xmlns:a16="http://schemas.microsoft.com/office/drawing/2014/main" id="{C08ABFAB-6758-4368-8FBB-005A29F45741}"/>
              </a:ext>
            </a:extLst>
          </p:cNvPr>
          <p:cNvPicPr>
            <a:picLocks xmlns:a="http://schemas.openxmlformats.org/drawingml/2006/main" noChangeAspect="1"/>
          </p:cNvPicPr>
          <p:nvPr/>
        </p:nvPicPr>
        <p:blipFill>
          <a:blip xmlns:r="http://schemas.openxmlformats.org/officeDocument/2006/relationships" xmlns:a="http://schemas.openxmlformats.org/drawingml/2006/main" r:embed="R637f3b80dd184f46"/>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F1E940-C290-4F81-B654-215C6B39EF5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8 reliable isophotes; inspect profile. Reliable ellipses overall: 8.</a:t>
            </a:r>
          </a:p>
        </p:txBody>
      </p:sp>
      <p:sp>
        <p:nvSpPr>
          <p:cNvPr id="7" name="">
            <a:extLst xmlns:a="http://schemas.openxmlformats.org/drawingml/2006/main">
              <a:ext uri="{FF2B5EF4-FFF2-40B4-BE49-F238E27FC236}">
                <a16:creationId xmlns:a16="http://schemas.microsoft.com/office/drawing/2014/main" id="{17A05C0E-327F-4870-9D6E-010A3E221072}"/>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-560894756493198556</a:t>
            </a:r>
          </a:p>
        </p:txBody>
      </p:sp>
      <p:pic>
        <p:nvPicPr>
          <p:cNvPr id="8" name="">
            <a:extLst xmlns:a="http://schemas.openxmlformats.org/drawingml/2006/main">
              <a:ext uri="{FF2B5EF4-FFF2-40B4-BE49-F238E27FC236}">
                <a16:creationId xmlns:a16="http://schemas.microsoft.com/office/drawing/2014/main" id="{9C41A362-881A-4F86-AE0C-56CCFF3C82BF}"/>
              </a:ext>
            </a:extLst>
          </p:cNvPr>
          <p:cNvPicPr>
            <a:picLocks xmlns:a="http://schemas.openxmlformats.org/drawingml/2006/main" noChangeAspect="1"/>
          </p:cNvPicPr>
          <p:nvPr/>
        </p:nvPicPr>
        <p:blipFill>
          <a:blip xmlns:r="http://schemas.openxmlformats.org/officeDocument/2006/relationships" xmlns:a="http://schemas.openxmlformats.org/drawingml/2006/main" r:embed="Rfc39e5c602c24582"/>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678A4D7-2073-43D4-ADDA-4C90ACF9349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9 reliable isophotes; inspect profile. Reliable ellipses overall: 9.</a:t>
            </a:r>
          </a:p>
        </p:txBody>
      </p:sp>
      <p:sp>
        <p:nvSpPr>
          <p:cNvPr id="10" name="">
            <a:extLst xmlns:a="http://schemas.openxmlformats.org/drawingml/2006/main">
              <a:ext uri="{FF2B5EF4-FFF2-40B4-BE49-F238E27FC236}">
                <a16:creationId xmlns:a16="http://schemas.microsoft.com/office/drawing/2014/main" id="{CB2466F5-F496-43DF-A4BB-B0C463620871}"/>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Fewer than ten ellipses pass the reliability checks overall. The fit stops before adopting bar/disc geometry. Grey samples were rejected.</a:t>
            </a:r>
          </a:p>
        </p:txBody>
      </p:sp>
    </p:spTree>
    <p:extLst>
      <p:ext uri="{BB962C8B-B14F-4D97-AF65-F5344CB8AC3E}">
        <p14:creationId xmlns:p14="http://schemas.microsoft.com/office/powerpoint/2010/main" val="1378054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2026-10-20T13:13:13.6820000Z</dcterms:created>
  <dcterms:modified xsi:type="dcterms:W3CDTF">2026-10-20T13:13:13.6830000Z</dcterms:modified>
</coreProperties>
</file>