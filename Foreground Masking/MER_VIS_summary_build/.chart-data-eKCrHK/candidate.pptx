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ba642ba30e334a56" /><Relationship Type="http://schemas.openxmlformats.org/officeDocument/2006/relationships/extended-properties" Target="/docProps/app.xml" Id="Rc6bcd973016848ef" /><Relationship Type="http://schemas.openxmlformats.org/officeDocument/2006/relationships/officeDocument" Target="/ppt/presentation.xml" Id="R0591f926b151464d" /></Relationships>
</file>

<file path=ppt/presentation.xml><?xml version="1.0" encoding="utf-8"?>
<p:presentation xmlns:p="http://schemas.openxmlformats.org/presentationml/2006/main">
  <p:sldMasterIdLst>
    <p:sldMasterId xmlns:r="http://schemas.openxmlformats.org/officeDocument/2006/relationships" id="2147483648" r:id="R41cf8f4ac9fc460c"/>
  </p:sldMasterIdLst>
  <p:notesMasterIdLst>
    <p:notesMasterId xmlns:r="http://schemas.openxmlformats.org/officeDocument/2006/relationships" r:id="Rd6887cf859354162"/>
  </p:notesMasterIdLst>
  <p:sldIdLst>
    <p:sldId xmlns:r="http://schemas.openxmlformats.org/officeDocument/2006/relationships" id="256" r:id="Ra8d7fae25e974eb3"/>
    <p:sldId xmlns:r="http://schemas.openxmlformats.org/officeDocument/2006/relationships" id="257" r:id="Rf41c7adece5f4c37"/>
    <p:sldId xmlns:r="http://schemas.openxmlformats.org/officeDocument/2006/relationships" id="258" r:id="Rd77b4a7f9ffe4821"/>
    <p:sldId xmlns:r="http://schemas.openxmlformats.org/officeDocument/2006/relationships" id="259" r:id="Ree67f2660eb44769"/>
    <p:sldId xmlns:r="http://schemas.openxmlformats.org/officeDocument/2006/relationships" id="260" r:id="R22a17c0c564f4f2a"/>
    <p:sldId xmlns:r="http://schemas.openxmlformats.org/officeDocument/2006/relationships" id="261" r:id="R87ca8350de4447c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40b27346c664959" /><Relationship Type="http://schemas.openxmlformats.org/officeDocument/2006/relationships/slideMaster" Target="/ppt/slideMasters/slideMaster1.xml" Id="R41cf8f4ac9fc460c" /><Relationship Type="http://schemas.openxmlformats.org/officeDocument/2006/relationships/notesMaster" Target="/ppt/notesMasters/notesMaster1.xml" Id="Rd6887cf859354162" /><Relationship Type="http://schemas.openxmlformats.org/officeDocument/2006/relationships/presProps" Target="/ppt/presProps.xml" Id="R992b81016b7b4d94" /><Relationship Type="http://schemas.openxmlformats.org/officeDocument/2006/relationships/tableStyles" Target="/ppt/tableStyles.xml" Id="R5afe7ebae4bd4131" /><Relationship Type="http://schemas.openxmlformats.org/officeDocument/2006/relationships/slide" Target="/ppt/slides/slide1.xml" Id="Ra8d7fae25e974eb3" /><Relationship Type="http://schemas.openxmlformats.org/officeDocument/2006/relationships/slide" Target="/ppt/slides/slide2.xml" Id="Rf41c7adece5f4c37" /><Relationship Type="http://schemas.openxmlformats.org/officeDocument/2006/relationships/slide" Target="/ppt/slides/slide3.xml" Id="Rd77b4a7f9ffe4821" /><Relationship Type="http://schemas.openxmlformats.org/officeDocument/2006/relationships/slide" Target="/ppt/slides/slide4.xml" Id="Ree67f2660eb44769" /><Relationship Type="http://schemas.openxmlformats.org/officeDocument/2006/relationships/slide" Target="/ppt/slides/slide5.xml" Id="R22a17c0c564f4f2a" /><Relationship Type="http://schemas.openxmlformats.org/officeDocument/2006/relationships/slide" Target="/ppt/slides/slide6.xml" Id="R87ca8350de4447c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38e0469b2c648b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fd7af55a9b840b5" /><Relationship Type="http://schemas.openxmlformats.org/officeDocument/2006/relationships/notesMaster" Target="/ppt/notesMasters/notesMaster1.xml" Id="Ra0a95ef89d0f4a9f" /></Relationships>
</file>

<file path=ppt/notesSlides/_rels/notesSlide2.xml.rels>&#65279;<?xml version="1.0" encoding="utf-8"?><Relationships xmlns="http://schemas.openxmlformats.org/package/2006/relationships"><Relationship Type="http://schemas.openxmlformats.org/officeDocument/2006/relationships/slide" Target="/ppt/slides/slide2.xml" Id="Rde40e1e82fec4c72" /><Relationship Type="http://schemas.openxmlformats.org/officeDocument/2006/relationships/notesMaster" Target="/ppt/notesMasters/notesMaster1.xml" Id="Rdd703e68b3864472" /></Relationships>
</file>

<file path=ppt/notesSlides/_rels/notesSlide3.xml.rels>&#65279;<?xml version="1.0" encoding="utf-8"?><Relationships xmlns="http://schemas.openxmlformats.org/package/2006/relationships"><Relationship Type="http://schemas.openxmlformats.org/officeDocument/2006/relationships/slide" Target="/ppt/slides/slide3.xml" Id="R113840b9d2f8437b" /><Relationship Type="http://schemas.openxmlformats.org/officeDocument/2006/relationships/notesMaster" Target="/ppt/notesMasters/notesMaster1.xml" Id="R1c9f947f5174469c" /></Relationships>
</file>

<file path=ppt/notesSlides/_rels/notesSlide4.xml.rels>&#65279;<?xml version="1.0" encoding="utf-8"?><Relationships xmlns="http://schemas.openxmlformats.org/package/2006/relationships"><Relationship Type="http://schemas.openxmlformats.org/officeDocument/2006/relationships/slide" Target="/ppt/slides/slide4.xml" Id="R28bb9b901d7043bb" /><Relationship Type="http://schemas.openxmlformats.org/officeDocument/2006/relationships/notesMaster" Target="/ppt/notesMasters/notesMaster1.xml" Id="R08677eda50024976" /></Relationships>
</file>

<file path=ppt/notesSlides/_rels/notesSlide5.xml.rels>&#65279;<?xml version="1.0" encoding="utf-8"?><Relationships xmlns="http://schemas.openxmlformats.org/package/2006/relationships"><Relationship Type="http://schemas.openxmlformats.org/officeDocument/2006/relationships/slide" Target="/ppt/slides/slide5.xml" Id="R11d75a14e70b4ae9" /><Relationship Type="http://schemas.openxmlformats.org/officeDocument/2006/relationships/notesMaster" Target="/ppt/notesMasters/notesMaster1.xml" Id="R102f0dbb1e084589" /></Relationships>
</file>

<file path=ppt/notesSlides/_rels/notesSlide6.xml.rels>&#65279;<?xml version="1.0" encoding="utf-8"?><Relationships xmlns="http://schemas.openxmlformats.org/package/2006/relationships"><Relationship Type="http://schemas.openxmlformats.org/officeDocument/2006/relationships/slide" Target="/ppt/slides/slide6.xml" Id="Rab799fe0346c4143" /><Relationship Type="http://schemas.openxmlformats.org/officeDocument/2006/relationships/notesMaster" Target="/ppt/notesMasters/notesMaster1.xml" Id="Rb1093bf6969d418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QI includes any geometry flag, failed fit or partial requested coverage. NoQI is a screening label and does not certify physical geometry.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Flag thresholds: bar upper bound &lt;1.5 arcsec; disc PA scatter &gt;10 degrees; disc ellipticity span &gt;0.15; q&gt;0.9; bar PA scatter &gt;10 degrees; median bar ellipticity &lt;0.25. Failure breakdown: 431 range selection, 138 fewer than 10 reliable isophotes, 1 centre/component mismatch. Of 62 partial boxes, 19 have otherwise unflagged fits.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The unflagged comparison includes 546 fits, including 19 partial cutouts, and differs from the 527 NoQI group. Codex fits Photutils isophotes, converts their pixel major-axis vectors using the local FITS WCS, and calculates degrees(atan2(East, North)) modulo 180. It uses axial means in selected disc and bar radial ranges. These are observed sky PAs before deprojection. North towards East is counterclockwise on a North-up East-left display, clockwise if East is right. Euclid documents raw POSITION_ANGLE as CCW from image x (SExtractor THETA_IMAGE), not necessarily celestial East. Our +90 adjustment follows the WCS conversion. A constant 90 offset is consistent with perpendicular reference axes or major/minor axes but does not uniquely prove the cause. We adopt the correction without asserting an official Euclid North/East reference change. Euclid source: https://euclid.esac.esa.int/dr/q1/dpdd/merdpd/dpcards/mer_finalcatalog.html#mer-main-catalog-fits. Inclinations assume a circular thin disc, q0=0. No separate disc-component b/a values are populated. These are consistency checks, not independent true outer-disc measurements.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Image source: MER_VIS_explanation_work/example_5.png, prepared from this galaxy native FITS cutout and saved ellipse profile. Disc PA 151.1468 degrees, inclination 27.2469 degrees, disc PA scatter 35.4256 degrees. Original flags: disc_PA_unstable;small_bar_sensitive_to_resolution. Orange and green identify selected bar and disc intervals. The close adjusted Euclid mean PA does not remove radial instability.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Output root: D:/Dropbox/Public Documents/UCLAN/MSc Research/Euclid/MER_VIS_galaxy_reports/all_2777. QI = 1661 flagged fits + 570 failures + 19 otherwise unflagged partial cases. NoQI = 527. Each PDF contains at most 60 galaxies. Index: MER_VIS_report_review_index.csv. The source FITS files and fitting manifest remain unchanged. All fitted geometry remains provisional until physical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6c85bd6cc04419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562a21834ef455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5a2ed219a294fe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87d5212ff7b4ad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3fae10faf0841b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ae202203643452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AD542D4-52C4-47AF-BDAB-21F3534BEB9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79179B7-0734-431E-8D9C-6EA74552D1B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048AB37-968B-4516-96C7-01D5453293C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BA964AD-17F7-4FF1-9003-9A5F2B7C9C6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2571637-7014-4221-B007-73E0C267C06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A045DE1-D01F-4188-B03F-6D7FBAD7EB9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92993C2-0847-459F-93AB-EF4E2DDD852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3640F26-4E83-4F61-863F-D3A28169908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024B131-CF2E-4C3D-8E3A-DCD300AE724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FD24481-ABA2-423C-8F50-25D7F9F6F90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7ed86683f654b6f" /><Relationship Type="http://schemas.openxmlformats.org/officeDocument/2006/relationships/slideLayout" Target="/ppt/slideLayouts/slideLayout1.xml" Id="Re813f7eef79a447c" /><Relationship Type="http://schemas.openxmlformats.org/officeDocument/2006/relationships/slideLayout" Target="/ppt/slideLayouts/slideLayout2.xml" Id="R4227f0b5899a4ac2" /><Relationship Type="http://schemas.openxmlformats.org/officeDocument/2006/relationships/slideLayout" Target="/ppt/slideLayouts/slideLayout3.xml" Id="R9039a7f4ac0d444c" /><Relationship Type="http://schemas.openxmlformats.org/officeDocument/2006/relationships/slideLayout" Target="/ppt/slideLayouts/slideLayout4.xml" Id="R207ef880394c414a" /><Relationship Type="http://schemas.openxmlformats.org/officeDocument/2006/relationships/slideLayout" Target="/ppt/slideLayouts/slideLayout5.xml" Id="Ra79f3c54b2994f1a" /><Relationship Type="http://schemas.openxmlformats.org/officeDocument/2006/relationships/slideLayout" Target="/ppt/slideLayouts/slideLayout6.xml" Id="Rb99b83d06cde4b6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813f7eef79a447c"/>
    <p:sldLayoutId xmlns:r="http://schemas.openxmlformats.org/officeDocument/2006/relationships" id="2147483650" r:id="R4227f0b5899a4ac2"/>
    <p:sldLayoutId xmlns:r="http://schemas.openxmlformats.org/officeDocument/2006/relationships" id="2147483651" r:id="R9039a7f4ac0d444c"/>
    <p:sldLayoutId xmlns:r="http://schemas.openxmlformats.org/officeDocument/2006/relationships" id="2147483652" r:id="R207ef880394c414a"/>
    <p:sldLayoutId xmlns:r="http://schemas.openxmlformats.org/officeDocument/2006/relationships" id="2147483653" r:id="Ra79f3c54b2994f1a"/>
    <p:sldLayoutId xmlns:r="http://schemas.openxmlformats.org/officeDocument/2006/relationships" id="2147483654" r:id="Rb99b83d06cde4b6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3f128f2aac14d1a" /><Relationship Type="http://schemas.openxmlformats.org/officeDocument/2006/relationships/notesSlide" Target="/ppt/notesSlides/notesSlide1.xml" Id="R99205d96ee1140d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b0955f2065549df" /><Relationship Type="http://schemas.openxmlformats.org/officeDocument/2006/relationships/chart" Target="/ppt/slides/charts/chart1.xml" Id="R294397711f764683" /><Relationship Type="http://schemas.openxmlformats.org/officeDocument/2006/relationships/notesSlide" Target="/ppt/notesSlides/notesSlide2.xml" Id="Rb45ea3dabf79400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b0d8f908ea040dd" /><Relationship Type="http://schemas.openxmlformats.org/officeDocument/2006/relationships/notesSlide" Target="/ppt/notesSlides/notesSlide3.xml" Id="Rc41e7e9f87fb4e2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b5b3c519315492f" /><Relationship Type="http://schemas.openxmlformats.org/officeDocument/2006/relationships/notesSlide" Target="/ppt/notesSlides/notesSlide4.xml" Id="R438457f62e614c4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e99f40fadfe4be5" /><Relationship Type="http://schemas.openxmlformats.org/officeDocument/2006/relationships/image" Target="/ppt/media/image.png" Id="R73af387597574320" /><Relationship Type="http://schemas.openxmlformats.org/officeDocument/2006/relationships/notesSlide" Target="/ppt/notesSlides/notesSlide5.xml" Id="R7a82b3e34cc943f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0205f1f0c384611" /><Relationship Type="http://schemas.openxmlformats.org/officeDocument/2006/relationships/notesSlide" Target="/ppt/notesSlides/notesSlide6.xml" Id="R6cfde5b07f034ae2"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Galaxies</c:v>
          </c:tx>
          <c:spPr>
            <a:solidFill xmlns:a="http://schemas.openxmlformats.org/drawingml/2006/main">
              <a:srgbClr val="205F7A"/>
            </a:solidFill>
          </c:spPr>
          <c:invertIfNegative val="0"/>
          <c:dPt>
            <c:idx val="0"/>
            <c:invertIfNegative val="0"/>
            <c:spPr>
              <a:solidFill xmlns:a="http://schemas.openxmlformats.org/drawingml/2006/main">
                <a:srgbClr val="367A8C"/>
              </a:solidFill>
            </c:spPr>
          </c:dPt>
          <c:dPt>
            <c:idx val="1"/>
            <c:invertIfNegative val="0"/>
            <c:spPr>
              <a:solidFill xmlns:a="http://schemas.openxmlformats.org/drawingml/2006/main">
                <a:srgbClr val="C18B28"/>
              </a:solidFill>
            </c:spPr>
          </c:dPt>
          <c:dPt>
            <c:idx val="2"/>
            <c:invertIfNegative val="0"/>
            <c:spPr>
              <a:solidFill xmlns:a="http://schemas.openxmlformats.org/drawingml/2006/main">
                <a:srgbClr val="AC4B47"/>
              </a:solidFill>
            </c:spPr>
          </c:dPt>
          <c:cat>
            <c:strRef>
              <c:f>'Chart Data'!$A$2:$A$4</c:f>
              <c:strCache>
                <c:ptCount val="3"/>
                <c:pt idx="0">
                  <c:v>No geometry flags</c:v>
                </c:pt>
                <c:pt idx="1">
                  <c:v>Flagged fit</c:v>
                </c:pt>
                <c:pt idx="2">
                  <c:v>Failed fit</c:v>
                </c:pt>
              </c:strCache>
            </c:strRef>
          </c:cat>
          <c:val>
            <c:numRef>
              <c:f>'Chart Data'!$B$2:$B$4</c:f>
              <c:numCache>
                <c:formatCode>0</c:formatCode>
                <c:ptCount val="3"/>
                <c:pt idx="0">
                  <c:v>546</c:v>
                </c:pt>
                <c:pt idx="1">
                  <c:v>1661</c:v>
                </c:pt>
                <c:pt idx="2">
                  <c:v>570</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800">
                  <a:latin typeface="Arial"/>
                  <a:ea typeface="Arial"/>
                  <a:cs typeface="Arial"/>
                </a:defRPr>
              </a:pPr>
            </a:p>
          </c:txPr>
          <c:dLblPos val="outEnd"/>
          <c:showLegendKey val="0"/>
          <c:showVal val="1"/>
          <c:showCatName val="0"/>
          <c:showSerName val="0"/>
          <c:showPercent val="0"/>
          <c:showBubbleSize val="0"/>
          <c:showLeaderLines val="0"/>
        </c:dLbls>
        <c:gapWidth val="7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E3E9EC"/>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83E4EA3-D296-423C-8BF3-13EA8D91AE6B}"/>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Euclid MER VIS geometry outcomes</a:t>
            </a:r>
          </a:p>
        </p:txBody>
      </p:sp>
      <p:sp>
        <p:nvSpPr>
          <p:cNvPr id="2" name="">
            <a:extLst xmlns:a="http://schemas.openxmlformats.org/drawingml/2006/main">
              <a:ext uri="{FF2B5EF4-FFF2-40B4-BE49-F238E27FC236}">
                <a16:creationId xmlns:a16="http://schemas.microsoft.com/office/drawing/2014/main" id="{E9960305-C1B5-442E-808A-C3C070F1F98B}"/>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1 / 6</a:t>
            </a:r>
          </a:p>
        </p:txBody>
      </p:sp>
      <p:sp>
        <p:nvSpPr>
          <p:cNvPr id="3" name="">
            <a:extLst xmlns:a="http://schemas.openxmlformats.org/drawingml/2006/main">
              <a:ext uri="{FF2B5EF4-FFF2-40B4-BE49-F238E27FC236}">
                <a16:creationId xmlns:a16="http://schemas.microsoft.com/office/drawing/2014/main" id="{F4D24FD9-8DFE-4F40-809E-EDD6D71550C4}"/>
              </a:ext>
            </a:extLst>
          </p:cNvPr>
          <p:cNvSpPr>
            <a:spLocks xmlns:a="http://schemas.openxmlformats.org/drawingml/2006/main" noGrp="1"/>
          </p:cNvSpPr>
          <p:nvPr/>
        </p:nvSpPr>
        <p:spPr>
          <a:xfrm xmlns:a="http://schemas.openxmlformats.org/drawingml/2006/main">
            <a:off x="609600" y="198120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500" b="1">
                <a:solidFill>
                  <a:srgbClr val="205F7A"/>
                </a:solidFill>
                <a:latin typeface="Arial"/>
                <a:ea typeface="Arial"/>
                <a:cs typeface="Arial"/>
              </a:defRPr>
            </a:defPPr>
            <a:lvl1pPr>
              <a:defRPr sz="4500" b="1">
                <a:solidFill>
                  <a:srgbClr val="205F7A"/>
                </a:solidFill>
                <a:latin typeface="Arial"/>
                <a:ea typeface="Arial"/>
                <a:cs typeface="Arial"/>
              </a:defRPr>
            </a:lvl1pPr>
            <a:lvl2pPr>
              <a:defRPr sz="4500" b="1">
                <a:solidFill>
                  <a:srgbClr val="205F7A"/>
                </a:solidFill>
                <a:latin typeface="Arial"/>
                <a:ea typeface="Arial"/>
                <a:cs typeface="Arial"/>
              </a:defRPr>
            </a:lvl2pPr>
            <a:lvl3pPr>
              <a:defRPr sz="4500" b="1">
                <a:solidFill>
                  <a:srgbClr val="205F7A"/>
                </a:solidFill>
                <a:latin typeface="Arial"/>
                <a:ea typeface="Arial"/>
                <a:cs typeface="Arial"/>
              </a:defRPr>
            </a:lvl3pPr>
            <a:lvl4pPr>
              <a:defRPr sz="4500" b="1">
                <a:solidFill>
                  <a:srgbClr val="205F7A"/>
                </a:solidFill>
                <a:latin typeface="Arial"/>
                <a:ea typeface="Arial"/>
                <a:cs typeface="Arial"/>
              </a:defRPr>
            </a:lvl4pPr>
            <a:lvl5pPr>
              <a:defRPr sz="4500" b="1">
                <a:solidFill>
                  <a:srgbClr val="205F7A"/>
                </a:solidFill>
                <a:latin typeface="Arial"/>
                <a:ea typeface="Arial"/>
                <a:cs typeface="Arial"/>
              </a:defRPr>
            </a:lvl5pPr>
            <a:lvl6pPr>
              <a:defRPr sz="4500" b="1">
                <a:solidFill>
                  <a:srgbClr val="205F7A"/>
                </a:solidFill>
                <a:latin typeface="Arial"/>
                <a:ea typeface="Arial"/>
                <a:cs typeface="Arial"/>
              </a:defRPr>
            </a:lvl6pPr>
            <a:lvl7pPr>
              <a:defRPr sz="4500" b="1">
                <a:solidFill>
                  <a:srgbClr val="205F7A"/>
                </a:solidFill>
                <a:latin typeface="Arial"/>
                <a:ea typeface="Arial"/>
                <a:cs typeface="Arial"/>
              </a:defRPr>
            </a:lvl7pPr>
            <a:lvl8pPr>
              <a:defRPr sz="4500" b="1">
                <a:solidFill>
                  <a:srgbClr val="205F7A"/>
                </a:solidFill>
                <a:latin typeface="Arial"/>
                <a:ea typeface="Arial"/>
                <a:cs typeface="Arial"/>
              </a:defRPr>
            </a:lvl8pPr>
            <a:lvl9pPr>
              <a:defRPr sz="4500" b="1">
                <a:solidFill>
                  <a:srgbClr val="205F7A"/>
                </a:solidFill>
                <a:latin typeface="Arial"/>
                <a:ea typeface="Arial"/>
                <a:cs typeface="Arial"/>
              </a:defRPr>
            </a:lvl9pPr>
          </a:lstStyle>
          <a:p xmlns:a="http://schemas.openxmlformats.org/drawingml/2006/main">
            <a:pPr>
              <a:defRPr sz="4500" b="1">
                <a:solidFill>
                  <a:srgbClr val="205F7A"/>
                </a:solidFill>
                <a:latin typeface="Arial"/>
                <a:ea typeface="Arial"/>
                <a:cs typeface="Arial"/>
              </a:defRPr>
            </a:pPr>
            <a:r>
              <a:rPr sz="4500" b="1">
                <a:solidFill>
                  <a:srgbClr val="205F7A"/>
                </a:solidFill>
                <a:latin typeface="Arial"/>
                <a:ea typeface="Arial"/>
                <a:cs typeface="Arial"/>
              </a:rPr>
              <a:t>2,777 galaxy cutouts</a:t>
            </a:r>
          </a:p>
        </p:txBody>
      </p:sp>
      <p:sp>
        <p:nvSpPr>
          <p:cNvPr id="4" name="">
            <a:extLst xmlns:a="http://schemas.openxmlformats.org/drawingml/2006/main">
              <a:ext uri="{FF2B5EF4-FFF2-40B4-BE49-F238E27FC236}">
                <a16:creationId xmlns:a16="http://schemas.microsoft.com/office/drawing/2014/main" id="{9FD3DF31-422F-4A2E-9BE6-02EAB9DE7D29}"/>
              </a:ext>
            </a:extLst>
          </p:cNvPr>
          <p:cNvSpPr>
            <a:spLocks xmlns:a="http://schemas.openxmlformats.org/drawingml/2006/main" noGrp="1"/>
          </p:cNvSpPr>
          <p:nvPr/>
        </p:nvSpPr>
        <p:spPr>
          <a:xfrm xmlns:a="http://schemas.openxmlformats.org/drawingml/2006/main">
            <a:off x="609600" y="320040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42633"/>
                </a:solidFill>
                <a:latin typeface="Arial"/>
                <a:ea typeface="Arial"/>
                <a:cs typeface="Arial"/>
              </a:defRPr>
            </a:defPPr>
            <a:lvl1pPr>
              <a:defRPr sz="2400" b="0">
                <a:solidFill>
                  <a:srgbClr val="142633"/>
                </a:solidFill>
                <a:latin typeface="Arial"/>
                <a:ea typeface="Arial"/>
                <a:cs typeface="Arial"/>
              </a:defRPr>
            </a:lvl1pPr>
            <a:lvl2pPr>
              <a:defRPr sz="2400" b="0">
                <a:solidFill>
                  <a:srgbClr val="142633"/>
                </a:solidFill>
                <a:latin typeface="Arial"/>
                <a:ea typeface="Arial"/>
                <a:cs typeface="Arial"/>
              </a:defRPr>
            </a:lvl2pPr>
            <a:lvl3pPr>
              <a:defRPr sz="2400" b="0">
                <a:solidFill>
                  <a:srgbClr val="142633"/>
                </a:solidFill>
                <a:latin typeface="Arial"/>
                <a:ea typeface="Arial"/>
                <a:cs typeface="Arial"/>
              </a:defRPr>
            </a:lvl3pPr>
            <a:lvl4pPr>
              <a:defRPr sz="2400" b="0">
                <a:solidFill>
                  <a:srgbClr val="142633"/>
                </a:solidFill>
                <a:latin typeface="Arial"/>
                <a:ea typeface="Arial"/>
                <a:cs typeface="Arial"/>
              </a:defRPr>
            </a:lvl4pPr>
            <a:lvl5pPr>
              <a:defRPr sz="2400" b="0">
                <a:solidFill>
                  <a:srgbClr val="142633"/>
                </a:solidFill>
                <a:latin typeface="Arial"/>
                <a:ea typeface="Arial"/>
                <a:cs typeface="Arial"/>
              </a:defRPr>
            </a:lvl5pPr>
            <a:lvl6pPr>
              <a:defRPr sz="2400" b="0">
                <a:solidFill>
                  <a:srgbClr val="142633"/>
                </a:solidFill>
                <a:latin typeface="Arial"/>
                <a:ea typeface="Arial"/>
                <a:cs typeface="Arial"/>
              </a:defRPr>
            </a:lvl6pPr>
            <a:lvl7pPr>
              <a:defRPr sz="2400" b="0">
                <a:solidFill>
                  <a:srgbClr val="142633"/>
                </a:solidFill>
                <a:latin typeface="Arial"/>
                <a:ea typeface="Arial"/>
                <a:cs typeface="Arial"/>
              </a:defRPr>
            </a:lvl7pPr>
            <a:lvl8pPr>
              <a:defRPr sz="2400" b="0">
                <a:solidFill>
                  <a:srgbClr val="142633"/>
                </a:solidFill>
                <a:latin typeface="Arial"/>
                <a:ea typeface="Arial"/>
                <a:cs typeface="Arial"/>
              </a:defRPr>
            </a:lvl8pPr>
            <a:lvl9pPr>
              <a:defRPr sz="2400" b="0">
                <a:solidFill>
                  <a:srgbClr val="142633"/>
                </a:solidFill>
                <a:latin typeface="Arial"/>
                <a:ea typeface="Arial"/>
                <a:cs typeface="Arial"/>
              </a:defRPr>
            </a:lvl9pPr>
          </a:lstStyle>
          <a:p xmlns:a="http://schemas.openxmlformats.org/drawingml/2006/main">
            <a:pPr>
              <a:defRPr sz="2400" b="0">
                <a:solidFill>
                  <a:srgbClr val="142633"/>
                </a:solidFill>
                <a:latin typeface="Arial"/>
                <a:ea typeface="Arial"/>
                <a:cs typeface="Arial"/>
              </a:defRPr>
            </a:pPr>
            <a:r>
              <a:rPr sz="2400" b="0">
                <a:solidFill>
                  <a:srgbClr val="142633"/>
                </a:solidFill>
                <a:latin typeface="Arial"/>
                <a:ea typeface="Arial"/>
                <a:cs typeface="Arial"/>
              </a:rPr>
              <a:t>Completed fitting and grouped review reports</a:t>
            </a:r>
          </a:p>
        </p:txBody>
      </p:sp>
      <p:sp>
        <p:nvSpPr>
          <p:cNvPr id="5" name="">
            <a:extLst xmlns:a="http://schemas.openxmlformats.org/drawingml/2006/main">
              <a:ext uri="{FF2B5EF4-FFF2-40B4-BE49-F238E27FC236}">
                <a16:creationId xmlns:a16="http://schemas.microsoft.com/office/drawing/2014/main" id="{9F90DE43-6CD0-4CE9-9F94-52AFE05D1624}"/>
              </a:ext>
            </a:extLst>
          </p:cNvPr>
          <p:cNvSpPr>
            <a:spLocks xmlns:a="http://schemas.openxmlformats.org/drawingml/2006/main" noGrp="1"/>
          </p:cNvSpPr>
          <p:nvPr/>
        </p:nvSpPr>
        <p:spPr>
          <a:xfrm xmlns:a="http://schemas.openxmlformats.org/drawingml/2006/main">
            <a:off x="609600" y="4191000"/>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42633"/>
                </a:solidFill>
                <a:latin typeface="Arial"/>
                <a:ea typeface="Arial"/>
                <a:cs typeface="Arial"/>
              </a:defRPr>
            </a:defPPr>
            <a:lvl1pPr>
              <a:defRPr sz="2250" b="0">
                <a:solidFill>
                  <a:srgbClr val="142633"/>
                </a:solidFill>
                <a:latin typeface="Arial"/>
                <a:ea typeface="Arial"/>
                <a:cs typeface="Arial"/>
              </a:defRPr>
            </a:lvl1pPr>
            <a:lvl2pPr>
              <a:defRPr sz="2250" b="0">
                <a:solidFill>
                  <a:srgbClr val="142633"/>
                </a:solidFill>
                <a:latin typeface="Arial"/>
                <a:ea typeface="Arial"/>
                <a:cs typeface="Arial"/>
              </a:defRPr>
            </a:lvl2pPr>
            <a:lvl3pPr>
              <a:defRPr sz="2250" b="0">
                <a:solidFill>
                  <a:srgbClr val="142633"/>
                </a:solidFill>
                <a:latin typeface="Arial"/>
                <a:ea typeface="Arial"/>
                <a:cs typeface="Arial"/>
              </a:defRPr>
            </a:lvl3pPr>
            <a:lvl4pPr>
              <a:defRPr sz="2250" b="0">
                <a:solidFill>
                  <a:srgbClr val="142633"/>
                </a:solidFill>
                <a:latin typeface="Arial"/>
                <a:ea typeface="Arial"/>
                <a:cs typeface="Arial"/>
              </a:defRPr>
            </a:lvl4pPr>
            <a:lvl5pPr>
              <a:defRPr sz="2250" b="0">
                <a:solidFill>
                  <a:srgbClr val="142633"/>
                </a:solidFill>
                <a:latin typeface="Arial"/>
                <a:ea typeface="Arial"/>
                <a:cs typeface="Arial"/>
              </a:defRPr>
            </a:lvl5pPr>
            <a:lvl6pPr>
              <a:defRPr sz="2250" b="0">
                <a:solidFill>
                  <a:srgbClr val="142633"/>
                </a:solidFill>
                <a:latin typeface="Arial"/>
                <a:ea typeface="Arial"/>
                <a:cs typeface="Arial"/>
              </a:defRPr>
            </a:lvl6pPr>
            <a:lvl7pPr>
              <a:defRPr sz="2250" b="0">
                <a:solidFill>
                  <a:srgbClr val="142633"/>
                </a:solidFill>
                <a:latin typeface="Arial"/>
                <a:ea typeface="Arial"/>
                <a:cs typeface="Arial"/>
              </a:defRPr>
            </a:lvl7pPr>
            <a:lvl8pPr>
              <a:defRPr sz="2250" b="0">
                <a:solidFill>
                  <a:srgbClr val="142633"/>
                </a:solidFill>
                <a:latin typeface="Arial"/>
                <a:ea typeface="Arial"/>
                <a:cs typeface="Arial"/>
              </a:defRPr>
            </a:lvl8pPr>
            <a:lvl9pPr>
              <a:defRPr sz="2250" b="0">
                <a:solidFill>
                  <a:srgbClr val="142633"/>
                </a:solidFill>
                <a:latin typeface="Arial"/>
                <a:ea typeface="Arial"/>
                <a:cs typeface="Arial"/>
              </a:defRPr>
            </a:lvl9pPr>
          </a:lstStyle>
          <a:p xmlns:a="http://schemas.openxmlformats.org/drawingml/2006/main">
            <a:pPr>
              <a:defRPr sz="2250" b="0">
                <a:solidFill>
                  <a:srgbClr val="142633"/>
                </a:solidFill>
                <a:latin typeface="Arial"/>
                <a:ea typeface="Arial"/>
                <a:cs typeface="Arial"/>
              </a:defRPr>
            </a:pPr>
            <a:r>
              <a:rPr sz="2250" b="0">
                <a:solidFill>
                  <a:srgbClr val="142633"/>
                </a:solidFill>
                <a:latin typeface="Arial"/>
                <a:ea typeface="Arial"/>
                <a:cs typeface="Arial"/>
              </a:rPr>
              <a:t>2,250 reports carry a quality issue label</a:t>
            </a:r>
          </a:p>
          <a:p xmlns:a="http://schemas.openxmlformats.org/drawingml/2006/main">
            <a:pPr>
              <a:defRPr sz="2250" b="0">
                <a:solidFill>
                  <a:srgbClr val="142633"/>
                </a:solidFill>
                <a:latin typeface="Arial"/>
                <a:ea typeface="Arial"/>
                <a:cs typeface="Arial"/>
              </a:defRPr>
            </a:pPr>
            <a:r>
              <a:rPr sz="2250" b="0">
                <a:solidFill>
                  <a:srgbClr val="142633"/>
                </a:solidFill>
                <a:latin typeface="Arial"/>
                <a:ea typeface="Arial"/>
                <a:cs typeface="Arial"/>
              </a:rPr>
              <a:t>527 reports have no detected issue</a:t>
            </a:r>
          </a:p>
        </p:txBody>
      </p:sp>
      <p:sp>
        <p:nvSpPr>
          <p:cNvPr id="6" name="">
            <a:extLst xmlns:a="http://schemas.openxmlformats.org/drawingml/2006/main">
              <a:ext uri="{FF2B5EF4-FFF2-40B4-BE49-F238E27FC236}">
                <a16:creationId xmlns:a16="http://schemas.microsoft.com/office/drawing/2014/main" id="{5158FDB2-AE34-48A7-9369-9A23528A4210}"/>
              </a:ext>
            </a:extLst>
          </p:cNvPr>
          <p:cNvSpPr>
            <a:spLocks xmlns:a="http://schemas.openxmlformats.org/drawingml/2006/main" noGrp="1"/>
          </p:cNvSpPr>
          <p:nvPr/>
        </p:nvSpPr>
        <p:spPr>
          <a:xfrm xmlns:a="http://schemas.openxmlformats.org/drawingml/2006/main">
            <a:off x="609600" y="5829300"/>
            <a:ext cx="666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673"/>
                </a:solidFill>
                <a:latin typeface="Arial"/>
                <a:ea typeface="Arial"/>
                <a:cs typeface="Arial"/>
              </a:defRPr>
            </a:defPPr>
            <a:lvl1pPr>
              <a:defRPr sz="1650" b="0">
                <a:solidFill>
                  <a:srgbClr val="526673"/>
                </a:solidFill>
                <a:latin typeface="Arial"/>
                <a:ea typeface="Arial"/>
                <a:cs typeface="Arial"/>
              </a:defRPr>
            </a:lvl1pPr>
            <a:lvl2pPr>
              <a:defRPr sz="1650" b="0">
                <a:solidFill>
                  <a:srgbClr val="526673"/>
                </a:solidFill>
                <a:latin typeface="Arial"/>
                <a:ea typeface="Arial"/>
                <a:cs typeface="Arial"/>
              </a:defRPr>
            </a:lvl2pPr>
            <a:lvl3pPr>
              <a:defRPr sz="1650" b="0">
                <a:solidFill>
                  <a:srgbClr val="526673"/>
                </a:solidFill>
                <a:latin typeface="Arial"/>
                <a:ea typeface="Arial"/>
                <a:cs typeface="Arial"/>
              </a:defRPr>
            </a:lvl3pPr>
            <a:lvl4pPr>
              <a:defRPr sz="1650" b="0">
                <a:solidFill>
                  <a:srgbClr val="526673"/>
                </a:solidFill>
                <a:latin typeface="Arial"/>
                <a:ea typeface="Arial"/>
                <a:cs typeface="Arial"/>
              </a:defRPr>
            </a:lvl4pPr>
            <a:lvl5pPr>
              <a:defRPr sz="1650" b="0">
                <a:solidFill>
                  <a:srgbClr val="526673"/>
                </a:solidFill>
                <a:latin typeface="Arial"/>
                <a:ea typeface="Arial"/>
                <a:cs typeface="Arial"/>
              </a:defRPr>
            </a:lvl5pPr>
            <a:lvl6pPr>
              <a:defRPr sz="1650" b="0">
                <a:solidFill>
                  <a:srgbClr val="526673"/>
                </a:solidFill>
                <a:latin typeface="Arial"/>
                <a:ea typeface="Arial"/>
                <a:cs typeface="Arial"/>
              </a:defRPr>
            </a:lvl6pPr>
            <a:lvl7pPr>
              <a:defRPr sz="1650" b="0">
                <a:solidFill>
                  <a:srgbClr val="526673"/>
                </a:solidFill>
                <a:latin typeface="Arial"/>
                <a:ea typeface="Arial"/>
                <a:cs typeface="Arial"/>
              </a:defRPr>
            </a:lvl7pPr>
            <a:lvl8pPr>
              <a:defRPr sz="1650" b="0">
                <a:solidFill>
                  <a:srgbClr val="526673"/>
                </a:solidFill>
                <a:latin typeface="Arial"/>
                <a:ea typeface="Arial"/>
                <a:cs typeface="Arial"/>
              </a:defRPr>
            </a:lvl8pPr>
            <a:lvl9pPr>
              <a:defRPr sz="1650" b="0">
                <a:solidFill>
                  <a:srgbClr val="526673"/>
                </a:solidFill>
                <a:latin typeface="Arial"/>
                <a:ea typeface="Arial"/>
                <a:cs typeface="Arial"/>
              </a:defRPr>
            </a:lvl9pPr>
          </a:lstStyle>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Updated 20 October 2026</a:t>
            </a:r>
          </a:p>
        </p:txBody>
      </p:sp>
    </p:spTree>
    <p:extLst>
      <p:ext uri="{BB962C8B-B14F-4D97-AF65-F5344CB8AC3E}">
        <p14:creationId xmlns:p14="http://schemas.microsoft.com/office/powerpoint/2010/main" val="209700050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F85F98A-C128-4FDE-8019-5F9C23E6332F}"/>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Fitting outcomes</a:t>
            </a:r>
          </a:p>
        </p:txBody>
      </p:sp>
      <p:sp>
        <p:nvSpPr>
          <p:cNvPr id="2" name="">
            <a:extLst xmlns:a="http://schemas.openxmlformats.org/drawingml/2006/main">
              <a:ext uri="{FF2B5EF4-FFF2-40B4-BE49-F238E27FC236}">
                <a16:creationId xmlns:a16="http://schemas.microsoft.com/office/drawing/2014/main" id="{209C9907-803B-45DD-945B-E71A2F92BF4A}"/>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2 / 6</a:t>
            </a:r>
          </a:p>
        </p:txBody>
      </p:sp>
      <p:graphicFrame>
        <p:nvGraphicFramePr>
          <p:cNvPr id="3" name="Chart">
            <a:extLst xmlns:a="http://schemas.openxmlformats.org/drawingml/2006/main">
              <a:ext uri="{FF2B5EF4-FFF2-40B4-BE49-F238E27FC236}">
                <a16:creationId xmlns:a16="http://schemas.microsoft.com/office/drawing/2014/main" id="{AB076A70-3203-4889-B8AB-503E6AEE5DAF}"/>
              </a:ext>
            </a:extLst>
          </p:cNvPr>
          <p:cNvGraphicFramePr/>
          <p:nvPr/>
        </p:nvGraphicFramePr>
        <p:xfrm>
          <a:off xmlns:a="http://schemas.openxmlformats.org/drawingml/2006/main" x="609600" y="1666875"/>
          <a:ext xmlns:a="http://schemas.openxmlformats.org/drawingml/2006/main" cx="7286625" cy="3952875"/>
        </p:xfrm>
        <a:graphic xmlns:a="http://schemas.openxmlformats.org/drawingml/2006/main">
          <a:graphicData uri="http://schemas.openxmlformats.org/drawingml/2006/chart">
            <c:chart xmlns:r="http://schemas.openxmlformats.org/officeDocument/2006/relationships" xmlns:c="http://schemas.openxmlformats.org/drawingml/2006/chart" r:id="R294397711f764683"/>
          </a:graphicData>
        </a:graphic>
      </p:graphicFrame>
      <p:sp>
        <p:nvSpPr>
          <p:cNvPr id="4" name="">
            <a:extLst xmlns:a="http://schemas.openxmlformats.org/drawingml/2006/main">
              <a:ext uri="{FF2B5EF4-FFF2-40B4-BE49-F238E27FC236}">
                <a16:creationId xmlns:a16="http://schemas.microsoft.com/office/drawing/2014/main" id="{8BD77B31-2477-4EAA-AEA1-C70469A9823C}"/>
              </a:ext>
            </a:extLst>
          </p:cNvPr>
          <p:cNvSpPr>
            <a:spLocks xmlns:a="http://schemas.openxmlformats.org/drawingml/2006/main" noGrp="1"/>
          </p:cNvSpPr>
          <p:nvPr/>
        </p:nvSpPr>
        <p:spPr>
          <a:xfrm xmlns:a="http://schemas.openxmlformats.org/drawingml/2006/main">
            <a:off x="8286750" y="1809750"/>
            <a:ext cx="328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205F7A"/>
                </a:solidFill>
                <a:latin typeface="Arial"/>
                <a:ea typeface="Arial"/>
                <a:cs typeface="Arial"/>
              </a:defRPr>
            </a:defPPr>
            <a:lvl1pPr>
              <a:defRPr sz="2400" b="1">
                <a:solidFill>
                  <a:srgbClr val="205F7A"/>
                </a:solidFill>
                <a:latin typeface="Arial"/>
                <a:ea typeface="Arial"/>
                <a:cs typeface="Arial"/>
              </a:defRPr>
            </a:lvl1pPr>
            <a:lvl2pPr>
              <a:defRPr sz="2400" b="1">
                <a:solidFill>
                  <a:srgbClr val="205F7A"/>
                </a:solidFill>
                <a:latin typeface="Arial"/>
                <a:ea typeface="Arial"/>
                <a:cs typeface="Arial"/>
              </a:defRPr>
            </a:lvl2pPr>
            <a:lvl3pPr>
              <a:defRPr sz="2400" b="1">
                <a:solidFill>
                  <a:srgbClr val="205F7A"/>
                </a:solidFill>
                <a:latin typeface="Arial"/>
                <a:ea typeface="Arial"/>
                <a:cs typeface="Arial"/>
              </a:defRPr>
            </a:lvl3pPr>
            <a:lvl4pPr>
              <a:defRPr sz="2400" b="1">
                <a:solidFill>
                  <a:srgbClr val="205F7A"/>
                </a:solidFill>
                <a:latin typeface="Arial"/>
                <a:ea typeface="Arial"/>
                <a:cs typeface="Arial"/>
              </a:defRPr>
            </a:lvl4pPr>
            <a:lvl5pPr>
              <a:defRPr sz="2400" b="1">
                <a:solidFill>
                  <a:srgbClr val="205F7A"/>
                </a:solidFill>
                <a:latin typeface="Arial"/>
                <a:ea typeface="Arial"/>
                <a:cs typeface="Arial"/>
              </a:defRPr>
            </a:lvl5pPr>
            <a:lvl6pPr>
              <a:defRPr sz="2400" b="1">
                <a:solidFill>
                  <a:srgbClr val="205F7A"/>
                </a:solidFill>
                <a:latin typeface="Arial"/>
                <a:ea typeface="Arial"/>
                <a:cs typeface="Arial"/>
              </a:defRPr>
            </a:lvl6pPr>
            <a:lvl7pPr>
              <a:defRPr sz="2400" b="1">
                <a:solidFill>
                  <a:srgbClr val="205F7A"/>
                </a:solidFill>
                <a:latin typeface="Arial"/>
                <a:ea typeface="Arial"/>
                <a:cs typeface="Arial"/>
              </a:defRPr>
            </a:lvl7pPr>
            <a:lvl8pPr>
              <a:defRPr sz="2400" b="1">
                <a:solidFill>
                  <a:srgbClr val="205F7A"/>
                </a:solidFill>
                <a:latin typeface="Arial"/>
                <a:ea typeface="Arial"/>
                <a:cs typeface="Arial"/>
              </a:defRPr>
            </a:lvl8pPr>
            <a:lvl9pPr>
              <a:defRPr sz="2400" b="1">
                <a:solidFill>
                  <a:srgbClr val="205F7A"/>
                </a:solidFill>
                <a:latin typeface="Arial"/>
                <a:ea typeface="Arial"/>
                <a:cs typeface="Arial"/>
              </a:defRPr>
            </a:lvl9pPr>
          </a:lstStyle>
          <a:p xmlns:a="http://schemas.openxmlformats.org/drawingml/2006/main">
            <a:pPr>
              <a:defRPr sz="2400" b="1">
                <a:solidFill>
                  <a:srgbClr val="205F7A"/>
                </a:solidFill>
                <a:latin typeface="Arial"/>
                <a:ea typeface="Arial"/>
                <a:cs typeface="Arial"/>
              </a:defRPr>
            </a:pPr>
            <a:r>
              <a:rPr sz="2400" b="1">
                <a:solidFill>
                  <a:srgbClr val="205F7A"/>
                </a:solidFill>
                <a:latin typeface="Arial"/>
                <a:ea typeface="Arial"/>
                <a:cs typeface="Arial"/>
              </a:rPr>
              <a:t>2,207 provisional fits</a:t>
            </a:r>
          </a:p>
        </p:txBody>
      </p:sp>
      <p:sp>
        <p:nvSpPr>
          <p:cNvPr id="5" name="">
            <a:extLst xmlns:a="http://schemas.openxmlformats.org/drawingml/2006/main">
              <a:ext uri="{FF2B5EF4-FFF2-40B4-BE49-F238E27FC236}">
                <a16:creationId xmlns:a16="http://schemas.microsoft.com/office/drawing/2014/main" id="{86907A3F-EED6-4ED5-8285-A82F04DFD399}"/>
              </a:ext>
            </a:extLst>
          </p:cNvPr>
          <p:cNvSpPr>
            <a:spLocks xmlns:a="http://schemas.openxmlformats.org/drawingml/2006/main" noGrp="1"/>
          </p:cNvSpPr>
          <p:nvPr/>
        </p:nvSpPr>
        <p:spPr>
          <a:xfrm xmlns:a="http://schemas.openxmlformats.org/drawingml/2006/main">
            <a:off x="8286750" y="2571750"/>
            <a:ext cx="3286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2633"/>
                </a:solidFill>
                <a:latin typeface="Arial"/>
                <a:ea typeface="Arial"/>
                <a:cs typeface="Arial"/>
              </a:defRPr>
            </a:defPPr>
            <a:lvl1pPr>
              <a:defRPr sz="2025" b="0">
                <a:solidFill>
                  <a:srgbClr val="142633"/>
                </a:solidFill>
                <a:latin typeface="Arial"/>
                <a:ea typeface="Arial"/>
                <a:cs typeface="Arial"/>
              </a:defRPr>
            </a:lvl1pPr>
            <a:lvl2pPr>
              <a:defRPr sz="2025" b="0">
                <a:solidFill>
                  <a:srgbClr val="142633"/>
                </a:solidFill>
                <a:latin typeface="Arial"/>
                <a:ea typeface="Arial"/>
                <a:cs typeface="Arial"/>
              </a:defRPr>
            </a:lvl2pPr>
            <a:lvl3pPr>
              <a:defRPr sz="2025" b="0">
                <a:solidFill>
                  <a:srgbClr val="142633"/>
                </a:solidFill>
                <a:latin typeface="Arial"/>
                <a:ea typeface="Arial"/>
                <a:cs typeface="Arial"/>
              </a:defRPr>
            </a:lvl3pPr>
            <a:lvl4pPr>
              <a:defRPr sz="2025" b="0">
                <a:solidFill>
                  <a:srgbClr val="142633"/>
                </a:solidFill>
                <a:latin typeface="Arial"/>
                <a:ea typeface="Arial"/>
                <a:cs typeface="Arial"/>
              </a:defRPr>
            </a:lvl4pPr>
            <a:lvl5pPr>
              <a:defRPr sz="2025" b="0">
                <a:solidFill>
                  <a:srgbClr val="142633"/>
                </a:solidFill>
                <a:latin typeface="Arial"/>
                <a:ea typeface="Arial"/>
                <a:cs typeface="Arial"/>
              </a:defRPr>
            </a:lvl5pPr>
            <a:lvl6pPr>
              <a:defRPr sz="2025" b="0">
                <a:solidFill>
                  <a:srgbClr val="142633"/>
                </a:solidFill>
                <a:latin typeface="Arial"/>
                <a:ea typeface="Arial"/>
                <a:cs typeface="Arial"/>
              </a:defRPr>
            </a:lvl6pPr>
            <a:lvl7pPr>
              <a:defRPr sz="2025" b="0">
                <a:solidFill>
                  <a:srgbClr val="142633"/>
                </a:solidFill>
                <a:latin typeface="Arial"/>
                <a:ea typeface="Arial"/>
                <a:cs typeface="Arial"/>
              </a:defRPr>
            </a:lvl7pPr>
            <a:lvl8pPr>
              <a:defRPr sz="2025" b="0">
                <a:solidFill>
                  <a:srgbClr val="142633"/>
                </a:solidFill>
                <a:latin typeface="Arial"/>
                <a:ea typeface="Arial"/>
                <a:cs typeface="Arial"/>
              </a:defRPr>
            </a:lvl8pPr>
            <a:lvl9pPr>
              <a:defRPr sz="2025" b="0">
                <a:solidFill>
                  <a:srgbClr val="142633"/>
                </a:solidFill>
                <a:latin typeface="Arial"/>
                <a:ea typeface="Arial"/>
                <a:cs typeface="Arial"/>
              </a:defRPr>
            </a:lvl9pPr>
          </a:lstStyle>
          <a:p xmlns:a="http://schemas.openxmlformats.org/drawingml/2006/main">
            <a:pPr>
              <a:defRPr sz="2025" b="0">
                <a:solidFill>
                  <a:srgbClr val="142633"/>
                </a:solidFill>
                <a:latin typeface="Arial"/>
                <a:ea typeface="Arial"/>
                <a:cs typeface="Arial"/>
              </a:defRPr>
            </a:pPr>
            <a:r>
              <a:rPr sz="2025" b="0">
                <a:solidFill>
                  <a:srgbClr val="142633"/>
                </a:solidFill>
                <a:latin typeface="Arial"/>
                <a:ea typeface="Arial"/>
                <a:cs typeface="Arial"/>
              </a:rPr>
              <a:t>79.5% of the sample</a:t>
            </a:r>
          </a:p>
        </p:txBody>
      </p:sp>
      <p:sp>
        <p:nvSpPr>
          <p:cNvPr id="6" name="">
            <a:extLst xmlns:a="http://schemas.openxmlformats.org/drawingml/2006/main">
              <a:ext uri="{FF2B5EF4-FFF2-40B4-BE49-F238E27FC236}">
                <a16:creationId xmlns:a16="http://schemas.microsoft.com/office/drawing/2014/main" id="{0271C1E3-10E5-4191-93B2-B1D0CA7512A1}"/>
              </a:ext>
            </a:extLst>
          </p:cNvPr>
          <p:cNvSpPr>
            <a:spLocks xmlns:a="http://schemas.openxmlformats.org/drawingml/2006/main" noGrp="1"/>
          </p:cNvSpPr>
          <p:nvPr/>
        </p:nvSpPr>
        <p:spPr>
          <a:xfrm xmlns:a="http://schemas.openxmlformats.org/drawingml/2006/main">
            <a:off x="8286750" y="3571875"/>
            <a:ext cx="3286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A43C38"/>
                </a:solidFill>
                <a:latin typeface="Arial"/>
                <a:ea typeface="Arial"/>
                <a:cs typeface="Arial"/>
              </a:defRPr>
            </a:defPPr>
            <a:lvl1pPr>
              <a:defRPr sz="2250" b="1">
                <a:solidFill>
                  <a:srgbClr val="A43C38"/>
                </a:solidFill>
                <a:latin typeface="Arial"/>
                <a:ea typeface="Arial"/>
                <a:cs typeface="Arial"/>
              </a:defRPr>
            </a:lvl1pPr>
            <a:lvl2pPr>
              <a:defRPr sz="2250" b="1">
                <a:solidFill>
                  <a:srgbClr val="A43C38"/>
                </a:solidFill>
                <a:latin typeface="Arial"/>
                <a:ea typeface="Arial"/>
                <a:cs typeface="Arial"/>
              </a:defRPr>
            </a:lvl2pPr>
            <a:lvl3pPr>
              <a:defRPr sz="2250" b="1">
                <a:solidFill>
                  <a:srgbClr val="A43C38"/>
                </a:solidFill>
                <a:latin typeface="Arial"/>
                <a:ea typeface="Arial"/>
                <a:cs typeface="Arial"/>
              </a:defRPr>
            </a:lvl3pPr>
            <a:lvl4pPr>
              <a:defRPr sz="2250" b="1">
                <a:solidFill>
                  <a:srgbClr val="A43C38"/>
                </a:solidFill>
                <a:latin typeface="Arial"/>
                <a:ea typeface="Arial"/>
                <a:cs typeface="Arial"/>
              </a:defRPr>
            </a:lvl4pPr>
            <a:lvl5pPr>
              <a:defRPr sz="2250" b="1">
                <a:solidFill>
                  <a:srgbClr val="A43C38"/>
                </a:solidFill>
                <a:latin typeface="Arial"/>
                <a:ea typeface="Arial"/>
                <a:cs typeface="Arial"/>
              </a:defRPr>
            </a:lvl5pPr>
            <a:lvl6pPr>
              <a:defRPr sz="2250" b="1">
                <a:solidFill>
                  <a:srgbClr val="A43C38"/>
                </a:solidFill>
                <a:latin typeface="Arial"/>
                <a:ea typeface="Arial"/>
                <a:cs typeface="Arial"/>
              </a:defRPr>
            </a:lvl6pPr>
            <a:lvl7pPr>
              <a:defRPr sz="2250" b="1">
                <a:solidFill>
                  <a:srgbClr val="A43C38"/>
                </a:solidFill>
                <a:latin typeface="Arial"/>
                <a:ea typeface="Arial"/>
                <a:cs typeface="Arial"/>
              </a:defRPr>
            </a:lvl7pPr>
            <a:lvl8pPr>
              <a:defRPr sz="2250" b="1">
                <a:solidFill>
                  <a:srgbClr val="A43C38"/>
                </a:solidFill>
                <a:latin typeface="Arial"/>
                <a:ea typeface="Arial"/>
                <a:cs typeface="Arial"/>
              </a:defRPr>
            </a:lvl8pPr>
            <a:lvl9pPr>
              <a:defRPr sz="2250" b="1">
                <a:solidFill>
                  <a:srgbClr val="A43C38"/>
                </a:solidFill>
                <a:latin typeface="Arial"/>
                <a:ea typeface="Arial"/>
                <a:cs typeface="Arial"/>
              </a:defRPr>
            </a:lvl9pPr>
          </a:lstStyle>
          <a:p xmlns:a="http://schemas.openxmlformats.org/drawingml/2006/main">
            <a:pPr>
              <a:defRPr sz="2250" b="1">
                <a:solidFill>
                  <a:srgbClr val="A43C38"/>
                </a:solidFill>
                <a:latin typeface="Arial"/>
                <a:ea typeface="Arial"/>
                <a:cs typeface="Arial"/>
              </a:defRPr>
            </a:pPr>
            <a:r>
              <a:rPr sz="2250" b="1">
                <a:solidFill>
                  <a:srgbClr val="A43C38"/>
                </a:solidFill>
                <a:latin typeface="Arial"/>
                <a:ea typeface="Arial"/>
                <a:cs typeface="Arial"/>
              </a:rPr>
              <a:t>570 failed fits</a:t>
            </a:r>
          </a:p>
        </p:txBody>
      </p:sp>
      <p:sp>
        <p:nvSpPr>
          <p:cNvPr id="7" name="">
            <a:extLst xmlns:a="http://schemas.openxmlformats.org/drawingml/2006/main">
              <a:ext uri="{FF2B5EF4-FFF2-40B4-BE49-F238E27FC236}">
                <a16:creationId xmlns:a16="http://schemas.microsoft.com/office/drawing/2014/main" id="{4DBCC9DE-506C-444C-9455-4A534EF4DE10}"/>
              </a:ext>
            </a:extLst>
          </p:cNvPr>
          <p:cNvSpPr>
            <a:spLocks xmlns:a="http://schemas.openxmlformats.org/drawingml/2006/main" noGrp="1"/>
          </p:cNvSpPr>
          <p:nvPr/>
        </p:nvSpPr>
        <p:spPr>
          <a:xfrm xmlns:a="http://schemas.openxmlformats.org/drawingml/2006/main">
            <a:off x="8286750" y="4238625"/>
            <a:ext cx="3286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2633"/>
                </a:solidFill>
                <a:latin typeface="Arial"/>
                <a:ea typeface="Arial"/>
                <a:cs typeface="Arial"/>
              </a:defRPr>
            </a:defPPr>
            <a:lvl1pPr>
              <a:defRPr sz="2025" b="0">
                <a:solidFill>
                  <a:srgbClr val="142633"/>
                </a:solidFill>
                <a:latin typeface="Arial"/>
                <a:ea typeface="Arial"/>
                <a:cs typeface="Arial"/>
              </a:defRPr>
            </a:lvl1pPr>
            <a:lvl2pPr>
              <a:defRPr sz="2025" b="0">
                <a:solidFill>
                  <a:srgbClr val="142633"/>
                </a:solidFill>
                <a:latin typeface="Arial"/>
                <a:ea typeface="Arial"/>
                <a:cs typeface="Arial"/>
              </a:defRPr>
            </a:lvl2pPr>
            <a:lvl3pPr>
              <a:defRPr sz="2025" b="0">
                <a:solidFill>
                  <a:srgbClr val="142633"/>
                </a:solidFill>
                <a:latin typeface="Arial"/>
                <a:ea typeface="Arial"/>
                <a:cs typeface="Arial"/>
              </a:defRPr>
            </a:lvl3pPr>
            <a:lvl4pPr>
              <a:defRPr sz="2025" b="0">
                <a:solidFill>
                  <a:srgbClr val="142633"/>
                </a:solidFill>
                <a:latin typeface="Arial"/>
                <a:ea typeface="Arial"/>
                <a:cs typeface="Arial"/>
              </a:defRPr>
            </a:lvl4pPr>
            <a:lvl5pPr>
              <a:defRPr sz="2025" b="0">
                <a:solidFill>
                  <a:srgbClr val="142633"/>
                </a:solidFill>
                <a:latin typeface="Arial"/>
                <a:ea typeface="Arial"/>
                <a:cs typeface="Arial"/>
              </a:defRPr>
            </a:lvl5pPr>
            <a:lvl6pPr>
              <a:defRPr sz="2025" b="0">
                <a:solidFill>
                  <a:srgbClr val="142633"/>
                </a:solidFill>
                <a:latin typeface="Arial"/>
                <a:ea typeface="Arial"/>
                <a:cs typeface="Arial"/>
              </a:defRPr>
            </a:lvl6pPr>
            <a:lvl7pPr>
              <a:defRPr sz="2025" b="0">
                <a:solidFill>
                  <a:srgbClr val="142633"/>
                </a:solidFill>
                <a:latin typeface="Arial"/>
                <a:ea typeface="Arial"/>
                <a:cs typeface="Arial"/>
              </a:defRPr>
            </a:lvl7pPr>
            <a:lvl8pPr>
              <a:defRPr sz="2025" b="0">
                <a:solidFill>
                  <a:srgbClr val="142633"/>
                </a:solidFill>
                <a:latin typeface="Arial"/>
                <a:ea typeface="Arial"/>
                <a:cs typeface="Arial"/>
              </a:defRPr>
            </a:lvl8pPr>
            <a:lvl9pPr>
              <a:defRPr sz="2025" b="0">
                <a:solidFill>
                  <a:srgbClr val="142633"/>
                </a:solidFill>
                <a:latin typeface="Arial"/>
                <a:ea typeface="Arial"/>
                <a:cs typeface="Arial"/>
              </a:defRPr>
            </a:lvl9pPr>
          </a:lstStyle>
          <a:p xmlns:a="http://schemas.openxmlformats.org/drawingml/2006/main">
            <a:pPr>
              <a:defRPr sz="2025" b="0">
                <a:solidFill>
                  <a:srgbClr val="142633"/>
                </a:solidFill>
                <a:latin typeface="Arial"/>
                <a:ea typeface="Arial"/>
                <a:cs typeface="Arial"/>
              </a:defRPr>
            </a:pPr>
            <a:r>
              <a:rPr sz="2025" b="0">
                <a:solidFill>
                  <a:srgbClr val="142633"/>
                </a:solidFill>
                <a:latin typeface="Arial"/>
                <a:ea typeface="Arial"/>
                <a:cs typeface="Arial"/>
              </a:rPr>
              <a:t>20.5% of the sample</a:t>
            </a:r>
          </a:p>
        </p:txBody>
      </p:sp>
      <p:sp>
        <p:nvSpPr>
          <p:cNvPr id="8" name="">
            <a:extLst xmlns:a="http://schemas.openxmlformats.org/drawingml/2006/main">
              <a:ext uri="{FF2B5EF4-FFF2-40B4-BE49-F238E27FC236}">
                <a16:creationId xmlns:a16="http://schemas.microsoft.com/office/drawing/2014/main" id="{4F99AA81-2C1E-4765-871B-298515CE9A30}"/>
              </a:ext>
            </a:extLst>
          </p:cNvPr>
          <p:cNvSpPr>
            <a:spLocks xmlns:a="http://schemas.openxmlformats.org/drawingml/2006/main" noGrp="1"/>
          </p:cNvSpPr>
          <p:nvPr/>
        </p:nvSpPr>
        <p:spPr>
          <a:xfrm xmlns:a="http://schemas.openxmlformats.org/drawingml/2006/main">
            <a:off x="609600" y="58674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26673"/>
                </a:solidFill>
                <a:latin typeface="Arial"/>
                <a:ea typeface="Arial"/>
                <a:cs typeface="Arial"/>
              </a:defRPr>
            </a:defPPr>
            <a:lvl1pPr>
              <a:defRPr sz="1800" b="0">
                <a:solidFill>
                  <a:srgbClr val="526673"/>
                </a:solidFill>
                <a:latin typeface="Arial"/>
                <a:ea typeface="Arial"/>
                <a:cs typeface="Arial"/>
              </a:defRPr>
            </a:lvl1pPr>
            <a:lvl2pPr>
              <a:defRPr sz="1800" b="0">
                <a:solidFill>
                  <a:srgbClr val="526673"/>
                </a:solidFill>
                <a:latin typeface="Arial"/>
                <a:ea typeface="Arial"/>
                <a:cs typeface="Arial"/>
              </a:defRPr>
            </a:lvl2pPr>
            <a:lvl3pPr>
              <a:defRPr sz="1800" b="0">
                <a:solidFill>
                  <a:srgbClr val="526673"/>
                </a:solidFill>
                <a:latin typeface="Arial"/>
                <a:ea typeface="Arial"/>
                <a:cs typeface="Arial"/>
              </a:defRPr>
            </a:lvl3pPr>
            <a:lvl4pPr>
              <a:defRPr sz="1800" b="0">
                <a:solidFill>
                  <a:srgbClr val="526673"/>
                </a:solidFill>
                <a:latin typeface="Arial"/>
                <a:ea typeface="Arial"/>
                <a:cs typeface="Arial"/>
              </a:defRPr>
            </a:lvl4pPr>
            <a:lvl5pPr>
              <a:defRPr sz="1800" b="0">
                <a:solidFill>
                  <a:srgbClr val="526673"/>
                </a:solidFill>
                <a:latin typeface="Arial"/>
                <a:ea typeface="Arial"/>
                <a:cs typeface="Arial"/>
              </a:defRPr>
            </a:lvl5pPr>
            <a:lvl6pPr>
              <a:defRPr sz="1800" b="0">
                <a:solidFill>
                  <a:srgbClr val="526673"/>
                </a:solidFill>
                <a:latin typeface="Arial"/>
                <a:ea typeface="Arial"/>
                <a:cs typeface="Arial"/>
              </a:defRPr>
            </a:lvl6pPr>
            <a:lvl7pPr>
              <a:defRPr sz="1800" b="0">
                <a:solidFill>
                  <a:srgbClr val="526673"/>
                </a:solidFill>
                <a:latin typeface="Arial"/>
                <a:ea typeface="Arial"/>
                <a:cs typeface="Arial"/>
              </a:defRPr>
            </a:lvl7pPr>
            <a:lvl8pPr>
              <a:defRPr sz="1800" b="0">
                <a:solidFill>
                  <a:srgbClr val="526673"/>
                </a:solidFill>
                <a:latin typeface="Arial"/>
                <a:ea typeface="Arial"/>
                <a:cs typeface="Arial"/>
              </a:defRPr>
            </a:lvl8pPr>
            <a:lvl9pPr>
              <a:defRPr sz="1800" b="0">
                <a:solidFill>
                  <a:srgbClr val="526673"/>
                </a:solidFill>
                <a:latin typeface="Arial"/>
                <a:ea typeface="Arial"/>
                <a:cs typeface="Arial"/>
              </a:defRPr>
            </a:lvl9pPr>
          </a:lstStyle>
          <a:p xmlns:a="http://schemas.openxmlformats.org/drawingml/2006/main">
            <a:pPr>
              <a:defRPr sz="1800" b="0">
                <a:solidFill>
                  <a:srgbClr val="526673"/>
                </a:solidFill>
                <a:latin typeface="Arial"/>
                <a:ea typeface="Arial"/>
                <a:cs typeface="Arial"/>
              </a:defRPr>
            </a:pPr>
            <a:r>
              <a:rPr sz="1800" b="0">
                <a:solidFill>
                  <a:srgbClr val="526673"/>
                </a:solidFill>
                <a:latin typeface="Arial"/>
                <a:ea typeface="Arial"/>
                <a:cs typeface="Arial"/>
              </a:rPr>
              <a:t>A completed fit still requires physical review of the selected disc and bar.</a:t>
            </a:r>
          </a:p>
        </p:txBody>
      </p:sp>
    </p:spTree>
    <p:extLst>
      <p:ext uri="{BB962C8B-B14F-4D97-AF65-F5344CB8AC3E}">
        <p14:creationId xmlns:p14="http://schemas.microsoft.com/office/powerpoint/2010/main" val="7190689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A1D393B-EB34-4E98-A881-C49B001CF8BB}"/>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Quality flags and failed fits</a:t>
            </a:r>
          </a:p>
        </p:txBody>
      </p:sp>
      <p:sp>
        <p:nvSpPr>
          <p:cNvPr id="2" name="">
            <a:extLst xmlns:a="http://schemas.openxmlformats.org/drawingml/2006/main">
              <a:ext uri="{FF2B5EF4-FFF2-40B4-BE49-F238E27FC236}">
                <a16:creationId xmlns:a16="http://schemas.microsoft.com/office/drawing/2014/main" id="{6CD20AC1-0DF6-4C7C-AF44-149BEE7F763B}"/>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3 / 6</a:t>
            </a:r>
          </a:p>
        </p:txBody>
      </p:sp>
      <p:graphicFrame>
        <p:nvGraphicFramePr>
          <p:cNvPr id="3" name="">
            <a:extLst xmlns:a="http://schemas.openxmlformats.org/drawingml/2006/main">
              <a:ext uri="{FF2B5EF4-FFF2-40B4-BE49-F238E27FC236}">
                <a16:creationId xmlns:a16="http://schemas.microsoft.com/office/drawing/2014/main" id="{561277DB-2AC4-44F5-9EA4-BBC9BD37FB10}"/>
              </a:ext>
            </a:extLst>
          </p:cNvPr>
          <p:cNvGraphicFramePr/>
          <p:nvPr/>
        </p:nvGraphicFramePr>
        <p:xfrm>
          <a:off xmlns:a="http://schemas.openxmlformats.org/drawingml/2006/main" x="609600" y="1524000"/>
          <a:ext xmlns:a="http://schemas.openxmlformats.org/drawingml/2006/main" cx="6762750" cy="3857625"/>
        </p:xfrm>
        <a:graphic xmlns:a="http://schemas.openxmlformats.org/drawingml/2006/main">
          <a:graphicData uri="http://schemas.openxmlformats.org/drawingml/2006/table">
            <a:tbl>
              <a:tblPr/>
              <a:tblGrid>
                <a:gridCol w="5238750"/>
                <a:gridCol w="1524000"/>
              </a:tblGrid>
              <a:tr h="551089">
                <a:tc>
                  <a:txBody>
                    <a:bodyPr/>
                    <a:lstStyle/>
                    <a:p>
                      <a:r>
                        <a:rPr sz="1800" b="1">
                          <a:solidFill>
                            <a:srgbClr val="142633"/>
                          </a:solidFill>
                          <a:latin typeface="Arial"/>
                          <a:ea typeface="Arial"/>
                          <a:cs typeface="Arial"/>
                        </a:rPr>
                        <a:t>Quality flag condition</a:t>
                      </a:r>
                    </a:p>
                  </a:txBody>
                  <a:tcPr marL="91440" marR="91440" marT="45720" marB="45720">
                    <a:lnL w="6668">
                      <a:solidFill>
                        <a:srgbClr val="D6E0E5"/>
                      </a:solidFill>
                      <a:prstDash val="solid"/>
                    </a:lnL>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c>
                  <a:txBody>
                    <a:bodyPr/>
                    <a:lstStyle/>
                    <a:p>
                      <a:r>
                        <a:rPr sz="1800" b="1">
                          <a:solidFill>
                            <a:srgbClr val="142633"/>
                          </a:solidFill>
                          <a:latin typeface="Arial"/>
                          <a:ea typeface="Arial"/>
                          <a:cs typeface="Arial"/>
                        </a:rPr>
                        <a:t>Galaxies</a:t>
                      </a:r>
                    </a:p>
                  </a:txBody>
                  <a:tcPr marL="91440" marR="91440" marT="45720" marB="45720">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r>
              <a:tr h="551089">
                <a:tc>
                  <a:txBody>
                    <a:bodyPr/>
                    <a:lstStyle/>
                    <a:p>
                      <a:r>
                        <a:rPr sz="1800" b="0">
                          <a:solidFill>
                            <a:srgbClr val="142633"/>
                          </a:solidFill>
                          <a:latin typeface="Arial"/>
                          <a:ea typeface="Arial"/>
                          <a:cs typeface="Arial"/>
                        </a:rPr>
                        <a:t>Small selected bar interval</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00" b="0">
                          <a:solidFill>
                            <a:srgbClr val="142633"/>
                          </a:solidFill>
                          <a:latin typeface="Arial"/>
                          <a:ea typeface="Arial"/>
                          <a:cs typeface="Arial"/>
                        </a:rPr>
                        <a:t>1,210</a:t>
                      </a:r>
                    </a:p>
                  </a:txBody>
                  <a:tcPr marL="91440" marR="91440" marT="45720" marB="45720">
                    <a:lnR w="6668">
                      <a:solidFill>
                        <a:srgbClr val="D6E0E5"/>
                      </a:solidFill>
                      <a:prstDash val="solid"/>
                    </a:lnR>
                    <a:lnB w="6668">
                      <a:solidFill>
                        <a:srgbClr val="D6E0E5"/>
                      </a:solidFill>
                      <a:prstDash val="solid"/>
                    </a:lnB>
                    <a:solidFill>
                      <a:srgbClr val="FFFFFF"/>
                    </a:solidFill>
                  </a:tcPr>
                </a:tc>
              </a:tr>
              <a:tr h="551089">
                <a:tc>
                  <a:txBody>
                    <a:bodyPr/>
                    <a:lstStyle/>
                    <a:p>
                      <a:r>
                        <a:rPr sz="1800" b="0">
                          <a:solidFill>
                            <a:srgbClr val="142633"/>
                          </a:solidFill>
                          <a:latin typeface="Arial"/>
                          <a:ea typeface="Arial"/>
                          <a:cs typeface="Arial"/>
                        </a:rPr>
                        <a:t>Unstable disc PA</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00" b="0">
                          <a:solidFill>
                            <a:srgbClr val="142633"/>
                          </a:solidFill>
                          <a:latin typeface="Arial"/>
                          <a:ea typeface="Arial"/>
                          <a:cs typeface="Arial"/>
                        </a:rPr>
                        <a:t>791</a:t>
                      </a:r>
                    </a:p>
                  </a:txBody>
                  <a:tcPr marL="91440" marR="91440" marT="45720" marB="45720">
                    <a:lnR w="6668">
                      <a:solidFill>
                        <a:srgbClr val="D6E0E5"/>
                      </a:solidFill>
                      <a:prstDash val="solid"/>
                    </a:lnR>
                    <a:lnB w="6668">
                      <a:solidFill>
                        <a:srgbClr val="D6E0E5"/>
                      </a:solidFill>
                      <a:prstDash val="solid"/>
                    </a:lnB>
                    <a:solidFill>
                      <a:srgbClr val="FFFFFF"/>
                    </a:solidFill>
                  </a:tcPr>
                </a:tc>
              </a:tr>
              <a:tr h="551089">
                <a:tc>
                  <a:txBody>
                    <a:bodyPr/>
                    <a:lstStyle/>
                    <a:p>
                      <a:r>
                        <a:rPr sz="1800" b="0">
                          <a:solidFill>
                            <a:srgbClr val="142633"/>
                          </a:solidFill>
                          <a:latin typeface="Arial"/>
                          <a:ea typeface="Arial"/>
                          <a:cs typeface="Arial"/>
                        </a:rPr>
                        <a:t>Changing disc ellipticity</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00" b="0">
                          <a:solidFill>
                            <a:srgbClr val="142633"/>
                          </a:solidFill>
                          <a:latin typeface="Arial"/>
                          <a:ea typeface="Arial"/>
                          <a:cs typeface="Arial"/>
                        </a:rPr>
                        <a:t>573</a:t>
                      </a:r>
                    </a:p>
                  </a:txBody>
                  <a:tcPr marL="91440" marR="91440" marT="45720" marB="45720">
                    <a:lnR w="6668">
                      <a:solidFill>
                        <a:srgbClr val="D6E0E5"/>
                      </a:solidFill>
                      <a:prstDash val="solid"/>
                    </a:lnR>
                    <a:lnB w="6668">
                      <a:solidFill>
                        <a:srgbClr val="D6E0E5"/>
                      </a:solidFill>
                      <a:prstDash val="solid"/>
                    </a:lnB>
                    <a:solidFill>
                      <a:srgbClr val="FFFFFF"/>
                    </a:solidFill>
                  </a:tcPr>
                </a:tc>
              </a:tr>
              <a:tr h="551089">
                <a:tc>
                  <a:txBody>
                    <a:bodyPr/>
                    <a:lstStyle/>
                    <a:p>
                      <a:r>
                        <a:rPr sz="1800" b="0">
                          <a:solidFill>
                            <a:srgbClr val="142633"/>
                          </a:solidFill>
                          <a:latin typeface="Arial"/>
                          <a:ea typeface="Arial"/>
                          <a:cs typeface="Arial"/>
                        </a:rPr>
                        <a:t>Nearly face on</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00" b="0">
                          <a:solidFill>
                            <a:srgbClr val="142633"/>
                          </a:solidFill>
                          <a:latin typeface="Arial"/>
                          <a:ea typeface="Arial"/>
                          <a:cs typeface="Arial"/>
                        </a:rPr>
                        <a:t>200</a:t>
                      </a:r>
                    </a:p>
                  </a:txBody>
                  <a:tcPr marL="91440" marR="91440" marT="45720" marB="45720">
                    <a:lnR w="6668">
                      <a:solidFill>
                        <a:srgbClr val="D6E0E5"/>
                      </a:solidFill>
                      <a:prstDash val="solid"/>
                    </a:lnR>
                    <a:lnB w="6668">
                      <a:solidFill>
                        <a:srgbClr val="D6E0E5"/>
                      </a:solidFill>
                      <a:prstDash val="solid"/>
                    </a:lnB>
                    <a:solidFill>
                      <a:srgbClr val="FFFFFF"/>
                    </a:solidFill>
                  </a:tcPr>
                </a:tc>
              </a:tr>
              <a:tr h="551089">
                <a:tc>
                  <a:txBody>
                    <a:bodyPr/>
                    <a:lstStyle/>
                    <a:p>
                      <a:r>
                        <a:rPr sz="1800" b="0">
                          <a:solidFill>
                            <a:srgbClr val="142633"/>
                          </a:solidFill>
                          <a:latin typeface="Arial"/>
                          <a:ea typeface="Arial"/>
                          <a:cs typeface="Arial"/>
                        </a:rPr>
                        <a:t>Unstable bar PA</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00" b="0">
                          <a:solidFill>
                            <a:srgbClr val="142633"/>
                          </a:solidFill>
                          <a:latin typeface="Arial"/>
                          <a:ea typeface="Arial"/>
                          <a:cs typeface="Arial"/>
                        </a:rPr>
                        <a:t>28</a:t>
                      </a:r>
                    </a:p>
                  </a:txBody>
                  <a:tcPr marL="91440" marR="91440" marT="45720" marB="45720">
                    <a:lnR w="6668">
                      <a:solidFill>
                        <a:srgbClr val="D6E0E5"/>
                      </a:solidFill>
                      <a:prstDash val="solid"/>
                    </a:lnR>
                    <a:lnB w="6668">
                      <a:solidFill>
                        <a:srgbClr val="D6E0E5"/>
                      </a:solidFill>
                      <a:prstDash val="solid"/>
                    </a:lnB>
                    <a:solidFill>
                      <a:srgbClr val="FFFFFF"/>
                    </a:solidFill>
                  </a:tcPr>
                </a:tc>
              </a:tr>
              <a:tr h="551089">
                <a:tc>
                  <a:txBody>
                    <a:bodyPr/>
                    <a:lstStyle/>
                    <a:p>
                      <a:r>
                        <a:rPr sz="1800" b="0">
                          <a:solidFill>
                            <a:srgbClr val="142633"/>
                          </a:solidFill>
                          <a:latin typeface="Arial"/>
                          <a:ea typeface="Arial"/>
                          <a:cs typeface="Arial"/>
                        </a:rPr>
                        <a:t>Weak ellipse bar signature</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00" b="0">
                          <a:solidFill>
                            <a:srgbClr val="142633"/>
                          </a:solidFill>
                          <a:latin typeface="Arial"/>
                          <a:ea typeface="Arial"/>
                          <a:cs typeface="Arial"/>
                        </a:rPr>
                        <a:t>7</a:t>
                      </a:r>
                    </a:p>
                  </a:txBody>
                  <a:tcPr marL="91440" marR="91440" marT="45720" marB="45720">
                    <a:lnR w="6668">
                      <a:solidFill>
                        <a:srgbClr val="D6E0E5"/>
                      </a:solidFill>
                      <a:prstDash val="solid"/>
                    </a:lnR>
                    <a:lnB w="6668">
                      <a:solidFill>
                        <a:srgbClr val="D6E0E5"/>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443D2C2D-35EC-4F48-AF00-CF935BB4F0A0}"/>
              </a:ext>
            </a:extLst>
          </p:cNvPr>
          <p:cNvSpPr>
            <a:spLocks xmlns:a="http://schemas.openxmlformats.org/drawingml/2006/main" noGrp="1"/>
          </p:cNvSpPr>
          <p:nvPr/>
        </p:nvSpPr>
        <p:spPr>
          <a:xfrm xmlns:a="http://schemas.openxmlformats.org/drawingml/2006/main">
            <a:off x="7905750" y="1600200"/>
            <a:ext cx="352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205F7A"/>
                </a:solidFill>
                <a:latin typeface="Arial"/>
                <a:ea typeface="Arial"/>
                <a:cs typeface="Arial"/>
              </a:defRPr>
            </a:defPPr>
            <a:lvl1pPr>
              <a:defRPr sz="2250" b="1">
                <a:solidFill>
                  <a:srgbClr val="205F7A"/>
                </a:solidFill>
                <a:latin typeface="Arial"/>
                <a:ea typeface="Arial"/>
                <a:cs typeface="Arial"/>
              </a:defRPr>
            </a:lvl1pPr>
            <a:lvl2pPr>
              <a:defRPr sz="2250" b="1">
                <a:solidFill>
                  <a:srgbClr val="205F7A"/>
                </a:solidFill>
                <a:latin typeface="Arial"/>
                <a:ea typeface="Arial"/>
                <a:cs typeface="Arial"/>
              </a:defRPr>
            </a:lvl2pPr>
            <a:lvl3pPr>
              <a:defRPr sz="2250" b="1">
                <a:solidFill>
                  <a:srgbClr val="205F7A"/>
                </a:solidFill>
                <a:latin typeface="Arial"/>
                <a:ea typeface="Arial"/>
                <a:cs typeface="Arial"/>
              </a:defRPr>
            </a:lvl3pPr>
            <a:lvl4pPr>
              <a:defRPr sz="2250" b="1">
                <a:solidFill>
                  <a:srgbClr val="205F7A"/>
                </a:solidFill>
                <a:latin typeface="Arial"/>
                <a:ea typeface="Arial"/>
                <a:cs typeface="Arial"/>
              </a:defRPr>
            </a:lvl4pPr>
            <a:lvl5pPr>
              <a:defRPr sz="2250" b="1">
                <a:solidFill>
                  <a:srgbClr val="205F7A"/>
                </a:solidFill>
                <a:latin typeface="Arial"/>
                <a:ea typeface="Arial"/>
                <a:cs typeface="Arial"/>
              </a:defRPr>
            </a:lvl5pPr>
            <a:lvl6pPr>
              <a:defRPr sz="2250" b="1">
                <a:solidFill>
                  <a:srgbClr val="205F7A"/>
                </a:solidFill>
                <a:latin typeface="Arial"/>
                <a:ea typeface="Arial"/>
                <a:cs typeface="Arial"/>
              </a:defRPr>
            </a:lvl6pPr>
            <a:lvl7pPr>
              <a:defRPr sz="2250" b="1">
                <a:solidFill>
                  <a:srgbClr val="205F7A"/>
                </a:solidFill>
                <a:latin typeface="Arial"/>
                <a:ea typeface="Arial"/>
                <a:cs typeface="Arial"/>
              </a:defRPr>
            </a:lvl7pPr>
            <a:lvl8pPr>
              <a:defRPr sz="2250" b="1">
                <a:solidFill>
                  <a:srgbClr val="205F7A"/>
                </a:solidFill>
                <a:latin typeface="Arial"/>
                <a:ea typeface="Arial"/>
                <a:cs typeface="Arial"/>
              </a:defRPr>
            </a:lvl8pPr>
            <a:lvl9pPr>
              <a:defRPr sz="2250" b="1">
                <a:solidFill>
                  <a:srgbClr val="205F7A"/>
                </a:solidFill>
                <a:latin typeface="Arial"/>
                <a:ea typeface="Arial"/>
                <a:cs typeface="Arial"/>
              </a:defRPr>
            </a:lvl9pPr>
          </a:lstStyle>
          <a:p xmlns:a="http://schemas.openxmlformats.org/drawingml/2006/main">
            <a:pPr>
              <a:defRPr sz="2250" b="1">
                <a:solidFill>
                  <a:srgbClr val="205F7A"/>
                </a:solidFill>
                <a:latin typeface="Arial"/>
                <a:ea typeface="Arial"/>
                <a:cs typeface="Arial"/>
              </a:defRPr>
            </a:pPr>
            <a:r>
              <a:rPr sz="2250" b="1">
                <a:solidFill>
                  <a:srgbClr val="205F7A"/>
                </a:solidFill>
                <a:latin typeface="Arial"/>
                <a:ea typeface="Arial"/>
                <a:cs typeface="Arial"/>
              </a:rPr>
              <a:t>Flags overlap</a:t>
            </a:r>
          </a:p>
        </p:txBody>
      </p:sp>
      <p:sp>
        <p:nvSpPr>
          <p:cNvPr id="5" name="">
            <a:extLst xmlns:a="http://schemas.openxmlformats.org/drawingml/2006/main">
              <a:ext uri="{FF2B5EF4-FFF2-40B4-BE49-F238E27FC236}">
                <a16:creationId xmlns:a16="http://schemas.microsoft.com/office/drawing/2014/main" id="{BE6EBD0B-B713-4E88-9978-130CD9BC9118}"/>
              </a:ext>
            </a:extLst>
          </p:cNvPr>
          <p:cNvSpPr>
            <a:spLocks xmlns:a="http://schemas.openxmlformats.org/drawingml/2006/main" noGrp="1"/>
          </p:cNvSpPr>
          <p:nvPr/>
        </p:nvSpPr>
        <p:spPr>
          <a:xfrm xmlns:a="http://schemas.openxmlformats.org/drawingml/2006/main">
            <a:off x="7905750" y="2238375"/>
            <a:ext cx="3524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42633"/>
                </a:solidFill>
                <a:latin typeface="Arial"/>
                <a:ea typeface="Arial"/>
                <a:cs typeface="Arial"/>
              </a:defRPr>
            </a:defPPr>
            <a:lvl1pPr>
              <a:defRPr sz="1875" b="0">
                <a:solidFill>
                  <a:srgbClr val="142633"/>
                </a:solidFill>
                <a:latin typeface="Arial"/>
                <a:ea typeface="Arial"/>
                <a:cs typeface="Arial"/>
              </a:defRPr>
            </a:lvl1pPr>
            <a:lvl2pPr>
              <a:defRPr sz="1875" b="0">
                <a:solidFill>
                  <a:srgbClr val="142633"/>
                </a:solidFill>
                <a:latin typeface="Arial"/>
                <a:ea typeface="Arial"/>
                <a:cs typeface="Arial"/>
              </a:defRPr>
            </a:lvl2pPr>
            <a:lvl3pPr>
              <a:defRPr sz="1875" b="0">
                <a:solidFill>
                  <a:srgbClr val="142633"/>
                </a:solidFill>
                <a:latin typeface="Arial"/>
                <a:ea typeface="Arial"/>
                <a:cs typeface="Arial"/>
              </a:defRPr>
            </a:lvl3pPr>
            <a:lvl4pPr>
              <a:defRPr sz="1875" b="0">
                <a:solidFill>
                  <a:srgbClr val="142633"/>
                </a:solidFill>
                <a:latin typeface="Arial"/>
                <a:ea typeface="Arial"/>
                <a:cs typeface="Arial"/>
              </a:defRPr>
            </a:lvl4pPr>
            <a:lvl5pPr>
              <a:defRPr sz="1875" b="0">
                <a:solidFill>
                  <a:srgbClr val="142633"/>
                </a:solidFill>
                <a:latin typeface="Arial"/>
                <a:ea typeface="Arial"/>
                <a:cs typeface="Arial"/>
              </a:defRPr>
            </a:lvl5pPr>
            <a:lvl6pPr>
              <a:defRPr sz="1875" b="0">
                <a:solidFill>
                  <a:srgbClr val="142633"/>
                </a:solidFill>
                <a:latin typeface="Arial"/>
                <a:ea typeface="Arial"/>
                <a:cs typeface="Arial"/>
              </a:defRPr>
            </a:lvl6pPr>
            <a:lvl7pPr>
              <a:defRPr sz="1875" b="0">
                <a:solidFill>
                  <a:srgbClr val="142633"/>
                </a:solidFill>
                <a:latin typeface="Arial"/>
                <a:ea typeface="Arial"/>
                <a:cs typeface="Arial"/>
              </a:defRPr>
            </a:lvl7pPr>
            <a:lvl8pPr>
              <a:defRPr sz="1875" b="0">
                <a:solidFill>
                  <a:srgbClr val="142633"/>
                </a:solidFill>
                <a:latin typeface="Arial"/>
                <a:ea typeface="Arial"/>
                <a:cs typeface="Arial"/>
              </a:defRPr>
            </a:lvl8pPr>
            <a:lvl9pPr>
              <a:defRPr sz="1875" b="0">
                <a:solidFill>
                  <a:srgbClr val="142633"/>
                </a:solidFill>
                <a:latin typeface="Arial"/>
                <a:ea typeface="Arial"/>
                <a:cs typeface="Arial"/>
              </a:defRPr>
            </a:lvl9pPr>
          </a:lstStyle>
          <a:p xmlns:a="http://schemas.openxmlformats.org/drawingml/2006/main">
            <a:pPr>
              <a:defRPr sz="1875" b="0">
                <a:solidFill>
                  <a:srgbClr val="142633"/>
                </a:solidFill>
                <a:latin typeface="Arial"/>
                <a:ea typeface="Arial"/>
                <a:cs typeface="Arial"/>
              </a:defRPr>
            </a:pPr>
            <a:r>
              <a:rPr sz="1875" b="0">
                <a:solidFill>
                  <a:srgbClr val="142633"/>
                </a:solidFill>
                <a:latin typeface="Arial"/>
                <a:ea typeface="Arial"/>
                <a:cs typeface="Arial"/>
              </a:rPr>
              <a:t>Counts refer to the 2,207 fits.</a:t>
            </a:r>
          </a:p>
          <a:p xmlns:a="http://schemas.openxmlformats.org/drawingml/2006/main">
            <a:pPr>
              <a:defRPr sz="1875" b="0">
                <a:solidFill>
                  <a:srgbClr val="142633"/>
                </a:solidFill>
                <a:latin typeface="Arial"/>
                <a:ea typeface="Arial"/>
                <a:cs typeface="Arial"/>
              </a:defRPr>
            </a:pPr>
            <a:r>
              <a:rPr sz="1875" b="0">
                <a:solidFill>
                  <a:srgbClr val="142633"/>
                </a:solidFill>
                <a:latin typeface="Arial"/>
                <a:ea typeface="Arial"/>
                <a:cs typeface="Arial"/>
              </a:rPr>
              <a:t>They cannot be added.</a:t>
            </a:r>
          </a:p>
        </p:txBody>
      </p:sp>
      <p:sp>
        <p:nvSpPr>
          <p:cNvPr id="6" name="">
            <a:extLst xmlns:a="http://schemas.openxmlformats.org/drawingml/2006/main">
              <a:ext uri="{FF2B5EF4-FFF2-40B4-BE49-F238E27FC236}">
                <a16:creationId xmlns:a16="http://schemas.microsoft.com/office/drawing/2014/main" id="{6DDED417-A29A-4161-9821-BFFEBDDC819A}"/>
              </a:ext>
            </a:extLst>
          </p:cNvPr>
          <p:cNvSpPr>
            <a:spLocks xmlns:a="http://schemas.openxmlformats.org/drawingml/2006/main" noGrp="1"/>
          </p:cNvSpPr>
          <p:nvPr/>
        </p:nvSpPr>
        <p:spPr>
          <a:xfrm xmlns:a="http://schemas.openxmlformats.org/drawingml/2006/main">
            <a:off x="7905750" y="3505200"/>
            <a:ext cx="3524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42633"/>
                </a:solidFill>
                <a:latin typeface="Arial"/>
                <a:ea typeface="Arial"/>
                <a:cs typeface="Arial"/>
              </a:defRPr>
            </a:defPPr>
            <a:lvl1pPr>
              <a:defRPr sz="2250" b="1">
                <a:solidFill>
                  <a:srgbClr val="142633"/>
                </a:solidFill>
                <a:latin typeface="Arial"/>
                <a:ea typeface="Arial"/>
                <a:cs typeface="Arial"/>
              </a:defRPr>
            </a:lvl1pPr>
            <a:lvl2pPr>
              <a:defRPr sz="2250" b="1">
                <a:solidFill>
                  <a:srgbClr val="142633"/>
                </a:solidFill>
                <a:latin typeface="Arial"/>
                <a:ea typeface="Arial"/>
                <a:cs typeface="Arial"/>
              </a:defRPr>
            </a:lvl2pPr>
            <a:lvl3pPr>
              <a:defRPr sz="2250" b="1">
                <a:solidFill>
                  <a:srgbClr val="142633"/>
                </a:solidFill>
                <a:latin typeface="Arial"/>
                <a:ea typeface="Arial"/>
                <a:cs typeface="Arial"/>
              </a:defRPr>
            </a:lvl3pPr>
            <a:lvl4pPr>
              <a:defRPr sz="2250" b="1">
                <a:solidFill>
                  <a:srgbClr val="142633"/>
                </a:solidFill>
                <a:latin typeface="Arial"/>
                <a:ea typeface="Arial"/>
                <a:cs typeface="Arial"/>
              </a:defRPr>
            </a:lvl4pPr>
            <a:lvl5pPr>
              <a:defRPr sz="2250" b="1">
                <a:solidFill>
                  <a:srgbClr val="142633"/>
                </a:solidFill>
                <a:latin typeface="Arial"/>
                <a:ea typeface="Arial"/>
                <a:cs typeface="Arial"/>
              </a:defRPr>
            </a:lvl5pPr>
            <a:lvl6pPr>
              <a:defRPr sz="2250" b="1">
                <a:solidFill>
                  <a:srgbClr val="142633"/>
                </a:solidFill>
                <a:latin typeface="Arial"/>
                <a:ea typeface="Arial"/>
                <a:cs typeface="Arial"/>
              </a:defRPr>
            </a:lvl6pPr>
            <a:lvl7pPr>
              <a:defRPr sz="2250" b="1">
                <a:solidFill>
                  <a:srgbClr val="142633"/>
                </a:solidFill>
                <a:latin typeface="Arial"/>
                <a:ea typeface="Arial"/>
                <a:cs typeface="Arial"/>
              </a:defRPr>
            </a:lvl7pPr>
            <a:lvl8pPr>
              <a:defRPr sz="2250" b="1">
                <a:solidFill>
                  <a:srgbClr val="142633"/>
                </a:solidFill>
                <a:latin typeface="Arial"/>
                <a:ea typeface="Arial"/>
                <a:cs typeface="Arial"/>
              </a:defRPr>
            </a:lvl8pPr>
            <a:lvl9pPr>
              <a:defRPr sz="2250" b="1">
                <a:solidFill>
                  <a:srgbClr val="142633"/>
                </a:solidFill>
                <a:latin typeface="Arial"/>
                <a:ea typeface="Arial"/>
                <a:cs typeface="Arial"/>
              </a:defRPr>
            </a:lvl9pPr>
          </a:lstStyle>
          <a:p xmlns:a="http://schemas.openxmlformats.org/drawingml/2006/main">
            <a:pPr>
              <a:defRPr sz="2250" b="1">
                <a:solidFill>
                  <a:srgbClr val="142633"/>
                </a:solidFill>
                <a:latin typeface="Arial"/>
                <a:ea typeface="Arial"/>
                <a:cs typeface="Arial"/>
              </a:defRPr>
            </a:pPr>
            <a:r>
              <a:rPr sz="2250" b="1">
                <a:solidFill>
                  <a:srgbClr val="142633"/>
                </a:solidFill>
                <a:latin typeface="Arial"/>
                <a:ea typeface="Arial"/>
                <a:cs typeface="Arial"/>
              </a:rPr>
              <a:t>431 of 570 failures</a:t>
            </a:r>
          </a:p>
        </p:txBody>
      </p:sp>
      <p:sp>
        <p:nvSpPr>
          <p:cNvPr id="7" name="">
            <a:extLst xmlns:a="http://schemas.openxmlformats.org/drawingml/2006/main">
              <a:ext uri="{FF2B5EF4-FFF2-40B4-BE49-F238E27FC236}">
                <a16:creationId xmlns:a16="http://schemas.microsoft.com/office/drawing/2014/main" id="{0E97BC63-60ED-4933-9020-8FDA5B3B481D}"/>
              </a:ext>
            </a:extLst>
          </p:cNvPr>
          <p:cNvSpPr>
            <a:spLocks xmlns:a="http://schemas.openxmlformats.org/drawingml/2006/main" noGrp="1"/>
          </p:cNvSpPr>
          <p:nvPr/>
        </p:nvSpPr>
        <p:spPr>
          <a:xfrm xmlns:a="http://schemas.openxmlformats.org/drawingml/2006/main">
            <a:off x="7905750" y="4238625"/>
            <a:ext cx="3524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42633"/>
                </a:solidFill>
                <a:latin typeface="Arial"/>
                <a:ea typeface="Arial"/>
                <a:cs typeface="Arial"/>
              </a:defRPr>
            </a:defPPr>
            <a:lvl1pPr>
              <a:defRPr sz="1875" b="0">
                <a:solidFill>
                  <a:srgbClr val="142633"/>
                </a:solidFill>
                <a:latin typeface="Arial"/>
                <a:ea typeface="Arial"/>
                <a:cs typeface="Arial"/>
              </a:defRPr>
            </a:lvl1pPr>
            <a:lvl2pPr>
              <a:defRPr sz="1875" b="0">
                <a:solidFill>
                  <a:srgbClr val="142633"/>
                </a:solidFill>
                <a:latin typeface="Arial"/>
                <a:ea typeface="Arial"/>
                <a:cs typeface="Arial"/>
              </a:defRPr>
            </a:lvl2pPr>
            <a:lvl3pPr>
              <a:defRPr sz="1875" b="0">
                <a:solidFill>
                  <a:srgbClr val="142633"/>
                </a:solidFill>
                <a:latin typeface="Arial"/>
                <a:ea typeface="Arial"/>
                <a:cs typeface="Arial"/>
              </a:defRPr>
            </a:lvl3pPr>
            <a:lvl4pPr>
              <a:defRPr sz="1875" b="0">
                <a:solidFill>
                  <a:srgbClr val="142633"/>
                </a:solidFill>
                <a:latin typeface="Arial"/>
                <a:ea typeface="Arial"/>
                <a:cs typeface="Arial"/>
              </a:defRPr>
            </a:lvl4pPr>
            <a:lvl5pPr>
              <a:defRPr sz="1875" b="0">
                <a:solidFill>
                  <a:srgbClr val="142633"/>
                </a:solidFill>
                <a:latin typeface="Arial"/>
                <a:ea typeface="Arial"/>
                <a:cs typeface="Arial"/>
              </a:defRPr>
            </a:lvl5pPr>
            <a:lvl6pPr>
              <a:defRPr sz="1875" b="0">
                <a:solidFill>
                  <a:srgbClr val="142633"/>
                </a:solidFill>
                <a:latin typeface="Arial"/>
                <a:ea typeface="Arial"/>
                <a:cs typeface="Arial"/>
              </a:defRPr>
            </a:lvl6pPr>
            <a:lvl7pPr>
              <a:defRPr sz="1875" b="0">
                <a:solidFill>
                  <a:srgbClr val="142633"/>
                </a:solidFill>
                <a:latin typeface="Arial"/>
                <a:ea typeface="Arial"/>
                <a:cs typeface="Arial"/>
              </a:defRPr>
            </a:lvl7pPr>
            <a:lvl8pPr>
              <a:defRPr sz="1875" b="0">
                <a:solidFill>
                  <a:srgbClr val="142633"/>
                </a:solidFill>
                <a:latin typeface="Arial"/>
                <a:ea typeface="Arial"/>
                <a:cs typeface="Arial"/>
              </a:defRPr>
            </a:lvl8pPr>
            <a:lvl9pPr>
              <a:defRPr sz="1875" b="0">
                <a:solidFill>
                  <a:srgbClr val="142633"/>
                </a:solidFill>
                <a:latin typeface="Arial"/>
                <a:ea typeface="Arial"/>
                <a:cs typeface="Arial"/>
              </a:defRPr>
            </a:lvl9pPr>
          </a:lstStyle>
          <a:p xmlns:a="http://schemas.openxmlformats.org/drawingml/2006/main">
            <a:pPr>
              <a:defRPr sz="1875" b="0">
                <a:solidFill>
                  <a:srgbClr val="142633"/>
                </a:solidFill>
                <a:latin typeface="Arial"/>
                <a:ea typeface="Arial"/>
                <a:cs typeface="Arial"/>
              </a:defRPr>
            </a:pPr>
            <a:r>
              <a:rPr sz="1875" b="0">
                <a:solidFill>
                  <a:srgbClr val="142633"/>
                </a:solidFill>
                <a:latin typeface="Arial"/>
                <a:ea typeface="Arial"/>
                <a:cs typeface="Arial"/>
              </a:rPr>
              <a:t>have too few reliable samples in the selected bar or disc interval.</a:t>
            </a:r>
          </a:p>
        </p:txBody>
      </p:sp>
      <p:sp>
        <p:nvSpPr>
          <p:cNvPr id="8" name="">
            <a:extLst xmlns:a="http://schemas.openxmlformats.org/drawingml/2006/main">
              <a:ext uri="{FF2B5EF4-FFF2-40B4-BE49-F238E27FC236}">
                <a16:creationId xmlns:a16="http://schemas.microsoft.com/office/drawing/2014/main" id="{EE82962D-5699-4BFB-9C58-3B67BDE41041}"/>
              </a:ext>
            </a:extLst>
          </p:cNvPr>
          <p:cNvSpPr>
            <a:spLocks xmlns:a="http://schemas.openxmlformats.org/drawingml/2006/main" noGrp="1"/>
          </p:cNvSpPr>
          <p:nvPr/>
        </p:nvSpPr>
        <p:spPr>
          <a:xfrm xmlns:a="http://schemas.openxmlformats.org/drawingml/2006/main">
            <a:off x="609600" y="58293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26673"/>
                </a:solidFill>
                <a:latin typeface="Arial"/>
                <a:ea typeface="Arial"/>
                <a:cs typeface="Arial"/>
              </a:defRPr>
            </a:defPPr>
            <a:lvl1pPr>
              <a:defRPr sz="1800" b="0">
                <a:solidFill>
                  <a:srgbClr val="526673"/>
                </a:solidFill>
                <a:latin typeface="Arial"/>
                <a:ea typeface="Arial"/>
                <a:cs typeface="Arial"/>
              </a:defRPr>
            </a:lvl1pPr>
            <a:lvl2pPr>
              <a:defRPr sz="1800" b="0">
                <a:solidFill>
                  <a:srgbClr val="526673"/>
                </a:solidFill>
                <a:latin typeface="Arial"/>
                <a:ea typeface="Arial"/>
                <a:cs typeface="Arial"/>
              </a:defRPr>
            </a:lvl2pPr>
            <a:lvl3pPr>
              <a:defRPr sz="1800" b="0">
                <a:solidFill>
                  <a:srgbClr val="526673"/>
                </a:solidFill>
                <a:latin typeface="Arial"/>
                <a:ea typeface="Arial"/>
                <a:cs typeface="Arial"/>
              </a:defRPr>
            </a:lvl3pPr>
            <a:lvl4pPr>
              <a:defRPr sz="1800" b="0">
                <a:solidFill>
                  <a:srgbClr val="526673"/>
                </a:solidFill>
                <a:latin typeface="Arial"/>
                <a:ea typeface="Arial"/>
                <a:cs typeface="Arial"/>
              </a:defRPr>
            </a:lvl4pPr>
            <a:lvl5pPr>
              <a:defRPr sz="1800" b="0">
                <a:solidFill>
                  <a:srgbClr val="526673"/>
                </a:solidFill>
                <a:latin typeface="Arial"/>
                <a:ea typeface="Arial"/>
                <a:cs typeface="Arial"/>
              </a:defRPr>
            </a:lvl5pPr>
            <a:lvl6pPr>
              <a:defRPr sz="1800" b="0">
                <a:solidFill>
                  <a:srgbClr val="526673"/>
                </a:solidFill>
                <a:latin typeface="Arial"/>
                <a:ea typeface="Arial"/>
                <a:cs typeface="Arial"/>
              </a:defRPr>
            </a:lvl6pPr>
            <a:lvl7pPr>
              <a:defRPr sz="1800" b="0">
                <a:solidFill>
                  <a:srgbClr val="526673"/>
                </a:solidFill>
                <a:latin typeface="Arial"/>
                <a:ea typeface="Arial"/>
                <a:cs typeface="Arial"/>
              </a:defRPr>
            </a:lvl7pPr>
            <a:lvl8pPr>
              <a:defRPr sz="1800" b="0">
                <a:solidFill>
                  <a:srgbClr val="526673"/>
                </a:solidFill>
                <a:latin typeface="Arial"/>
                <a:ea typeface="Arial"/>
                <a:cs typeface="Arial"/>
              </a:defRPr>
            </a:lvl8pPr>
            <a:lvl9pPr>
              <a:defRPr sz="1800" b="0">
                <a:solidFill>
                  <a:srgbClr val="526673"/>
                </a:solidFill>
                <a:latin typeface="Arial"/>
                <a:ea typeface="Arial"/>
                <a:cs typeface="Arial"/>
              </a:defRPr>
            </a:lvl9pPr>
          </a:lstStyle>
          <a:p xmlns:a="http://schemas.openxmlformats.org/drawingml/2006/main">
            <a:pPr>
              <a:defRPr sz="1800" b="0">
                <a:solidFill>
                  <a:srgbClr val="526673"/>
                </a:solidFill>
                <a:latin typeface="Arial"/>
                <a:ea typeface="Arial"/>
                <a:cs typeface="Arial"/>
              </a:defRPr>
            </a:pPr>
            <a:r>
              <a:rPr sz="1800" b="0">
                <a:solidFill>
                  <a:srgbClr val="526673"/>
                </a:solidFill>
                <a:latin typeface="Arial"/>
                <a:ea typeface="Arial"/>
                <a:cs typeface="Arial"/>
              </a:rPr>
              <a:t>62 requested cutouts have partial coverage, which also triggers the QI label.</a:t>
            </a:r>
          </a:p>
        </p:txBody>
      </p:sp>
    </p:spTree>
    <p:extLst>
      <p:ext uri="{BB962C8B-B14F-4D97-AF65-F5344CB8AC3E}">
        <p14:creationId xmlns:p14="http://schemas.microsoft.com/office/powerpoint/2010/main" val="26327524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04B7FF8-CDF1-44D7-A5E7-7322FA5F54A5}"/>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Comparison with Euclid geometry</a:t>
            </a:r>
          </a:p>
        </p:txBody>
      </p:sp>
      <p:sp>
        <p:nvSpPr>
          <p:cNvPr id="2" name="">
            <a:extLst xmlns:a="http://schemas.openxmlformats.org/drawingml/2006/main">
              <a:ext uri="{FF2B5EF4-FFF2-40B4-BE49-F238E27FC236}">
                <a16:creationId xmlns:a16="http://schemas.microsoft.com/office/drawing/2014/main" id="{A6F0BEDF-FF53-4FD3-94C0-F24155420065}"/>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4 / 6</a:t>
            </a:r>
          </a:p>
        </p:txBody>
      </p:sp>
      <p:sp>
        <p:nvSpPr>
          <p:cNvPr id="3" name="">
            <a:extLst xmlns:a="http://schemas.openxmlformats.org/drawingml/2006/main">
              <a:ext uri="{FF2B5EF4-FFF2-40B4-BE49-F238E27FC236}">
                <a16:creationId xmlns:a16="http://schemas.microsoft.com/office/drawing/2014/main" id="{EFB6BFA9-019C-4D10-9368-7BFAD6AE643D}"/>
              </a:ext>
            </a:extLst>
          </p:cNvPr>
          <p:cNvSpPr>
            <a:spLocks xmlns:a="http://schemas.openxmlformats.org/drawingml/2006/main" noGrp="1"/>
          </p:cNvSpPr>
          <p:nvPr/>
        </p:nvSpPr>
        <p:spPr>
          <a:xfrm xmlns:a="http://schemas.openxmlformats.org/drawingml/2006/main">
            <a:off x="609600" y="139065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05F7A"/>
                </a:solidFill>
                <a:latin typeface="Arial"/>
                <a:ea typeface="Arial"/>
                <a:cs typeface="Arial"/>
              </a:defRPr>
            </a:defPPr>
            <a:lvl1pPr>
              <a:defRPr sz="2025" b="1">
                <a:solidFill>
                  <a:srgbClr val="205F7A"/>
                </a:solidFill>
                <a:latin typeface="Arial"/>
                <a:ea typeface="Arial"/>
                <a:cs typeface="Arial"/>
              </a:defRPr>
            </a:lvl1pPr>
            <a:lvl2pPr>
              <a:defRPr sz="2025" b="1">
                <a:solidFill>
                  <a:srgbClr val="205F7A"/>
                </a:solidFill>
                <a:latin typeface="Arial"/>
                <a:ea typeface="Arial"/>
                <a:cs typeface="Arial"/>
              </a:defRPr>
            </a:lvl2pPr>
            <a:lvl3pPr>
              <a:defRPr sz="2025" b="1">
                <a:solidFill>
                  <a:srgbClr val="205F7A"/>
                </a:solidFill>
                <a:latin typeface="Arial"/>
                <a:ea typeface="Arial"/>
                <a:cs typeface="Arial"/>
              </a:defRPr>
            </a:lvl3pPr>
            <a:lvl4pPr>
              <a:defRPr sz="2025" b="1">
                <a:solidFill>
                  <a:srgbClr val="205F7A"/>
                </a:solidFill>
                <a:latin typeface="Arial"/>
                <a:ea typeface="Arial"/>
                <a:cs typeface="Arial"/>
              </a:defRPr>
            </a:lvl4pPr>
            <a:lvl5pPr>
              <a:defRPr sz="2025" b="1">
                <a:solidFill>
                  <a:srgbClr val="205F7A"/>
                </a:solidFill>
                <a:latin typeface="Arial"/>
                <a:ea typeface="Arial"/>
                <a:cs typeface="Arial"/>
              </a:defRPr>
            </a:lvl5pPr>
            <a:lvl6pPr>
              <a:defRPr sz="2025" b="1">
                <a:solidFill>
                  <a:srgbClr val="205F7A"/>
                </a:solidFill>
                <a:latin typeface="Arial"/>
                <a:ea typeface="Arial"/>
                <a:cs typeface="Arial"/>
              </a:defRPr>
            </a:lvl6pPr>
            <a:lvl7pPr>
              <a:defRPr sz="2025" b="1">
                <a:solidFill>
                  <a:srgbClr val="205F7A"/>
                </a:solidFill>
                <a:latin typeface="Arial"/>
                <a:ea typeface="Arial"/>
                <a:cs typeface="Arial"/>
              </a:defRPr>
            </a:lvl7pPr>
            <a:lvl8pPr>
              <a:defRPr sz="2025" b="1">
                <a:solidFill>
                  <a:srgbClr val="205F7A"/>
                </a:solidFill>
                <a:latin typeface="Arial"/>
                <a:ea typeface="Arial"/>
                <a:cs typeface="Arial"/>
              </a:defRPr>
            </a:lvl8pPr>
            <a:lvl9pPr>
              <a:defRPr sz="2025" b="1">
                <a:solidFill>
                  <a:srgbClr val="205F7A"/>
                </a:solidFill>
                <a:latin typeface="Arial"/>
                <a:ea typeface="Arial"/>
                <a:cs typeface="Arial"/>
              </a:defRPr>
            </a:lvl9pPr>
          </a:lstStyle>
          <a:p xmlns:a="http://schemas.openxmlformats.org/drawingml/2006/main">
            <a:pPr>
              <a:defRPr sz="2025" b="1">
                <a:solidFill>
                  <a:srgbClr val="205F7A"/>
                </a:solidFill>
                <a:latin typeface="Arial"/>
                <a:ea typeface="Arial"/>
                <a:cs typeface="Arial"/>
              </a:defRPr>
            </a:pPr>
            <a:r>
              <a:rPr sz="2025" b="1">
                <a:solidFill>
                  <a:srgbClr val="205F7A"/>
                </a:solidFill>
                <a:latin typeface="Arial"/>
                <a:ea typeface="Arial"/>
                <a:cs typeface="Arial"/>
              </a:rPr>
              <a:t>Adopted rule: adjusted Euclid sky PA = (converted PA + 90°) mod 180°</a:t>
            </a:r>
          </a:p>
        </p:txBody>
      </p:sp>
      <p:graphicFrame>
        <p:nvGraphicFramePr>
          <p:cNvPr id="4" name="">
            <a:extLst xmlns:a="http://schemas.openxmlformats.org/drawingml/2006/main">
              <a:ext uri="{FF2B5EF4-FFF2-40B4-BE49-F238E27FC236}">
                <a16:creationId xmlns:a16="http://schemas.microsoft.com/office/drawing/2014/main" id="{307371C9-F439-4822-BA73-AC5EE06931E5}"/>
              </a:ext>
            </a:extLst>
          </p:cNvPr>
          <p:cNvGraphicFramePr/>
          <p:nvPr/>
        </p:nvGraphicFramePr>
        <p:xfrm>
          <a:off xmlns:a="http://schemas.openxmlformats.org/drawingml/2006/main" x="609600" y="2381250"/>
          <a:ext xmlns:a="http://schemas.openxmlformats.org/drawingml/2006/main" cx="10972800" cy="2381250"/>
        </p:xfrm>
        <a:graphic xmlns:a="http://schemas.openxmlformats.org/drawingml/2006/main">
          <a:graphicData uri="http://schemas.openxmlformats.org/drawingml/2006/table">
            <a:tbl>
              <a:tblPr/>
              <a:tblGrid>
                <a:gridCol w="5905500"/>
                <a:gridCol w="2533650"/>
                <a:gridCol w="2533650"/>
              </a:tblGrid>
              <a:tr h="595313">
                <a:tc>
                  <a:txBody>
                    <a:bodyPr/>
                    <a:lstStyle/>
                    <a:p>
                      <a:r>
                        <a:rPr sz="1875" b="1">
                          <a:solidFill>
                            <a:srgbClr val="142633"/>
                          </a:solidFill>
                          <a:latin typeface="Arial"/>
                          <a:ea typeface="Arial"/>
                          <a:cs typeface="Arial"/>
                        </a:rPr>
                        <a:t>Median absolute difference</a:t>
                      </a:r>
                    </a:p>
                  </a:txBody>
                  <a:tcPr marL="91440" marR="91440" marT="45720" marB="45720">
                    <a:lnL w="6668">
                      <a:solidFill>
                        <a:srgbClr val="D6E0E5"/>
                      </a:solidFill>
                      <a:prstDash val="solid"/>
                    </a:lnL>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c>
                  <a:txBody>
                    <a:bodyPr/>
                    <a:lstStyle/>
                    <a:p>
                      <a:r>
                        <a:rPr sz="1875" b="1">
                          <a:solidFill>
                            <a:srgbClr val="142633"/>
                          </a:solidFill>
                          <a:latin typeface="Arial"/>
                          <a:ea typeface="Arial"/>
                          <a:cs typeface="Arial"/>
                        </a:rPr>
                        <a:t>All 2,207 fits</a:t>
                      </a:r>
                    </a:p>
                  </a:txBody>
                  <a:tcPr marL="91440" marR="91440" marT="45720" marB="45720">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c>
                  <a:txBody>
                    <a:bodyPr/>
                    <a:lstStyle/>
                    <a:p>
                      <a:r>
                        <a:rPr sz="1875" b="1">
                          <a:solidFill>
                            <a:srgbClr val="142633"/>
                          </a:solidFill>
                          <a:latin typeface="Arial"/>
                          <a:ea typeface="Arial"/>
                          <a:cs typeface="Arial"/>
                        </a:rPr>
                        <a:t>546 unflagged</a:t>
                      </a:r>
                    </a:p>
                  </a:txBody>
                  <a:tcPr marL="91440" marR="91440" marT="45720" marB="45720">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r>
              <a:tr h="595313">
                <a:tc>
                  <a:txBody>
                    <a:bodyPr/>
                    <a:lstStyle/>
                    <a:p>
                      <a:r>
                        <a:rPr sz="1875" b="0">
                          <a:solidFill>
                            <a:srgbClr val="142633"/>
                          </a:solidFill>
                          <a:latin typeface="Arial"/>
                          <a:ea typeface="Arial"/>
                          <a:cs typeface="Arial"/>
                        </a:rPr>
                        <a:t>Adjusted detection PA</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7.07°</a:t>
                      </a:r>
                    </a:p>
                  </a:txBody>
                  <a:tcPr marL="91440" marR="91440" marT="45720" marB="45720">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3.72°</a:t>
                      </a:r>
                    </a:p>
                  </a:txBody>
                  <a:tcPr marL="91440" marR="91440" marT="45720" marB="45720">
                    <a:lnR w="6668">
                      <a:solidFill>
                        <a:srgbClr val="D6E0E5"/>
                      </a:solidFill>
                      <a:prstDash val="solid"/>
                    </a:lnR>
                    <a:lnB w="6668">
                      <a:solidFill>
                        <a:srgbClr val="D6E0E5"/>
                      </a:solidFill>
                      <a:prstDash val="solid"/>
                    </a:lnB>
                    <a:solidFill>
                      <a:srgbClr val="FFFFFF"/>
                    </a:solidFill>
                  </a:tcPr>
                </a:tc>
              </a:tr>
              <a:tr h="595313">
                <a:tc>
                  <a:txBody>
                    <a:bodyPr/>
                    <a:lstStyle/>
                    <a:p>
                      <a:r>
                        <a:rPr sz="1875" b="0">
                          <a:solidFill>
                            <a:srgbClr val="142633"/>
                          </a:solidFill>
                          <a:latin typeface="Arial"/>
                          <a:ea typeface="Arial"/>
                          <a:cs typeface="Arial"/>
                        </a:rPr>
                        <a:t>Detection inclination proxy</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4.28°</a:t>
                      </a:r>
                    </a:p>
                  </a:txBody>
                  <a:tcPr marL="91440" marR="91440" marT="45720" marB="45720">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2.71°</a:t>
                      </a:r>
                    </a:p>
                  </a:txBody>
                  <a:tcPr marL="91440" marR="91440" marT="45720" marB="45720">
                    <a:lnR w="6668">
                      <a:solidFill>
                        <a:srgbClr val="D6E0E5"/>
                      </a:solidFill>
                      <a:prstDash val="solid"/>
                    </a:lnR>
                    <a:lnB w="6668">
                      <a:solidFill>
                        <a:srgbClr val="D6E0E5"/>
                      </a:solidFill>
                      <a:prstDash val="solid"/>
                    </a:lnB>
                    <a:solidFill>
                      <a:srgbClr val="FFFFFF"/>
                    </a:solidFill>
                  </a:tcPr>
                </a:tc>
              </a:tr>
              <a:tr h="595313">
                <a:tc>
                  <a:txBody>
                    <a:bodyPr/>
                    <a:lstStyle/>
                    <a:p>
                      <a:r>
                        <a:rPr sz="1875" b="0">
                          <a:solidFill>
                            <a:srgbClr val="142633"/>
                          </a:solidFill>
                          <a:latin typeface="Arial"/>
                          <a:ea typeface="Arial"/>
                          <a:cs typeface="Arial"/>
                        </a:rPr>
                        <a:t>Sérsic inclination proxy</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8.41°</a:t>
                      </a:r>
                    </a:p>
                  </a:txBody>
                  <a:tcPr marL="91440" marR="91440" marT="45720" marB="45720">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6.76°</a:t>
                      </a:r>
                    </a:p>
                  </a:txBody>
                  <a:tcPr marL="91440" marR="91440" marT="45720" marB="45720">
                    <a:lnR w="6668">
                      <a:solidFill>
                        <a:srgbClr val="D6E0E5"/>
                      </a:solidFill>
                      <a:prstDash val="solid"/>
                    </a:lnR>
                    <a:lnB w="6668">
                      <a:solidFill>
                        <a:srgbClr val="D6E0E5"/>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0378A223-790B-4E9C-B09A-BD6E0A18F388}"/>
              </a:ext>
            </a:extLst>
          </p:cNvPr>
          <p:cNvSpPr>
            <a:spLocks xmlns:a="http://schemas.openxmlformats.org/drawingml/2006/main" noGrp="1"/>
          </p:cNvSpPr>
          <p:nvPr/>
        </p:nvSpPr>
        <p:spPr>
          <a:xfrm xmlns:a="http://schemas.openxmlformats.org/drawingml/2006/main">
            <a:off x="609600" y="5095875"/>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633"/>
                </a:solidFill>
                <a:latin typeface="Arial"/>
                <a:ea typeface="Arial"/>
                <a:cs typeface="Arial"/>
              </a:defRPr>
            </a:defPPr>
            <a:lvl1pPr>
              <a:defRPr sz="2100" b="0">
                <a:solidFill>
                  <a:srgbClr val="142633"/>
                </a:solidFill>
                <a:latin typeface="Arial"/>
                <a:ea typeface="Arial"/>
                <a:cs typeface="Arial"/>
              </a:defRPr>
            </a:lvl1pPr>
            <a:lvl2pPr>
              <a:defRPr sz="2100" b="0">
                <a:solidFill>
                  <a:srgbClr val="142633"/>
                </a:solidFill>
                <a:latin typeface="Arial"/>
                <a:ea typeface="Arial"/>
                <a:cs typeface="Arial"/>
              </a:defRPr>
            </a:lvl2pPr>
            <a:lvl3pPr>
              <a:defRPr sz="2100" b="0">
                <a:solidFill>
                  <a:srgbClr val="142633"/>
                </a:solidFill>
                <a:latin typeface="Arial"/>
                <a:ea typeface="Arial"/>
                <a:cs typeface="Arial"/>
              </a:defRPr>
            </a:lvl3pPr>
            <a:lvl4pPr>
              <a:defRPr sz="2100" b="0">
                <a:solidFill>
                  <a:srgbClr val="142633"/>
                </a:solidFill>
                <a:latin typeface="Arial"/>
                <a:ea typeface="Arial"/>
                <a:cs typeface="Arial"/>
              </a:defRPr>
            </a:lvl4pPr>
            <a:lvl5pPr>
              <a:defRPr sz="2100" b="0">
                <a:solidFill>
                  <a:srgbClr val="142633"/>
                </a:solidFill>
                <a:latin typeface="Arial"/>
                <a:ea typeface="Arial"/>
                <a:cs typeface="Arial"/>
              </a:defRPr>
            </a:lvl5pPr>
            <a:lvl6pPr>
              <a:defRPr sz="2100" b="0">
                <a:solidFill>
                  <a:srgbClr val="142633"/>
                </a:solidFill>
                <a:latin typeface="Arial"/>
                <a:ea typeface="Arial"/>
                <a:cs typeface="Arial"/>
              </a:defRPr>
            </a:lvl6pPr>
            <a:lvl7pPr>
              <a:defRPr sz="2100" b="0">
                <a:solidFill>
                  <a:srgbClr val="142633"/>
                </a:solidFill>
                <a:latin typeface="Arial"/>
                <a:ea typeface="Arial"/>
                <a:cs typeface="Arial"/>
              </a:defRPr>
            </a:lvl7pPr>
            <a:lvl8pPr>
              <a:defRPr sz="2100" b="0">
                <a:solidFill>
                  <a:srgbClr val="142633"/>
                </a:solidFill>
                <a:latin typeface="Arial"/>
                <a:ea typeface="Arial"/>
                <a:cs typeface="Arial"/>
              </a:defRPr>
            </a:lvl8pPr>
            <a:lvl9pPr>
              <a:defRPr sz="2100" b="0">
                <a:solidFill>
                  <a:srgbClr val="142633"/>
                </a:solidFill>
                <a:latin typeface="Arial"/>
                <a:ea typeface="Arial"/>
                <a:cs typeface="Arial"/>
              </a:defRPr>
            </a:lvl9pPr>
          </a:lstStyle>
          <a:p xmlns:a="http://schemas.openxmlformats.org/drawingml/2006/main">
            <a:pPr>
              <a:defRPr sz="2100" b="0">
                <a:solidFill>
                  <a:srgbClr val="142633"/>
                </a:solidFill>
                <a:latin typeface="Arial"/>
                <a:ea typeface="Arial"/>
                <a:cs typeface="Arial"/>
              </a:defRPr>
            </a:pPr>
            <a:r>
              <a:rPr sz="2100" b="0">
                <a:solidFill>
                  <a:srgbClr val="142633"/>
                </a:solidFill>
                <a:latin typeface="Arial"/>
                <a:ea typeface="Arial"/>
                <a:cs typeface="Arial"/>
              </a:rPr>
              <a:t>79.3% of unflagged fits agree with adjusted Euclid PA within 10°.</a:t>
            </a:r>
          </a:p>
        </p:txBody>
      </p:sp>
      <p:sp>
        <p:nvSpPr>
          <p:cNvPr id="6" name="">
            <a:extLst xmlns:a="http://schemas.openxmlformats.org/drawingml/2006/main">
              <a:ext uri="{FF2B5EF4-FFF2-40B4-BE49-F238E27FC236}">
                <a16:creationId xmlns:a16="http://schemas.microsoft.com/office/drawing/2014/main" id="{DBDF5695-58DD-4F24-8C48-1F3A9624CF2F}"/>
              </a:ext>
            </a:extLst>
          </p:cNvPr>
          <p:cNvSpPr>
            <a:spLocks xmlns:a="http://schemas.openxmlformats.org/drawingml/2006/main" noGrp="1"/>
          </p:cNvSpPr>
          <p:nvPr/>
        </p:nvSpPr>
        <p:spPr>
          <a:xfrm xmlns:a="http://schemas.openxmlformats.org/drawingml/2006/main">
            <a:off x="609600" y="5772150"/>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673"/>
                </a:solidFill>
                <a:latin typeface="Arial"/>
                <a:ea typeface="Arial"/>
                <a:cs typeface="Arial"/>
              </a:defRPr>
            </a:defPPr>
            <a:lvl1pPr>
              <a:defRPr sz="1650" b="0">
                <a:solidFill>
                  <a:srgbClr val="526673"/>
                </a:solidFill>
                <a:latin typeface="Arial"/>
                <a:ea typeface="Arial"/>
                <a:cs typeface="Arial"/>
              </a:defRPr>
            </a:lvl1pPr>
            <a:lvl2pPr>
              <a:defRPr sz="1650" b="0">
                <a:solidFill>
                  <a:srgbClr val="526673"/>
                </a:solidFill>
                <a:latin typeface="Arial"/>
                <a:ea typeface="Arial"/>
                <a:cs typeface="Arial"/>
              </a:defRPr>
            </a:lvl2pPr>
            <a:lvl3pPr>
              <a:defRPr sz="1650" b="0">
                <a:solidFill>
                  <a:srgbClr val="526673"/>
                </a:solidFill>
                <a:latin typeface="Arial"/>
                <a:ea typeface="Arial"/>
                <a:cs typeface="Arial"/>
              </a:defRPr>
            </a:lvl3pPr>
            <a:lvl4pPr>
              <a:defRPr sz="1650" b="0">
                <a:solidFill>
                  <a:srgbClr val="526673"/>
                </a:solidFill>
                <a:latin typeface="Arial"/>
                <a:ea typeface="Arial"/>
                <a:cs typeface="Arial"/>
              </a:defRPr>
            </a:lvl4pPr>
            <a:lvl5pPr>
              <a:defRPr sz="1650" b="0">
                <a:solidFill>
                  <a:srgbClr val="526673"/>
                </a:solidFill>
                <a:latin typeface="Arial"/>
                <a:ea typeface="Arial"/>
                <a:cs typeface="Arial"/>
              </a:defRPr>
            </a:lvl5pPr>
            <a:lvl6pPr>
              <a:defRPr sz="1650" b="0">
                <a:solidFill>
                  <a:srgbClr val="526673"/>
                </a:solidFill>
                <a:latin typeface="Arial"/>
                <a:ea typeface="Arial"/>
                <a:cs typeface="Arial"/>
              </a:defRPr>
            </a:lvl6pPr>
            <a:lvl7pPr>
              <a:defRPr sz="1650" b="0">
                <a:solidFill>
                  <a:srgbClr val="526673"/>
                </a:solidFill>
                <a:latin typeface="Arial"/>
                <a:ea typeface="Arial"/>
                <a:cs typeface="Arial"/>
              </a:defRPr>
            </a:lvl7pPr>
            <a:lvl8pPr>
              <a:defRPr sz="1650" b="0">
                <a:solidFill>
                  <a:srgbClr val="526673"/>
                </a:solidFill>
                <a:latin typeface="Arial"/>
                <a:ea typeface="Arial"/>
                <a:cs typeface="Arial"/>
              </a:defRPr>
            </a:lvl8pPr>
            <a:lvl9pPr>
              <a:defRPr sz="1650" b="0">
                <a:solidFill>
                  <a:srgbClr val="526673"/>
                </a:solidFill>
                <a:latin typeface="Arial"/>
                <a:ea typeface="Arial"/>
                <a:cs typeface="Arial"/>
              </a:defRPr>
            </a:lvl9pPr>
          </a:lstStyle>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Codex PA: North towards East. N = 0°, NE = 45°, E = 90° (mod 180°).</a:t>
            </a:r>
          </a:p>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Counterclockwise on a North-up, East-left image. Pixel angles first pass through WCS.</a:t>
            </a:r>
          </a:p>
        </p:txBody>
      </p:sp>
    </p:spTree>
    <p:extLst>
      <p:ext uri="{BB962C8B-B14F-4D97-AF65-F5344CB8AC3E}">
        <p14:creationId xmlns:p14="http://schemas.microsoft.com/office/powerpoint/2010/main" val="148306269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CC90ED0-9881-44DD-A456-B52BEA702E77}"/>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Why image review remains necessary</a:t>
            </a:r>
          </a:p>
        </p:txBody>
      </p:sp>
      <p:sp>
        <p:nvSpPr>
          <p:cNvPr id="2" name="">
            <a:extLst xmlns:a="http://schemas.openxmlformats.org/drawingml/2006/main">
              <a:ext uri="{FF2B5EF4-FFF2-40B4-BE49-F238E27FC236}">
                <a16:creationId xmlns:a16="http://schemas.microsoft.com/office/drawing/2014/main" id="{15C3B05E-F0E2-4249-B5FA-67CCF52C6539}"/>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5 / 6</a:t>
            </a:r>
          </a:p>
        </p:txBody>
      </p:sp>
      <p:pic>
        <p:nvPicPr>
          <p:cNvPr id="3" name="">
            <a:extLst xmlns:a="http://schemas.openxmlformats.org/drawingml/2006/main">
              <a:ext uri="{FF2B5EF4-FFF2-40B4-BE49-F238E27FC236}">
                <a16:creationId xmlns:a16="http://schemas.microsoft.com/office/drawing/2014/main" id="{7358FCCE-3E4F-42A7-AF02-48BCB6CF90A7}"/>
              </a:ext>
            </a:extLst>
          </p:cNvPr>
          <p:cNvPicPr>
            <a:picLocks xmlns:a="http://schemas.openxmlformats.org/drawingml/2006/main" noChangeAspect="1"/>
          </p:cNvPicPr>
          <p:nvPr/>
        </p:nvPicPr>
        <p:blipFill>
          <a:blip xmlns:r="http://schemas.openxmlformats.org/officeDocument/2006/relationships" xmlns:a="http://schemas.openxmlformats.org/drawingml/2006/main" r:embed="R73af387597574320"/>
          <a:stretch xmlns:a="http://schemas.openxmlformats.org/drawingml/2006/main"/>
        </p:blipFill>
        <p:spPr>
          <a:xfrm xmlns:a="http://schemas.openxmlformats.org/drawingml/2006/main">
            <a:off x="476250" y="1619250"/>
            <a:ext cx="7286625" cy="43719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40C1F0F-B142-4BF0-9C88-6231F5EC5882}"/>
              </a:ext>
            </a:extLst>
          </p:cNvPr>
          <p:cNvSpPr>
            <a:spLocks xmlns:a="http://schemas.openxmlformats.org/drawingml/2006/main" noGrp="1"/>
          </p:cNvSpPr>
          <p:nvPr/>
        </p:nvSpPr>
        <p:spPr>
          <a:xfrm xmlns:a="http://schemas.openxmlformats.org/drawingml/2006/main">
            <a:off x="8096250" y="1638300"/>
            <a:ext cx="342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205F7A"/>
                </a:solidFill>
                <a:latin typeface="Arial"/>
                <a:ea typeface="Arial"/>
                <a:cs typeface="Arial"/>
              </a:defRPr>
            </a:defPPr>
            <a:lvl1pPr>
              <a:defRPr sz="2175" b="1">
                <a:solidFill>
                  <a:srgbClr val="205F7A"/>
                </a:solidFill>
                <a:latin typeface="Arial"/>
                <a:ea typeface="Arial"/>
                <a:cs typeface="Arial"/>
              </a:defRPr>
            </a:lvl1pPr>
            <a:lvl2pPr>
              <a:defRPr sz="2175" b="1">
                <a:solidFill>
                  <a:srgbClr val="205F7A"/>
                </a:solidFill>
                <a:latin typeface="Arial"/>
                <a:ea typeface="Arial"/>
                <a:cs typeface="Arial"/>
              </a:defRPr>
            </a:lvl2pPr>
            <a:lvl3pPr>
              <a:defRPr sz="2175" b="1">
                <a:solidFill>
                  <a:srgbClr val="205F7A"/>
                </a:solidFill>
                <a:latin typeface="Arial"/>
                <a:ea typeface="Arial"/>
                <a:cs typeface="Arial"/>
              </a:defRPr>
            </a:lvl3pPr>
            <a:lvl4pPr>
              <a:defRPr sz="2175" b="1">
                <a:solidFill>
                  <a:srgbClr val="205F7A"/>
                </a:solidFill>
                <a:latin typeface="Arial"/>
                <a:ea typeface="Arial"/>
                <a:cs typeface="Arial"/>
              </a:defRPr>
            </a:lvl4pPr>
            <a:lvl5pPr>
              <a:defRPr sz="2175" b="1">
                <a:solidFill>
                  <a:srgbClr val="205F7A"/>
                </a:solidFill>
                <a:latin typeface="Arial"/>
                <a:ea typeface="Arial"/>
                <a:cs typeface="Arial"/>
              </a:defRPr>
            </a:lvl5pPr>
            <a:lvl6pPr>
              <a:defRPr sz="2175" b="1">
                <a:solidFill>
                  <a:srgbClr val="205F7A"/>
                </a:solidFill>
                <a:latin typeface="Arial"/>
                <a:ea typeface="Arial"/>
                <a:cs typeface="Arial"/>
              </a:defRPr>
            </a:lvl6pPr>
            <a:lvl7pPr>
              <a:defRPr sz="2175" b="1">
                <a:solidFill>
                  <a:srgbClr val="205F7A"/>
                </a:solidFill>
                <a:latin typeface="Arial"/>
                <a:ea typeface="Arial"/>
                <a:cs typeface="Arial"/>
              </a:defRPr>
            </a:lvl7pPr>
            <a:lvl8pPr>
              <a:defRPr sz="2175" b="1">
                <a:solidFill>
                  <a:srgbClr val="205F7A"/>
                </a:solidFill>
                <a:latin typeface="Arial"/>
                <a:ea typeface="Arial"/>
                <a:cs typeface="Arial"/>
              </a:defRPr>
            </a:lvl8pPr>
            <a:lvl9pPr>
              <a:defRPr sz="2175" b="1">
                <a:solidFill>
                  <a:srgbClr val="205F7A"/>
                </a:solidFill>
                <a:latin typeface="Arial"/>
                <a:ea typeface="Arial"/>
                <a:cs typeface="Arial"/>
              </a:defRPr>
            </a:lvl9pPr>
          </a:lstStyle>
          <a:p xmlns:a="http://schemas.openxmlformats.org/drawingml/2006/main">
            <a:pPr>
              <a:defRPr sz="2175" b="1">
                <a:solidFill>
                  <a:srgbClr val="205F7A"/>
                </a:solidFill>
                <a:latin typeface="Arial"/>
                <a:ea typeface="Arial"/>
                <a:cs typeface="Arial"/>
              </a:defRPr>
            </a:pPr>
            <a:r>
              <a:rPr sz="2175" b="1">
                <a:solidFill>
                  <a:srgbClr val="205F7A"/>
                </a:solidFill>
                <a:latin typeface="Arial"/>
                <a:ea typeface="Arial"/>
                <a:cs typeface="Arial"/>
              </a:rPr>
              <a:t>Example QI galaxy</a:t>
            </a:r>
          </a:p>
        </p:txBody>
      </p:sp>
      <p:sp>
        <p:nvSpPr>
          <p:cNvPr id="5" name="">
            <a:extLst xmlns:a="http://schemas.openxmlformats.org/drawingml/2006/main">
              <a:ext uri="{FF2B5EF4-FFF2-40B4-BE49-F238E27FC236}">
                <a16:creationId xmlns:a16="http://schemas.microsoft.com/office/drawing/2014/main" id="{4018EA1A-8FC0-45C9-9D50-24DA0CD09C5F}"/>
              </a:ext>
            </a:extLst>
          </p:cNvPr>
          <p:cNvSpPr>
            <a:spLocks xmlns:a="http://schemas.openxmlformats.org/drawingml/2006/main" noGrp="1"/>
          </p:cNvSpPr>
          <p:nvPr/>
        </p:nvSpPr>
        <p:spPr>
          <a:xfrm xmlns:a="http://schemas.openxmlformats.org/drawingml/2006/main">
            <a:off x="8096250" y="2181225"/>
            <a:ext cx="342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633"/>
                </a:solidFill>
                <a:latin typeface="Arial"/>
                <a:ea typeface="Arial"/>
                <a:cs typeface="Arial"/>
              </a:defRPr>
            </a:defPPr>
            <a:lvl1pPr>
              <a:defRPr sz="1800" b="0">
                <a:solidFill>
                  <a:srgbClr val="142633"/>
                </a:solidFill>
                <a:latin typeface="Arial"/>
                <a:ea typeface="Arial"/>
                <a:cs typeface="Arial"/>
              </a:defRPr>
            </a:lvl1pPr>
            <a:lvl2pPr>
              <a:defRPr sz="1800" b="0">
                <a:solidFill>
                  <a:srgbClr val="142633"/>
                </a:solidFill>
                <a:latin typeface="Arial"/>
                <a:ea typeface="Arial"/>
                <a:cs typeface="Arial"/>
              </a:defRPr>
            </a:lvl2pPr>
            <a:lvl3pPr>
              <a:defRPr sz="1800" b="0">
                <a:solidFill>
                  <a:srgbClr val="142633"/>
                </a:solidFill>
                <a:latin typeface="Arial"/>
                <a:ea typeface="Arial"/>
                <a:cs typeface="Arial"/>
              </a:defRPr>
            </a:lvl3pPr>
            <a:lvl4pPr>
              <a:defRPr sz="1800" b="0">
                <a:solidFill>
                  <a:srgbClr val="142633"/>
                </a:solidFill>
                <a:latin typeface="Arial"/>
                <a:ea typeface="Arial"/>
                <a:cs typeface="Arial"/>
              </a:defRPr>
            </a:lvl4pPr>
            <a:lvl5pPr>
              <a:defRPr sz="1800" b="0">
                <a:solidFill>
                  <a:srgbClr val="142633"/>
                </a:solidFill>
                <a:latin typeface="Arial"/>
                <a:ea typeface="Arial"/>
                <a:cs typeface="Arial"/>
              </a:defRPr>
            </a:lvl5pPr>
            <a:lvl6pPr>
              <a:defRPr sz="1800" b="0">
                <a:solidFill>
                  <a:srgbClr val="142633"/>
                </a:solidFill>
                <a:latin typeface="Arial"/>
                <a:ea typeface="Arial"/>
                <a:cs typeface="Arial"/>
              </a:defRPr>
            </a:lvl6pPr>
            <a:lvl7pPr>
              <a:defRPr sz="1800" b="0">
                <a:solidFill>
                  <a:srgbClr val="142633"/>
                </a:solidFill>
                <a:latin typeface="Arial"/>
                <a:ea typeface="Arial"/>
                <a:cs typeface="Arial"/>
              </a:defRPr>
            </a:lvl7pPr>
            <a:lvl8pPr>
              <a:defRPr sz="1800" b="0">
                <a:solidFill>
                  <a:srgbClr val="142633"/>
                </a:solidFill>
                <a:latin typeface="Arial"/>
                <a:ea typeface="Arial"/>
                <a:cs typeface="Arial"/>
              </a:defRPr>
            </a:lvl8pPr>
            <a:lvl9pPr>
              <a:defRPr sz="1800" b="0">
                <a:solidFill>
                  <a:srgbClr val="142633"/>
                </a:solidFill>
                <a:latin typeface="Arial"/>
                <a:ea typeface="Arial"/>
                <a:cs typeface="Arial"/>
              </a:defRPr>
            </a:lvl9pPr>
          </a:lstStyle>
          <a:p xmlns:a="http://schemas.openxmlformats.org/drawingml/2006/main">
            <a:pPr>
              <a:defRPr sz="1800" b="0">
                <a:solidFill>
                  <a:srgbClr val="142633"/>
                </a:solidFill>
                <a:latin typeface="Arial"/>
                <a:ea typeface="Arial"/>
                <a:cs typeface="Arial"/>
              </a:defRPr>
            </a:pPr>
            <a:r>
              <a:rPr sz="1800" b="0">
                <a:solidFill>
                  <a:srgbClr val="142633"/>
                </a:solidFill>
                <a:latin typeface="Arial"/>
                <a:ea typeface="Arial"/>
                <a:cs typeface="Arial"/>
              </a:rPr>
              <a:t>−515488559271594427</a:t>
            </a:r>
          </a:p>
        </p:txBody>
      </p:sp>
      <p:sp>
        <p:nvSpPr>
          <p:cNvPr id="6" name="">
            <a:extLst xmlns:a="http://schemas.openxmlformats.org/drawingml/2006/main">
              <a:ext uri="{FF2B5EF4-FFF2-40B4-BE49-F238E27FC236}">
                <a16:creationId xmlns:a16="http://schemas.microsoft.com/office/drawing/2014/main" id="{1F4A138D-A19D-4068-A08B-ACF36339088C}"/>
              </a:ext>
            </a:extLst>
          </p:cNvPr>
          <p:cNvSpPr>
            <a:spLocks xmlns:a="http://schemas.openxmlformats.org/drawingml/2006/main" noGrp="1"/>
          </p:cNvSpPr>
          <p:nvPr/>
        </p:nvSpPr>
        <p:spPr>
          <a:xfrm xmlns:a="http://schemas.openxmlformats.org/drawingml/2006/main">
            <a:off x="8096250" y="2924175"/>
            <a:ext cx="342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633"/>
                </a:solidFill>
                <a:latin typeface="Arial"/>
                <a:ea typeface="Arial"/>
                <a:cs typeface="Arial"/>
              </a:defRPr>
            </a:defPPr>
            <a:lvl1pPr>
              <a:defRPr sz="2100" b="0">
                <a:solidFill>
                  <a:srgbClr val="142633"/>
                </a:solidFill>
                <a:latin typeface="Arial"/>
                <a:ea typeface="Arial"/>
                <a:cs typeface="Arial"/>
              </a:defRPr>
            </a:lvl1pPr>
            <a:lvl2pPr>
              <a:defRPr sz="2100" b="0">
                <a:solidFill>
                  <a:srgbClr val="142633"/>
                </a:solidFill>
                <a:latin typeface="Arial"/>
                <a:ea typeface="Arial"/>
                <a:cs typeface="Arial"/>
              </a:defRPr>
            </a:lvl2pPr>
            <a:lvl3pPr>
              <a:defRPr sz="2100" b="0">
                <a:solidFill>
                  <a:srgbClr val="142633"/>
                </a:solidFill>
                <a:latin typeface="Arial"/>
                <a:ea typeface="Arial"/>
                <a:cs typeface="Arial"/>
              </a:defRPr>
            </a:lvl3pPr>
            <a:lvl4pPr>
              <a:defRPr sz="2100" b="0">
                <a:solidFill>
                  <a:srgbClr val="142633"/>
                </a:solidFill>
                <a:latin typeface="Arial"/>
                <a:ea typeface="Arial"/>
                <a:cs typeface="Arial"/>
              </a:defRPr>
            </a:lvl4pPr>
            <a:lvl5pPr>
              <a:defRPr sz="2100" b="0">
                <a:solidFill>
                  <a:srgbClr val="142633"/>
                </a:solidFill>
                <a:latin typeface="Arial"/>
                <a:ea typeface="Arial"/>
                <a:cs typeface="Arial"/>
              </a:defRPr>
            </a:lvl5pPr>
            <a:lvl6pPr>
              <a:defRPr sz="2100" b="0">
                <a:solidFill>
                  <a:srgbClr val="142633"/>
                </a:solidFill>
                <a:latin typeface="Arial"/>
                <a:ea typeface="Arial"/>
                <a:cs typeface="Arial"/>
              </a:defRPr>
            </a:lvl6pPr>
            <a:lvl7pPr>
              <a:defRPr sz="2100" b="0">
                <a:solidFill>
                  <a:srgbClr val="142633"/>
                </a:solidFill>
                <a:latin typeface="Arial"/>
                <a:ea typeface="Arial"/>
                <a:cs typeface="Arial"/>
              </a:defRPr>
            </a:lvl7pPr>
            <a:lvl8pPr>
              <a:defRPr sz="2100" b="0">
                <a:solidFill>
                  <a:srgbClr val="142633"/>
                </a:solidFill>
                <a:latin typeface="Arial"/>
                <a:ea typeface="Arial"/>
                <a:cs typeface="Arial"/>
              </a:defRPr>
            </a:lvl8pPr>
            <a:lvl9pPr>
              <a:defRPr sz="2100" b="0">
                <a:solidFill>
                  <a:srgbClr val="142633"/>
                </a:solidFill>
                <a:latin typeface="Arial"/>
                <a:ea typeface="Arial"/>
                <a:cs typeface="Arial"/>
              </a:defRPr>
            </a:lvl9pPr>
          </a:lstStyle>
          <a:p xmlns:a="http://schemas.openxmlformats.org/drawingml/2006/main">
            <a:pPr>
              <a:defRPr sz="2100" b="0">
                <a:solidFill>
                  <a:srgbClr val="142633"/>
                </a:solidFill>
                <a:latin typeface="Arial"/>
                <a:ea typeface="Arial"/>
                <a:cs typeface="Arial"/>
              </a:defRPr>
            </a:pPr>
            <a:r>
              <a:rPr sz="2100" b="0">
                <a:solidFill>
                  <a:srgbClr val="142633"/>
                </a:solidFill>
                <a:latin typeface="Arial"/>
                <a:ea typeface="Arial"/>
                <a:cs typeface="Arial"/>
              </a:rPr>
              <a:t>Disc PA varies strongly across the outer interval.</a:t>
            </a:r>
          </a:p>
        </p:txBody>
      </p:sp>
      <p:sp>
        <p:nvSpPr>
          <p:cNvPr id="7" name="">
            <a:extLst xmlns:a="http://schemas.openxmlformats.org/drawingml/2006/main">
              <a:ext uri="{FF2B5EF4-FFF2-40B4-BE49-F238E27FC236}">
                <a16:creationId xmlns:a16="http://schemas.microsoft.com/office/drawing/2014/main" id="{B4CA814C-D433-4692-9D33-886F0E860B30}"/>
              </a:ext>
            </a:extLst>
          </p:cNvPr>
          <p:cNvSpPr>
            <a:spLocks xmlns:a="http://schemas.openxmlformats.org/drawingml/2006/main" noGrp="1"/>
          </p:cNvSpPr>
          <p:nvPr/>
        </p:nvSpPr>
        <p:spPr>
          <a:xfrm xmlns:a="http://schemas.openxmlformats.org/drawingml/2006/main">
            <a:off x="8096250" y="4191000"/>
            <a:ext cx="3429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2633"/>
                </a:solidFill>
                <a:latin typeface="Arial"/>
                <a:ea typeface="Arial"/>
                <a:cs typeface="Arial"/>
              </a:defRPr>
            </a:defPPr>
            <a:lvl1pPr>
              <a:defRPr sz="2025" b="0">
                <a:solidFill>
                  <a:srgbClr val="142633"/>
                </a:solidFill>
                <a:latin typeface="Arial"/>
                <a:ea typeface="Arial"/>
                <a:cs typeface="Arial"/>
              </a:defRPr>
            </a:lvl1pPr>
            <a:lvl2pPr>
              <a:defRPr sz="2025" b="0">
                <a:solidFill>
                  <a:srgbClr val="142633"/>
                </a:solidFill>
                <a:latin typeface="Arial"/>
                <a:ea typeface="Arial"/>
                <a:cs typeface="Arial"/>
              </a:defRPr>
            </a:lvl2pPr>
            <a:lvl3pPr>
              <a:defRPr sz="2025" b="0">
                <a:solidFill>
                  <a:srgbClr val="142633"/>
                </a:solidFill>
                <a:latin typeface="Arial"/>
                <a:ea typeface="Arial"/>
                <a:cs typeface="Arial"/>
              </a:defRPr>
            </a:lvl3pPr>
            <a:lvl4pPr>
              <a:defRPr sz="2025" b="0">
                <a:solidFill>
                  <a:srgbClr val="142633"/>
                </a:solidFill>
                <a:latin typeface="Arial"/>
                <a:ea typeface="Arial"/>
                <a:cs typeface="Arial"/>
              </a:defRPr>
            </a:lvl4pPr>
            <a:lvl5pPr>
              <a:defRPr sz="2025" b="0">
                <a:solidFill>
                  <a:srgbClr val="142633"/>
                </a:solidFill>
                <a:latin typeface="Arial"/>
                <a:ea typeface="Arial"/>
                <a:cs typeface="Arial"/>
              </a:defRPr>
            </a:lvl5pPr>
            <a:lvl6pPr>
              <a:defRPr sz="2025" b="0">
                <a:solidFill>
                  <a:srgbClr val="142633"/>
                </a:solidFill>
                <a:latin typeface="Arial"/>
                <a:ea typeface="Arial"/>
                <a:cs typeface="Arial"/>
              </a:defRPr>
            </a:lvl6pPr>
            <a:lvl7pPr>
              <a:defRPr sz="2025" b="0">
                <a:solidFill>
                  <a:srgbClr val="142633"/>
                </a:solidFill>
                <a:latin typeface="Arial"/>
                <a:ea typeface="Arial"/>
                <a:cs typeface="Arial"/>
              </a:defRPr>
            </a:lvl7pPr>
            <a:lvl8pPr>
              <a:defRPr sz="2025" b="0">
                <a:solidFill>
                  <a:srgbClr val="142633"/>
                </a:solidFill>
                <a:latin typeface="Arial"/>
                <a:ea typeface="Arial"/>
                <a:cs typeface="Arial"/>
              </a:defRPr>
            </a:lvl8pPr>
            <a:lvl9pPr>
              <a:defRPr sz="2025" b="0">
                <a:solidFill>
                  <a:srgbClr val="142633"/>
                </a:solidFill>
                <a:latin typeface="Arial"/>
                <a:ea typeface="Arial"/>
                <a:cs typeface="Arial"/>
              </a:defRPr>
            </a:lvl9pPr>
          </a:lstStyle>
          <a:p xmlns:a="http://schemas.openxmlformats.org/drawingml/2006/main">
            <a:pPr>
              <a:defRPr sz="2025" b="0">
                <a:solidFill>
                  <a:srgbClr val="142633"/>
                </a:solidFill>
                <a:latin typeface="Arial"/>
                <a:ea typeface="Arial"/>
                <a:cs typeface="Arial"/>
              </a:defRPr>
            </a:pPr>
            <a:r>
              <a:rPr sz="2025" b="0">
                <a:solidFill>
                  <a:srgbClr val="142633"/>
                </a:solidFill>
                <a:latin typeface="Arial"/>
                <a:ea typeface="Arial"/>
                <a:cs typeface="Arial"/>
              </a:rPr>
              <a:t>The small bar interval also raises a resolution warning.</a:t>
            </a:r>
          </a:p>
        </p:txBody>
      </p:sp>
      <p:sp>
        <p:nvSpPr>
          <p:cNvPr id="8" name="">
            <a:extLst xmlns:a="http://schemas.openxmlformats.org/drawingml/2006/main">
              <a:ext uri="{FF2B5EF4-FFF2-40B4-BE49-F238E27FC236}">
                <a16:creationId xmlns:a16="http://schemas.microsoft.com/office/drawing/2014/main" id="{4ACBF3AD-2845-4F44-BD84-1AA5490B9A47}"/>
              </a:ext>
            </a:extLst>
          </p:cNvPr>
          <p:cNvSpPr>
            <a:spLocks xmlns:a="http://schemas.openxmlformats.org/drawingml/2006/main" noGrp="1"/>
          </p:cNvSpPr>
          <p:nvPr/>
        </p:nvSpPr>
        <p:spPr>
          <a:xfrm xmlns:a="http://schemas.openxmlformats.org/drawingml/2006/main">
            <a:off x="609600" y="612457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673"/>
                </a:solidFill>
                <a:latin typeface="Arial"/>
                <a:ea typeface="Arial"/>
                <a:cs typeface="Arial"/>
              </a:defRPr>
            </a:defPPr>
            <a:lvl1pPr>
              <a:defRPr sz="1725" b="0">
                <a:solidFill>
                  <a:srgbClr val="526673"/>
                </a:solidFill>
                <a:latin typeface="Arial"/>
                <a:ea typeface="Arial"/>
                <a:cs typeface="Arial"/>
              </a:defRPr>
            </a:lvl1pPr>
            <a:lvl2pPr>
              <a:defRPr sz="1725" b="0">
                <a:solidFill>
                  <a:srgbClr val="526673"/>
                </a:solidFill>
                <a:latin typeface="Arial"/>
                <a:ea typeface="Arial"/>
                <a:cs typeface="Arial"/>
              </a:defRPr>
            </a:lvl2pPr>
            <a:lvl3pPr>
              <a:defRPr sz="1725" b="0">
                <a:solidFill>
                  <a:srgbClr val="526673"/>
                </a:solidFill>
                <a:latin typeface="Arial"/>
                <a:ea typeface="Arial"/>
                <a:cs typeface="Arial"/>
              </a:defRPr>
            </a:lvl3pPr>
            <a:lvl4pPr>
              <a:defRPr sz="1725" b="0">
                <a:solidFill>
                  <a:srgbClr val="526673"/>
                </a:solidFill>
                <a:latin typeface="Arial"/>
                <a:ea typeface="Arial"/>
                <a:cs typeface="Arial"/>
              </a:defRPr>
            </a:lvl4pPr>
            <a:lvl5pPr>
              <a:defRPr sz="1725" b="0">
                <a:solidFill>
                  <a:srgbClr val="526673"/>
                </a:solidFill>
                <a:latin typeface="Arial"/>
                <a:ea typeface="Arial"/>
                <a:cs typeface="Arial"/>
              </a:defRPr>
            </a:lvl5pPr>
            <a:lvl6pPr>
              <a:defRPr sz="1725" b="0">
                <a:solidFill>
                  <a:srgbClr val="526673"/>
                </a:solidFill>
                <a:latin typeface="Arial"/>
                <a:ea typeface="Arial"/>
                <a:cs typeface="Arial"/>
              </a:defRPr>
            </a:lvl6pPr>
            <a:lvl7pPr>
              <a:defRPr sz="1725" b="0">
                <a:solidFill>
                  <a:srgbClr val="526673"/>
                </a:solidFill>
                <a:latin typeface="Arial"/>
                <a:ea typeface="Arial"/>
                <a:cs typeface="Arial"/>
              </a:defRPr>
            </a:lvl7pPr>
            <a:lvl8pPr>
              <a:defRPr sz="1725" b="0">
                <a:solidFill>
                  <a:srgbClr val="526673"/>
                </a:solidFill>
                <a:latin typeface="Arial"/>
                <a:ea typeface="Arial"/>
                <a:cs typeface="Arial"/>
              </a:defRPr>
            </a:lvl8pPr>
            <a:lvl9pPr>
              <a:defRPr sz="1725" b="0">
                <a:solidFill>
                  <a:srgbClr val="526673"/>
                </a:solidFill>
                <a:latin typeface="Arial"/>
                <a:ea typeface="Arial"/>
                <a:cs typeface="Arial"/>
              </a:defRPr>
            </a:lvl9pPr>
          </a:lstStyle>
          <a:p xmlns:a="http://schemas.openxmlformats.org/drawingml/2006/main">
            <a:pPr>
              <a:defRPr sz="1725" b="0">
                <a:solidFill>
                  <a:srgbClr val="526673"/>
                </a:solidFill>
                <a:latin typeface="Arial"/>
                <a:ea typeface="Arial"/>
                <a:cs typeface="Arial"/>
              </a:defRPr>
            </a:pPr>
            <a:r>
              <a:rPr sz="1725" b="0">
                <a:solidFill>
                  <a:srgbClr val="526673"/>
                </a:solidFill>
                <a:latin typeface="Arial"/>
                <a:ea typeface="Arial"/>
                <a:cs typeface="Arial"/>
              </a:rPr>
              <a:t>A close mean PA match can coexist with unstable fitted geometry.</a:t>
            </a:r>
          </a:p>
        </p:txBody>
      </p:sp>
    </p:spTree>
    <p:extLst>
      <p:ext uri="{BB962C8B-B14F-4D97-AF65-F5344CB8AC3E}">
        <p14:creationId xmlns:p14="http://schemas.microsoft.com/office/powerpoint/2010/main" val="167773655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90F8359-2E6A-4C3E-A904-818DAE29906B}"/>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Review collection and next steps</a:t>
            </a:r>
          </a:p>
        </p:txBody>
      </p:sp>
      <p:sp>
        <p:nvSpPr>
          <p:cNvPr id="2" name="">
            <a:extLst xmlns:a="http://schemas.openxmlformats.org/drawingml/2006/main">
              <a:ext uri="{FF2B5EF4-FFF2-40B4-BE49-F238E27FC236}">
                <a16:creationId xmlns:a16="http://schemas.microsoft.com/office/drawing/2014/main" id="{647524EE-E513-415D-B458-1EC29ACBFA16}"/>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6 / 6</a:t>
            </a:r>
          </a:p>
        </p:txBody>
      </p:sp>
      <p:graphicFrame>
        <p:nvGraphicFramePr>
          <p:cNvPr id="3" name="">
            <a:extLst xmlns:a="http://schemas.openxmlformats.org/drawingml/2006/main">
              <a:ext uri="{FF2B5EF4-FFF2-40B4-BE49-F238E27FC236}">
                <a16:creationId xmlns:a16="http://schemas.microsoft.com/office/drawing/2014/main" id="{7C5A92B1-E3F4-4D99-9B13-3C5FFF285FD0}"/>
              </a:ext>
            </a:extLst>
          </p:cNvPr>
          <p:cNvGraphicFramePr/>
          <p:nvPr/>
        </p:nvGraphicFramePr>
        <p:xfrm>
          <a:off xmlns:a="http://schemas.openxmlformats.org/drawingml/2006/main" x="609600" y="1504950"/>
          <a:ext xmlns:a="http://schemas.openxmlformats.org/drawingml/2006/main" cx="10972800" cy="1809750"/>
        </p:xfrm>
        <a:graphic xmlns:a="http://schemas.openxmlformats.org/drawingml/2006/main">
          <a:graphicData uri="http://schemas.openxmlformats.org/drawingml/2006/table">
            <a:tbl>
              <a:tblPr/>
              <a:tblGrid>
                <a:gridCol w="6191250"/>
                <a:gridCol w="2381250"/>
                <a:gridCol w="2400300"/>
              </a:tblGrid>
              <a:tr h="603250">
                <a:tc>
                  <a:txBody>
                    <a:bodyPr/>
                    <a:lstStyle/>
                    <a:p>
                      <a:r>
                        <a:rPr sz="1950" b="1">
                          <a:solidFill>
                            <a:srgbClr val="142633"/>
                          </a:solidFill>
                          <a:latin typeface="Arial"/>
                          <a:ea typeface="Arial"/>
                          <a:cs typeface="Arial"/>
                        </a:rPr>
                        <a:t>Review group</a:t>
                      </a:r>
                    </a:p>
                  </a:txBody>
                  <a:tcPr marL="91440" marR="91440" marT="45720" marB="45720">
                    <a:lnL w="6668">
                      <a:solidFill>
                        <a:srgbClr val="D6E0E5"/>
                      </a:solidFill>
                      <a:prstDash val="solid"/>
                    </a:lnL>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c>
                  <a:txBody>
                    <a:bodyPr/>
                    <a:lstStyle/>
                    <a:p>
                      <a:r>
                        <a:rPr sz="1950" b="1">
                          <a:solidFill>
                            <a:srgbClr val="142633"/>
                          </a:solidFill>
                          <a:latin typeface="Arial"/>
                          <a:ea typeface="Arial"/>
                          <a:cs typeface="Arial"/>
                        </a:rPr>
                        <a:t>Galaxies</a:t>
                      </a:r>
                    </a:p>
                  </a:txBody>
                  <a:tcPr marL="91440" marR="91440" marT="45720" marB="45720">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c>
                  <a:txBody>
                    <a:bodyPr/>
                    <a:lstStyle/>
                    <a:p>
                      <a:r>
                        <a:rPr sz="1950" b="1">
                          <a:solidFill>
                            <a:srgbClr val="142633"/>
                          </a:solidFill>
                          <a:latin typeface="Arial"/>
                          <a:ea typeface="Arial"/>
                          <a:cs typeface="Arial"/>
                        </a:rPr>
                        <a:t>PDF batches</a:t>
                      </a:r>
                    </a:p>
                  </a:txBody>
                  <a:tcPr marL="91440" marR="91440" marT="45720" marB="45720">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r>
              <a:tr h="603250">
                <a:tc>
                  <a:txBody>
                    <a:bodyPr/>
                    <a:lstStyle/>
                    <a:p>
                      <a:r>
                        <a:rPr sz="1950" b="0">
                          <a:solidFill>
                            <a:srgbClr val="142633"/>
                          </a:solidFill>
                          <a:latin typeface="Arial"/>
                          <a:ea typeface="Arial"/>
                          <a:cs typeface="Arial"/>
                        </a:rPr>
                        <a:t>QI</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950" b="0">
                          <a:solidFill>
                            <a:srgbClr val="142633"/>
                          </a:solidFill>
                          <a:latin typeface="Arial"/>
                          <a:ea typeface="Arial"/>
                          <a:cs typeface="Arial"/>
                        </a:rPr>
                        <a:t>2,250</a:t>
                      </a:r>
                    </a:p>
                  </a:txBody>
                  <a:tcPr marL="91440" marR="91440" marT="45720" marB="45720">
                    <a:lnR w="6668">
                      <a:solidFill>
                        <a:srgbClr val="D6E0E5"/>
                      </a:solidFill>
                      <a:prstDash val="solid"/>
                    </a:lnR>
                    <a:lnB w="6668">
                      <a:solidFill>
                        <a:srgbClr val="D6E0E5"/>
                      </a:solidFill>
                      <a:prstDash val="solid"/>
                    </a:lnB>
                    <a:solidFill>
                      <a:srgbClr val="FFFFFF"/>
                    </a:solidFill>
                  </a:tcPr>
                </a:tc>
                <a:tc>
                  <a:txBody>
                    <a:bodyPr/>
                    <a:lstStyle/>
                    <a:p>
                      <a:r>
                        <a:rPr sz="1950" b="0">
                          <a:solidFill>
                            <a:srgbClr val="142633"/>
                          </a:solidFill>
                          <a:latin typeface="Arial"/>
                          <a:ea typeface="Arial"/>
                          <a:cs typeface="Arial"/>
                        </a:rPr>
                        <a:t>38</a:t>
                      </a:r>
                    </a:p>
                  </a:txBody>
                  <a:tcPr marL="91440" marR="91440" marT="45720" marB="45720">
                    <a:lnR w="6668">
                      <a:solidFill>
                        <a:srgbClr val="D6E0E5"/>
                      </a:solidFill>
                      <a:prstDash val="solid"/>
                    </a:lnR>
                    <a:lnB w="6668">
                      <a:solidFill>
                        <a:srgbClr val="D6E0E5"/>
                      </a:solidFill>
                      <a:prstDash val="solid"/>
                    </a:lnB>
                    <a:solidFill>
                      <a:srgbClr val="FFFFFF"/>
                    </a:solidFill>
                  </a:tcPr>
                </a:tc>
              </a:tr>
              <a:tr h="603250">
                <a:tc>
                  <a:txBody>
                    <a:bodyPr/>
                    <a:lstStyle/>
                    <a:p>
                      <a:r>
                        <a:rPr sz="1950" b="0">
                          <a:solidFill>
                            <a:srgbClr val="142633"/>
                          </a:solidFill>
                          <a:latin typeface="Arial"/>
                          <a:ea typeface="Arial"/>
                          <a:cs typeface="Arial"/>
                        </a:rPr>
                        <a:t>NoQI</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950" b="0">
                          <a:solidFill>
                            <a:srgbClr val="142633"/>
                          </a:solidFill>
                          <a:latin typeface="Arial"/>
                          <a:ea typeface="Arial"/>
                          <a:cs typeface="Arial"/>
                        </a:rPr>
                        <a:t>527</a:t>
                      </a:r>
                    </a:p>
                  </a:txBody>
                  <a:tcPr marL="91440" marR="91440" marT="45720" marB="45720">
                    <a:lnR w="6668">
                      <a:solidFill>
                        <a:srgbClr val="D6E0E5"/>
                      </a:solidFill>
                      <a:prstDash val="solid"/>
                    </a:lnR>
                    <a:lnB w="6668">
                      <a:solidFill>
                        <a:srgbClr val="D6E0E5"/>
                      </a:solidFill>
                      <a:prstDash val="solid"/>
                    </a:lnB>
                    <a:solidFill>
                      <a:srgbClr val="FFFFFF"/>
                    </a:solidFill>
                  </a:tcPr>
                </a:tc>
                <a:tc>
                  <a:txBody>
                    <a:bodyPr/>
                    <a:lstStyle/>
                    <a:p>
                      <a:r>
                        <a:rPr sz="1950" b="0">
                          <a:solidFill>
                            <a:srgbClr val="142633"/>
                          </a:solidFill>
                          <a:latin typeface="Arial"/>
                          <a:ea typeface="Arial"/>
                          <a:cs typeface="Arial"/>
                        </a:rPr>
                        <a:t>9</a:t>
                      </a:r>
                    </a:p>
                  </a:txBody>
                  <a:tcPr marL="91440" marR="91440" marT="45720" marB="45720">
                    <a:lnR w="6668">
                      <a:solidFill>
                        <a:srgbClr val="D6E0E5"/>
                      </a:solidFill>
                      <a:prstDash val="solid"/>
                    </a:lnR>
                    <a:lnB w="6668">
                      <a:solidFill>
                        <a:srgbClr val="D6E0E5"/>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79965071-9A7D-4D53-A287-1BCBA0746321}"/>
              </a:ext>
            </a:extLst>
          </p:cNvPr>
          <p:cNvSpPr>
            <a:spLocks xmlns:a="http://schemas.openxmlformats.org/drawingml/2006/main" noGrp="1"/>
          </p:cNvSpPr>
          <p:nvPr/>
        </p:nvSpPr>
        <p:spPr>
          <a:xfrm xmlns:a="http://schemas.openxmlformats.org/drawingml/2006/main">
            <a:off x="609600" y="3629025"/>
            <a:ext cx="10858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205F7A"/>
                </a:solidFill>
                <a:latin typeface="Arial"/>
                <a:ea typeface="Arial"/>
                <a:cs typeface="Arial"/>
              </a:defRPr>
            </a:defPPr>
            <a:lvl1pPr>
              <a:defRPr sz="2250" b="1">
                <a:solidFill>
                  <a:srgbClr val="205F7A"/>
                </a:solidFill>
                <a:latin typeface="Arial"/>
                <a:ea typeface="Arial"/>
                <a:cs typeface="Arial"/>
              </a:defRPr>
            </a:lvl1pPr>
            <a:lvl2pPr>
              <a:defRPr sz="2250" b="1">
                <a:solidFill>
                  <a:srgbClr val="205F7A"/>
                </a:solidFill>
                <a:latin typeface="Arial"/>
                <a:ea typeface="Arial"/>
                <a:cs typeface="Arial"/>
              </a:defRPr>
            </a:lvl2pPr>
            <a:lvl3pPr>
              <a:defRPr sz="2250" b="1">
                <a:solidFill>
                  <a:srgbClr val="205F7A"/>
                </a:solidFill>
                <a:latin typeface="Arial"/>
                <a:ea typeface="Arial"/>
                <a:cs typeface="Arial"/>
              </a:defRPr>
            </a:lvl3pPr>
            <a:lvl4pPr>
              <a:defRPr sz="2250" b="1">
                <a:solidFill>
                  <a:srgbClr val="205F7A"/>
                </a:solidFill>
                <a:latin typeface="Arial"/>
                <a:ea typeface="Arial"/>
                <a:cs typeface="Arial"/>
              </a:defRPr>
            </a:lvl4pPr>
            <a:lvl5pPr>
              <a:defRPr sz="2250" b="1">
                <a:solidFill>
                  <a:srgbClr val="205F7A"/>
                </a:solidFill>
                <a:latin typeface="Arial"/>
                <a:ea typeface="Arial"/>
                <a:cs typeface="Arial"/>
              </a:defRPr>
            </a:lvl5pPr>
            <a:lvl6pPr>
              <a:defRPr sz="2250" b="1">
                <a:solidFill>
                  <a:srgbClr val="205F7A"/>
                </a:solidFill>
                <a:latin typeface="Arial"/>
                <a:ea typeface="Arial"/>
                <a:cs typeface="Arial"/>
              </a:defRPr>
            </a:lvl6pPr>
            <a:lvl7pPr>
              <a:defRPr sz="2250" b="1">
                <a:solidFill>
                  <a:srgbClr val="205F7A"/>
                </a:solidFill>
                <a:latin typeface="Arial"/>
                <a:ea typeface="Arial"/>
                <a:cs typeface="Arial"/>
              </a:defRPr>
            </a:lvl7pPr>
            <a:lvl8pPr>
              <a:defRPr sz="2250" b="1">
                <a:solidFill>
                  <a:srgbClr val="205F7A"/>
                </a:solidFill>
                <a:latin typeface="Arial"/>
                <a:ea typeface="Arial"/>
                <a:cs typeface="Arial"/>
              </a:defRPr>
            </a:lvl8pPr>
            <a:lvl9pPr>
              <a:defRPr sz="2250" b="1">
                <a:solidFill>
                  <a:srgbClr val="205F7A"/>
                </a:solidFill>
                <a:latin typeface="Arial"/>
                <a:ea typeface="Arial"/>
                <a:cs typeface="Arial"/>
              </a:defRPr>
            </a:lvl9pPr>
          </a:lstStyle>
          <a:p xmlns:a="http://schemas.openxmlformats.org/drawingml/2006/main">
            <a:pPr>
              <a:defRPr sz="2250" b="1">
                <a:solidFill>
                  <a:srgbClr val="205F7A"/>
                </a:solidFill>
                <a:latin typeface="Arial"/>
                <a:ea typeface="Arial"/>
                <a:cs typeface="Arial"/>
              </a:defRPr>
            </a:pPr>
            <a:r>
              <a:rPr sz="2250" b="1">
                <a:solidFill>
                  <a:srgbClr val="205F7A"/>
                </a:solidFill>
                <a:latin typeface="Arial"/>
                <a:ea typeface="Arial"/>
                <a:cs typeface="Arial"/>
              </a:rPr>
              <a:t>47 PDFs contain 463 pages at six galaxies per page.</a:t>
            </a:r>
          </a:p>
        </p:txBody>
      </p:sp>
      <p:sp>
        <p:nvSpPr>
          <p:cNvPr id="5" name="">
            <a:extLst xmlns:a="http://schemas.openxmlformats.org/drawingml/2006/main">
              <a:ext uri="{FF2B5EF4-FFF2-40B4-BE49-F238E27FC236}">
                <a16:creationId xmlns:a16="http://schemas.microsoft.com/office/drawing/2014/main" id="{E0B7D124-29C5-478C-AA2A-3BA96C9D0A1E}"/>
              </a:ext>
            </a:extLst>
          </p:cNvPr>
          <p:cNvSpPr>
            <a:spLocks xmlns:a="http://schemas.openxmlformats.org/drawingml/2006/main" noGrp="1"/>
          </p:cNvSpPr>
          <p:nvPr/>
        </p:nvSpPr>
        <p:spPr>
          <a:xfrm xmlns:a="http://schemas.openxmlformats.org/drawingml/2006/main">
            <a:off x="609600" y="4429125"/>
            <a:ext cx="10858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2633"/>
                </a:solidFill>
                <a:latin typeface="Arial"/>
                <a:ea typeface="Arial"/>
                <a:cs typeface="Arial"/>
              </a:defRPr>
            </a:defPPr>
            <a:lvl1pPr>
              <a:defRPr sz="2025" b="0">
                <a:solidFill>
                  <a:srgbClr val="142633"/>
                </a:solidFill>
                <a:latin typeface="Arial"/>
                <a:ea typeface="Arial"/>
                <a:cs typeface="Arial"/>
              </a:defRPr>
            </a:lvl1pPr>
            <a:lvl2pPr>
              <a:defRPr sz="2025" b="0">
                <a:solidFill>
                  <a:srgbClr val="142633"/>
                </a:solidFill>
                <a:latin typeface="Arial"/>
                <a:ea typeface="Arial"/>
                <a:cs typeface="Arial"/>
              </a:defRPr>
            </a:lvl2pPr>
            <a:lvl3pPr>
              <a:defRPr sz="2025" b="0">
                <a:solidFill>
                  <a:srgbClr val="142633"/>
                </a:solidFill>
                <a:latin typeface="Arial"/>
                <a:ea typeface="Arial"/>
                <a:cs typeface="Arial"/>
              </a:defRPr>
            </a:lvl3pPr>
            <a:lvl4pPr>
              <a:defRPr sz="2025" b="0">
                <a:solidFill>
                  <a:srgbClr val="142633"/>
                </a:solidFill>
                <a:latin typeface="Arial"/>
                <a:ea typeface="Arial"/>
                <a:cs typeface="Arial"/>
              </a:defRPr>
            </a:lvl4pPr>
            <a:lvl5pPr>
              <a:defRPr sz="2025" b="0">
                <a:solidFill>
                  <a:srgbClr val="142633"/>
                </a:solidFill>
                <a:latin typeface="Arial"/>
                <a:ea typeface="Arial"/>
                <a:cs typeface="Arial"/>
              </a:defRPr>
            </a:lvl5pPr>
            <a:lvl6pPr>
              <a:defRPr sz="2025" b="0">
                <a:solidFill>
                  <a:srgbClr val="142633"/>
                </a:solidFill>
                <a:latin typeface="Arial"/>
                <a:ea typeface="Arial"/>
                <a:cs typeface="Arial"/>
              </a:defRPr>
            </a:lvl6pPr>
            <a:lvl7pPr>
              <a:defRPr sz="2025" b="0">
                <a:solidFill>
                  <a:srgbClr val="142633"/>
                </a:solidFill>
                <a:latin typeface="Arial"/>
                <a:ea typeface="Arial"/>
                <a:cs typeface="Arial"/>
              </a:defRPr>
            </a:lvl7pPr>
            <a:lvl8pPr>
              <a:defRPr sz="2025" b="0">
                <a:solidFill>
                  <a:srgbClr val="142633"/>
                </a:solidFill>
                <a:latin typeface="Arial"/>
                <a:ea typeface="Arial"/>
                <a:cs typeface="Arial"/>
              </a:defRPr>
            </a:lvl8pPr>
            <a:lvl9pPr>
              <a:defRPr sz="2025" b="0">
                <a:solidFill>
                  <a:srgbClr val="142633"/>
                </a:solidFill>
                <a:latin typeface="Arial"/>
                <a:ea typeface="Arial"/>
                <a:cs typeface="Arial"/>
              </a:defRPr>
            </a:lvl9pPr>
          </a:lstStyle>
          <a:p xmlns:a="http://schemas.openxmlformats.org/drawingml/2006/main">
            <a:pPr>
              <a:defRPr sz="2025" b="0">
                <a:solidFill>
                  <a:srgbClr val="142633"/>
                </a:solidFill>
                <a:latin typeface="Arial"/>
                <a:ea typeface="Arial"/>
                <a:cs typeface="Arial"/>
              </a:defRPr>
            </a:pPr>
            <a:r>
              <a:rPr sz="2025" b="0">
                <a:solidFill>
                  <a:srgbClr val="142633"/>
                </a:solidFill>
                <a:latin typeface="Arial"/>
                <a:ea typeface="Arial"/>
                <a:cs typeface="Arial"/>
              </a:rPr>
              <a:t>Review QI warnings and failures using the image and profiles.</a:t>
            </a:r>
          </a:p>
          <a:p xmlns:a="http://schemas.openxmlformats.org/drawingml/2006/main">
            <a:pPr>
              <a:defRPr sz="2025" b="0">
                <a:solidFill>
                  <a:srgbClr val="142633"/>
                </a:solidFill>
                <a:latin typeface="Arial"/>
                <a:ea typeface="Arial"/>
                <a:cs typeface="Arial"/>
              </a:defRPr>
            </a:pPr>
            <a:r>
              <a:rPr sz="2025" b="0">
                <a:solidFill>
                  <a:srgbClr val="142633"/>
                </a:solidFill>
                <a:latin typeface="Arial"/>
                <a:ea typeface="Arial"/>
                <a:cs typeface="Arial"/>
              </a:rPr>
              <a:t>Check physical component identification in the 527 NoQI cases.</a:t>
            </a:r>
          </a:p>
          <a:p xmlns:a="http://schemas.openxmlformats.org/drawingml/2006/main">
            <a:pPr>
              <a:defRPr sz="2025" b="0">
                <a:solidFill>
                  <a:srgbClr val="142633"/>
                </a:solidFill>
                <a:latin typeface="Arial"/>
                <a:ea typeface="Arial"/>
                <a:cs typeface="Arial"/>
              </a:defRPr>
            </a:pPr>
            <a:r>
              <a:rPr sz="2025" b="0">
                <a:solidFill>
                  <a:srgbClr val="142633"/>
                </a:solidFill>
                <a:latin typeface="Arial"/>
                <a:ea typeface="Arial"/>
                <a:cs typeface="Arial"/>
              </a:rPr>
              <a:t>Record accepted geometry before final deprojection.</a:t>
            </a:r>
          </a:p>
        </p:txBody>
      </p:sp>
      <p:sp>
        <p:nvSpPr>
          <p:cNvPr id="6" name="">
            <a:extLst xmlns:a="http://schemas.openxmlformats.org/drawingml/2006/main">
              <a:ext uri="{FF2B5EF4-FFF2-40B4-BE49-F238E27FC236}">
                <a16:creationId xmlns:a16="http://schemas.microsoft.com/office/drawing/2014/main" id="{95185609-F9FE-49DC-8828-3E9D63525811}"/>
              </a:ext>
            </a:extLst>
          </p:cNvPr>
          <p:cNvSpPr>
            <a:spLocks xmlns:a="http://schemas.openxmlformats.org/drawingml/2006/main" noGrp="1"/>
          </p:cNvSpPr>
          <p:nvPr/>
        </p:nvSpPr>
        <p:spPr>
          <a:xfrm xmlns:a="http://schemas.openxmlformats.org/drawingml/2006/main">
            <a:off x="609600" y="6134100"/>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673"/>
                </a:solidFill>
                <a:latin typeface="Arial"/>
                <a:ea typeface="Arial"/>
                <a:cs typeface="Arial"/>
              </a:defRPr>
            </a:defPPr>
            <a:lvl1pPr>
              <a:defRPr sz="1650" b="0">
                <a:solidFill>
                  <a:srgbClr val="526673"/>
                </a:solidFill>
                <a:latin typeface="Arial"/>
                <a:ea typeface="Arial"/>
                <a:cs typeface="Arial"/>
              </a:defRPr>
            </a:lvl1pPr>
            <a:lvl2pPr>
              <a:defRPr sz="1650" b="0">
                <a:solidFill>
                  <a:srgbClr val="526673"/>
                </a:solidFill>
                <a:latin typeface="Arial"/>
                <a:ea typeface="Arial"/>
                <a:cs typeface="Arial"/>
              </a:defRPr>
            </a:lvl2pPr>
            <a:lvl3pPr>
              <a:defRPr sz="1650" b="0">
                <a:solidFill>
                  <a:srgbClr val="526673"/>
                </a:solidFill>
                <a:latin typeface="Arial"/>
                <a:ea typeface="Arial"/>
                <a:cs typeface="Arial"/>
              </a:defRPr>
            </a:lvl3pPr>
            <a:lvl4pPr>
              <a:defRPr sz="1650" b="0">
                <a:solidFill>
                  <a:srgbClr val="526673"/>
                </a:solidFill>
                <a:latin typeface="Arial"/>
                <a:ea typeface="Arial"/>
                <a:cs typeface="Arial"/>
              </a:defRPr>
            </a:lvl4pPr>
            <a:lvl5pPr>
              <a:defRPr sz="1650" b="0">
                <a:solidFill>
                  <a:srgbClr val="526673"/>
                </a:solidFill>
                <a:latin typeface="Arial"/>
                <a:ea typeface="Arial"/>
                <a:cs typeface="Arial"/>
              </a:defRPr>
            </a:lvl5pPr>
            <a:lvl6pPr>
              <a:defRPr sz="1650" b="0">
                <a:solidFill>
                  <a:srgbClr val="526673"/>
                </a:solidFill>
                <a:latin typeface="Arial"/>
                <a:ea typeface="Arial"/>
                <a:cs typeface="Arial"/>
              </a:defRPr>
            </a:lvl6pPr>
            <a:lvl7pPr>
              <a:defRPr sz="1650" b="0">
                <a:solidFill>
                  <a:srgbClr val="526673"/>
                </a:solidFill>
                <a:latin typeface="Arial"/>
                <a:ea typeface="Arial"/>
                <a:cs typeface="Arial"/>
              </a:defRPr>
            </a:lvl7pPr>
            <a:lvl8pPr>
              <a:defRPr sz="1650" b="0">
                <a:solidFill>
                  <a:srgbClr val="526673"/>
                </a:solidFill>
                <a:latin typeface="Arial"/>
                <a:ea typeface="Arial"/>
                <a:cs typeface="Arial"/>
              </a:defRPr>
            </a:lvl8pPr>
            <a:lvl9pPr>
              <a:defRPr sz="1650" b="0">
                <a:solidFill>
                  <a:srgbClr val="526673"/>
                </a:solidFill>
                <a:latin typeface="Arial"/>
                <a:ea typeface="Arial"/>
                <a:cs typeface="Arial"/>
              </a:defRPr>
            </a:lvl9pPr>
          </a:lstStyle>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The galaxy index gives the PNG path, PDF batch, page and position.</a:t>
            </a:r>
          </a:p>
        </p:txBody>
      </p:sp>
    </p:spTree>
    <p:extLst>
      <p:ext uri="{BB962C8B-B14F-4D97-AF65-F5344CB8AC3E}">
        <p14:creationId xmlns:p14="http://schemas.microsoft.com/office/powerpoint/2010/main" val="33456291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2026-10-20T09:20:59.3180000Z</dcterms:created>
  <dcterms:modified xsi:type="dcterms:W3CDTF">2026-10-20T09:20:59.3190000Z</dcterms:modified>
</coreProperties>
</file>