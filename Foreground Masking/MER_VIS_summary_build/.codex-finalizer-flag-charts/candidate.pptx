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slides/charts/chart1.xml" ContentType="application/vnd.openxmlformats-officedocument.drawingml.chart+xml"/>
  <Override PartName="/ppt/notesSlides/notesSlide2.xml" ContentType="application/vnd.openxmlformats-officedocument.presentationml.notesSlide+xml"/>
  <Override PartName="/ppt/slides/slide3.xml" ContentType="application/vnd.openxmlformats-officedocument.presentationml.slide+xml"/>
  <Override PartName="/ppt/slides/charts/chart2.xml" ContentType="application/vnd.openxmlformats-officedocument.drawingml.chart+xml"/>
  <Override PartName="/ppt/slides/charts/chart3.xml" ContentType="application/vnd.openxmlformats-officedocument.drawingml.chart+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b957111fe0a4405" /><Relationship Type="http://schemas.openxmlformats.org/officeDocument/2006/relationships/extended-properties" Target="/docProps/app.xml" Id="R97f57139f02d4f72" /><Relationship Type="http://schemas.openxmlformats.org/officeDocument/2006/relationships/officeDocument" Target="/ppt/presentation.xml" Id="R221d569df02148ad" /></Relationships>
</file>

<file path=ppt/presentation.xml><?xml version="1.0" encoding="utf-8"?>
<p:presentation xmlns:p="http://schemas.openxmlformats.org/presentationml/2006/main">
  <p:sldMasterIdLst>
    <p:sldMasterId xmlns:r="http://schemas.openxmlformats.org/officeDocument/2006/relationships" id="2147483648" r:id="R02e8599f24dd422f"/>
  </p:sldMasterIdLst>
  <p:notesMasterIdLst>
    <p:notesMasterId xmlns:r="http://schemas.openxmlformats.org/officeDocument/2006/relationships" r:id="Re35b9a2fad594e89"/>
  </p:notesMasterIdLst>
  <p:sldIdLst>
    <p:sldId xmlns:r="http://schemas.openxmlformats.org/officeDocument/2006/relationships" id="256" r:id="R81557583a00f47c1"/>
    <p:sldId xmlns:r="http://schemas.openxmlformats.org/officeDocument/2006/relationships" id="257" r:id="Ra675f3d7c5474ce8"/>
    <p:sldId xmlns:r="http://schemas.openxmlformats.org/officeDocument/2006/relationships" id="258" r:id="R6e131c79cfca4478"/>
    <p:sldId xmlns:r="http://schemas.openxmlformats.org/officeDocument/2006/relationships" id="259" r:id="R7f1991940edd4079"/>
    <p:sldId xmlns:r="http://schemas.openxmlformats.org/officeDocument/2006/relationships" id="260" r:id="R81cc654cdd7442e7"/>
    <p:sldId xmlns:r="http://schemas.openxmlformats.org/officeDocument/2006/relationships" id="261" r:id="R5c33aeb9510d4b2a"/>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cdeb7fcd9f9492e" /><Relationship Type="http://schemas.openxmlformats.org/officeDocument/2006/relationships/slideMaster" Target="/ppt/slideMasters/slideMaster1.xml" Id="R02e8599f24dd422f" /><Relationship Type="http://schemas.openxmlformats.org/officeDocument/2006/relationships/notesMaster" Target="/ppt/notesMasters/notesMaster1.xml" Id="Re35b9a2fad594e89" /><Relationship Type="http://schemas.openxmlformats.org/officeDocument/2006/relationships/presProps" Target="/ppt/presProps.xml" Id="Rab5374afc7894195" /><Relationship Type="http://schemas.openxmlformats.org/officeDocument/2006/relationships/tableStyles" Target="/ppt/tableStyles.xml" Id="R70b5cf4495a24f1e" /><Relationship Type="http://schemas.openxmlformats.org/officeDocument/2006/relationships/slide" Target="/ppt/slides/slide1.xml" Id="R81557583a00f47c1" /><Relationship Type="http://schemas.openxmlformats.org/officeDocument/2006/relationships/slide" Target="/ppt/slides/slide2.xml" Id="Ra675f3d7c5474ce8" /><Relationship Type="http://schemas.openxmlformats.org/officeDocument/2006/relationships/slide" Target="/ppt/slides/slide3.xml" Id="R6e131c79cfca4478" /><Relationship Type="http://schemas.openxmlformats.org/officeDocument/2006/relationships/slide" Target="/ppt/slides/slide4.xml" Id="R7f1991940edd4079" /><Relationship Type="http://schemas.openxmlformats.org/officeDocument/2006/relationships/slide" Target="/ppt/slides/slide5.xml" Id="R81cc654cdd7442e7" /><Relationship Type="http://schemas.openxmlformats.org/officeDocument/2006/relationships/slide" Target="/ppt/slides/slide6.xml" Id="R5c33aeb9510d4b2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2016303050c43a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f45a0d35d4e4058" /><Relationship Type="http://schemas.openxmlformats.org/officeDocument/2006/relationships/notesMaster" Target="/ppt/notesMasters/notesMaster1.xml" Id="Rc74182f9d67b4ca2" /></Relationships>
</file>

<file path=ppt/notesSlides/_rels/notesSlide2.xml.rels>&#65279;<?xml version="1.0" encoding="utf-8"?><Relationships xmlns="http://schemas.openxmlformats.org/package/2006/relationships"><Relationship Type="http://schemas.openxmlformats.org/officeDocument/2006/relationships/slide" Target="/ppt/slides/slide2.xml" Id="R233f668635a14c25" /><Relationship Type="http://schemas.openxmlformats.org/officeDocument/2006/relationships/notesMaster" Target="/ppt/notesMasters/notesMaster1.xml" Id="Rd8f3a59cb6b54c9c" /></Relationships>
</file>

<file path=ppt/notesSlides/_rels/notesSlide3.xml.rels>&#65279;<?xml version="1.0" encoding="utf-8"?><Relationships xmlns="http://schemas.openxmlformats.org/package/2006/relationships"><Relationship Type="http://schemas.openxmlformats.org/officeDocument/2006/relationships/slide" Target="/ppt/slides/slide3.xml" Id="R686df09a3e5a4060" /><Relationship Type="http://schemas.openxmlformats.org/officeDocument/2006/relationships/notesMaster" Target="/ppt/notesMasters/notesMaster1.xml" Id="R970ed43e5ee1485a" /></Relationships>
</file>

<file path=ppt/notesSlides/_rels/notesSlide4.xml.rels>&#65279;<?xml version="1.0" encoding="utf-8"?><Relationships xmlns="http://schemas.openxmlformats.org/package/2006/relationships"><Relationship Type="http://schemas.openxmlformats.org/officeDocument/2006/relationships/slide" Target="/ppt/slides/slide4.xml" Id="Rd4e1b38330724981" /><Relationship Type="http://schemas.openxmlformats.org/officeDocument/2006/relationships/notesMaster" Target="/ppt/notesMasters/notesMaster1.xml" Id="R9f3c65637cd44bbd" /></Relationships>
</file>

<file path=ppt/notesSlides/_rels/notesSlide5.xml.rels>&#65279;<?xml version="1.0" encoding="utf-8"?><Relationships xmlns="http://schemas.openxmlformats.org/package/2006/relationships"><Relationship Type="http://schemas.openxmlformats.org/officeDocument/2006/relationships/slide" Target="/ppt/slides/slide5.xml" Id="R91b07f114e9b4c76" /><Relationship Type="http://schemas.openxmlformats.org/officeDocument/2006/relationships/notesMaster" Target="/ppt/notesMasters/notesMaster1.xml" Id="R3360a1f5d1ef402b" /></Relationships>
</file>

<file path=ppt/notesSlides/_rels/notesSlide6.xml.rels>&#65279;<?xml version="1.0" encoding="utf-8"?><Relationships xmlns="http://schemas.openxmlformats.org/package/2006/relationships"><Relationship Type="http://schemas.openxmlformats.org/officeDocument/2006/relationships/slide" Target="/ppt/slides/slide6.xml" Id="R2cc02beb760a4f0f" /><Relationship Type="http://schemas.openxmlformats.org/officeDocument/2006/relationships/notesMaster" Target="/ppt/notesMasters/notesMaster1.xml" Id="R6930586767d1443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MER_VIS_local_geometry_manifest.csv; MER_VIS_report_summary.json and MER_VIS_report_verification.json in D:/Dropbox/Public Documents/UCLAN/MSc Research/Euclid/MER_VIS_galaxy_reports/all_2777; completed PA and inclination comparison statistics from the revised fitting report. Run completed October 2026. QI includes any geometry flag, failed fit or partial requested coverage. NoQI is a screening label and does not certify physical geometry.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MER_VIS_local_geometry_manifest.csv; MER_VIS_report_summary.json and MER_VIS_report_verification.json in D:/Dropbox/Public Documents/UCLAN/MSc Research/Euclid/MER_VIS_galaxy_reports/all_2777; completed PA and inclination comparison statistics from the revised fitting report. Run completed October 2026. Flag multiplicity computed directly from non-empty semicolon-separated codex_quality_flags for provisional_fit rows: 0=546,1=850,2=497,3=291,4=23. Flagged subtotal1661. All stacked segments use denominator2777. Failed fits are separate and not classified by flag count. Partial coverage is not counted as a geometry flag.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MER_VIS_local_geometry_manifest.csv; MER_VIS_report_summary.json and MER_VIS_report_verification.json in D:/Dropbox/Public Documents/UCLAN/MSc Research/Euclid/MER_VIS_galaxy_reports/all_2777; completed PA and inclination comparison statistics from the revised fitting report. Run completed October 2026. Failure counts are grouped directly from codex_error for codex_fit_status=fit_failed. 431 entries say ValueError: Insufficient bar/disc isophotes in selected radial ranges, triggered when either selected interval has fewer than three reliable isophotes. 138 say Only N reliable isophotes; inspect profile, with N&lt;10. One says Catalogue centre is not on a detected galaxy. These are recorded failure stages, not an independent diagnosis of physical cause. Left chart denominator2207, overlapping flags. Right chart denominator570, exclusive failures. Quality flag counts1210,791,573,200,28,7. 62 partial requested cutouts separately trigger QI.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MER_VIS_local_geometry_manifest.csv; MER_VIS_report_summary.json and MER_VIS_report_verification.json in D:/Dropbox/Public Documents/UCLAN/MSc Research/Euclid/MER_VIS_galaxy_reports/all_2777; completed PA and inclination comparison statistics from the revised fitting report. Run completed October 2026. The unflagged comparison includes 546 fits, including 19 partial cutouts, and differs from the 527 NoQI group. Codex fits Photutils isophotes, converts their pixel major-axis vectors using the local FITS WCS, and calculates degrees(atan2(East, North)) modulo 180. It uses axial means in selected disc and bar radial ranges. These are observed sky PAs before deprojection. North towards East is counterclockwise on a North-up East-left display, clockwise if East is right. Euclid documents raw POSITION_ANGLE as CCW from image x (SExtractor THETA_IMAGE), not necessarily celestial East. Our +90 adjustment follows the WCS conversion. For North-up East-left images, sky PA = (CCW image angle from +x +90) modulo180. This reference change is ALREADY included in the original WCS conversion. The adopted ADDITIONAL +90 follows that conversion and cannot be explained by counting the same reference change again. The observed offset is consistent with POSITION_ANGLE being referenced to the detection image y-axis rather than the documented x-axis, assuming the same rotation sense and major-axis definition. Interpreting a y-referenced value as x-referenced introduces a quarter-turn, cancelled by the additional 90-degree adjustment modulo180. This is a plausible explanation, not a confirmed documentation or pipeline error. The 2777 local North offsets have median absolute 0.141 degrees and maximum 0.604 degrees. No additional thumbnail rotation is applied. We adopt the correction without asserting an official Euclid North/East reference change. Euclid source: https://euclid.esac.esa.int/dr/q1/dpdd/merdpd/dpcards/mer_finalcatalog.html#mer-main-catalog-fits. Inclinations assume a circular thin disc, q0=0. No separate disc-component b/a values are populated. These are consistency checks, not independent true outer-disc measurements.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MER_VIS_local_geometry_manifest.csv; MER_VIS_report_summary.json and MER_VIS_report_verification.json in D:/Dropbox/Public Documents/UCLAN/MSc Research/Euclid/MER_VIS_galaxy_reports/all_2777; completed PA and inclination comparison statistics from the revised fitting report. Run completed October 2026. Image source: MER_VIS_explanation_work/example_5.png, prepared from this galaxy native FITS cutout and saved ellipse profile. Disc PA 151.1468 degrees, inclination 27.2469 degrees, disc PA scatter 35.4256 degrees. Original flags: disc_PA_unstable;small_bar_sensitive_to_resolution. Orange and green identify selected bar and disc intervals. The close adjusted Euclid mean PA does not remove radial instability.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MER_VIS_local_geometry_manifest.csv; MER_VIS_report_summary.json and MER_VIS_report_verification.json in D:/Dropbox/Public Documents/UCLAN/MSc Research/Euclid/MER_VIS_galaxy_reports/all_2777; completed PA and inclination comparison statistics from the revised fitting report. Run completed October 2026. Output root: D:/Dropbox/Public Documents/UCLAN/MSc Research/Euclid/MER_VIS_galaxy_reports/all_2777. QI = 1661 flagged fits + 570 failures + 19 otherwise unflagged partial cases. NoQI = 527. Each PDF contains at most 60 galaxies. Index: MER_VIS_report_review_index.csv. The source FITS files and fitting manifest remain unchanged. All fitted geometry remains provisional until physical review.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693eaab525f4568"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1a8f55d9c67f4ebe"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e5782fd1b6ff45ab"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e34bc4134bec4d67"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7b36ccbb2a604b04"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0ddd52abb94544b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0BA503B-557A-4FEC-BBE9-CDF2A8CD35BA}"/>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65BAEF87-EBB9-4790-8FBE-92522A43E7A6}"/>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3E84349A-2347-46D4-A409-AF129CD77406}"/>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1C5B610-CE58-4EE8-8092-C0E544CC539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63388B6A-C5A6-4550-A6C3-19044C5D1983}"/>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323034A9-9930-4FCD-969F-2D59BCFC210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ADA66A67-2F51-40FF-88BF-AACDCC1A84A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16942B55-DB26-4A05-98E8-EF0B8A666127}"/>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DB818E2-B874-445D-B89E-E39A28100FE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29E69797-7313-4DFA-AF89-10212E4268E0}"/>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c0e0bb17f5e45fb" /><Relationship Type="http://schemas.openxmlformats.org/officeDocument/2006/relationships/slideLayout" Target="/ppt/slideLayouts/slideLayout1.xml" Id="Rb191b54ef4d640e3" /><Relationship Type="http://schemas.openxmlformats.org/officeDocument/2006/relationships/slideLayout" Target="/ppt/slideLayouts/slideLayout2.xml" Id="Ra1eb308dfdc94ea1" /><Relationship Type="http://schemas.openxmlformats.org/officeDocument/2006/relationships/slideLayout" Target="/ppt/slideLayouts/slideLayout3.xml" Id="Ra780a746faa0456c" /><Relationship Type="http://schemas.openxmlformats.org/officeDocument/2006/relationships/slideLayout" Target="/ppt/slideLayouts/slideLayout4.xml" Id="Rd67694397c9942cc" /><Relationship Type="http://schemas.openxmlformats.org/officeDocument/2006/relationships/slideLayout" Target="/ppt/slideLayouts/slideLayout5.xml" Id="R894f6624314c452c" /><Relationship Type="http://schemas.openxmlformats.org/officeDocument/2006/relationships/slideLayout" Target="/ppt/slideLayouts/slideLayout6.xml" Id="R957500da148d4b3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191b54ef4d640e3"/>
    <p:sldLayoutId xmlns:r="http://schemas.openxmlformats.org/officeDocument/2006/relationships" id="2147483650" r:id="Ra1eb308dfdc94ea1"/>
    <p:sldLayoutId xmlns:r="http://schemas.openxmlformats.org/officeDocument/2006/relationships" id="2147483651" r:id="Ra780a746faa0456c"/>
    <p:sldLayoutId xmlns:r="http://schemas.openxmlformats.org/officeDocument/2006/relationships" id="2147483652" r:id="Rd67694397c9942cc"/>
    <p:sldLayoutId xmlns:r="http://schemas.openxmlformats.org/officeDocument/2006/relationships" id="2147483653" r:id="R894f6624314c452c"/>
    <p:sldLayoutId xmlns:r="http://schemas.openxmlformats.org/officeDocument/2006/relationships" id="2147483654" r:id="R957500da148d4b3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e95a303fc15c4653" /><Relationship Type="http://schemas.openxmlformats.org/officeDocument/2006/relationships/notesSlide" Target="/ppt/notesSlides/notesSlide1.xml" Id="R896e245071354fb0"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22185b063562439f" /><Relationship Type="http://schemas.openxmlformats.org/officeDocument/2006/relationships/chart" Target="/ppt/slides/charts/chart1.xml" Id="R2069e045635a4a0d" /><Relationship Type="http://schemas.openxmlformats.org/officeDocument/2006/relationships/notesSlide" Target="/ppt/notesSlides/notesSlide2.xml" Id="R29a4d609885c4c09"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d890499d28a74df1" /><Relationship Type="http://schemas.openxmlformats.org/officeDocument/2006/relationships/chart" Target="/ppt/slides/charts/chart2.xml" Id="Re50b268a0e234432" /><Relationship Type="http://schemas.openxmlformats.org/officeDocument/2006/relationships/chart" Target="/ppt/slides/charts/chart3.xml" Id="Rc0f83cc1e86248cc" /><Relationship Type="http://schemas.openxmlformats.org/officeDocument/2006/relationships/notesSlide" Target="/ppt/notesSlides/notesSlide3.xml" Id="R881136c9671b4661"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d7530b6b7a054a53" /><Relationship Type="http://schemas.openxmlformats.org/officeDocument/2006/relationships/notesSlide" Target="/ppt/notesSlides/notesSlide4.xml" Id="Rd6498d7a5abf406a"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e87c01134d514462" /><Relationship Type="http://schemas.openxmlformats.org/officeDocument/2006/relationships/image" Target="/ppt/media/image.png" Id="Ra2efc4a1498a43a7" /><Relationship Type="http://schemas.openxmlformats.org/officeDocument/2006/relationships/notesSlide" Target="/ppt/notesSlides/notesSlide5.xml" Id="R9cbc0ba208274990"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e8dce2d2b7674523" /><Relationship Type="http://schemas.openxmlformats.org/officeDocument/2006/relationships/notesSlide" Target="/ppt/notesSlides/notesSlide6.xml" Id="Rd7df77618381483a" /></Relationships>
</file>

<file path=ppt/slides/charts/chart1.xml><?xml version="1.0" encoding="utf-8"?>
<c:chartSpace xmlns:c="http://schemas.openxmlformats.org/drawingml/2006/chart">
  <c:lang val="en-US"/>
  <c:chart>
    <c:plotArea>
      <c:barChart>
        <c:barDir val="col"/>
        <c:grouping val="stacked"/>
        <c:varyColors val="0"/>
        <c:ser>
          <c:idx val="0"/>
          <c:order val="0"/>
          <c:tx>
            <c:v>No flags</c:v>
          </c:tx>
          <c:spPr>
            <a:solidFill xmlns:a="http://schemas.openxmlformats.org/drawingml/2006/main">
              <a:srgbClr val="367A8C"/>
            </a:solidFill>
          </c:spPr>
          <c:invertIfNegative val="0"/>
          <c:cat>
            <c:strLit>
              <c:ptCount val="3"/>
              <c:pt idx="0">
                <c:v>No geometry flags</c:v>
              </c:pt>
              <c:pt idx="1">
                <c:v>Flagged fit</c:v>
              </c:pt>
              <c:pt idx="2">
                <c:v>Failed fit</c:v>
              </c:pt>
            </c:strLit>
          </c:cat>
          <c:val>
            <c:numLit>
              <c:formatCode>0.0%</c:formatCode>
              <c:ptCount val="3"/>
              <c:pt idx="0">
                <c:v>0.196615</c:v>
              </c:pt>
              <c:pt idx="1">
                <c:v>0</c:v>
              </c:pt>
              <c:pt idx="2">
                <c:v>0</c:v>
              </c:pt>
            </c:numLit>
          </c:val>
        </c:ser>
        <c:ser>
          <c:idx val="1"/>
          <c:order val="1"/>
          <c:tx>
            <c:v>1 flag</c:v>
          </c:tx>
          <c:spPr>
            <a:solidFill xmlns:a="http://schemas.openxmlformats.org/drawingml/2006/main">
              <a:srgbClr val="E5BB66"/>
            </a:solidFill>
          </c:spPr>
          <c:invertIfNegative val="0"/>
          <c:cat>
            <c:strLit>
              <c:ptCount val="3"/>
              <c:pt idx="0">
                <c:v>No geometry flags</c:v>
              </c:pt>
              <c:pt idx="1">
                <c:v>Flagged fit</c:v>
              </c:pt>
              <c:pt idx="2">
                <c:v>Failed fit</c:v>
              </c:pt>
            </c:strLit>
          </c:cat>
          <c:val>
            <c:numLit>
              <c:formatCode>0.0%</c:formatCode>
              <c:ptCount val="3"/>
              <c:pt idx="0">
                <c:v>0</c:v>
              </c:pt>
              <c:pt idx="1">
                <c:v>0.306086</c:v>
              </c:pt>
              <c:pt idx="2">
                <c:v>0</c:v>
              </c:pt>
            </c:numLit>
          </c:val>
        </c:ser>
        <c:ser>
          <c:idx val="2"/>
          <c:order val="2"/>
          <c:tx>
            <c:v>2 flags</c:v>
          </c:tx>
          <c:spPr>
            <a:solidFill xmlns:a="http://schemas.openxmlformats.org/drawingml/2006/main">
              <a:srgbClr val="CC9637"/>
            </a:solidFill>
          </c:spPr>
          <c:invertIfNegative val="0"/>
          <c:cat>
            <c:strLit>
              <c:ptCount val="3"/>
              <c:pt idx="0">
                <c:v>No geometry flags</c:v>
              </c:pt>
              <c:pt idx="1">
                <c:v>Flagged fit</c:v>
              </c:pt>
              <c:pt idx="2">
                <c:v>Failed fit</c:v>
              </c:pt>
            </c:strLit>
          </c:cat>
          <c:val>
            <c:numLit>
              <c:formatCode>0.0%</c:formatCode>
              <c:ptCount val="3"/>
              <c:pt idx="0">
                <c:v>0</c:v>
              </c:pt>
              <c:pt idx="1">
                <c:v>0.17897</c:v>
              </c:pt>
              <c:pt idx="2">
                <c:v>0</c:v>
              </c:pt>
            </c:numLit>
          </c:val>
        </c:ser>
        <c:ser>
          <c:idx val="3"/>
          <c:order val="3"/>
          <c:tx>
            <c:v>3 flags</c:v>
          </c:tx>
          <c:spPr>
            <a:solidFill xmlns:a="http://schemas.openxmlformats.org/drawingml/2006/main">
              <a:srgbClr val="A66B24"/>
            </a:solidFill>
          </c:spPr>
          <c:invertIfNegative val="0"/>
          <c:cat>
            <c:strLit>
              <c:ptCount val="3"/>
              <c:pt idx="0">
                <c:v>No geometry flags</c:v>
              </c:pt>
              <c:pt idx="1">
                <c:v>Flagged fit</c:v>
              </c:pt>
              <c:pt idx="2">
                <c:v>Failed fit</c:v>
              </c:pt>
            </c:strLit>
          </c:cat>
          <c:val>
            <c:numLit>
              <c:formatCode>0.0%</c:formatCode>
              <c:ptCount val="3"/>
              <c:pt idx="0">
                <c:v>0</c:v>
              </c:pt>
              <c:pt idx="1">
                <c:v>0.104789</c:v>
              </c:pt>
              <c:pt idx="2">
                <c:v>0</c:v>
              </c:pt>
            </c:numLit>
          </c:val>
        </c:ser>
        <c:ser>
          <c:idx val="4"/>
          <c:order val="4"/>
          <c:tx>
            <c:v>4 flags</c:v>
          </c:tx>
          <c:spPr>
            <a:solidFill xmlns:a="http://schemas.openxmlformats.org/drawingml/2006/main">
              <a:srgbClr val="72441C"/>
            </a:solidFill>
          </c:spPr>
          <c:invertIfNegative val="0"/>
          <c:cat>
            <c:strLit>
              <c:ptCount val="3"/>
              <c:pt idx="0">
                <c:v>No geometry flags</c:v>
              </c:pt>
              <c:pt idx="1">
                <c:v>Flagged fit</c:v>
              </c:pt>
              <c:pt idx="2">
                <c:v>Failed fit</c:v>
              </c:pt>
            </c:strLit>
          </c:cat>
          <c:val>
            <c:numLit>
              <c:formatCode>0.0%</c:formatCode>
              <c:ptCount val="3"/>
              <c:pt idx="0">
                <c:v>0</c:v>
              </c:pt>
              <c:pt idx="1">
                <c:v>0.008282</c:v>
              </c:pt>
              <c:pt idx="2">
                <c:v>0</c:v>
              </c:pt>
            </c:numLit>
          </c:val>
        </c:ser>
        <c:ser>
          <c:idx val="5"/>
          <c:order val="5"/>
          <c:tx>
            <c:v>Failed</c:v>
          </c:tx>
          <c:spPr>
            <a:solidFill xmlns:a="http://schemas.openxmlformats.org/drawingml/2006/main">
              <a:srgbClr val="AC4B47"/>
            </a:solidFill>
          </c:spPr>
          <c:invertIfNegative val="0"/>
          <c:cat>
            <c:strLit>
              <c:ptCount val="3"/>
              <c:pt idx="0">
                <c:v>No geometry flags</c:v>
              </c:pt>
              <c:pt idx="1">
                <c:v>Flagged fit</c:v>
              </c:pt>
              <c:pt idx="2">
                <c:v>Failed fit</c:v>
              </c:pt>
            </c:strLit>
          </c:cat>
          <c:val>
            <c:numLit>
              <c:formatCode>0.0%</c:formatCode>
              <c:ptCount val="3"/>
              <c:pt idx="0">
                <c:v>0</c:v>
              </c:pt>
              <c:pt idx="1">
                <c:v>0</c:v>
              </c:pt>
              <c:pt idx="2">
                <c:v>0.205258</c:v>
              </c:pt>
            </c:numLit>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gapWidth val="90"/>
        <c:overlap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666666"/>
                </a:solidFill>
                <a:latin typeface="Arial"/>
                <a:ea typeface="Arial"/>
                <a:cs typeface="Arial"/>
              </a:defRPr>
            </a:pPr>
          </a:p>
        </c:txPr>
        <c:crossAx val="48672768"/>
      </c:catAx>
      <c:valAx>
        <c:axId val="48672768"/>
        <c:scaling>
          <c:orientation val="minMax"/>
        </c:scaling>
        <c:delete val="0"/>
        <c:axPos val="l"/>
        <c:majorGridlines>
          <c:spPr>
            <a:ln xmlns:a="http://schemas.openxmlformats.org/drawingml/2006/main" w="9525">
              <a:solidFill>
                <a:srgbClr val="E3E9EC"/>
              </a:solidFill>
              <a:prstDash val="solid"/>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Arial"/>
                <a:ea typeface="Arial"/>
                <a:cs typeface="Arial"/>
              </a:defRPr>
            </a:pPr>
          </a:p>
        </c:txPr>
        <c:crossAx val="48650112"/>
        <c:crossBetween val="between"/>
      </c:valAx>
    </c:plotArea>
    <c:plotVisOnly val="1"/>
  </c:chart>
</c:chartSpace>
</file>

<file path=ppt/slides/charts/chart2.xml><?xml version="1.0" encoding="utf-8"?>
<c:chartSpace xmlns:c="http://schemas.openxmlformats.org/drawingml/2006/chart">
  <c:lang val="en-US"/>
  <c:chart>
    <c:plotArea>
      <c:barChart>
        <c:barDir val="bar"/>
        <c:grouping val="clustered"/>
        <c:varyColors val="0"/>
        <c:ser>
          <c:idx val="0"/>
          <c:order val="0"/>
          <c:tx>
            <c:v>Share of fitted galaxies</c:v>
          </c:tx>
          <c:spPr>
            <a:solidFill xmlns:a="http://schemas.openxmlformats.org/drawingml/2006/main">
              <a:srgbClr val="C18B28"/>
            </a:solidFill>
          </c:spPr>
          <c:invertIfNegative val="0"/>
          <c:cat>
            <c:strLit>
              <c:ptCount val="6"/>
              <c:pt idx="0">
                <c:v>Small bar interval</c:v>
              </c:pt>
              <c:pt idx="1">
                <c:v>Unstable disc PA</c:v>
              </c:pt>
              <c:pt idx="2">
                <c:v>Changing disc shape</c:v>
              </c:pt>
              <c:pt idx="3">
                <c:v>Nearly face on</c:v>
              </c:pt>
              <c:pt idx="4">
                <c:v>Unstable bar PA</c:v>
              </c:pt>
              <c:pt idx="5">
                <c:v>Weak bar signature</c:v>
              </c:pt>
            </c:strLit>
          </c:cat>
          <c:val>
            <c:numLit>
              <c:formatCode>0.0%</c:formatCode>
              <c:ptCount val="6"/>
              <c:pt idx="0">
                <c:v>0.548256</c:v>
              </c:pt>
              <c:pt idx="1">
                <c:v>0.358405</c:v>
              </c:pt>
              <c:pt idx="2">
                <c:v>0.259628</c:v>
              </c:pt>
              <c:pt idx="3">
                <c:v>0.090621</c:v>
              </c:pt>
              <c:pt idx="4">
                <c:v>0.012687</c:v>
              </c:pt>
              <c:pt idx="5">
                <c:v>0.003172</c:v>
              </c:pt>
            </c:numLit>
          </c:val>
        </c:ser>
        <c:dLbls>
          <c:numFmt formatCode="0.0%" sourceLinked="0"/>
          <c:txPr>
            <a:bodyPr xmlns:a="http://schemas.openxmlformats.org/drawingml/2006/main" anchorCtr="1"/>
            <a:lstStyle xmlns:a="http://schemas.openxmlformats.org/drawingml/2006/main"/>
            <a:p xmlns:a="http://schemas.openxmlformats.org/drawingml/2006/main">
              <a:pPr>
                <a:defRPr sz="1425">
                  <a:latin typeface="Arial"/>
                  <a:ea typeface="Arial"/>
                  <a:cs typeface="Arial"/>
                </a:defRPr>
              </a:pPr>
            </a:p>
          </c:txPr>
          <c:dLblPos val="outEnd"/>
          <c:showLegendKey val="0"/>
          <c:showVal val="1"/>
          <c:showCatName val="0"/>
          <c:showSerName val="0"/>
          <c:showPercent val="0"/>
          <c:showBubbleSize val="0"/>
          <c:showLeaderLines val="0"/>
        </c:dLbls>
        <c:gapWidth val="55"/>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Arial"/>
                <a:ea typeface="Arial"/>
                <a:cs typeface="Arial"/>
              </a:defRPr>
            </a:pPr>
          </a:p>
        </c:txPr>
        <c:crossAx val="48672768"/>
      </c:catAx>
      <c:valAx>
        <c:axId val="48672768"/>
        <c:scaling>
          <c:orientation val="minMax"/>
        </c:scaling>
        <c:delete val="0"/>
        <c:axPos val="b"/>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Arial"/>
                <a:ea typeface="Arial"/>
                <a:cs typeface="Arial"/>
              </a:defRPr>
            </a:pPr>
          </a:p>
        </c:txPr>
        <c:crossAx val="48650112"/>
        <c:crossBetween val="between"/>
      </c:valAx>
    </c:plotArea>
    <c:plotVisOnly val="1"/>
  </c:chart>
</c:chartSpace>
</file>

<file path=ppt/slides/charts/chart3.xml><?xml version="1.0" encoding="utf-8"?>
<c:chartSpace xmlns:c="http://schemas.openxmlformats.org/drawingml/2006/chart">
  <c:lang val="en-US"/>
  <c:chart>
    <c:plotArea>
      <c:barChart>
        <c:barDir val="col"/>
        <c:grouping val="clustered"/>
        <c:varyColors val="0"/>
        <c:ser>
          <c:idx val="0"/>
          <c:order val="0"/>
          <c:tx>
            <c:v>Share of failures</c:v>
          </c:tx>
          <c:spPr>
            <a:solidFill xmlns:a="http://schemas.openxmlformats.org/drawingml/2006/main">
              <a:srgbClr val="AC4B47"/>
            </a:solidFill>
          </c:spPr>
          <c:invertIfNegative val="0"/>
          <c:cat>
            <c:strLit>
              <c:ptCount val="3"/>
              <c:pt idx="0">
                <c:v>Interval</c:v>
              </c:pt>
              <c:pt idx="1">
                <c:v>Short profile</c:v>
              </c:pt>
              <c:pt idx="2">
                <c:v>Centre</c:v>
              </c:pt>
            </c:strLit>
          </c:cat>
          <c:val>
            <c:numLit>
              <c:formatCode>0.0%</c:formatCode>
              <c:ptCount val="3"/>
              <c:pt idx="0">
                <c:v>0.75614</c:v>
              </c:pt>
              <c:pt idx="1">
                <c:v>0.242105</c:v>
              </c:pt>
              <c:pt idx="2">
                <c:v>0.001754</c:v>
              </c:pt>
            </c:numLit>
          </c:val>
        </c:ser>
        <c:dLbls>
          <c:numFmt formatCode="0.0%" sourceLinked="0"/>
          <c:txPr>
            <a:bodyPr xmlns:a="http://schemas.openxmlformats.org/drawingml/2006/main" anchorCtr="1"/>
            <a:lstStyle xmlns:a="http://schemas.openxmlformats.org/drawingml/2006/main"/>
            <a:p xmlns:a="http://schemas.openxmlformats.org/drawingml/2006/main">
              <a:pPr>
                <a:defRPr sz="1425">
                  <a:latin typeface="Arial"/>
                  <a:ea typeface="Arial"/>
                  <a:cs typeface="Arial"/>
                </a:defRPr>
              </a:pPr>
            </a:p>
          </c:txPr>
          <c:dLblPos val="outEnd"/>
          <c:showLegendKey val="0"/>
          <c:showVal val="1"/>
          <c:showCatName val="0"/>
          <c:showSerName val="0"/>
          <c:showPercent val="0"/>
          <c:showBubbleSize val="0"/>
          <c:showLeaderLines val="0"/>
        </c:dLbls>
        <c:gapWidth val="7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Arial"/>
                <a:ea typeface="Arial"/>
                <a:cs typeface="Arial"/>
              </a:defRPr>
            </a:pPr>
          </a:p>
        </c:txPr>
        <c:crossAx val="48672768"/>
      </c:catAx>
      <c:valAx>
        <c:axId val="48672768"/>
        <c:scaling>
          <c:orientation val="minMax"/>
        </c:scaling>
        <c:delete val="0"/>
        <c:axPos val="l"/>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75">
                <a:solidFill>
                  <a:srgbClr val="666666"/>
                </a:solidFill>
                <a:latin typeface="Arial"/>
                <a:ea typeface="Arial"/>
                <a:cs typeface="Arial"/>
              </a:defRPr>
            </a:pPr>
          </a:p>
        </c:txPr>
        <c:crossAx val="48650112"/>
        <c:crossBetween val="between"/>
      </c:valAx>
    </c:plotArea>
    <c:plotVisOnly val="1"/>
  </c:chart>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3330CEE4-A477-4EB0-AD51-512CCD50EA22}"/>
              </a:ext>
            </a:extLst>
          </p:cNvPr>
          <p:cNvSpPr>
            <a:spLocks xmlns:a="http://schemas.openxmlformats.org/drawingml/2006/main" noGrp="1"/>
          </p:cNvSpPr>
          <p:nvPr/>
        </p:nvSpPr>
        <p:spPr>
          <a:xfrm xmlns:a="http://schemas.openxmlformats.org/drawingml/2006/main">
            <a:off x="609600" y="4000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42633"/>
                </a:solidFill>
                <a:latin typeface="Arial"/>
                <a:ea typeface="Arial"/>
                <a:cs typeface="Arial"/>
              </a:defRPr>
            </a:defPPr>
            <a:lvl1pPr>
              <a:defRPr sz="3300" b="1">
                <a:solidFill>
                  <a:srgbClr val="142633"/>
                </a:solidFill>
                <a:latin typeface="Arial"/>
                <a:ea typeface="Arial"/>
                <a:cs typeface="Arial"/>
              </a:defRPr>
            </a:lvl1pPr>
            <a:lvl2pPr>
              <a:defRPr sz="3300" b="1">
                <a:solidFill>
                  <a:srgbClr val="142633"/>
                </a:solidFill>
                <a:latin typeface="Arial"/>
                <a:ea typeface="Arial"/>
                <a:cs typeface="Arial"/>
              </a:defRPr>
            </a:lvl2pPr>
            <a:lvl3pPr>
              <a:defRPr sz="3300" b="1">
                <a:solidFill>
                  <a:srgbClr val="142633"/>
                </a:solidFill>
                <a:latin typeface="Arial"/>
                <a:ea typeface="Arial"/>
                <a:cs typeface="Arial"/>
              </a:defRPr>
            </a:lvl3pPr>
            <a:lvl4pPr>
              <a:defRPr sz="3300" b="1">
                <a:solidFill>
                  <a:srgbClr val="142633"/>
                </a:solidFill>
                <a:latin typeface="Arial"/>
                <a:ea typeface="Arial"/>
                <a:cs typeface="Arial"/>
              </a:defRPr>
            </a:lvl4pPr>
            <a:lvl5pPr>
              <a:defRPr sz="3300" b="1">
                <a:solidFill>
                  <a:srgbClr val="142633"/>
                </a:solidFill>
                <a:latin typeface="Arial"/>
                <a:ea typeface="Arial"/>
                <a:cs typeface="Arial"/>
              </a:defRPr>
            </a:lvl5pPr>
            <a:lvl6pPr>
              <a:defRPr sz="3300" b="1">
                <a:solidFill>
                  <a:srgbClr val="142633"/>
                </a:solidFill>
                <a:latin typeface="Arial"/>
                <a:ea typeface="Arial"/>
                <a:cs typeface="Arial"/>
              </a:defRPr>
            </a:lvl6pPr>
            <a:lvl7pPr>
              <a:defRPr sz="3300" b="1">
                <a:solidFill>
                  <a:srgbClr val="142633"/>
                </a:solidFill>
                <a:latin typeface="Arial"/>
                <a:ea typeface="Arial"/>
                <a:cs typeface="Arial"/>
              </a:defRPr>
            </a:lvl7pPr>
            <a:lvl8pPr>
              <a:defRPr sz="3300" b="1">
                <a:solidFill>
                  <a:srgbClr val="142633"/>
                </a:solidFill>
                <a:latin typeface="Arial"/>
                <a:ea typeface="Arial"/>
                <a:cs typeface="Arial"/>
              </a:defRPr>
            </a:lvl8pPr>
            <a:lvl9pPr>
              <a:defRPr sz="3300" b="1">
                <a:solidFill>
                  <a:srgbClr val="142633"/>
                </a:solidFill>
                <a:latin typeface="Arial"/>
                <a:ea typeface="Arial"/>
                <a:cs typeface="Arial"/>
              </a:defRPr>
            </a:lvl9pPr>
          </a:lstStyle>
          <a:p xmlns:a="http://schemas.openxmlformats.org/drawingml/2006/main">
            <a:pPr>
              <a:defRPr sz="3300" b="1">
                <a:solidFill>
                  <a:srgbClr val="142633"/>
                </a:solidFill>
                <a:latin typeface="Arial"/>
                <a:ea typeface="Arial"/>
                <a:cs typeface="Arial"/>
              </a:defRPr>
            </a:pPr>
            <a:r>
              <a:rPr sz="3300" b="1">
                <a:solidFill>
                  <a:srgbClr val="142633"/>
                </a:solidFill>
                <a:latin typeface="Arial"/>
                <a:ea typeface="Arial"/>
                <a:cs typeface="Arial"/>
              </a:rPr>
              <a:t>Euclid MER VIS geometry outcomes</a:t>
            </a:r>
          </a:p>
        </p:txBody>
      </p:sp>
      <p:sp>
        <p:nvSpPr>
          <p:cNvPr id="2" name="">
            <a:extLst xmlns:a="http://schemas.openxmlformats.org/drawingml/2006/main">
              <a:ext uri="{FF2B5EF4-FFF2-40B4-BE49-F238E27FC236}">
                <a16:creationId xmlns:a16="http://schemas.microsoft.com/office/drawing/2014/main" id="{488CE39E-C316-4438-886B-9AC8717BFFD4}"/>
              </a:ext>
            </a:extLst>
          </p:cNvPr>
          <p:cNvSpPr>
            <a:spLocks xmlns:a="http://schemas.openxmlformats.org/drawingml/2006/main" noGrp="1"/>
          </p:cNvSpPr>
          <p:nvPr/>
        </p:nvSpPr>
        <p:spPr>
          <a:xfrm xmlns:a="http://schemas.openxmlformats.org/drawingml/2006/main">
            <a:off x="10858500" y="6477000"/>
            <a:ext cx="7239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673"/>
                </a:solidFill>
                <a:latin typeface="Arial"/>
                <a:ea typeface="Arial"/>
                <a:cs typeface="Arial"/>
              </a:defRPr>
            </a:defPPr>
            <a:lvl1pPr>
              <a:defRPr sz="1200" b="0">
                <a:solidFill>
                  <a:srgbClr val="526673"/>
                </a:solidFill>
                <a:latin typeface="Arial"/>
                <a:ea typeface="Arial"/>
                <a:cs typeface="Arial"/>
              </a:defRPr>
            </a:lvl1pPr>
            <a:lvl2pPr>
              <a:defRPr sz="1200" b="0">
                <a:solidFill>
                  <a:srgbClr val="526673"/>
                </a:solidFill>
                <a:latin typeface="Arial"/>
                <a:ea typeface="Arial"/>
                <a:cs typeface="Arial"/>
              </a:defRPr>
            </a:lvl2pPr>
            <a:lvl3pPr>
              <a:defRPr sz="1200" b="0">
                <a:solidFill>
                  <a:srgbClr val="526673"/>
                </a:solidFill>
                <a:latin typeface="Arial"/>
                <a:ea typeface="Arial"/>
                <a:cs typeface="Arial"/>
              </a:defRPr>
            </a:lvl3pPr>
            <a:lvl4pPr>
              <a:defRPr sz="1200" b="0">
                <a:solidFill>
                  <a:srgbClr val="526673"/>
                </a:solidFill>
                <a:latin typeface="Arial"/>
                <a:ea typeface="Arial"/>
                <a:cs typeface="Arial"/>
              </a:defRPr>
            </a:lvl4pPr>
            <a:lvl5pPr>
              <a:defRPr sz="1200" b="0">
                <a:solidFill>
                  <a:srgbClr val="526673"/>
                </a:solidFill>
                <a:latin typeface="Arial"/>
                <a:ea typeface="Arial"/>
                <a:cs typeface="Arial"/>
              </a:defRPr>
            </a:lvl5pPr>
            <a:lvl6pPr>
              <a:defRPr sz="1200" b="0">
                <a:solidFill>
                  <a:srgbClr val="526673"/>
                </a:solidFill>
                <a:latin typeface="Arial"/>
                <a:ea typeface="Arial"/>
                <a:cs typeface="Arial"/>
              </a:defRPr>
            </a:lvl6pPr>
            <a:lvl7pPr>
              <a:defRPr sz="1200" b="0">
                <a:solidFill>
                  <a:srgbClr val="526673"/>
                </a:solidFill>
                <a:latin typeface="Arial"/>
                <a:ea typeface="Arial"/>
                <a:cs typeface="Arial"/>
              </a:defRPr>
            </a:lvl7pPr>
            <a:lvl8pPr>
              <a:defRPr sz="1200" b="0">
                <a:solidFill>
                  <a:srgbClr val="526673"/>
                </a:solidFill>
                <a:latin typeface="Arial"/>
                <a:ea typeface="Arial"/>
                <a:cs typeface="Arial"/>
              </a:defRPr>
            </a:lvl8pPr>
            <a:lvl9pPr>
              <a:defRPr sz="1200" b="0">
                <a:solidFill>
                  <a:srgbClr val="526673"/>
                </a:solidFill>
                <a:latin typeface="Arial"/>
                <a:ea typeface="Arial"/>
                <a:cs typeface="Arial"/>
              </a:defRPr>
            </a:lvl9pPr>
          </a:lstStyle>
          <a:p xmlns:a="http://schemas.openxmlformats.org/drawingml/2006/main">
            <a:pPr>
              <a:defRPr sz="1200" b="0">
                <a:solidFill>
                  <a:srgbClr val="526673"/>
                </a:solidFill>
                <a:latin typeface="Arial"/>
                <a:ea typeface="Arial"/>
                <a:cs typeface="Arial"/>
              </a:defRPr>
            </a:pPr>
            <a:r>
              <a:rPr sz="1200" b="0">
                <a:solidFill>
                  <a:srgbClr val="526673"/>
                </a:solidFill>
                <a:latin typeface="Arial"/>
                <a:ea typeface="Arial"/>
                <a:cs typeface="Arial"/>
              </a:rPr>
              <a:t>1 / 6</a:t>
            </a:r>
          </a:p>
        </p:txBody>
      </p:sp>
      <p:sp>
        <p:nvSpPr>
          <p:cNvPr id="3" name="">
            <a:extLst xmlns:a="http://schemas.openxmlformats.org/drawingml/2006/main">
              <a:ext uri="{FF2B5EF4-FFF2-40B4-BE49-F238E27FC236}">
                <a16:creationId xmlns:a16="http://schemas.microsoft.com/office/drawing/2014/main" id="{DBFC9886-14B5-4712-AA2A-5862BE52F12B}"/>
              </a:ext>
            </a:extLst>
          </p:cNvPr>
          <p:cNvSpPr>
            <a:spLocks xmlns:a="http://schemas.openxmlformats.org/drawingml/2006/main" noGrp="1"/>
          </p:cNvSpPr>
          <p:nvPr/>
        </p:nvSpPr>
        <p:spPr>
          <a:xfrm xmlns:a="http://schemas.openxmlformats.org/drawingml/2006/main">
            <a:off x="609600" y="1981200"/>
            <a:ext cx="10477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4500" b="1">
                <a:solidFill>
                  <a:srgbClr val="205F7A"/>
                </a:solidFill>
                <a:latin typeface="Arial"/>
                <a:ea typeface="Arial"/>
                <a:cs typeface="Arial"/>
              </a:defRPr>
            </a:defPPr>
            <a:lvl1pPr>
              <a:defRPr sz="4500" b="1">
                <a:solidFill>
                  <a:srgbClr val="205F7A"/>
                </a:solidFill>
                <a:latin typeface="Arial"/>
                <a:ea typeface="Arial"/>
                <a:cs typeface="Arial"/>
              </a:defRPr>
            </a:lvl1pPr>
            <a:lvl2pPr>
              <a:defRPr sz="4500" b="1">
                <a:solidFill>
                  <a:srgbClr val="205F7A"/>
                </a:solidFill>
                <a:latin typeface="Arial"/>
                <a:ea typeface="Arial"/>
                <a:cs typeface="Arial"/>
              </a:defRPr>
            </a:lvl2pPr>
            <a:lvl3pPr>
              <a:defRPr sz="4500" b="1">
                <a:solidFill>
                  <a:srgbClr val="205F7A"/>
                </a:solidFill>
                <a:latin typeface="Arial"/>
                <a:ea typeface="Arial"/>
                <a:cs typeface="Arial"/>
              </a:defRPr>
            </a:lvl3pPr>
            <a:lvl4pPr>
              <a:defRPr sz="4500" b="1">
                <a:solidFill>
                  <a:srgbClr val="205F7A"/>
                </a:solidFill>
                <a:latin typeface="Arial"/>
                <a:ea typeface="Arial"/>
                <a:cs typeface="Arial"/>
              </a:defRPr>
            </a:lvl4pPr>
            <a:lvl5pPr>
              <a:defRPr sz="4500" b="1">
                <a:solidFill>
                  <a:srgbClr val="205F7A"/>
                </a:solidFill>
                <a:latin typeface="Arial"/>
                <a:ea typeface="Arial"/>
                <a:cs typeface="Arial"/>
              </a:defRPr>
            </a:lvl5pPr>
            <a:lvl6pPr>
              <a:defRPr sz="4500" b="1">
                <a:solidFill>
                  <a:srgbClr val="205F7A"/>
                </a:solidFill>
                <a:latin typeface="Arial"/>
                <a:ea typeface="Arial"/>
                <a:cs typeface="Arial"/>
              </a:defRPr>
            </a:lvl6pPr>
            <a:lvl7pPr>
              <a:defRPr sz="4500" b="1">
                <a:solidFill>
                  <a:srgbClr val="205F7A"/>
                </a:solidFill>
                <a:latin typeface="Arial"/>
                <a:ea typeface="Arial"/>
                <a:cs typeface="Arial"/>
              </a:defRPr>
            </a:lvl7pPr>
            <a:lvl8pPr>
              <a:defRPr sz="4500" b="1">
                <a:solidFill>
                  <a:srgbClr val="205F7A"/>
                </a:solidFill>
                <a:latin typeface="Arial"/>
                <a:ea typeface="Arial"/>
                <a:cs typeface="Arial"/>
              </a:defRPr>
            </a:lvl8pPr>
            <a:lvl9pPr>
              <a:defRPr sz="4500" b="1">
                <a:solidFill>
                  <a:srgbClr val="205F7A"/>
                </a:solidFill>
                <a:latin typeface="Arial"/>
                <a:ea typeface="Arial"/>
                <a:cs typeface="Arial"/>
              </a:defRPr>
            </a:lvl9pPr>
          </a:lstStyle>
          <a:p xmlns:a="http://schemas.openxmlformats.org/drawingml/2006/main">
            <a:pPr>
              <a:defRPr sz="4500" b="1">
                <a:solidFill>
                  <a:srgbClr val="205F7A"/>
                </a:solidFill>
                <a:latin typeface="Arial"/>
                <a:ea typeface="Arial"/>
                <a:cs typeface="Arial"/>
              </a:defRPr>
            </a:pPr>
            <a:r>
              <a:rPr sz="4500" b="1">
                <a:solidFill>
                  <a:srgbClr val="205F7A"/>
                </a:solidFill>
                <a:latin typeface="Arial"/>
                <a:ea typeface="Arial"/>
                <a:cs typeface="Arial"/>
              </a:rPr>
              <a:t>2,777 galaxy cutouts</a:t>
            </a:r>
          </a:p>
        </p:txBody>
      </p:sp>
      <p:sp>
        <p:nvSpPr>
          <p:cNvPr id="4" name="">
            <a:extLst xmlns:a="http://schemas.openxmlformats.org/drawingml/2006/main">
              <a:ext uri="{FF2B5EF4-FFF2-40B4-BE49-F238E27FC236}">
                <a16:creationId xmlns:a16="http://schemas.microsoft.com/office/drawing/2014/main" id="{34827221-A129-4FEF-88B5-C2B2CC1580E2}"/>
              </a:ext>
            </a:extLst>
          </p:cNvPr>
          <p:cNvSpPr>
            <a:spLocks xmlns:a="http://schemas.openxmlformats.org/drawingml/2006/main" noGrp="1"/>
          </p:cNvSpPr>
          <p:nvPr/>
        </p:nvSpPr>
        <p:spPr>
          <a:xfrm xmlns:a="http://schemas.openxmlformats.org/drawingml/2006/main">
            <a:off x="609600" y="3200400"/>
            <a:ext cx="1047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0">
                <a:solidFill>
                  <a:srgbClr val="142633"/>
                </a:solidFill>
                <a:latin typeface="Arial"/>
                <a:ea typeface="Arial"/>
                <a:cs typeface="Arial"/>
              </a:defRPr>
            </a:defPPr>
            <a:lvl1pPr>
              <a:defRPr sz="2400" b="0">
                <a:solidFill>
                  <a:srgbClr val="142633"/>
                </a:solidFill>
                <a:latin typeface="Arial"/>
                <a:ea typeface="Arial"/>
                <a:cs typeface="Arial"/>
              </a:defRPr>
            </a:lvl1pPr>
            <a:lvl2pPr>
              <a:defRPr sz="2400" b="0">
                <a:solidFill>
                  <a:srgbClr val="142633"/>
                </a:solidFill>
                <a:latin typeface="Arial"/>
                <a:ea typeface="Arial"/>
                <a:cs typeface="Arial"/>
              </a:defRPr>
            </a:lvl2pPr>
            <a:lvl3pPr>
              <a:defRPr sz="2400" b="0">
                <a:solidFill>
                  <a:srgbClr val="142633"/>
                </a:solidFill>
                <a:latin typeface="Arial"/>
                <a:ea typeface="Arial"/>
                <a:cs typeface="Arial"/>
              </a:defRPr>
            </a:lvl3pPr>
            <a:lvl4pPr>
              <a:defRPr sz="2400" b="0">
                <a:solidFill>
                  <a:srgbClr val="142633"/>
                </a:solidFill>
                <a:latin typeface="Arial"/>
                <a:ea typeface="Arial"/>
                <a:cs typeface="Arial"/>
              </a:defRPr>
            </a:lvl4pPr>
            <a:lvl5pPr>
              <a:defRPr sz="2400" b="0">
                <a:solidFill>
                  <a:srgbClr val="142633"/>
                </a:solidFill>
                <a:latin typeface="Arial"/>
                <a:ea typeface="Arial"/>
                <a:cs typeface="Arial"/>
              </a:defRPr>
            </a:lvl5pPr>
            <a:lvl6pPr>
              <a:defRPr sz="2400" b="0">
                <a:solidFill>
                  <a:srgbClr val="142633"/>
                </a:solidFill>
                <a:latin typeface="Arial"/>
                <a:ea typeface="Arial"/>
                <a:cs typeface="Arial"/>
              </a:defRPr>
            </a:lvl6pPr>
            <a:lvl7pPr>
              <a:defRPr sz="2400" b="0">
                <a:solidFill>
                  <a:srgbClr val="142633"/>
                </a:solidFill>
                <a:latin typeface="Arial"/>
                <a:ea typeface="Arial"/>
                <a:cs typeface="Arial"/>
              </a:defRPr>
            </a:lvl7pPr>
            <a:lvl8pPr>
              <a:defRPr sz="2400" b="0">
                <a:solidFill>
                  <a:srgbClr val="142633"/>
                </a:solidFill>
                <a:latin typeface="Arial"/>
                <a:ea typeface="Arial"/>
                <a:cs typeface="Arial"/>
              </a:defRPr>
            </a:lvl8pPr>
            <a:lvl9pPr>
              <a:defRPr sz="2400" b="0">
                <a:solidFill>
                  <a:srgbClr val="142633"/>
                </a:solidFill>
                <a:latin typeface="Arial"/>
                <a:ea typeface="Arial"/>
                <a:cs typeface="Arial"/>
              </a:defRPr>
            </a:lvl9pPr>
          </a:lstStyle>
          <a:p xmlns:a="http://schemas.openxmlformats.org/drawingml/2006/main">
            <a:pPr>
              <a:defRPr sz="2400" b="0">
                <a:solidFill>
                  <a:srgbClr val="142633"/>
                </a:solidFill>
                <a:latin typeface="Arial"/>
                <a:ea typeface="Arial"/>
                <a:cs typeface="Arial"/>
              </a:defRPr>
            </a:pPr>
            <a:r>
              <a:rPr sz="2400" b="0">
                <a:solidFill>
                  <a:srgbClr val="142633"/>
                </a:solidFill>
                <a:latin typeface="Arial"/>
                <a:ea typeface="Arial"/>
                <a:cs typeface="Arial"/>
              </a:rPr>
              <a:t>Completed fitting and grouped review reports</a:t>
            </a:r>
          </a:p>
        </p:txBody>
      </p:sp>
      <p:sp>
        <p:nvSpPr>
          <p:cNvPr id="5" name="">
            <a:extLst xmlns:a="http://schemas.openxmlformats.org/drawingml/2006/main">
              <a:ext uri="{FF2B5EF4-FFF2-40B4-BE49-F238E27FC236}">
                <a16:creationId xmlns:a16="http://schemas.microsoft.com/office/drawing/2014/main" id="{E494BE37-FBEA-4F10-B261-F977583C6327}"/>
              </a:ext>
            </a:extLst>
          </p:cNvPr>
          <p:cNvSpPr>
            <a:spLocks xmlns:a="http://schemas.openxmlformats.org/drawingml/2006/main" noGrp="1"/>
          </p:cNvSpPr>
          <p:nvPr/>
        </p:nvSpPr>
        <p:spPr>
          <a:xfrm xmlns:a="http://schemas.openxmlformats.org/drawingml/2006/main">
            <a:off x="609600" y="4191000"/>
            <a:ext cx="1047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142633"/>
                </a:solidFill>
                <a:latin typeface="Arial"/>
                <a:ea typeface="Arial"/>
                <a:cs typeface="Arial"/>
              </a:defRPr>
            </a:defPPr>
            <a:lvl1pPr>
              <a:defRPr sz="2250" b="0">
                <a:solidFill>
                  <a:srgbClr val="142633"/>
                </a:solidFill>
                <a:latin typeface="Arial"/>
                <a:ea typeface="Arial"/>
                <a:cs typeface="Arial"/>
              </a:defRPr>
            </a:lvl1pPr>
            <a:lvl2pPr>
              <a:defRPr sz="2250" b="0">
                <a:solidFill>
                  <a:srgbClr val="142633"/>
                </a:solidFill>
                <a:latin typeface="Arial"/>
                <a:ea typeface="Arial"/>
                <a:cs typeface="Arial"/>
              </a:defRPr>
            </a:lvl2pPr>
            <a:lvl3pPr>
              <a:defRPr sz="2250" b="0">
                <a:solidFill>
                  <a:srgbClr val="142633"/>
                </a:solidFill>
                <a:latin typeface="Arial"/>
                <a:ea typeface="Arial"/>
                <a:cs typeface="Arial"/>
              </a:defRPr>
            </a:lvl3pPr>
            <a:lvl4pPr>
              <a:defRPr sz="2250" b="0">
                <a:solidFill>
                  <a:srgbClr val="142633"/>
                </a:solidFill>
                <a:latin typeface="Arial"/>
                <a:ea typeface="Arial"/>
                <a:cs typeface="Arial"/>
              </a:defRPr>
            </a:lvl4pPr>
            <a:lvl5pPr>
              <a:defRPr sz="2250" b="0">
                <a:solidFill>
                  <a:srgbClr val="142633"/>
                </a:solidFill>
                <a:latin typeface="Arial"/>
                <a:ea typeface="Arial"/>
                <a:cs typeface="Arial"/>
              </a:defRPr>
            </a:lvl5pPr>
            <a:lvl6pPr>
              <a:defRPr sz="2250" b="0">
                <a:solidFill>
                  <a:srgbClr val="142633"/>
                </a:solidFill>
                <a:latin typeface="Arial"/>
                <a:ea typeface="Arial"/>
                <a:cs typeface="Arial"/>
              </a:defRPr>
            </a:lvl6pPr>
            <a:lvl7pPr>
              <a:defRPr sz="2250" b="0">
                <a:solidFill>
                  <a:srgbClr val="142633"/>
                </a:solidFill>
                <a:latin typeface="Arial"/>
                <a:ea typeface="Arial"/>
                <a:cs typeface="Arial"/>
              </a:defRPr>
            </a:lvl7pPr>
            <a:lvl8pPr>
              <a:defRPr sz="2250" b="0">
                <a:solidFill>
                  <a:srgbClr val="142633"/>
                </a:solidFill>
                <a:latin typeface="Arial"/>
                <a:ea typeface="Arial"/>
                <a:cs typeface="Arial"/>
              </a:defRPr>
            </a:lvl8pPr>
            <a:lvl9pPr>
              <a:defRPr sz="2250" b="0">
                <a:solidFill>
                  <a:srgbClr val="142633"/>
                </a:solidFill>
                <a:latin typeface="Arial"/>
                <a:ea typeface="Arial"/>
                <a:cs typeface="Arial"/>
              </a:defRPr>
            </a:lvl9pPr>
          </a:lstStyle>
          <a:p xmlns:a="http://schemas.openxmlformats.org/drawingml/2006/main">
            <a:pPr>
              <a:defRPr sz="2250" b="0">
                <a:solidFill>
                  <a:srgbClr val="142633"/>
                </a:solidFill>
                <a:latin typeface="Arial"/>
                <a:ea typeface="Arial"/>
                <a:cs typeface="Arial"/>
              </a:defRPr>
            </a:pPr>
            <a:r>
              <a:rPr sz="2250" b="0">
                <a:solidFill>
                  <a:srgbClr val="142633"/>
                </a:solidFill>
                <a:latin typeface="Arial"/>
                <a:ea typeface="Arial"/>
                <a:cs typeface="Arial"/>
              </a:rPr>
              <a:t>2,250 reports carry a quality issue label</a:t>
            </a:r>
          </a:p>
          <a:p xmlns:a="http://schemas.openxmlformats.org/drawingml/2006/main">
            <a:pPr>
              <a:defRPr sz="2250" b="0">
                <a:solidFill>
                  <a:srgbClr val="142633"/>
                </a:solidFill>
                <a:latin typeface="Arial"/>
                <a:ea typeface="Arial"/>
                <a:cs typeface="Arial"/>
              </a:defRPr>
            </a:pPr>
            <a:r>
              <a:rPr sz="2250" b="0">
                <a:solidFill>
                  <a:srgbClr val="142633"/>
                </a:solidFill>
                <a:latin typeface="Arial"/>
                <a:ea typeface="Arial"/>
                <a:cs typeface="Arial"/>
              </a:rPr>
              <a:t>527 reports have no detected issue</a:t>
            </a:r>
          </a:p>
        </p:txBody>
      </p:sp>
      <p:sp>
        <p:nvSpPr>
          <p:cNvPr id="6" name="">
            <a:extLst xmlns:a="http://schemas.openxmlformats.org/drawingml/2006/main">
              <a:ext uri="{FF2B5EF4-FFF2-40B4-BE49-F238E27FC236}">
                <a16:creationId xmlns:a16="http://schemas.microsoft.com/office/drawing/2014/main" id="{0EDB744A-3D43-4469-B395-D10BD0128D25}"/>
              </a:ext>
            </a:extLst>
          </p:cNvPr>
          <p:cNvSpPr>
            <a:spLocks xmlns:a="http://schemas.openxmlformats.org/drawingml/2006/main" noGrp="1"/>
          </p:cNvSpPr>
          <p:nvPr/>
        </p:nvSpPr>
        <p:spPr>
          <a:xfrm xmlns:a="http://schemas.openxmlformats.org/drawingml/2006/main">
            <a:off x="609600" y="5829300"/>
            <a:ext cx="666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526673"/>
                </a:solidFill>
                <a:latin typeface="Arial"/>
                <a:ea typeface="Arial"/>
                <a:cs typeface="Arial"/>
              </a:defRPr>
            </a:defPPr>
            <a:lvl1pPr>
              <a:defRPr sz="1650" b="0">
                <a:solidFill>
                  <a:srgbClr val="526673"/>
                </a:solidFill>
                <a:latin typeface="Arial"/>
                <a:ea typeface="Arial"/>
                <a:cs typeface="Arial"/>
              </a:defRPr>
            </a:lvl1pPr>
            <a:lvl2pPr>
              <a:defRPr sz="1650" b="0">
                <a:solidFill>
                  <a:srgbClr val="526673"/>
                </a:solidFill>
                <a:latin typeface="Arial"/>
                <a:ea typeface="Arial"/>
                <a:cs typeface="Arial"/>
              </a:defRPr>
            </a:lvl2pPr>
            <a:lvl3pPr>
              <a:defRPr sz="1650" b="0">
                <a:solidFill>
                  <a:srgbClr val="526673"/>
                </a:solidFill>
                <a:latin typeface="Arial"/>
                <a:ea typeface="Arial"/>
                <a:cs typeface="Arial"/>
              </a:defRPr>
            </a:lvl3pPr>
            <a:lvl4pPr>
              <a:defRPr sz="1650" b="0">
                <a:solidFill>
                  <a:srgbClr val="526673"/>
                </a:solidFill>
                <a:latin typeface="Arial"/>
                <a:ea typeface="Arial"/>
                <a:cs typeface="Arial"/>
              </a:defRPr>
            </a:lvl4pPr>
            <a:lvl5pPr>
              <a:defRPr sz="1650" b="0">
                <a:solidFill>
                  <a:srgbClr val="526673"/>
                </a:solidFill>
                <a:latin typeface="Arial"/>
                <a:ea typeface="Arial"/>
                <a:cs typeface="Arial"/>
              </a:defRPr>
            </a:lvl5pPr>
            <a:lvl6pPr>
              <a:defRPr sz="1650" b="0">
                <a:solidFill>
                  <a:srgbClr val="526673"/>
                </a:solidFill>
                <a:latin typeface="Arial"/>
                <a:ea typeface="Arial"/>
                <a:cs typeface="Arial"/>
              </a:defRPr>
            </a:lvl6pPr>
            <a:lvl7pPr>
              <a:defRPr sz="1650" b="0">
                <a:solidFill>
                  <a:srgbClr val="526673"/>
                </a:solidFill>
                <a:latin typeface="Arial"/>
                <a:ea typeface="Arial"/>
                <a:cs typeface="Arial"/>
              </a:defRPr>
            </a:lvl7pPr>
            <a:lvl8pPr>
              <a:defRPr sz="1650" b="0">
                <a:solidFill>
                  <a:srgbClr val="526673"/>
                </a:solidFill>
                <a:latin typeface="Arial"/>
                <a:ea typeface="Arial"/>
                <a:cs typeface="Arial"/>
              </a:defRPr>
            </a:lvl8pPr>
            <a:lvl9pPr>
              <a:defRPr sz="1650" b="0">
                <a:solidFill>
                  <a:srgbClr val="526673"/>
                </a:solidFill>
                <a:latin typeface="Arial"/>
                <a:ea typeface="Arial"/>
                <a:cs typeface="Arial"/>
              </a:defRPr>
            </a:lvl9pPr>
          </a:lstStyle>
          <a:p xmlns:a="http://schemas.openxmlformats.org/drawingml/2006/main">
            <a:pPr>
              <a:defRPr sz="1650" b="0">
                <a:solidFill>
                  <a:srgbClr val="526673"/>
                </a:solidFill>
                <a:latin typeface="Arial"/>
                <a:ea typeface="Arial"/>
                <a:cs typeface="Arial"/>
              </a:defRPr>
            </a:pPr>
            <a:r>
              <a:rPr sz="1650" b="0">
                <a:solidFill>
                  <a:srgbClr val="526673"/>
                </a:solidFill>
                <a:latin typeface="Arial"/>
                <a:ea typeface="Arial"/>
                <a:cs typeface="Arial"/>
              </a:rPr>
              <a:t>Updated 20 October 2026</a:t>
            </a:r>
          </a:p>
        </p:txBody>
      </p:sp>
    </p:spTree>
    <p:extLst>
      <p:ext uri="{BB962C8B-B14F-4D97-AF65-F5344CB8AC3E}">
        <p14:creationId xmlns:p14="http://schemas.microsoft.com/office/powerpoint/2010/main" val="903060289"/>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4470FC6F-6CC1-48B3-A5D0-8C9A96B7ED8C}"/>
              </a:ext>
            </a:extLst>
          </p:cNvPr>
          <p:cNvSpPr>
            <a:spLocks xmlns:a="http://schemas.openxmlformats.org/drawingml/2006/main" noGrp="1"/>
          </p:cNvSpPr>
          <p:nvPr/>
        </p:nvSpPr>
        <p:spPr>
          <a:xfrm xmlns:a="http://schemas.openxmlformats.org/drawingml/2006/main">
            <a:off x="609600" y="4000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42633"/>
                </a:solidFill>
                <a:latin typeface="Arial"/>
                <a:ea typeface="Arial"/>
                <a:cs typeface="Arial"/>
              </a:defRPr>
            </a:defPPr>
            <a:lvl1pPr>
              <a:defRPr sz="3300" b="1">
                <a:solidFill>
                  <a:srgbClr val="142633"/>
                </a:solidFill>
                <a:latin typeface="Arial"/>
                <a:ea typeface="Arial"/>
                <a:cs typeface="Arial"/>
              </a:defRPr>
            </a:lvl1pPr>
            <a:lvl2pPr>
              <a:defRPr sz="3300" b="1">
                <a:solidFill>
                  <a:srgbClr val="142633"/>
                </a:solidFill>
                <a:latin typeface="Arial"/>
                <a:ea typeface="Arial"/>
                <a:cs typeface="Arial"/>
              </a:defRPr>
            </a:lvl2pPr>
            <a:lvl3pPr>
              <a:defRPr sz="3300" b="1">
                <a:solidFill>
                  <a:srgbClr val="142633"/>
                </a:solidFill>
                <a:latin typeface="Arial"/>
                <a:ea typeface="Arial"/>
                <a:cs typeface="Arial"/>
              </a:defRPr>
            </a:lvl3pPr>
            <a:lvl4pPr>
              <a:defRPr sz="3300" b="1">
                <a:solidFill>
                  <a:srgbClr val="142633"/>
                </a:solidFill>
                <a:latin typeface="Arial"/>
                <a:ea typeface="Arial"/>
                <a:cs typeface="Arial"/>
              </a:defRPr>
            </a:lvl4pPr>
            <a:lvl5pPr>
              <a:defRPr sz="3300" b="1">
                <a:solidFill>
                  <a:srgbClr val="142633"/>
                </a:solidFill>
                <a:latin typeface="Arial"/>
                <a:ea typeface="Arial"/>
                <a:cs typeface="Arial"/>
              </a:defRPr>
            </a:lvl5pPr>
            <a:lvl6pPr>
              <a:defRPr sz="3300" b="1">
                <a:solidFill>
                  <a:srgbClr val="142633"/>
                </a:solidFill>
                <a:latin typeface="Arial"/>
                <a:ea typeface="Arial"/>
                <a:cs typeface="Arial"/>
              </a:defRPr>
            </a:lvl6pPr>
            <a:lvl7pPr>
              <a:defRPr sz="3300" b="1">
                <a:solidFill>
                  <a:srgbClr val="142633"/>
                </a:solidFill>
                <a:latin typeface="Arial"/>
                <a:ea typeface="Arial"/>
                <a:cs typeface="Arial"/>
              </a:defRPr>
            </a:lvl7pPr>
            <a:lvl8pPr>
              <a:defRPr sz="3300" b="1">
                <a:solidFill>
                  <a:srgbClr val="142633"/>
                </a:solidFill>
                <a:latin typeface="Arial"/>
                <a:ea typeface="Arial"/>
                <a:cs typeface="Arial"/>
              </a:defRPr>
            </a:lvl8pPr>
            <a:lvl9pPr>
              <a:defRPr sz="3300" b="1">
                <a:solidFill>
                  <a:srgbClr val="142633"/>
                </a:solidFill>
                <a:latin typeface="Arial"/>
                <a:ea typeface="Arial"/>
                <a:cs typeface="Arial"/>
              </a:defRPr>
            </a:lvl9pPr>
          </a:lstStyle>
          <a:p xmlns:a="http://schemas.openxmlformats.org/drawingml/2006/main">
            <a:pPr>
              <a:defRPr sz="3300" b="1">
                <a:solidFill>
                  <a:srgbClr val="142633"/>
                </a:solidFill>
                <a:latin typeface="Arial"/>
                <a:ea typeface="Arial"/>
                <a:cs typeface="Arial"/>
              </a:defRPr>
            </a:pPr>
            <a:r>
              <a:rPr sz="3300" b="1">
                <a:solidFill>
                  <a:srgbClr val="142633"/>
                </a:solidFill>
                <a:latin typeface="Arial"/>
                <a:ea typeface="Arial"/>
                <a:cs typeface="Arial"/>
              </a:rPr>
              <a:t>Fitting outcomes by number of flags</a:t>
            </a:r>
          </a:p>
        </p:txBody>
      </p:sp>
      <p:sp>
        <p:nvSpPr>
          <p:cNvPr id="2" name="">
            <a:extLst xmlns:a="http://schemas.openxmlformats.org/drawingml/2006/main">
              <a:ext uri="{FF2B5EF4-FFF2-40B4-BE49-F238E27FC236}">
                <a16:creationId xmlns:a16="http://schemas.microsoft.com/office/drawing/2014/main" id="{035EC1F1-A70D-4CA8-BA62-15B70A0801AD}"/>
              </a:ext>
            </a:extLst>
          </p:cNvPr>
          <p:cNvSpPr>
            <a:spLocks xmlns:a="http://schemas.openxmlformats.org/drawingml/2006/main" noGrp="1"/>
          </p:cNvSpPr>
          <p:nvPr/>
        </p:nvSpPr>
        <p:spPr>
          <a:xfrm xmlns:a="http://schemas.openxmlformats.org/drawingml/2006/main">
            <a:off x="10858500" y="6477000"/>
            <a:ext cx="7239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673"/>
                </a:solidFill>
                <a:latin typeface="Arial"/>
                <a:ea typeface="Arial"/>
                <a:cs typeface="Arial"/>
              </a:defRPr>
            </a:defPPr>
            <a:lvl1pPr>
              <a:defRPr sz="1200" b="0">
                <a:solidFill>
                  <a:srgbClr val="526673"/>
                </a:solidFill>
                <a:latin typeface="Arial"/>
                <a:ea typeface="Arial"/>
                <a:cs typeface="Arial"/>
              </a:defRPr>
            </a:lvl1pPr>
            <a:lvl2pPr>
              <a:defRPr sz="1200" b="0">
                <a:solidFill>
                  <a:srgbClr val="526673"/>
                </a:solidFill>
                <a:latin typeface="Arial"/>
                <a:ea typeface="Arial"/>
                <a:cs typeface="Arial"/>
              </a:defRPr>
            </a:lvl2pPr>
            <a:lvl3pPr>
              <a:defRPr sz="1200" b="0">
                <a:solidFill>
                  <a:srgbClr val="526673"/>
                </a:solidFill>
                <a:latin typeface="Arial"/>
                <a:ea typeface="Arial"/>
                <a:cs typeface="Arial"/>
              </a:defRPr>
            </a:lvl3pPr>
            <a:lvl4pPr>
              <a:defRPr sz="1200" b="0">
                <a:solidFill>
                  <a:srgbClr val="526673"/>
                </a:solidFill>
                <a:latin typeface="Arial"/>
                <a:ea typeface="Arial"/>
                <a:cs typeface="Arial"/>
              </a:defRPr>
            </a:lvl4pPr>
            <a:lvl5pPr>
              <a:defRPr sz="1200" b="0">
                <a:solidFill>
                  <a:srgbClr val="526673"/>
                </a:solidFill>
                <a:latin typeface="Arial"/>
                <a:ea typeface="Arial"/>
                <a:cs typeface="Arial"/>
              </a:defRPr>
            </a:lvl5pPr>
            <a:lvl6pPr>
              <a:defRPr sz="1200" b="0">
                <a:solidFill>
                  <a:srgbClr val="526673"/>
                </a:solidFill>
                <a:latin typeface="Arial"/>
                <a:ea typeface="Arial"/>
                <a:cs typeface="Arial"/>
              </a:defRPr>
            </a:lvl6pPr>
            <a:lvl7pPr>
              <a:defRPr sz="1200" b="0">
                <a:solidFill>
                  <a:srgbClr val="526673"/>
                </a:solidFill>
                <a:latin typeface="Arial"/>
                <a:ea typeface="Arial"/>
                <a:cs typeface="Arial"/>
              </a:defRPr>
            </a:lvl7pPr>
            <a:lvl8pPr>
              <a:defRPr sz="1200" b="0">
                <a:solidFill>
                  <a:srgbClr val="526673"/>
                </a:solidFill>
                <a:latin typeface="Arial"/>
                <a:ea typeface="Arial"/>
                <a:cs typeface="Arial"/>
              </a:defRPr>
            </a:lvl8pPr>
            <a:lvl9pPr>
              <a:defRPr sz="1200" b="0">
                <a:solidFill>
                  <a:srgbClr val="526673"/>
                </a:solidFill>
                <a:latin typeface="Arial"/>
                <a:ea typeface="Arial"/>
                <a:cs typeface="Arial"/>
              </a:defRPr>
            </a:lvl9pPr>
          </a:lstStyle>
          <a:p xmlns:a="http://schemas.openxmlformats.org/drawingml/2006/main">
            <a:pPr>
              <a:defRPr sz="1200" b="0">
                <a:solidFill>
                  <a:srgbClr val="526673"/>
                </a:solidFill>
                <a:latin typeface="Arial"/>
                <a:ea typeface="Arial"/>
                <a:cs typeface="Arial"/>
              </a:defRPr>
            </a:pPr>
            <a:r>
              <a:rPr sz="1200" b="0">
                <a:solidFill>
                  <a:srgbClr val="526673"/>
                </a:solidFill>
                <a:latin typeface="Arial"/>
                <a:ea typeface="Arial"/>
                <a:cs typeface="Arial"/>
              </a:rPr>
              <a:t>2 / 6</a:t>
            </a:r>
          </a:p>
        </p:txBody>
      </p:sp>
      <p:sp>
        <p:nvSpPr>
          <p:cNvPr id="3" name="">
            <a:extLst xmlns:a="http://schemas.openxmlformats.org/drawingml/2006/main">
              <a:ext uri="{FF2B5EF4-FFF2-40B4-BE49-F238E27FC236}">
                <a16:creationId xmlns:a16="http://schemas.microsoft.com/office/drawing/2014/main" id="{AA4A9741-AC3C-45BC-A19F-90C98A05559D}"/>
              </a:ext>
            </a:extLst>
          </p:cNvPr>
          <p:cNvSpPr>
            <a:spLocks xmlns:a="http://schemas.openxmlformats.org/drawingml/2006/main" noGrp="1"/>
          </p:cNvSpPr>
          <p:nvPr/>
        </p:nvSpPr>
        <p:spPr>
          <a:xfrm xmlns:a="http://schemas.openxmlformats.org/drawingml/2006/main">
            <a:off x="609600" y="1295400"/>
            <a:ext cx="7239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526673"/>
                </a:solidFill>
                <a:latin typeface="Arial"/>
                <a:ea typeface="Arial"/>
                <a:cs typeface="Arial"/>
              </a:defRPr>
            </a:defPPr>
            <a:lvl1pPr>
              <a:defRPr sz="1875" b="0">
                <a:solidFill>
                  <a:srgbClr val="526673"/>
                </a:solidFill>
                <a:latin typeface="Arial"/>
                <a:ea typeface="Arial"/>
                <a:cs typeface="Arial"/>
              </a:defRPr>
            </a:lvl1pPr>
            <a:lvl2pPr>
              <a:defRPr sz="1875" b="0">
                <a:solidFill>
                  <a:srgbClr val="526673"/>
                </a:solidFill>
                <a:latin typeface="Arial"/>
                <a:ea typeface="Arial"/>
                <a:cs typeface="Arial"/>
              </a:defRPr>
            </a:lvl2pPr>
            <a:lvl3pPr>
              <a:defRPr sz="1875" b="0">
                <a:solidFill>
                  <a:srgbClr val="526673"/>
                </a:solidFill>
                <a:latin typeface="Arial"/>
                <a:ea typeface="Arial"/>
                <a:cs typeface="Arial"/>
              </a:defRPr>
            </a:lvl3pPr>
            <a:lvl4pPr>
              <a:defRPr sz="1875" b="0">
                <a:solidFill>
                  <a:srgbClr val="526673"/>
                </a:solidFill>
                <a:latin typeface="Arial"/>
                <a:ea typeface="Arial"/>
                <a:cs typeface="Arial"/>
              </a:defRPr>
            </a:lvl4pPr>
            <a:lvl5pPr>
              <a:defRPr sz="1875" b="0">
                <a:solidFill>
                  <a:srgbClr val="526673"/>
                </a:solidFill>
                <a:latin typeface="Arial"/>
                <a:ea typeface="Arial"/>
                <a:cs typeface="Arial"/>
              </a:defRPr>
            </a:lvl5pPr>
            <a:lvl6pPr>
              <a:defRPr sz="1875" b="0">
                <a:solidFill>
                  <a:srgbClr val="526673"/>
                </a:solidFill>
                <a:latin typeface="Arial"/>
                <a:ea typeface="Arial"/>
                <a:cs typeface="Arial"/>
              </a:defRPr>
            </a:lvl6pPr>
            <a:lvl7pPr>
              <a:defRPr sz="1875" b="0">
                <a:solidFill>
                  <a:srgbClr val="526673"/>
                </a:solidFill>
                <a:latin typeface="Arial"/>
                <a:ea typeface="Arial"/>
                <a:cs typeface="Arial"/>
              </a:defRPr>
            </a:lvl7pPr>
            <a:lvl8pPr>
              <a:defRPr sz="1875" b="0">
                <a:solidFill>
                  <a:srgbClr val="526673"/>
                </a:solidFill>
                <a:latin typeface="Arial"/>
                <a:ea typeface="Arial"/>
                <a:cs typeface="Arial"/>
              </a:defRPr>
            </a:lvl8pPr>
            <a:lvl9pPr>
              <a:defRPr sz="1875" b="0">
                <a:solidFill>
                  <a:srgbClr val="526673"/>
                </a:solidFill>
                <a:latin typeface="Arial"/>
                <a:ea typeface="Arial"/>
                <a:cs typeface="Arial"/>
              </a:defRPr>
            </a:lvl9pPr>
          </a:lstStyle>
          <a:p xmlns:a="http://schemas.openxmlformats.org/drawingml/2006/main">
            <a:pPr>
              <a:defRPr sz="1875" b="0">
                <a:solidFill>
                  <a:srgbClr val="526673"/>
                </a:solidFill>
                <a:latin typeface="Arial"/>
                <a:ea typeface="Arial"/>
                <a:cs typeface="Arial"/>
              </a:defRPr>
            </a:pPr>
            <a:r>
              <a:rPr sz="1875" b="0">
                <a:solidFill>
                  <a:srgbClr val="526673"/>
                </a:solidFill>
                <a:latin typeface="Arial"/>
                <a:ea typeface="Arial"/>
                <a:cs typeface="Arial"/>
              </a:rPr>
              <a:t>Percentage of all 2,777 galaxies</a:t>
            </a:r>
          </a:p>
        </p:txBody>
      </p:sp>
      <p:graphicFrame>
        <p:nvGraphicFramePr>
          <p:cNvPr id="4" name="Chart">
            <a:extLst xmlns:a="http://schemas.openxmlformats.org/drawingml/2006/main">
              <a:ext uri="{FF2B5EF4-FFF2-40B4-BE49-F238E27FC236}">
                <a16:creationId xmlns:a16="http://schemas.microsoft.com/office/drawing/2014/main" id="{343A6E50-C9AD-4598-8BD7-E7CD25E93C98}"/>
              </a:ext>
            </a:extLst>
          </p:cNvPr>
          <p:cNvGraphicFramePr/>
          <p:nvPr/>
        </p:nvGraphicFramePr>
        <p:xfrm>
          <a:off xmlns:a="http://schemas.openxmlformats.org/drawingml/2006/main" x="609600" y="1762125"/>
          <a:ext xmlns:a="http://schemas.openxmlformats.org/drawingml/2006/main" cx="7429500" cy="3810000"/>
        </p:xfrm>
        <a:graphic xmlns:a="http://schemas.openxmlformats.org/drawingml/2006/main">
          <a:graphicData uri="http://schemas.openxmlformats.org/drawingml/2006/chart">
            <c:chart xmlns:r="http://schemas.openxmlformats.org/officeDocument/2006/relationships" xmlns:c="http://schemas.openxmlformats.org/drawingml/2006/chart" r:id="R2069e045635a4a0d"/>
          </a:graphicData>
        </a:graphic>
      </p:graphicFrame>
      <p:sp>
        <p:nvSpPr>
          <p:cNvPr id="5" name="">
            <a:extLst xmlns:a="http://schemas.openxmlformats.org/drawingml/2006/main">
              <a:ext uri="{FF2B5EF4-FFF2-40B4-BE49-F238E27FC236}">
                <a16:creationId xmlns:a16="http://schemas.microsoft.com/office/drawing/2014/main" id="{25923F12-AAB0-4C40-B0BB-D5EAC48829FB}"/>
              </a:ext>
            </a:extLst>
          </p:cNvPr>
          <p:cNvSpPr>
            <a:spLocks xmlns:a="http://schemas.openxmlformats.org/drawingml/2006/main" noGrp="1"/>
          </p:cNvSpPr>
          <p:nvPr/>
        </p:nvSpPr>
        <p:spPr>
          <a:xfrm xmlns:a="http://schemas.openxmlformats.org/drawingml/2006/main">
            <a:off x="8286750" y="1714500"/>
            <a:ext cx="32861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205F7A"/>
                </a:solidFill>
                <a:latin typeface="Arial"/>
                <a:ea typeface="Arial"/>
                <a:cs typeface="Arial"/>
              </a:defRPr>
            </a:defPPr>
            <a:lvl1pPr>
              <a:defRPr sz="2025" b="1">
                <a:solidFill>
                  <a:srgbClr val="205F7A"/>
                </a:solidFill>
                <a:latin typeface="Arial"/>
                <a:ea typeface="Arial"/>
                <a:cs typeface="Arial"/>
              </a:defRPr>
            </a:lvl1pPr>
            <a:lvl2pPr>
              <a:defRPr sz="2025" b="1">
                <a:solidFill>
                  <a:srgbClr val="205F7A"/>
                </a:solidFill>
                <a:latin typeface="Arial"/>
                <a:ea typeface="Arial"/>
                <a:cs typeface="Arial"/>
              </a:defRPr>
            </a:lvl2pPr>
            <a:lvl3pPr>
              <a:defRPr sz="2025" b="1">
                <a:solidFill>
                  <a:srgbClr val="205F7A"/>
                </a:solidFill>
                <a:latin typeface="Arial"/>
                <a:ea typeface="Arial"/>
                <a:cs typeface="Arial"/>
              </a:defRPr>
            </a:lvl3pPr>
            <a:lvl4pPr>
              <a:defRPr sz="2025" b="1">
                <a:solidFill>
                  <a:srgbClr val="205F7A"/>
                </a:solidFill>
                <a:latin typeface="Arial"/>
                <a:ea typeface="Arial"/>
                <a:cs typeface="Arial"/>
              </a:defRPr>
            </a:lvl4pPr>
            <a:lvl5pPr>
              <a:defRPr sz="2025" b="1">
                <a:solidFill>
                  <a:srgbClr val="205F7A"/>
                </a:solidFill>
                <a:latin typeface="Arial"/>
                <a:ea typeface="Arial"/>
                <a:cs typeface="Arial"/>
              </a:defRPr>
            </a:lvl5pPr>
            <a:lvl6pPr>
              <a:defRPr sz="2025" b="1">
                <a:solidFill>
                  <a:srgbClr val="205F7A"/>
                </a:solidFill>
                <a:latin typeface="Arial"/>
                <a:ea typeface="Arial"/>
                <a:cs typeface="Arial"/>
              </a:defRPr>
            </a:lvl6pPr>
            <a:lvl7pPr>
              <a:defRPr sz="2025" b="1">
                <a:solidFill>
                  <a:srgbClr val="205F7A"/>
                </a:solidFill>
                <a:latin typeface="Arial"/>
                <a:ea typeface="Arial"/>
                <a:cs typeface="Arial"/>
              </a:defRPr>
            </a:lvl7pPr>
            <a:lvl8pPr>
              <a:defRPr sz="2025" b="1">
                <a:solidFill>
                  <a:srgbClr val="205F7A"/>
                </a:solidFill>
                <a:latin typeface="Arial"/>
                <a:ea typeface="Arial"/>
                <a:cs typeface="Arial"/>
              </a:defRPr>
            </a:lvl8pPr>
            <a:lvl9pPr>
              <a:defRPr sz="2025" b="1">
                <a:solidFill>
                  <a:srgbClr val="205F7A"/>
                </a:solidFill>
                <a:latin typeface="Arial"/>
                <a:ea typeface="Arial"/>
                <a:cs typeface="Arial"/>
              </a:defRPr>
            </a:lvl9pPr>
          </a:lstStyle>
          <a:p xmlns:a="http://schemas.openxmlformats.org/drawingml/2006/main">
            <a:pPr>
              <a:defRPr sz="2025" b="1">
                <a:solidFill>
                  <a:srgbClr val="205F7A"/>
                </a:solidFill>
                <a:latin typeface="Arial"/>
                <a:ea typeface="Arial"/>
                <a:cs typeface="Arial"/>
              </a:defRPr>
            </a:pPr>
            <a:r>
              <a:rPr sz="2025" b="1">
                <a:solidFill>
                  <a:srgbClr val="205F7A"/>
                </a:solidFill>
                <a:latin typeface="Arial"/>
                <a:ea typeface="Arial"/>
                <a:cs typeface="Arial"/>
              </a:rPr>
              <a:t>Flagged fit: 59.8% total</a:t>
            </a:r>
          </a:p>
        </p:txBody>
      </p:sp>
      <p:sp>
        <p:nvSpPr>
          <p:cNvPr id="6" name="">
            <a:extLst xmlns:a="http://schemas.openxmlformats.org/drawingml/2006/main">
              <a:ext uri="{FF2B5EF4-FFF2-40B4-BE49-F238E27FC236}">
                <a16:creationId xmlns:a16="http://schemas.microsoft.com/office/drawing/2014/main" id="{345F2161-B9CA-40B4-B6A2-F0E3061133F7}"/>
              </a:ext>
            </a:extLst>
          </p:cNvPr>
          <p:cNvSpPr>
            <a:spLocks xmlns:a="http://schemas.openxmlformats.org/drawingml/2006/main" noGrp="1"/>
          </p:cNvSpPr>
          <p:nvPr/>
        </p:nvSpPr>
        <p:spPr>
          <a:xfrm xmlns:a="http://schemas.openxmlformats.org/drawingml/2006/main">
            <a:off x="8286750" y="2333625"/>
            <a:ext cx="3286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E5BB66"/>
                </a:solidFill>
                <a:latin typeface="Arial"/>
                <a:ea typeface="Arial"/>
                <a:cs typeface="Arial"/>
              </a:defRPr>
            </a:defPPr>
            <a:lvl1pPr>
              <a:defRPr sz="1875" b="1">
                <a:solidFill>
                  <a:srgbClr val="E5BB66"/>
                </a:solidFill>
                <a:latin typeface="Arial"/>
                <a:ea typeface="Arial"/>
                <a:cs typeface="Arial"/>
              </a:defRPr>
            </a:lvl1pPr>
            <a:lvl2pPr>
              <a:defRPr sz="1875" b="1">
                <a:solidFill>
                  <a:srgbClr val="E5BB66"/>
                </a:solidFill>
                <a:latin typeface="Arial"/>
                <a:ea typeface="Arial"/>
                <a:cs typeface="Arial"/>
              </a:defRPr>
            </a:lvl2pPr>
            <a:lvl3pPr>
              <a:defRPr sz="1875" b="1">
                <a:solidFill>
                  <a:srgbClr val="E5BB66"/>
                </a:solidFill>
                <a:latin typeface="Arial"/>
                <a:ea typeface="Arial"/>
                <a:cs typeface="Arial"/>
              </a:defRPr>
            </a:lvl3pPr>
            <a:lvl4pPr>
              <a:defRPr sz="1875" b="1">
                <a:solidFill>
                  <a:srgbClr val="E5BB66"/>
                </a:solidFill>
                <a:latin typeface="Arial"/>
                <a:ea typeface="Arial"/>
                <a:cs typeface="Arial"/>
              </a:defRPr>
            </a:lvl4pPr>
            <a:lvl5pPr>
              <a:defRPr sz="1875" b="1">
                <a:solidFill>
                  <a:srgbClr val="E5BB66"/>
                </a:solidFill>
                <a:latin typeface="Arial"/>
                <a:ea typeface="Arial"/>
                <a:cs typeface="Arial"/>
              </a:defRPr>
            </a:lvl5pPr>
            <a:lvl6pPr>
              <a:defRPr sz="1875" b="1">
                <a:solidFill>
                  <a:srgbClr val="E5BB66"/>
                </a:solidFill>
                <a:latin typeface="Arial"/>
                <a:ea typeface="Arial"/>
                <a:cs typeface="Arial"/>
              </a:defRPr>
            </a:lvl6pPr>
            <a:lvl7pPr>
              <a:defRPr sz="1875" b="1">
                <a:solidFill>
                  <a:srgbClr val="E5BB66"/>
                </a:solidFill>
                <a:latin typeface="Arial"/>
                <a:ea typeface="Arial"/>
                <a:cs typeface="Arial"/>
              </a:defRPr>
            </a:lvl7pPr>
            <a:lvl8pPr>
              <a:defRPr sz="1875" b="1">
                <a:solidFill>
                  <a:srgbClr val="E5BB66"/>
                </a:solidFill>
                <a:latin typeface="Arial"/>
                <a:ea typeface="Arial"/>
                <a:cs typeface="Arial"/>
              </a:defRPr>
            </a:lvl8pPr>
            <a:lvl9pPr>
              <a:defRPr sz="1875" b="1">
                <a:solidFill>
                  <a:srgbClr val="E5BB66"/>
                </a:solidFill>
                <a:latin typeface="Arial"/>
                <a:ea typeface="Arial"/>
                <a:cs typeface="Arial"/>
              </a:defRPr>
            </a:lvl9pPr>
          </a:lstStyle>
          <a:p xmlns:a="http://schemas.openxmlformats.org/drawingml/2006/main">
            <a:pPr>
              <a:defRPr sz="1875" b="1">
                <a:solidFill>
                  <a:srgbClr val="E5BB66"/>
                </a:solidFill>
                <a:latin typeface="Arial"/>
                <a:ea typeface="Arial"/>
                <a:cs typeface="Arial"/>
              </a:defRPr>
            </a:pPr>
            <a:r>
              <a:rPr sz="1875" b="1">
                <a:solidFill>
                  <a:srgbClr val="E5BB66"/>
                </a:solidFill>
                <a:latin typeface="Arial"/>
                <a:ea typeface="Arial"/>
                <a:cs typeface="Arial"/>
              </a:rPr>
              <a:t>1 flag: 850 (30.6%)</a:t>
            </a:r>
          </a:p>
        </p:txBody>
      </p:sp>
      <p:sp>
        <p:nvSpPr>
          <p:cNvPr id="7" name="">
            <a:extLst xmlns:a="http://schemas.openxmlformats.org/drawingml/2006/main">
              <a:ext uri="{FF2B5EF4-FFF2-40B4-BE49-F238E27FC236}">
                <a16:creationId xmlns:a16="http://schemas.microsoft.com/office/drawing/2014/main" id="{C2BB9D67-4AC0-4256-BA6E-D31990451A38}"/>
              </a:ext>
            </a:extLst>
          </p:cNvPr>
          <p:cNvSpPr>
            <a:spLocks xmlns:a="http://schemas.openxmlformats.org/drawingml/2006/main" noGrp="1"/>
          </p:cNvSpPr>
          <p:nvPr/>
        </p:nvSpPr>
        <p:spPr>
          <a:xfrm xmlns:a="http://schemas.openxmlformats.org/drawingml/2006/main">
            <a:off x="8286750" y="2857500"/>
            <a:ext cx="3286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CC9637"/>
                </a:solidFill>
                <a:latin typeface="Arial"/>
                <a:ea typeface="Arial"/>
                <a:cs typeface="Arial"/>
              </a:defRPr>
            </a:defPPr>
            <a:lvl1pPr>
              <a:defRPr sz="1875" b="1">
                <a:solidFill>
                  <a:srgbClr val="CC9637"/>
                </a:solidFill>
                <a:latin typeface="Arial"/>
                <a:ea typeface="Arial"/>
                <a:cs typeface="Arial"/>
              </a:defRPr>
            </a:lvl1pPr>
            <a:lvl2pPr>
              <a:defRPr sz="1875" b="1">
                <a:solidFill>
                  <a:srgbClr val="CC9637"/>
                </a:solidFill>
                <a:latin typeface="Arial"/>
                <a:ea typeface="Arial"/>
                <a:cs typeface="Arial"/>
              </a:defRPr>
            </a:lvl2pPr>
            <a:lvl3pPr>
              <a:defRPr sz="1875" b="1">
                <a:solidFill>
                  <a:srgbClr val="CC9637"/>
                </a:solidFill>
                <a:latin typeface="Arial"/>
                <a:ea typeface="Arial"/>
                <a:cs typeface="Arial"/>
              </a:defRPr>
            </a:lvl3pPr>
            <a:lvl4pPr>
              <a:defRPr sz="1875" b="1">
                <a:solidFill>
                  <a:srgbClr val="CC9637"/>
                </a:solidFill>
                <a:latin typeface="Arial"/>
                <a:ea typeface="Arial"/>
                <a:cs typeface="Arial"/>
              </a:defRPr>
            </a:lvl4pPr>
            <a:lvl5pPr>
              <a:defRPr sz="1875" b="1">
                <a:solidFill>
                  <a:srgbClr val="CC9637"/>
                </a:solidFill>
                <a:latin typeface="Arial"/>
                <a:ea typeface="Arial"/>
                <a:cs typeface="Arial"/>
              </a:defRPr>
            </a:lvl5pPr>
            <a:lvl6pPr>
              <a:defRPr sz="1875" b="1">
                <a:solidFill>
                  <a:srgbClr val="CC9637"/>
                </a:solidFill>
                <a:latin typeface="Arial"/>
                <a:ea typeface="Arial"/>
                <a:cs typeface="Arial"/>
              </a:defRPr>
            </a:lvl6pPr>
            <a:lvl7pPr>
              <a:defRPr sz="1875" b="1">
                <a:solidFill>
                  <a:srgbClr val="CC9637"/>
                </a:solidFill>
                <a:latin typeface="Arial"/>
                <a:ea typeface="Arial"/>
                <a:cs typeface="Arial"/>
              </a:defRPr>
            </a:lvl7pPr>
            <a:lvl8pPr>
              <a:defRPr sz="1875" b="1">
                <a:solidFill>
                  <a:srgbClr val="CC9637"/>
                </a:solidFill>
                <a:latin typeface="Arial"/>
                <a:ea typeface="Arial"/>
                <a:cs typeface="Arial"/>
              </a:defRPr>
            </a:lvl8pPr>
            <a:lvl9pPr>
              <a:defRPr sz="1875" b="1">
                <a:solidFill>
                  <a:srgbClr val="CC9637"/>
                </a:solidFill>
                <a:latin typeface="Arial"/>
                <a:ea typeface="Arial"/>
                <a:cs typeface="Arial"/>
              </a:defRPr>
            </a:lvl9pPr>
          </a:lstStyle>
          <a:p xmlns:a="http://schemas.openxmlformats.org/drawingml/2006/main">
            <a:pPr>
              <a:defRPr sz="1875" b="1">
                <a:solidFill>
                  <a:srgbClr val="CC9637"/>
                </a:solidFill>
                <a:latin typeface="Arial"/>
                <a:ea typeface="Arial"/>
                <a:cs typeface="Arial"/>
              </a:defRPr>
            </a:pPr>
            <a:r>
              <a:rPr sz="1875" b="1">
                <a:solidFill>
                  <a:srgbClr val="CC9637"/>
                </a:solidFill>
                <a:latin typeface="Arial"/>
                <a:ea typeface="Arial"/>
                <a:cs typeface="Arial"/>
              </a:rPr>
              <a:t>2 flags: 497 (17.9%)</a:t>
            </a:r>
          </a:p>
        </p:txBody>
      </p:sp>
      <p:sp>
        <p:nvSpPr>
          <p:cNvPr id="8" name="">
            <a:extLst xmlns:a="http://schemas.openxmlformats.org/drawingml/2006/main">
              <a:ext uri="{FF2B5EF4-FFF2-40B4-BE49-F238E27FC236}">
                <a16:creationId xmlns:a16="http://schemas.microsoft.com/office/drawing/2014/main" id="{097ED609-6CBD-4A61-8F32-027473E691E8}"/>
              </a:ext>
            </a:extLst>
          </p:cNvPr>
          <p:cNvSpPr>
            <a:spLocks xmlns:a="http://schemas.openxmlformats.org/drawingml/2006/main" noGrp="1"/>
          </p:cNvSpPr>
          <p:nvPr/>
        </p:nvSpPr>
        <p:spPr>
          <a:xfrm xmlns:a="http://schemas.openxmlformats.org/drawingml/2006/main">
            <a:off x="8286750" y="3381375"/>
            <a:ext cx="3286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A66B24"/>
                </a:solidFill>
                <a:latin typeface="Arial"/>
                <a:ea typeface="Arial"/>
                <a:cs typeface="Arial"/>
              </a:defRPr>
            </a:defPPr>
            <a:lvl1pPr>
              <a:defRPr sz="1875" b="1">
                <a:solidFill>
                  <a:srgbClr val="A66B24"/>
                </a:solidFill>
                <a:latin typeface="Arial"/>
                <a:ea typeface="Arial"/>
                <a:cs typeface="Arial"/>
              </a:defRPr>
            </a:lvl1pPr>
            <a:lvl2pPr>
              <a:defRPr sz="1875" b="1">
                <a:solidFill>
                  <a:srgbClr val="A66B24"/>
                </a:solidFill>
                <a:latin typeface="Arial"/>
                <a:ea typeface="Arial"/>
                <a:cs typeface="Arial"/>
              </a:defRPr>
            </a:lvl2pPr>
            <a:lvl3pPr>
              <a:defRPr sz="1875" b="1">
                <a:solidFill>
                  <a:srgbClr val="A66B24"/>
                </a:solidFill>
                <a:latin typeface="Arial"/>
                <a:ea typeface="Arial"/>
                <a:cs typeface="Arial"/>
              </a:defRPr>
            </a:lvl3pPr>
            <a:lvl4pPr>
              <a:defRPr sz="1875" b="1">
                <a:solidFill>
                  <a:srgbClr val="A66B24"/>
                </a:solidFill>
                <a:latin typeface="Arial"/>
                <a:ea typeface="Arial"/>
                <a:cs typeface="Arial"/>
              </a:defRPr>
            </a:lvl4pPr>
            <a:lvl5pPr>
              <a:defRPr sz="1875" b="1">
                <a:solidFill>
                  <a:srgbClr val="A66B24"/>
                </a:solidFill>
                <a:latin typeface="Arial"/>
                <a:ea typeface="Arial"/>
                <a:cs typeface="Arial"/>
              </a:defRPr>
            </a:lvl5pPr>
            <a:lvl6pPr>
              <a:defRPr sz="1875" b="1">
                <a:solidFill>
                  <a:srgbClr val="A66B24"/>
                </a:solidFill>
                <a:latin typeface="Arial"/>
                <a:ea typeface="Arial"/>
                <a:cs typeface="Arial"/>
              </a:defRPr>
            </a:lvl6pPr>
            <a:lvl7pPr>
              <a:defRPr sz="1875" b="1">
                <a:solidFill>
                  <a:srgbClr val="A66B24"/>
                </a:solidFill>
                <a:latin typeface="Arial"/>
                <a:ea typeface="Arial"/>
                <a:cs typeface="Arial"/>
              </a:defRPr>
            </a:lvl7pPr>
            <a:lvl8pPr>
              <a:defRPr sz="1875" b="1">
                <a:solidFill>
                  <a:srgbClr val="A66B24"/>
                </a:solidFill>
                <a:latin typeface="Arial"/>
                <a:ea typeface="Arial"/>
                <a:cs typeface="Arial"/>
              </a:defRPr>
            </a:lvl8pPr>
            <a:lvl9pPr>
              <a:defRPr sz="1875" b="1">
                <a:solidFill>
                  <a:srgbClr val="A66B24"/>
                </a:solidFill>
                <a:latin typeface="Arial"/>
                <a:ea typeface="Arial"/>
                <a:cs typeface="Arial"/>
              </a:defRPr>
            </a:lvl9pPr>
          </a:lstStyle>
          <a:p xmlns:a="http://schemas.openxmlformats.org/drawingml/2006/main">
            <a:pPr>
              <a:defRPr sz="1875" b="1">
                <a:solidFill>
                  <a:srgbClr val="A66B24"/>
                </a:solidFill>
                <a:latin typeface="Arial"/>
                <a:ea typeface="Arial"/>
                <a:cs typeface="Arial"/>
              </a:defRPr>
            </a:pPr>
            <a:r>
              <a:rPr sz="1875" b="1">
                <a:solidFill>
                  <a:srgbClr val="A66B24"/>
                </a:solidFill>
                <a:latin typeface="Arial"/>
                <a:ea typeface="Arial"/>
                <a:cs typeface="Arial"/>
              </a:rPr>
              <a:t>3 flags: 291 (10.5%)</a:t>
            </a:r>
          </a:p>
        </p:txBody>
      </p:sp>
      <p:sp>
        <p:nvSpPr>
          <p:cNvPr id="9" name="">
            <a:extLst xmlns:a="http://schemas.openxmlformats.org/drawingml/2006/main">
              <a:ext uri="{FF2B5EF4-FFF2-40B4-BE49-F238E27FC236}">
                <a16:creationId xmlns:a16="http://schemas.microsoft.com/office/drawing/2014/main" id="{450D0306-8849-45F2-8AAE-BDA62D294B23}"/>
              </a:ext>
            </a:extLst>
          </p:cNvPr>
          <p:cNvSpPr>
            <a:spLocks xmlns:a="http://schemas.openxmlformats.org/drawingml/2006/main" noGrp="1"/>
          </p:cNvSpPr>
          <p:nvPr/>
        </p:nvSpPr>
        <p:spPr>
          <a:xfrm xmlns:a="http://schemas.openxmlformats.org/drawingml/2006/main">
            <a:off x="8286750" y="3905250"/>
            <a:ext cx="3286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72441C"/>
                </a:solidFill>
                <a:latin typeface="Arial"/>
                <a:ea typeface="Arial"/>
                <a:cs typeface="Arial"/>
              </a:defRPr>
            </a:defPPr>
            <a:lvl1pPr>
              <a:defRPr sz="1875" b="1">
                <a:solidFill>
                  <a:srgbClr val="72441C"/>
                </a:solidFill>
                <a:latin typeface="Arial"/>
                <a:ea typeface="Arial"/>
                <a:cs typeface="Arial"/>
              </a:defRPr>
            </a:lvl1pPr>
            <a:lvl2pPr>
              <a:defRPr sz="1875" b="1">
                <a:solidFill>
                  <a:srgbClr val="72441C"/>
                </a:solidFill>
                <a:latin typeface="Arial"/>
                <a:ea typeface="Arial"/>
                <a:cs typeface="Arial"/>
              </a:defRPr>
            </a:lvl2pPr>
            <a:lvl3pPr>
              <a:defRPr sz="1875" b="1">
                <a:solidFill>
                  <a:srgbClr val="72441C"/>
                </a:solidFill>
                <a:latin typeface="Arial"/>
                <a:ea typeface="Arial"/>
                <a:cs typeface="Arial"/>
              </a:defRPr>
            </a:lvl3pPr>
            <a:lvl4pPr>
              <a:defRPr sz="1875" b="1">
                <a:solidFill>
                  <a:srgbClr val="72441C"/>
                </a:solidFill>
                <a:latin typeface="Arial"/>
                <a:ea typeface="Arial"/>
                <a:cs typeface="Arial"/>
              </a:defRPr>
            </a:lvl4pPr>
            <a:lvl5pPr>
              <a:defRPr sz="1875" b="1">
                <a:solidFill>
                  <a:srgbClr val="72441C"/>
                </a:solidFill>
                <a:latin typeface="Arial"/>
                <a:ea typeface="Arial"/>
                <a:cs typeface="Arial"/>
              </a:defRPr>
            </a:lvl5pPr>
            <a:lvl6pPr>
              <a:defRPr sz="1875" b="1">
                <a:solidFill>
                  <a:srgbClr val="72441C"/>
                </a:solidFill>
                <a:latin typeface="Arial"/>
                <a:ea typeface="Arial"/>
                <a:cs typeface="Arial"/>
              </a:defRPr>
            </a:lvl6pPr>
            <a:lvl7pPr>
              <a:defRPr sz="1875" b="1">
                <a:solidFill>
                  <a:srgbClr val="72441C"/>
                </a:solidFill>
                <a:latin typeface="Arial"/>
                <a:ea typeface="Arial"/>
                <a:cs typeface="Arial"/>
              </a:defRPr>
            </a:lvl7pPr>
            <a:lvl8pPr>
              <a:defRPr sz="1875" b="1">
                <a:solidFill>
                  <a:srgbClr val="72441C"/>
                </a:solidFill>
                <a:latin typeface="Arial"/>
                <a:ea typeface="Arial"/>
                <a:cs typeface="Arial"/>
              </a:defRPr>
            </a:lvl8pPr>
            <a:lvl9pPr>
              <a:defRPr sz="1875" b="1">
                <a:solidFill>
                  <a:srgbClr val="72441C"/>
                </a:solidFill>
                <a:latin typeface="Arial"/>
                <a:ea typeface="Arial"/>
                <a:cs typeface="Arial"/>
              </a:defRPr>
            </a:lvl9pPr>
          </a:lstStyle>
          <a:p xmlns:a="http://schemas.openxmlformats.org/drawingml/2006/main">
            <a:pPr>
              <a:defRPr sz="1875" b="1">
                <a:solidFill>
                  <a:srgbClr val="72441C"/>
                </a:solidFill>
                <a:latin typeface="Arial"/>
                <a:ea typeface="Arial"/>
                <a:cs typeface="Arial"/>
              </a:defRPr>
            </a:pPr>
            <a:r>
              <a:rPr sz="1875" b="1">
                <a:solidFill>
                  <a:srgbClr val="72441C"/>
                </a:solidFill>
                <a:latin typeface="Arial"/>
                <a:ea typeface="Arial"/>
                <a:cs typeface="Arial"/>
              </a:rPr>
              <a:t>4 flags: 23 (0.8%)</a:t>
            </a:r>
          </a:p>
        </p:txBody>
      </p:sp>
      <p:sp>
        <p:nvSpPr>
          <p:cNvPr id="10" name="">
            <a:extLst xmlns:a="http://schemas.openxmlformats.org/drawingml/2006/main">
              <a:ext uri="{FF2B5EF4-FFF2-40B4-BE49-F238E27FC236}">
                <a16:creationId xmlns:a16="http://schemas.microsoft.com/office/drawing/2014/main" id="{D8B7BED3-FE21-4F24-B256-50928C775A05}"/>
              </a:ext>
            </a:extLst>
          </p:cNvPr>
          <p:cNvSpPr>
            <a:spLocks xmlns:a="http://schemas.openxmlformats.org/drawingml/2006/main" noGrp="1"/>
          </p:cNvSpPr>
          <p:nvPr/>
        </p:nvSpPr>
        <p:spPr>
          <a:xfrm xmlns:a="http://schemas.openxmlformats.org/drawingml/2006/main">
            <a:off x="8286750" y="4667250"/>
            <a:ext cx="328612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142633"/>
                </a:solidFill>
                <a:latin typeface="Arial"/>
                <a:ea typeface="Arial"/>
                <a:cs typeface="Arial"/>
              </a:defRPr>
            </a:defPPr>
            <a:lvl1pPr>
              <a:defRPr sz="1800" b="0">
                <a:solidFill>
                  <a:srgbClr val="142633"/>
                </a:solidFill>
                <a:latin typeface="Arial"/>
                <a:ea typeface="Arial"/>
                <a:cs typeface="Arial"/>
              </a:defRPr>
            </a:lvl1pPr>
            <a:lvl2pPr>
              <a:defRPr sz="1800" b="0">
                <a:solidFill>
                  <a:srgbClr val="142633"/>
                </a:solidFill>
                <a:latin typeface="Arial"/>
                <a:ea typeface="Arial"/>
                <a:cs typeface="Arial"/>
              </a:defRPr>
            </a:lvl2pPr>
            <a:lvl3pPr>
              <a:defRPr sz="1800" b="0">
                <a:solidFill>
                  <a:srgbClr val="142633"/>
                </a:solidFill>
                <a:latin typeface="Arial"/>
                <a:ea typeface="Arial"/>
                <a:cs typeface="Arial"/>
              </a:defRPr>
            </a:lvl3pPr>
            <a:lvl4pPr>
              <a:defRPr sz="1800" b="0">
                <a:solidFill>
                  <a:srgbClr val="142633"/>
                </a:solidFill>
                <a:latin typeface="Arial"/>
                <a:ea typeface="Arial"/>
                <a:cs typeface="Arial"/>
              </a:defRPr>
            </a:lvl4pPr>
            <a:lvl5pPr>
              <a:defRPr sz="1800" b="0">
                <a:solidFill>
                  <a:srgbClr val="142633"/>
                </a:solidFill>
                <a:latin typeface="Arial"/>
                <a:ea typeface="Arial"/>
                <a:cs typeface="Arial"/>
              </a:defRPr>
            </a:lvl5pPr>
            <a:lvl6pPr>
              <a:defRPr sz="1800" b="0">
                <a:solidFill>
                  <a:srgbClr val="142633"/>
                </a:solidFill>
                <a:latin typeface="Arial"/>
                <a:ea typeface="Arial"/>
                <a:cs typeface="Arial"/>
              </a:defRPr>
            </a:lvl6pPr>
            <a:lvl7pPr>
              <a:defRPr sz="1800" b="0">
                <a:solidFill>
                  <a:srgbClr val="142633"/>
                </a:solidFill>
                <a:latin typeface="Arial"/>
                <a:ea typeface="Arial"/>
                <a:cs typeface="Arial"/>
              </a:defRPr>
            </a:lvl7pPr>
            <a:lvl8pPr>
              <a:defRPr sz="1800" b="0">
                <a:solidFill>
                  <a:srgbClr val="142633"/>
                </a:solidFill>
                <a:latin typeface="Arial"/>
                <a:ea typeface="Arial"/>
                <a:cs typeface="Arial"/>
              </a:defRPr>
            </a:lvl8pPr>
            <a:lvl9pPr>
              <a:defRPr sz="1800" b="0">
                <a:solidFill>
                  <a:srgbClr val="142633"/>
                </a:solidFill>
                <a:latin typeface="Arial"/>
                <a:ea typeface="Arial"/>
                <a:cs typeface="Arial"/>
              </a:defRPr>
            </a:lvl9pPr>
          </a:lstStyle>
          <a:p xmlns:a="http://schemas.openxmlformats.org/drawingml/2006/main">
            <a:pPr>
              <a:defRPr sz="1800" b="0">
                <a:solidFill>
                  <a:srgbClr val="142633"/>
                </a:solidFill>
                <a:latin typeface="Arial"/>
                <a:ea typeface="Arial"/>
                <a:cs typeface="Arial"/>
              </a:defRPr>
            </a:pPr>
            <a:r>
              <a:rPr sz="1800" b="0">
                <a:solidFill>
                  <a:srgbClr val="142633"/>
                </a:solidFill>
                <a:latin typeface="Arial"/>
                <a:ea typeface="Arial"/>
                <a:cs typeface="Arial"/>
              </a:rPr>
              <a:t>No flags: 19.7% (546)</a:t>
            </a:r>
          </a:p>
          <a:p xmlns:a="http://schemas.openxmlformats.org/drawingml/2006/main">
            <a:pPr>
              <a:defRPr sz="1800" b="0">
                <a:solidFill>
                  <a:srgbClr val="142633"/>
                </a:solidFill>
                <a:latin typeface="Arial"/>
                <a:ea typeface="Arial"/>
                <a:cs typeface="Arial"/>
              </a:defRPr>
            </a:pPr>
            <a:r>
              <a:rPr sz="1800" b="0">
                <a:solidFill>
                  <a:srgbClr val="142633"/>
                </a:solidFill>
                <a:latin typeface="Arial"/>
                <a:ea typeface="Arial"/>
                <a:cs typeface="Arial"/>
              </a:rPr>
              <a:t>Failed: 20.5% (570)</a:t>
            </a:r>
          </a:p>
        </p:txBody>
      </p:sp>
      <p:sp>
        <p:nvSpPr>
          <p:cNvPr id="11" name="">
            <a:extLst xmlns:a="http://schemas.openxmlformats.org/drawingml/2006/main">
              <a:ext uri="{FF2B5EF4-FFF2-40B4-BE49-F238E27FC236}">
                <a16:creationId xmlns:a16="http://schemas.microsoft.com/office/drawing/2014/main" id="{ABC8DFBA-9854-4C8E-A770-1D87AF6FB158}"/>
              </a:ext>
            </a:extLst>
          </p:cNvPr>
          <p:cNvSpPr>
            <a:spLocks xmlns:a="http://schemas.openxmlformats.org/drawingml/2006/main" noGrp="1"/>
          </p:cNvSpPr>
          <p:nvPr/>
        </p:nvSpPr>
        <p:spPr>
          <a:xfrm xmlns:a="http://schemas.openxmlformats.org/drawingml/2006/main">
            <a:off x="609600" y="5791200"/>
            <a:ext cx="108108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526673"/>
                </a:solidFill>
                <a:latin typeface="Arial"/>
                <a:ea typeface="Arial"/>
                <a:cs typeface="Arial"/>
              </a:defRPr>
            </a:defPPr>
            <a:lvl1pPr>
              <a:defRPr sz="1725" b="0">
                <a:solidFill>
                  <a:srgbClr val="526673"/>
                </a:solidFill>
                <a:latin typeface="Arial"/>
                <a:ea typeface="Arial"/>
                <a:cs typeface="Arial"/>
              </a:defRPr>
            </a:lvl1pPr>
            <a:lvl2pPr>
              <a:defRPr sz="1725" b="0">
                <a:solidFill>
                  <a:srgbClr val="526673"/>
                </a:solidFill>
                <a:latin typeface="Arial"/>
                <a:ea typeface="Arial"/>
                <a:cs typeface="Arial"/>
              </a:defRPr>
            </a:lvl2pPr>
            <a:lvl3pPr>
              <a:defRPr sz="1725" b="0">
                <a:solidFill>
                  <a:srgbClr val="526673"/>
                </a:solidFill>
                <a:latin typeface="Arial"/>
                <a:ea typeface="Arial"/>
                <a:cs typeface="Arial"/>
              </a:defRPr>
            </a:lvl3pPr>
            <a:lvl4pPr>
              <a:defRPr sz="1725" b="0">
                <a:solidFill>
                  <a:srgbClr val="526673"/>
                </a:solidFill>
                <a:latin typeface="Arial"/>
                <a:ea typeface="Arial"/>
                <a:cs typeface="Arial"/>
              </a:defRPr>
            </a:lvl4pPr>
            <a:lvl5pPr>
              <a:defRPr sz="1725" b="0">
                <a:solidFill>
                  <a:srgbClr val="526673"/>
                </a:solidFill>
                <a:latin typeface="Arial"/>
                <a:ea typeface="Arial"/>
                <a:cs typeface="Arial"/>
              </a:defRPr>
            </a:lvl5pPr>
            <a:lvl6pPr>
              <a:defRPr sz="1725" b="0">
                <a:solidFill>
                  <a:srgbClr val="526673"/>
                </a:solidFill>
                <a:latin typeface="Arial"/>
                <a:ea typeface="Arial"/>
                <a:cs typeface="Arial"/>
              </a:defRPr>
            </a:lvl6pPr>
            <a:lvl7pPr>
              <a:defRPr sz="1725" b="0">
                <a:solidFill>
                  <a:srgbClr val="526673"/>
                </a:solidFill>
                <a:latin typeface="Arial"/>
                <a:ea typeface="Arial"/>
                <a:cs typeface="Arial"/>
              </a:defRPr>
            </a:lvl7pPr>
            <a:lvl8pPr>
              <a:defRPr sz="1725" b="0">
                <a:solidFill>
                  <a:srgbClr val="526673"/>
                </a:solidFill>
                <a:latin typeface="Arial"/>
                <a:ea typeface="Arial"/>
                <a:cs typeface="Arial"/>
              </a:defRPr>
            </a:lvl8pPr>
            <a:lvl9pPr>
              <a:defRPr sz="1725" b="0">
                <a:solidFill>
                  <a:srgbClr val="526673"/>
                </a:solidFill>
                <a:latin typeface="Arial"/>
                <a:ea typeface="Arial"/>
                <a:cs typeface="Arial"/>
              </a:defRPr>
            </a:lvl9pPr>
          </a:lstStyle>
          <a:p xmlns:a="http://schemas.openxmlformats.org/drawingml/2006/main">
            <a:pPr>
              <a:defRPr sz="1725" b="0">
                <a:solidFill>
                  <a:srgbClr val="526673"/>
                </a:solidFill>
                <a:latin typeface="Arial"/>
                <a:ea typeface="Arial"/>
                <a:cs typeface="Arial"/>
              </a:defRPr>
            </a:pPr>
            <a:r>
              <a:rPr sz="1725" b="0">
                <a:solidFill>
                  <a:srgbClr val="526673"/>
                </a:solidFill>
                <a:latin typeface="Arial"/>
                <a:ea typeface="Arial"/>
                <a:cs typeface="Arial"/>
              </a:rPr>
              <a:t>Segment percentages use the full sample, not just flagged fits. Maximum observed: four flags.</a:t>
            </a:r>
          </a:p>
        </p:txBody>
      </p:sp>
    </p:spTree>
    <p:extLst>
      <p:ext uri="{BB962C8B-B14F-4D97-AF65-F5344CB8AC3E}">
        <p14:creationId xmlns:p14="http://schemas.microsoft.com/office/powerpoint/2010/main" val="1278015683"/>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DB727056-6B68-45E4-826C-24416AE0B7AB}"/>
              </a:ext>
            </a:extLst>
          </p:cNvPr>
          <p:cNvSpPr>
            <a:spLocks xmlns:a="http://schemas.openxmlformats.org/drawingml/2006/main" noGrp="1"/>
          </p:cNvSpPr>
          <p:nvPr/>
        </p:nvSpPr>
        <p:spPr>
          <a:xfrm xmlns:a="http://schemas.openxmlformats.org/drawingml/2006/main">
            <a:off x="609600" y="4000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42633"/>
                </a:solidFill>
                <a:latin typeface="Arial"/>
                <a:ea typeface="Arial"/>
                <a:cs typeface="Arial"/>
              </a:defRPr>
            </a:defPPr>
            <a:lvl1pPr>
              <a:defRPr sz="3300" b="1">
                <a:solidFill>
                  <a:srgbClr val="142633"/>
                </a:solidFill>
                <a:latin typeface="Arial"/>
                <a:ea typeface="Arial"/>
                <a:cs typeface="Arial"/>
              </a:defRPr>
            </a:lvl1pPr>
            <a:lvl2pPr>
              <a:defRPr sz="3300" b="1">
                <a:solidFill>
                  <a:srgbClr val="142633"/>
                </a:solidFill>
                <a:latin typeface="Arial"/>
                <a:ea typeface="Arial"/>
                <a:cs typeface="Arial"/>
              </a:defRPr>
            </a:lvl2pPr>
            <a:lvl3pPr>
              <a:defRPr sz="3300" b="1">
                <a:solidFill>
                  <a:srgbClr val="142633"/>
                </a:solidFill>
                <a:latin typeface="Arial"/>
                <a:ea typeface="Arial"/>
                <a:cs typeface="Arial"/>
              </a:defRPr>
            </a:lvl3pPr>
            <a:lvl4pPr>
              <a:defRPr sz="3300" b="1">
                <a:solidFill>
                  <a:srgbClr val="142633"/>
                </a:solidFill>
                <a:latin typeface="Arial"/>
                <a:ea typeface="Arial"/>
                <a:cs typeface="Arial"/>
              </a:defRPr>
            </a:lvl4pPr>
            <a:lvl5pPr>
              <a:defRPr sz="3300" b="1">
                <a:solidFill>
                  <a:srgbClr val="142633"/>
                </a:solidFill>
                <a:latin typeface="Arial"/>
                <a:ea typeface="Arial"/>
                <a:cs typeface="Arial"/>
              </a:defRPr>
            </a:lvl5pPr>
            <a:lvl6pPr>
              <a:defRPr sz="3300" b="1">
                <a:solidFill>
                  <a:srgbClr val="142633"/>
                </a:solidFill>
                <a:latin typeface="Arial"/>
                <a:ea typeface="Arial"/>
                <a:cs typeface="Arial"/>
              </a:defRPr>
            </a:lvl6pPr>
            <a:lvl7pPr>
              <a:defRPr sz="3300" b="1">
                <a:solidFill>
                  <a:srgbClr val="142633"/>
                </a:solidFill>
                <a:latin typeface="Arial"/>
                <a:ea typeface="Arial"/>
                <a:cs typeface="Arial"/>
              </a:defRPr>
            </a:lvl7pPr>
            <a:lvl8pPr>
              <a:defRPr sz="3300" b="1">
                <a:solidFill>
                  <a:srgbClr val="142633"/>
                </a:solidFill>
                <a:latin typeface="Arial"/>
                <a:ea typeface="Arial"/>
                <a:cs typeface="Arial"/>
              </a:defRPr>
            </a:lvl8pPr>
            <a:lvl9pPr>
              <a:defRPr sz="3300" b="1">
                <a:solidFill>
                  <a:srgbClr val="142633"/>
                </a:solidFill>
                <a:latin typeface="Arial"/>
                <a:ea typeface="Arial"/>
                <a:cs typeface="Arial"/>
              </a:defRPr>
            </a:lvl9pPr>
          </a:lstStyle>
          <a:p xmlns:a="http://schemas.openxmlformats.org/drawingml/2006/main">
            <a:pPr>
              <a:defRPr sz="3300" b="1">
                <a:solidFill>
                  <a:srgbClr val="142633"/>
                </a:solidFill>
                <a:latin typeface="Arial"/>
                <a:ea typeface="Arial"/>
                <a:cs typeface="Arial"/>
              </a:defRPr>
            </a:pPr>
            <a:r>
              <a:rPr sz="3300" b="1">
                <a:solidFill>
                  <a:srgbClr val="142633"/>
                </a:solidFill>
                <a:latin typeface="Arial"/>
                <a:ea typeface="Arial"/>
                <a:cs typeface="Arial"/>
              </a:rPr>
              <a:t>Quality flags and reasons for failure</a:t>
            </a:r>
          </a:p>
        </p:txBody>
      </p:sp>
      <p:sp>
        <p:nvSpPr>
          <p:cNvPr id="2" name="">
            <a:extLst xmlns:a="http://schemas.openxmlformats.org/drawingml/2006/main">
              <a:ext uri="{FF2B5EF4-FFF2-40B4-BE49-F238E27FC236}">
                <a16:creationId xmlns:a16="http://schemas.microsoft.com/office/drawing/2014/main" id="{80688D8C-723B-422A-9CC1-ED747D32A062}"/>
              </a:ext>
            </a:extLst>
          </p:cNvPr>
          <p:cNvSpPr>
            <a:spLocks xmlns:a="http://schemas.openxmlformats.org/drawingml/2006/main" noGrp="1"/>
          </p:cNvSpPr>
          <p:nvPr/>
        </p:nvSpPr>
        <p:spPr>
          <a:xfrm xmlns:a="http://schemas.openxmlformats.org/drawingml/2006/main">
            <a:off x="10858500" y="6477000"/>
            <a:ext cx="7239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673"/>
                </a:solidFill>
                <a:latin typeface="Arial"/>
                <a:ea typeface="Arial"/>
                <a:cs typeface="Arial"/>
              </a:defRPr>
            </a:defPPr>
            <a:lvl1pPr>
              <a:defRPr sz="1200" b="0">
                <a:solidFill>
                  <a:srgbClr val="526673"/>
                </a:solidFill>
                <a:latin typeface="Arial"/>
                <a:ea typeface="Arial"/>
                <a:cs typeface="Arial"/>
              </a:defRPr>
            </a:lvl1pPr>
            <a:lvl2pPr>
              <a:defRPr sz="1200" b="0">
                <a:solidFill>
                  <a:srgbClr val="526673"/>
                </a:solidFill>
                <a:latin typeface="Arial"/>
                <a:ea typeface="Arial"/>
                <a:cs typeface="Arial"/>
              </a:defRPr>
            </a:lvl2pPr>
            <a:lvl3pPr>
              <a:defRPr sz="1200" b="0">
                <a:solidFill>
                  <a:srgbClr val="526673"/>
                </a:solidFill>
                <a:latin typeface="Arial"/>
                <a:ea typeface="Arial"/>
                <a:cs typeface="Arial"/>
              </a:defRPr>
            </a:lvl3pPr>
            <a:lvl4pPr>
              <a:defRPr sz="1200" b="0">
                <a:solidFill>
                  <a:srgbClr val="526673"/>
                </a:solidFill>
                <a:latin typeface="Arial"/>
                <a:ea typeface="Arial"/>
                <a:cs typeface="Arial"/>
              </a:defRPr>
            </a:lvl4pPr>
            <a:lvl5pPr>
              <a:defRPr sz="1200" b="0">
                <a:solidFill>
                  <a:srgbClr val="526673"/>
                </a:solidFill>
                <a:latin typeface="Arial"/>
                <a:ea typeface="Arial"/>
                <a:cs typeface="Arial"/>
              </a:defRPr>
            </a:lvl5pPr>
            <a:lvl6pPr>
              <a:defRPr sz="1200" b="0">
                <a:solidFill>
                  <a:srgbClr val="526673"/>
                </a:solidFill>
                <a:latin typeface="Arial"/>
                <a:ea typeface="Arial"/>
                <a:cs typeface="Arial"/>
              </a:defRPr>
            </a:lvl6pPr>
            <a:lvl7pPr>
              <a:defRPr sz="1200" b="0">
                <a:solidFill>
                  <a:srgbClr val="526673"/>
                </a:solidFill>
                <a:latin typeface="Arial"/>
                <a:ea typeface="Arial"/>
                <a:cs typeface="Arial"/>
              </a:defRPr>
            </a:lvl7pPr>
            <a:lvl8pPr>
              <a:defRPr sz="1200" b="0">
                <a:solidFill>
                  <a:srgbClr val="526673"/>
                </a:solidFill>
                <a:latin typeface="Arial"/>
                <a:ea typeface="Arial"/>
                <a:cs typeface="Arial"/>
              </a:defRPr>
            </a:lvl8pPr>
            <a:lvl9pPr>
              <a:defRPr sz="1200" b="0">
                <a:solidFill>
                  <a:srgbClr val="526673"/>
                </a:solidFill>
                <a:latin typeface="Arial"/>
                <a:ea typeface="Arial"/>
                <a:cs typeface="Arial"/>
              </a:defRPr>
            </a:lvl9pPr>
          </a:lstStyle>
          <a:p xmlns:a="http://schemas.openxmlformats.org/drawingml/2006/main">
            <a:pPr>
              <a:defRPr sz="1200" b="0">
                <a:solidFill>
                  <a:srgbClr val="526673"/>
                </a:solidFill>
                <a:latin typeface="Arial"/>
                <a:ea typeface="Arial"/>
                <a:cs typeface="Arial"/>
              </a:defRPr>
            </a:pPr>
            <a:r>
              <a:rPr sz="1200" b="0">
                <a:solidFill>
                  <a:srgbClr val="526673"/>
                </a:solidFill>
                <a:latin typeface="Arial"/>
                <a:ea typeface="Arial"/>
                <a:cs typeface="Arial"/>
              </a:rPr>
              <a:t>3 / 6</a:t>
            </a:r>
          </a:p>
        </p:txBody>
      </p:sp>
      <p:sp>
        <p:nvSpPr>
          <p:cNvPr id="3" name="">
            <a:extLst xmlns:a="http://schemas.openxmlformats.org/drawingml/2006/main">
              <a:ext uri="{FF2B5EF4-FFF2-40B4-BE49-F238E27FC236}">
                <a16:creationId xmlns:a16="http://schemas.microsoft.com/office/drawing/2014/main" id="{476B0A63-55C6-4142-B57D-78089056EE34}"/>
              </a:ext>
            </a:extLst>
          </p:cNvPr>
          <p:cNvSpPr>
            <a:spLocks xmlns:a="http://schemas.openxmlformats.org/drawingml/2006/main" noGrp="1"/>
          </p:cNvSpPr>
          <p:nvPr/>
        </p:nvSpPr>
        <p:spPr>
          <a:xfrm xmlns:a="http://schemas.openxmlformats.org/drawingml/2006/main">
            <a:off x="609600" y="1314450"/>
            <a:ext cx="6334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205F7A"/>
                </a:solidFill>
                <a:latin typeface="Arial"/>
                <a:ea typeface="Arial"/>
                <a:cs typeface="Arial"/>
              </a:defRPr>
            </a:defPPr>
            <a:lvl1pPr>
              <a:defRPr sz="2025" b="1">
                <a:solidFill>
                  <a:srgbClr val="205F7A"/>
                </a:solidFill>
                <a:latin typeface="Arial"/>
                <a:ea typeface="Arial"/>
                <a:cs typeface="Arial"/>
              </a:defRPr>
            </a:lvl1pPr>
            <a:lvl2pPr>
              <a:defRPr sz="2025" b="1">
                <a:solidFill>
                  <a:srgbClr val="205F7A"/>
                </a:solidFill>
                <a:latin typeface="Arial"/>
                <a:ea typeface="Arial"/>
                <a:cs typeface="Arial"/>
              </a:defRPr>
            </a:lvl2pPr>
            <a:lvl3pPr>
              <a:defRPr sz="2025" b="1">
                <a:solidFill>
                  <a:srgbClr val="205F7A"/>
                </a:solidFill>
                <a:latin typeface="Arial"/>
                <a:ea typeface="Arial"/>
                <a:cs typeface="Arial"/>
              </a:defRPr>
            </a:lvl3pPr>
            <a:lvl4pPr>
              <a:defRPr sz="2025" b="1">
                <a:solidFill>
                  <a:srgbClr val="205F7A"/>
                </a:solidFill>
                <a:latin typeface="Arial"/>
                <a:ea typeface="Arial"/>
                <a:cs typeface="Arial"/>
              </a:defRPr>
            </a:lvl4pPr>
            <a:lvl5pPr>
              <a:defRPr sz="2025" b="1">
                <a:solidFill>
                  <a:srgbClr val="205F7A"/>
                </a:solidFill>
                <a:latin typeface="Arial"/>
                <a:ea typeface="Arial"/>
                <a:cs typeface="Arial"/>
              </a:defRPr>
            </a:lvl5pPr>
            <a:lvl6pPr>
              <a:defRPr sz="2025" b="1">
                <a:solidFill>
                  <a:srgbClr val="205F7A"/>
                </a:solidFill>
                <a:latin typeface="Arial"/>
                <a:ea typeface="Arial"/>
                <a:cs typeface="Arial"/>
              </a:defRPr>
            </a:lvl6pPr>
            <a:lvl7pPr>
              <a:defRPr sz="2025" b="1">
                <a:solidFill>
                  <a:srgbClr val="205F7A"/>
                </a:solidFill>
                <a:latin typeface="Arial"/>
                <a:ea typeface="Arial"/>
                <a:cs typeface="Arial"/>
              </a:defRPr>
            </a:lvl7pPr>
            <a:lvl8pPr>
              <a:defRPr sz="2025" b="1">
                <a:solidFill>
                  <a:srgbClr val="205F7A"/>
                </a:solidFill>
                <a:latin typeface="Arial"/>
                <a:ea typeface="Arial"/>
                <a:cs typeface="Arial"/>
              </a:defRPr>
            </a:lvl8pPr>
            <a:lvl9pPr>
              <a:defRPr sz="2025" b="1">
                <a:solidFill>
                  <a:srgbClr val="205F7A"/>
                </a:solidFill>
                <a:latin typeface="Arial"/>
                <a:ea typeface="Arial"/>
                <a:cs typeface="Arial"/>
              </a:defRPr>
            </a:lvl9pPr>
          </a:lstStyle>
          <a:p xmlns:a="http://schemas.openxmlformats.org/drawingml/2006/main">
            <a:pPr>
              <a:defRPr sz="2025" b="1">
                <a:solidFill>
                  <a:srgbClr val="205F7A"/>
                </a:solidFill>
                <a:latin typeface="Arial"/>
                <a:ea typeface="Arial"/>
                <a:cs typeface="Arial"/>
              </a:defRPr>
            </a:pPr>
            <a:r>
              <a:rPr sz="2025" b="1">
                <a:solidFill>
                  <a:srgbClr val="205F7A"/>
                </a:solidFill>
                <a:latin typeface="Arial"/>
                <a:ea typeface="Arial"/>
                <a:cs typeface="Arial"/>
              </a:rPr>
              <a:t>Flags among 2,207 completed fits</a:t>
            </a:r>
          </a:p>
        </p:txBody>
      </p:sp>
      <p:graphicFrame>
        <p:nvGraphicFramePr>
          <p:cNvPr id="4" name="Chart">
            <a:extLst xmlns:a="http://schemas.openxmlformats.org/drawingml/2006/main">
              <a:ext uri="{FF2B5EF4-FFF2-40B4-BE49-F238E27FC236}">
                <a16:creationId xmlns:a16="http://schemas.microsoft.com/office/drawing/2014/main" id="{CC813D4A-108C-47E8-AE14-146A304EAA17}"/>
              </a:ext>
            </a:extLst>
          </p:cNvPr>
          <p:cNvGraphicFramePr/>
          <p:nvPr/>
        </p:nvGraphicFramePr>
        <p:xfrm>
          <a:off xmlns:a="http://schemas.openxmlformats.org/drawingml/2006/main" x="495300" y="1876425"/>
          <a:ext xmlns:a="http://schemas.openxmlformats.org/drawingml/2006/main" cx="6572250" cy="3429000"/>
        </p:xfrm>
        <a:graphic xmlns:a="http://schemas.openxmlformats.org/drawingml/2006/main">
          <a:graphicData uri="http://schemas.openxmlformats.org/drawingml/2006/chart">
            <c:chart xmlns:r="http://schemas.openxmlformats.org/officeDocument/2006/relationships" xmlns:c="http://schemas.openxmlformats.org/drawingml/2006/chart" r:id="Re50b268a0e234432"/>
          </a:graphicData>
        </a:graphic>
      </p:graphicFrame>
      <p:sp>
        <p:nvSpPr>
          <p:cNvPr id="5" name="">
            <a:extLst xmlns:a="http://schemas.openxmlformats.org/drawingml/2006/main">
              <a:ext uri="{FF2B5EF4-FFF2-40B4-BE49-F238E27FC236}">
                <a16:creationId xmlns:a16="http://schemas.microsoft.com/office/drawing/2014/main" id="{F5156D26-4488-4A14-91AA-6D4E4530FD51}"/>
              </a:ext>
            </a:extLst>
          </p:cNvPr>
          <p:cNvSpPr>
            <a:spLocks xmlns:a="http://schemas.openxmlformats.org/drawingml/2006/main" noGrp="1"/>
          </p:cNvSpPr>
          <p:nvPr/>
        </p:nvSpPr>
        <p:spPr>
          <a:xfrm xmlns:a="http://schemas.openxmlformats.org/drawingml/2006/main">
            <a:off x="609600" y="5429250"/>
            <a:ext cx="6191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526673"/>
                </a:solidFill>
                <a:latin typeface="Arial"/>
                <a:ea typeface="Arial"/>
                <a:cs typeface="Arial"/>
              </a:defRPr>
            </a:defPPr>
            <a:lvl1pPr>
              <a:defRPr sz="1650" b="0">
                <a:solidFill>
                  <a:srgbClr val="526673"/>
                </a:solidFill>
                <a:latin typeface="Arial"/>
                <a:ea typeface="Arial"/>
                <a:cs typeface="Arial"/>
              </a:defRPr>
            </a:lvl1pPr>
            <a:lvl2pPr>
              <a:defRPr sz="1650" b="0">
                <a:solidFill>
                  <a:srgbClr val="526673"/>
                </a:solidFill>
                <a:latin typeface="Arial"/>
                <a:ea typeface="Arial"/>
                <a:cs typeface="Arial"/>
              </a:defRPr>
            </a:lvl2pPr>
            <a:lvl3pPr>
              <a:defRPr sz="1650" b="0">
                <a:solidFill>
                  <a:srgbClr val="526673"/>
                </a:solidFill>
                <a:latin typeface="Arial"/>
                <a:ea typeface="Arial"/>
                <a:cs typeface="Arial"/>
              </a:defRPr>
            </a:lvl3pPr>
            <a:lvl4pPr>
              <a:defRPr sz="1650" b="0">
                <a:solidFill>
                  <a:srgbClr val="526673"/>
                </a:solidFill>
                <a:latin typeface="Arial"/>
                <a:ea typeface="Arial"/>
                <a:cs typeface="Arial"/>
              </a:defRPr>
            </a:lvl4pPr>
            <a:lvl5pPr>
              <a:defRPr sz="1650" b="0">
                <a:solidFill>
                  <a:srgbClr val="526673"/>
                </a:solidFill>
                <a:latin typeface="Arial"/>
                <a:ea typeface="Arial"/>
                <a:cs typeface="Arial"/>
              </a:defRPr>
            </a:lvl5pPr>
            <a:lvl6pPr>
              <a:defRPr sz="1650" b="0">
                <a:solidFill>
                  <a:srgbClr val="526673"/>
                </a:solidFill>
                <a:latin typeface="Arial"/>
                <a:ea typeface="Arial"/>
                <a:cs typeface="Arial"/>
              </a:defRPr>
            </a:lvl6pPr>
            <a:lvl7pPr>
              <a:defRPr sz="1650" b="0">
                <a:solidFill>
                  <a:srgbClr val="526673"/>
                </a:solidFill>
                <a:latin typeface="Arial"/>
                <a:ea typeface="Arial"/>
                <a:cs typeface="Arial"/>
              </a:defRPr>
            </a:lvl7pPr>
            <a:lvl8pPr>
              <a:defRPr sz="1650" b="0">
                <a:solidFill>
                  <a:srgbClr val="526673"/>
                </a:solidFill>
                <a:latin typeface="Arial"/>
                <a:ea typeface="Arial"/>
                <a:cs typeface="Arial"/>
              </a:defRPr>
            </a:lvl8pPr>
            <a:lvl9pPr>
              <a:defRPr sz="1650" b="0">
                <a:solidFill>
                  <a:srgbClr val="526673"/>
                </a:solidFill>
                <a:latin typeface="Arial"/>
                <a:ea typeface="Arial"/>
                <a:cs typeface="Arial"/>
              </a:defRPr>
            </a:lvl9pPr>
          </a:lstStyle>
          <a:p xmlns:a="http://schemas.openxmlformats.org/drawingml/2006/main">
            <a:pPr>
              <a:defRPr sz="1650" b="0">
                <a:solidFill>
                  <a:srgbClr val="526673"/>
                </a:solidFill>
                <a:latin typeface="Arial"/>
                <a:ea typeface="Arial"/>
                <a:cs typeface="Arial"/>
              </a:defRPr>
            </a:pPr>
            <a:r>
              <a:rPr sz="1650" b="0">
                <a:solidFill>
                  <a:srgbClr val="526673"/>
                </a:solidFill>
                <a:latin typeface="Arial"/>
                <a:ea typeface="Arial"/>
                <a:cs typeface="Arial"/>
              </a:rPr>
              <a:t>Flags overlap. One galaxy can appear in several bars.</a:t>
            </a:r>
          </a:p>
        </p:txBody>
      </p:sp>
      <p:sp>
        <p:nvSpPr>
          <p:cNvPr id="6" name="">
            <a:extLst xmlns:a="http://schemas.openxmlformats.org/drawingml/2006/main">
              <a:ext uri="{FF2B5EF4-FFF2-40B4-BE49-F238E27FC236}">
                <a16:creationId xmlns:a16="http://schemas.microsoft.com/office/drawing/2014/main" id="{F8D617E3-C524-4661-892C-CC0BFE802DC5}"/>
              </a:ext>
            </a:extLst>
          </p:cNvPr>
          <p:cNvSpPr>
            <a:spLocks xmlns:a="http://schemas.openxmlformats.org/drawingml/2006/main" noGrp="1"/>
          </p:cNvSpPr>
          <p:nvPr/>
        </p:nvSpPr>
        <p:spPr>
          <a:xfrm xmlns:a="http://schemas.openxmlformats.org/drawingml/2006/main">
            <a:off x="7334250" y="1314450"/>
            <a:ext cx="43338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1">
                <a:solidFill>
                  <a:srgbClr val="205F7A"/>
                </a:solidFill>
                <a:latin typeface="Arial"/>
                <a:ea typeface="Arial"/>
                <a:cs typeface="Arial"/>
              </a:defRPr>
            </a:defPPr>
            <a:lvl1pPr>
              <a:defRPr sz="1950" b="1">
                <a:solidFill>
                  <a:srgbClr val="205F7A"/>
                </a:solidFill>
                <a:latin typeface="Arial"/>
                <a:ea typeface="Arial"/>
                <a:cs typeface="Arial"/>
              </a:defRPr>
            </a:lvl1pPr>
            <a:lvl2pPr>
              <a:defRPr sz="1950" b="1">
                <a:solidFill>
                  <a:srgbClr val="205F7A"/>
                </a:solidFill>
                <a:latin typeface="Arial"/>
                <a:ea typeface="Arial"/>
                <a:cs typeface="Arial"/>
              </a:defRPr>
            </a:lvl2pPr>
            <a:lvl3pPr>
              <a:defRPr sz="1950" b="1">
                <a:solidFill>
                  <a:srgbClr val="205F7A"/>
                </a:solidFill>
                <a:latin typeface="Arial"/>
                <a:ea typeface="Arial"/>
                <a:cs typeface="Arial"/>
              </a:defRPr>
            </a:lvl3pPr>
            <a:lvl4pPr>
              <a:defRPr sz="1950" b="1">
                <a:solidFill>
                  <a:srgbClr val="205F7A"/>
                </a:solidFill>
                <a:latin typeface="Arial"/>
                <a:ea typeface="Arial"/>
                <a:cs typeface="Arial"/>
              </a:defRPr>
            </a:lvl4pPr>
            <a:lvl5pPr>
              <a:defRPr sz="1950" b="1">
                <a:solidFill>
                  <a:srgbClr val="205F7A"/>
                </a:solidFill>
                <a:latin typeface="Arial"/>
                <a:ea typeface="Arial"/>
                <a:cs typeface="Arial"/>
              </a:defRPr>
            </a:lvl5pPr>
            <a:lvl6pPr>
              <a:defRPr sz="1950" b="1">
                <a:solidFill>
                  <a:srgbClr val="205F7A"/>
                </a:solidFill>
                <a:latin typeface="Arial"/>
                <a:ea typeface="Arial"/>
                <a:cs typeface="Arial"/>
              </a:defRPr>
            </a:lvl6pPr>
            <a:lvl7pPr>
              <a:defRPr sz="1950" b="1">
                <a:solidFill>
                  <a:srgbClr val="205F7A"/>
                </a:solidFill>
                <a:latin typeface="Arial"/>
                <a:ea typeface="Arial"/>
                <a:cs typeface="Arial"/>
              </a:defRPr>
            </a:lvl7pPr>
            <a:lvl8pPr>
              <a:defRPr sz="1950" b="1">
                <a:solidFill>
                  <a:srgbClr val="205F7A"/>
                </a:solidFill>
                <a:latin typeface="Arial"/>
                <a:ea typeface="Arial"/>
                <a:cs typeface="Arial"/>
              </a:defRPr>
            </a:lvl8pPr>
            <a:lvl9pPr>
              <a:defRPr sz="1950" b="1">
                <a:solidFill>
                  <a:srgbClr val="205F7A"/>
                </a:solidFill>
                <a:latin typeface="Arial"/>
                <a:ea typeface="Arial"/>
                <a:cs typeface="Arial"/>
              </a:defRPr>
            </a:lvl9pPr>
          </a:lstStyle>
          <a:p xmlns:a="http://schemas.openxmlformats.org/drawingml/2006/main">
            <a:pPr>
              <a:defRPr sz="1950" b="1">
                <a:solidFill>
                  <a:srgbClr val="205F7A"/>
                </a:solidFill>
                <a:latin typeface="Arial"/>
                <a:ea typeface="Arial"/>
                <a:cs typeface="Arial"/>
              </a:defRPr>
            </a:pPr>
            <a:r>
              <a:rPr sz="1950" b="1">
                <a:solidFill>
                  <a:srgbClr val="205F7A"/>
                </a:solidFill>
                <a:latin typeface="Arial"/>
                <a:ea typeface="Arial"/>
                <a:cs typeface="Arial"/>
              </a:rPr>
              <a:t>570 failed fits: recorded reasons</a:t>
            </a:r>
          </a:p>
        </p:txBody>
      </p:sp>
      <p:graphicFrame>
        <p:nvGraphicFramePr>
          <p:cNvPr id="7" name="Chart">
            <a:extLst xmlns:a="http://schemas.openxmlformats.org/drawingml/2006/main">
              <a:ext uri="{FF2B5EF4-FFF2-40B4-BE49-F238E27FC236}">
                <a16:creationId xmlns:a16="http://schemas.microsoft.com/office/drawing/2014/main" id="{E2648115-2C30-4CCC-A76D-04AF1043C2A4}"/>
              </a:ext>
            </a:extLst>
          </p:cNvPr>
          <p:cNvGraphicFramePr/>
          <p:nvPr/>
        </p:nvGraphicFramePr>
        <p:xfrm>
          <a:off xmlns:a="http://schemas.openxmlformats.org/drawingml/2006/main" x="7286625" y="2000250"/>
          <a:ext xmlns:a="http://schemas.openxmlformats.org/drawingml/2006/main" cx="4333875" cy="2524125"/>
        </p:xfrm>
        <a:graphic xmlns:a="http://schemas.openxmlformats.org/drawingml/2006/main">
          <a:graphicData uri="http://schemas.openxmlformats.org/drawingml/2006/chart">
            <c:chart xmlns:r="http://schemas.openxmlformats.org/officeDocument/2006/relationships" xmlns:c="http://schemas.openxmlformats.org/drawingml/2006/chart" r:id="Rc0f83cc1e86248cc"/>
          </a:graphicData>
        </a:graphic>
      </p:graphicFrame>
      <p:sp>
        <p:nvSpPr>
          <p:cNvPr id="8" name="">
            <a:extLst xmlns:a="http://schemas.openxmlformats.org/drawingml/2006/main">
              <a:ext uri="{FF2B5EF4-FFF2-40B4-BE49-F238E27FC236}">
                <a16:creationId xmlns:a16="http://schemas.microsoft.com/office/drawing/2014/main" id="{A462B739-0203-4008-88D6-162DE6FF3B01}"/>
              </a:ext>
            </a:extLst>
          </p:cNvPr>
          <p:cNvSpPr>
            <a:spLocks xmlns:a="http://schemas.openxmlformats.org/drawingml/2006/main" noGrp="1"/>
          </p:cNvSpPr>
          <p:nvPr/>
        </p:nvSpPr>
        <p:spPr>
          <a:xfrm xmlns:a="http://schemas.openxmlformats.org/drawingml/2006/main">
            <a:off x="7334250" y="4629150"/>
            <a:ext cx="4238625"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b="0">
                <a:solidFill>
                  <a:srgbClr val="142633"/>
                </a:solidFill>
                <a:latin typeface="Arial"/>
                <a:ea typeface="Arial"/>
                <a:cs typeface="Arial"/>
              </a:defRPr>
            </a:defPPr>
            <a:lvl1pPr>
              <a:defRPr sz="1575" b="0">
                <a:solidFill>
                  <a:srgbClr val="142633"/>
                </a:solidFill>
                <a:latin typeface="Arial"/>
                <a:ea typeface="Arial"/>
                <a:cs typeface="Arial"/>
              </a:defRPr>
            </a:lvl1pPr>
            <a:lvl2pPr>
              <a:defRPr sz="1575" b="0">
                <a:solidFill>
                  <a:srgbClr val="142633"/>
                </a:solidFill>
                <a:latin typeface="Arial"/>
                <a:ea typeface="Arial"/>
                <a:cs typeface="Arial"/>
              </a:defRPr>
            </a:lvl2pPr>
            <a:lvl3pPr>
              <a:defRPr sz="1575" b="0">
                <a:solidFill>
                  <a:srgbClr val="142633"/>
                </a:solidFill>
                <a:latin typeface="Arial"/>
                <a:ea typeface="Arial"/>
                <a:cs typeface="Arial"/>
              </a:defRPr>
            </a:lvl3pPr>
            <a:lvl4pPr>
              <a:defRPr sz="1575" b="0">
                <a:solidFill>
                  <a:srgbClr val="142633"/>
                </a:solidFill>
                <a:latin typeface="Arial"/>
                <a:ea typeface="Arial"/>
                <a:cs typeface="Arial"/>
              </a:defRPr>
            </a:lvl4pPr>
            <a:lvl5pPr>
              <a:defRPr sz="1575" b="0">
                <a:solidFill>
                  <a:srgbClr val="142633"/>
                </a:solidFill>
                <a:latin typeface="Arial"/>
                <a:ea typeface="Arial"/>
                <a:cs typeface="Arial"/>
              </a:defRPr>
            </a:lvl5pPr>
            <a:lvl6pPr>
              <a:defRPr sz="1575" b="0">
                <a:solidFill>
                  <a:srgbClr val="142633"/>
                </a:solidFill>
                <a:latin typeface="Arial"/>
                <a:ea typeface="Arial"/>
                <a:cs typeface="Arial"/>
              </a:defRPr>
            </a:lvl6pPr>
            <a:lvl7pPr>
              <a:defRPr sz="1575" b="0">
                <a:solidFill>
                  <a:srgbClr val="142633"/>
                </a:solidFill>
                <a:latin typeface="Arial"/>
                <a:ea typeface="Arial"/>
                <a:cs typeface="Arial"/>
              </a:defRPr>
            </a:lvl7pPr>
            <a:lvl8pPr>
              <a:defRPr sz="1575" b="0">
                <a:solidFill>
                  <a:srgbClr val="142633"/>
                </a:solidFill>
                <a:latin typeface="Arial"/>
                <a:ea typeface="Arial"/>
                <a:cs typeface="Arial"/>
              </a:defRPr>
            </a:lvl8pPr>
            <a:lvl9pPr>
              <a:defRPr sz="1575" b="0">
                <a:solidFill>
                  <a:srgbClr val="142633"/>
                </a:solidFill>
                <a:latin typeface="Arial"/>
                <a:ea typeface="Arial"/>
                <a:cs typeface="Arial"/>
              </a:defRPr>
            </a:lvl9pPr>
          </a:lstStyle>
          <a:p xmlns:a="http://schemas.openxmlformats.org/drawingml/2006/main">
            <a:pPr>
              <a:defRPr sz="1575" b="0">
                <a:solidFill>
                  <a:srgbClr val="142633"/>
                </a:solidFill>
                <a:latin typeface="Arial"/>
                <a:ea typeface="Arial"/>
                <a:cs typeface="Arial"/>
              </a:defRPr>
            </a:pPr>
            <a:r>
              <a:rPr sz="1575" b="0">
                <a:solidFill>
                  <a:srgbClr val="142633"/>
                </a:solidFill>
                <a:latin typeface="Arial"/>
                <a:ea typeface="Arial"/>
                <a:cs typeface="Arial"/>
              </a:rPr>
              <a:t>431: fewer than 3 reliable ellipses in the selected bar or disc interval.</a:t>
            </a:r>
          </a:p>
          <a:p xmlns:a="http://schemas.openxmlformats.org/drawingml/2006/main">
            <a:pPr>
              <a:defRPr sz="1575" b="0">
                <a:solidFill>
                  <a:srgbClr val="142633"/>
                </a:solidFill>
                <a:latin typeface="Arial"/>
                <a:ea typeface="Arial"/>
                <a:cs typeface="Arial"/>
              </a:defRPr>
            </a:pPr>
            <a:r>
              <a:rPr sz="1575" b="0">
                <a:solidFill>
                  <a:srgbClr val="142633"/>
                </a:solidFill>
                <a:latin typeface="Arial"/>
                <a:ea typeface="Arial"/>
                <a:cs typeface="Arial"/>
              </a:rPr>
              <a:t>138: fewer than 10 reliable ellipses overall.</a:t>
            </a:r>
          </a:p>
          <a:p xmlns:a="http://schemas.openxmlformats.org/drawingml/2006/main">
            <a:pPr>
              <a:defRPr sz="1575" b="0">
                <a:solidFill>
                  <a:srgbClr val="142633"/>
                </a:solidFill>
                <a:latin typeface="Arial"/>
                <a:ea typeface="Arial"/>
                <a:cs typeface="Arial"/>
              </a:defRPr>
            </a:pPr>
            <a:r>
              <a:rPr sz="1575" b="0">
                <a:solidFill>
                  <a:srgbClr val="142633"/>
                </a:solidFill>
                <a:latin typeface="Arial"/>
                <a:ea typeface="Arial"/>
                <a:cs typeface="Arial"/>
              </a:rPr>
              <a:t>1: centre outside a detected galaxy.</a:t>
            </a:r>
          </a:p>
        </p:txBody>
      </p:sp>
      <p:sp>
        <p:nvSpPr>
          <p:cNvPr id="9" name="">
            <a:extLst xmlns:a="http://schemas.openxmlformats.org/drawingml/2006/main">
              <a:ext uri="{FF2B5EF4-FFF2-40B4-BE49-F238E27FC236}">
                <a16:creationId xmlns:a16="http://schemas.microsoft.com/office/drawing/2014/main" id="{C60C222E-0413-4A5C-82DC-30A34C0E913A}"/>
              </a:ext>
            </a:extLst>
          </p:cNvPr>
          <p:cNvSpPr>
            <a:spLocks xmlns:a="http://schemas.openxmlformats.org/drawingml/2006/main" noGrp="1"/>
          </p:cNvSpPr>
          <p:nvPr/>
        </p:nvSpPr>
        <p:spPr>
          <a:xfrm xmlns:a="http://schemas.openxmlformats.org/drawingml/2006/main">
            <a:off x="609600" y="6191250"/>
            <a:ext cx="1028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b="0">
                <a:solidFill>
                  <a:srgbClr val="526673"/>
                </a:solidFill>
                <a:latin typeface="Arial"/>
                <a:ea typeface="Arial"/>
                <a:cs typeface="Arial"/>
              </a:defRPr>
            </a:defPPr>
            <a:lvl1pPr>
              <a:defRPr sz="1575" b="0">
                <a:solidFill>
                  <a:srgbClr val="526673"/>
                </a:solidFill>
                <a:latin typeface="Arial"/>
                <a:ea typeface="Arial"/>
                <a:cs typeface="Arial"/>
              </a:defRPr>
            </a:lvl1pPr>
            <a:lvl2pPr>
              <a:defRPr sz="1575" b="0">
                <a:solidFill>
                  <a:srgbClr val="526673"/>
                </a:solidFill>
                <a:latin typeface="Arial"/>
                <a:ea typeface="Arial"/>
                <a:cs typeface="Arial"/>
              </a:defRPr>
            </a:lvl2pPr>
            <a:lvl3pPr>
              <a:defRPr sz="1575" b="0">
                <a:solidFill>
                  <a:srgbClr val="526673"/>
                </a:solidFill>
                <a:latin typeface="Arial"/>
                <a:ea typeface="Arial"/>
                <a:cs typeface="Arial"/>
              </a:defRPr>
            </a:lvl3pPr>
            <a:lvl4pPr>
              <a:defRPr sz="1575" b="0">
                <a:solidFill>
                  <a:srgbClr val="526673"/>
                </a:solidFill>
                <a:latin typeface="Arial"/>
                <a:ea typeface="Arial"/>
                <a:cs typeface="Arial"/>
              </a:defRPr>
            </a:lvl4pPr>
            <a:lvl5pPr>
              <a:defRPr sz="1575" b="0">
                <a:solidFill>
                  <a:srgbClr val="526673"/>
                </a:solidFill>
                <a:latin typeface="Arial"/>
                <a:ea typeface="Arial"/>
                <a:cs typeface="Arial"/>
              </a:defRPr>
            </a:lvl5pPr>
            <a:lvl6pPr>
              <a:defRPr sz="1575" b="0">
                <a:solidFill>
                  <a:srgbClr val="526673"/>
                </a:solidFill>
                <a:latin typeface="Arial"/>
                <a:ea typeface="Arial"/>
                <a:cs typeface="Arial"/>
              </a:defRPr>
            </a:lvl6pPr>
            <a:lvl7pPr>
              <a:defRPr sz="1575" b="0">
                <a:solidFill>
                  <a:srgbClr val="526673"/>
                </a:solidFill>
                <a:latin typeface="Arial"/>
                <a:ea typeface="Arial"/>
                <a:cs typeface="Arial"/>
              </a:defRPr>
            </a:lvl7pPr>
            <a:lvl8pPr>
              <a:defRPr sz="1575" b="0">
                <a:solidFill>
                  <a:srgbClr val="526673"/>
                </a:solidFill>
                <a:latin typeface="Arial"/>
                <a:ea typeface="Arial"/>
                <a:cs typeface="Arial"/>
              </a:defRPr>
            </a:lvl8pPr>
            <a:lvl9pPr>
              <a:defRPr sz="1575" b="0">
                <a:solidFill>
                  <a:srgbClr val="526673"/>
                </a:solidFill>
                <a:latin typeface="Arial"/>
                <a:ea typeface="Arial"/>
                <a:cs typeface="Arial"/>
              </a:defRPr>
            </a:lvl9pPr>
          </a:lstStyle>
          <a:p xmlns:a="http://schemas.openxmlformats.org/drawingml/2006/main">
            <a:pPr>
              <a:defRPr sz="1575" b="0">
                <a:solidFill>
                  <a:srgbClr val="526673"/>
                </a:solidFill>
                <a:latin typeface="Arial"/>
                <a:ea typeface="Arial"/>
                <a:cs typeface="Arial"/>
              </a:defRPr>
            </a:pPr>
            <a:r>
              <a:rPr sz="1575" b="0">
                <a:solidFill>
                  <a:srgbClr val="526673"/>
                </a:solidFill>
                <a:latin typeface="Arial"/>
                <a:ea typeface="Arial"/>
                <a:cs typeface="Arial"/>
              </a:rPr>
              <a:t>Failure categories are mutually exclusive: 431 + 138 + 1 = 570.</a:t>
            </a:r>
          </a:p>
        </p:txBody>
      </p:sp>
    </p:spTree>
    <p:extLst>
      <p:ext uri="{BB962C8B-B14F-4D97-AF65-F5344CB8AC3E}">
        <p14:creationId xmlns:p14="http://schemas.microsoft.com/office/powerpoint/2010/main" val="894823320"/>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E5DD6B9A-AAA0-4D7E-99AE-24B2AC0A7449}"/>
              </a:ext>
            </a:extLst>
          </p:cNvPr>
          <p:cNvSpPr>
            <a:spLocks xmlns:a="http://schemas.openxmlformats.org/drawingml/2006/main" noGrp="1"/>
          </p:cNvSpPr>
          <p:nvPr/>
        </p:nvSpPr>
        <p:spPr>
          <a:xfrm xmlns:a="http://schemas.openxmlformats.org/drawingml/2006/main">
            <a:off x="609600" y="4000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42633"/>
                </a:solidFill>
                <a:latin typeface="Arial"/>
                <a:ea typeface="Arial"/>
                <a:cs typeface="Arial"/>
              </a:defRPr>
            </a:defPPr>
            <a:lvl1pPr>
              <a:defRPr sz="3300" b="1">
                <a:solidFill>
                  <a:srgbClr val="142633"/>
                </a:solidFill>
                <a:latin typeface="Arial"/>
                <a:ea typeface="Arial"/>
                <a:cs typeface="Arial"/>
              </a:defRPr>
            </a:lvl1pPr>
            <a:lvl2pPr>
              <a:defRPr sz="3300" b="1">
                <a:solidFill>
                  <a:srgbClr val="142633"/>
                </a:solidFill>
                <a:latin typeface="Arial"/>
                <a:ea typeface="Arial"/>
                <a:cs typeface="Arial"/>
              </a:defRPr>
            </a:lvl2pPr>
            <a:lvl3pPr>
              <a:defRPr sz="3300" b="1">
                <a:solidFill>
                  <a:srgbClr val="142633"/>
                </a:solidFill>
                <a:latin typeface="Arial"/>
                <a:ea typeface="Arial"/>
                <a:cs typeface="Arial"/>
              </a:defRPr>
            </a:lvl3pPr>
            <a:lvl4pPr>
              <a:defRPr sz="3300" b="1">
                <a:solidFill>
                  <a:srgbClr val="142633"/>
                </a:solidFill>
                <a:latin typeface="Arial"/>
                <a:ea typeface="Arial"/>
                <a:cs typeface="Arial"/>
              </a:defRPr>
            </a:lvl4pPr>
            <a:lvl5pPr>
              <a:defRPr sz="3300" b="1">
                <a:solidFill>
                  <a:srgbClr val="142633"/>
                </a:solidFill>
                <a:latin typeface="Arial"/>
                <a:ea typeface="Arial"/>
                <a:cs typeface="Arial"/>
              </a:defRPr>
            </a:lvl5pPr>
            <a:lvl6pPr>
              <a:defRPr sz="3300" b="1">
                <a:solidFill>
                  <a:srgbClr val="142633"/>
                </a:solidFill>
                <a:latin typeface="Arial"/>
                <a:ea typeface="Arial"/>
                <a:cs typeface="Arial"/>
              </a:defRPr>
            </a:lvl6pPr>
            <a:lvl7pPr>
              <a:defRPr sz="3300" b="1">
                <a:solidFill>
                  <a:srgbClr val="142633"/>
                </a:solidFill>
                <a:latin typeface="Arial"/>
                <a:ea typeface="Arial"/>
                <a:cs typeface="Arial"/>
              </a:defRPr>
            </a:lvl7pPr>
            <a:lvl8pPr>
              <a:defRPr sz="3300" b="1">
                <a:solidFill>
                  <a:srgbClr val="142633"/>
                </a:solidFill>
                <a:latin typeface="Arial"/>
                <a:ea typeface="Arial"/>
                <a:cs typeface="Arial"/>
              </a:defRPr>
            </a:lvl8pPr>
            <a:lvl9pPr>
              <a:defRPr sz="3300" b="1">
                <a:solidFill>
                  <a:srgbClr val="142633"/>
                </a:solidFill>
                <a:latin typeface="Arial"/>
                <a:ea typeface="Arial"/>
                <a:cs typeface="Arial"/>
              </a:defRPr>
            </a:lvl9pPr>
          </a:lstStyle>
          <a:p xmlns:a="http://schemas.openxmlformats.org/drawingml/2006/main">
            <a:pPr>
              <a:defRPr sz="3300" b="1">
                <a:solidFill>
                  <a:srgbClr val="142633"/>
                </a:solidFill>
                <a:latin typeface="Arial"/>
                <a:ea typeface="Arial"/>
                <a:cs typeface="Arial"/>
              </a:defRPr>
            </a:pPr>
            <a:r>
              <a:rPr sz="3300" b="1">
                <a:solidFill>
                  <a:srgbClr val="142633"/>
                </a:solidFill>
                <a:latin typeface="Arial"/>
                <a:ea typeface="Arial"/>
                <a:cs typeface="Arial"/>
              </a:rPr>
              <a:t>Comparison with Euclid geometry</a:t>
            </a:r>
          </a:p>
        </p:txBody>
      </p:sp>
      <p:sp>
        <p:nvSpPr>
          <p:cNvPr id="2" name="">
            <a:extLst xmlns:a="http://schemas.openxmlformats.org/drawingml/2006/main">
              <a:ext uri="{FF2B5EF4-FFF2-40B4-BE49-F238E27FC236}">
                <a16:creationId xmlns:a16="http://schemas.microsoft.com/office/drawing/2014/main" id="{8A14169A-DAA9-46A3-890E-69617DE834AA}"/>
              </a:ext>
            </a:extLst>
          </p:cNvPr>
          <p:cNvSpPr>
            <a:spLocks xmlns:a="http://schemas.openxmlformats.org/drawingml/2006/main" noGrp="1"/>
          </p:cNvSpPr>
          <p:nvPr/>
        </p:nvSpPr>
        <p:spPr>
          <a:xfrm xmlns:a="http://schemas.openxmlformats.org/drawingml/2006/main">
            <a:off x="10858500" y="6477000"/>
            <a:ext cx="7239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673"/>
                </a:solidFill>
                <a:latin typeface="Arial"/>
                <a:ea typeface="Arial"/>
                <a:cs typeface="Arial"/>
              </a:defRPr>
            </a:defPPr>
            <a:lvl1pPr>
              <a:defRPr sz="1200" b="0">
                <a:solidFill>
                  <a:srgbClr val="526673"/>
                </a:solidFill>
                <a:latin typeface="Arial"/>
                <a:ea typeface="Arial"/>
                <a:cs typeface="Arial"/>
              </a:defRPr>
            </a:lvl1pPr>
            <a:lvl2pPr>
              <a:defRPr sz="1200" b="0">
                <a:solidFill>
                  <a:srgbClr val="526673"/>
                </a:solidFill>
                <a:latin typeface="Arial"/>
                <a:ea typeface="Arial"/>
                <a:cs typeface="Arial"/>
              </a:defRPr>
            </a:lvl2pPr>
            <a:lvl3pPr>
              <a:defRPr sz="1200" b="0">
                <a:solidFill>
                  <a:srgbClr val="526673"/>
                </a:solidFill>
                <a:latin typeface="Arial"/>
                <a:ea typeface="Arial"/>
                <a:cs typeface="Arial"/>
              </a:defRPr>
            </a:lvl3pPr>
            <a:lvl4pPr>
              <a:defRPr sz="1200" b="0">
                <a:solidFill>
                  <a:srgbClr val="526673"/>
                </a:solidFill>
                <a:latin typeface="Arial"/>
                <a:ea typeface="Arial"/>
                <a:cs typeface="Arial"/>
              </a:defRPr>
            </a:lvl4pPr>
            <a:lvl5pPr>
              <a:defRPr sz="1200" b="0">
                <a:solidFill>
                  <a:srgbClr val="526673"/>
                </a:solidFill>
                <a:latin typeface="Arial"/>
                <a:ea typeface="Arial"/>
                <a:cs typeface="Arial"/>
              </a:defRPr>
            </a:lvl5pPr>
            <a:lvl6pPr>
              <a:defRPr sz="1200" b="0">
                <a:solidFill>
                  <a:srgbClr val="526673"/>
                </a:solidFill>
                <a:latin typeface="Arial"/>
                <a:ea typeface="Arial"/>
                <a:cs typeface="Arial"/>
              </a:defRPr>
            </a:lvl6pPr>
            <a:lvl7pPr>
              <a:defRPr sz="1200" b="0">
                <a:solidFill>
                  <a:srgbClr val="526673"/>
                </a:solidFill>
                <a:latin typeface="Arial"/>
                <a:ea typeface="Arial"/>
                <a:cs typeface="Arial"/>
              </a:defRPr>
            </a:lvl7pPr>
            <a:lvl8pPr>
              <a:defRPr sz="1200" b="0">
                <a:solidFill>
                  <a:srgbClr val="526673"/>
                </a:solidFill>
                <a:latin typeface="Arial"/>
                <a:ea typeface="Arial"/>
                <a:cs typeface="Arial"/>
              </a:defRPr>
            </a:lvl8pPr>
            <a:lvl9pPr>
              <a:defRPr sz="1200" b="0">
                <a:solidFill>
                  <a:srgbClr val="526673"/>
                </a:solidFill>
                <a:latin typeface="Arial"/>
                <a:ea typeface="Arial"/>
                <a:cs typeface="Arial"/>
              </a:defRPr>
            </a:lvl9pPr>
          </a:lstStyle>
          <a:p xmlns:a="http://schemas.openxmlformats.org/drawingml/2006/main">
            <a:pPr>
              <a:defRPr sz="1200" b="0">
                <a:solidFill>
                  <a:srgbClr val="526673"/>
                </a:solidFill>
                <a:latin typeface="Arial"/>
                <a:ea typeface="Arial"/>
                <a:cs typeface="Arial"/>
              </a:defRPr>
            </a:pPr>
            <a:r>
              <a:rPr sz="1200" b="0">
                <a:solidFill>
                  <a:srgbClr val="526673"/>
                </a:solidFill>
                <a:latin typeface="Arial"/>
                <a:ea typeface="Arial"/>
                <a:cs typeface="Arial"/>
              </a:rPr>
              <a:t>4 / 6</a:t>
            </a:r>
          </a:p>
        </p:txBody>
      </p:sp>
      <p:sp>
        <p:nvSpPr>
          <p:cNvPr id="3" name="">
            <a:extLst xmlns:a="http://schemas.openxmlformats.org/drawingml/2006/main">
              <a:ext uri="{FF2B5EF4-FFF2-40B4-BE49-F238E27FC236}">
                <a16:creationId xmlns:a16="http://schemas.microsoft.com/office/drawing/2014/main" id="{C75EF6CC-EA3C-4CC5-8D3B-740CF7298F42}"/>
              </a:ext>
            </a:extLst>
          </p:cNvPr>
          <p:cNvSpPr>
            <a:spLocks xmlns:a="http://schemas.openxmlformats.org/drawingml/2006/main" noGrp="1"/>
          </p:cNvSpPr>
          <p:nvPr/>
        </p:nvSpPr>
        <p:spPr>
          <a:xfrm xmlns:a="http://schemas.openxmlformats.org/drawingml/2006/main">
            <a:off x="609600" y="1333500"/>
            <a:ext cx="10953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205F7A"/>
                </a:solidFill>
                <a:latin typeface="Arial"/>
                <a:ea typeface="Arial"/>
                <a:cs typeface="Arial"/>
              </a:defRPr>
            </a:defPPr>
            <a:lvl1pPr>
              <a:defRPr sz="1725" b="1">
                <a:solidFill>
                  <a:srgbClr val="205F7A"/>
                </a:solidFill>
                <a:latin typeface="Arial"/>
                <a:ea typeface="Arial"/>
                <a:cs typeface="Arial"/>
              </a:defRPr>
            </a:lvl1pPr>
            <a:lvl2pPr>
              <a:defRPr sz="1725" b="1">
                <a:solidFill>
                  <a:srgbClr val="205F7A"/>
                </a:solidFill>
                <a:latin typeface="Arial"/>
                <a:ea typeface="Arial"/>
                <a:cs typeface="Arial"/>
              </a:defRPr>
            </a:lvl2pPr>
            <a:lvl3pPr>
              <a:defRPr sz="1725" b="1">
                <a:solidFill>
                  <a:srgbClr val="205F7A"/>
                </a:solidFill>
                <a:latin typeface="Arial"/>
                <a:ea typeface="Arial"/>
                <a:cs typeface="Arial"/>
              </a:defRPr>
            </a:lvl3pPr>
            <a:lvl4pPr>
              <a:defRPr sz="1725" b="1">
                <a:solidFill>
                  <a:srgbClr val="205F7A"/>
                </a:solidFill>
                <a:latin typeface="Arial"/>
                <a:ea typeface="Arial"/>
                <a:cs typeface="Arial"/>
              </a:defRPr>
            </a:lvl4pPr>
            <a:lvl5pPr>
              <a:defRPr sz="1725" b="1">
                <a:solidFill>
                  <a:srgbClr val="205F7A"/>
                </a:solidFill>
                <a:latin typeface="Arial"/>
                <a:ea typeface="Arial"/>
                <a:cs typeface="Arial"/>
              </a:defRPr>
            </a:lvl5pPr>
            <a:lvl6pPr>
              <a:defRPr sz="1725" b="1">
                <a:solidFill>
                  <a:srgbClr val="205F7A"/>
                </a:solidFill>
                <a:latin typeface="Arial"/>
                <a:ea typeface="Arial"/>
                <a:cs typeface="Arial"/>
              </a:defRPr>
            </a:lvl6pPr>
            <a:lvl7pPr>
              <a:defRPr sz="1725" b="1">
                <a:solidFill>
                  <a:srgbClr val="205F7A"/>
                </a:solidFill>
                <a:latin typeface="Arial"/>
                <a:ea typeface="Arial"/>
                <a:cs typeface="Arial"/>
              </a:defRPr>
            </a:lvl7pPr>
            <a:lvl8pPr>
              <a:defRPr sz="1725" b="1">
                <a:solidFill>
                  <a:srgbClr val="205F7A"/>
                </a:solidFill>
                <a:latin typeface="Arial"/>
                <a:ea typeface="Arial"/>
                <a:cs typeface="Arial"/>
              </a:defRPr>
            </a:lvl8pPr>
            <a:lvl9pPr>
              <a:defRPr sz="1725" b="1">
                <a:solidFill>
                  <a:srgbClr val="205F7A"/>
                </a:solidFill>
                <a:latin typeface="Arial"/>
                <a:ea typeface="Arial"/>
                <a:cs typeface="Arial"/>
              </a:defRPr>
            </a:lvl9pPr>
          </a:lstStyle>
          <a:p xmlns:a="http://schemas.openxmlformats.org/drawingml/2006/main">
            <a:pPr>
              <a:defRPr sz="1725" b="1">
                <a:solidFill>
                  <a:srgbClr val="205F7A"/>
                </a:solidFill>
                <a:latin typeface="Arial"/>
                <a:ea typeface="Arial"/>
                <a:cs typeface="Arial"/>
              </a:defRPr>
            </a:pPr>
            <a:r>
              <a:rPr sz="1725" b="1">
                <a:solidFill>
                  <a:srgbClr val="205F7A"/>
                </a:solidFill>
                <a:latin typeface="Arial"/>
                <a:ea typeface="Arial"/>
                <a:cs typeface="Arial"/>
              </a:rPr>
              <a:t>Adopted rule: adjusted Euclid sky PA = (WCS-converted PA + 90°) mod 180°</a:t>
            </a:r>
          </a:p>
          <a:p xmlns:a="http://schemas.openxmlformats.org/drawingml/2006/main">
            <a:pPr>
              <a:defRPr sz="1725" b="1">
                <a:solidFill>
                  <a:srgbClr val="205F7A"/>
                </a:solidFill>
                <a:latin typeface="Arial"/>
                <a:ea typeface="Arial"/>
                <a:cs typeface="Arial"/>
              </a:defRPr>
            </a:pPr>
            <a:r>
              <a:rPr sz="1725" b="1">
                <a:solidFill>
                  <a:srgbClr val="205F7A"/>
                </a:solidFill>
                <a:latin typeface="Arial"/>
                <a:ea typeface="Arial"/>
                <a:cs typeface="Arial"/>
              </a:rPr>
              <a:t>Possible explanation: catalogue angle from detection-image y rather than documented x (unconfirmed).</a:t>
            </a:r>
          </a:p>
        </p:txBody>
      </p:sp>
      <p:graphicFrame>
        <p:nvGraphicFramePr>
          <p:cNvPr id="4" name="">
            <a:extLst xmlns:a="http://schemas.openxmlformats.org/drawingml/2006/main">
              <a:ext uri="{FF2B5EF4-FFF2-40B4-BE49-F238E27FC236}">
                <a16:creationId xmlns:a16="http://schemas.microsoft.com/office/drawing/2014/main" id="{F8A86D73-FAFF-47E9-AFB6-88A1286CF0D1}"/>
              </a:ext>
            </a:extLst>
          </p:cNvPr>
          <p:cNvGraphicFramePr/>
          <p:nvPr/>
        </p:nvGraphicFramePr>
        <p:xfrm>
          <a:off xmlns:a="http://schemas.openxmlformats.org/drawingml/2006/main" x="609600" y="2381250"/>
          <a:ext xmlns:a="http://schemas.openxmlformats.org/drawingml/2006/main" cx="10972800" cy="2381250"/>
        </p:xfrm>
        <a:graphic xmlns:a="http://schemas.openxmlformats.org/drawingml/2006/main">
          <a:graphicData uri="http://schemas.openxmlformats.org/drawingml/2006/table">
            <a:tbl>
              <a:tblPr/>
              <a:tblGrid>
                <a:gridCol w="5905500"/>
                <a:gridCol w="2533650"/>
                <a:gridCol w="2533650"/>
              </a:tblGrid>
              <a:tr h="595313">
                <a:tc>
                  <a:txBody>
                    <a:bodyPr/>
                    <a:lstStyle/>
                    <a:p>
                      <a:r>
                        <a:rPr sz="1875" b="1">
                          <a:solidFill>
                            <a:srgbClr val="142633"/>
                          </a:solidFill>
                          <a:latin typeface="Arial"/>
                          <a:ea typeface="Arial"/>
                          <a:cs typeface="Arial"/>
                        </a:rPr>
                        <a:t>Median absolute difference</a:t>
                      </a:r>
                    </a:p>
                  </a:txBody>
                  <a:tcPr marL="91440" marR="91440" marT="45720" marB="45720">
                    <a:lnL w="6668">
                      <a:solidFill>
                        <a:srgbClr val="D6E0E5"/>
                      </a:solidFill>
                      <a:prstDash val="solid"/>
                    </a:lnL>
                    <a:lnR w="6668">
                      <a:solidFill>
                        <a:srgbClr val="D6E0E5"/>
                      </a:solidFill>
                      <a:prstDash val="solid"/>
                    </a:lnR>
                    <a:lnT w="6668">
                      <a:solidFill>
                        <a:srgbClr val="D6E0E5"/>
                      </a:solidFill>
                      <a:prstDash val="solid"/>
                    </a:lnT>
                    <a:lnB w="6668">
                      <a:solidFill>
                        <a:srgbClr val="D6E0E5"/>
                      </a:solidFill>
                      <a:prstDash val="solid"/>
                    </a:lnB>
                    <a:solidFill>
                      <a:srgbClr val="E8F0F4"/>
                    </a:solidFill>
                  </a:tcPr>
                </a:tc>
                <a:tc>
                  <a:txBody>
                    <a:bodyPr/>
                    <a:lstStyle/>
                    <a:p>
                      <a:r>
                        <a:rPr sz="1875" b="1">
                          <a:solidFill>
                            <a:srgbClr val="142633"/>
                          </a:solidFill>
                          <a:latin typeface="Arial"/>
                          <a:ea typeface="Arial"/>
                          <a:cs typeface="Arial"/>
                        </a:rPr>
                        <a:t>All 2,207 fits</a:t>
                      </a:r>
                    </a:p>
                  </a:txBody>
                  <a:tcPr marL="91440" marR="91440" marT="45720" marB="45720">
                    <a:lnR w="6668">
                      <a:solidFill>
                        <a:srgbClr val="D6E0E5"/>
                      </a:solidFill>
                      <a:prstDash val="solid"/>
                    </a:lnR>
                    <a:lnT w="6668">
                      <a:solidFill>
                        <a:srgbClr val="D6E0E5"/>
                      </a:solidFill>
                      <a:prstDash val="solid"/>
                    </a:lnT>
                    <a:lnB w="6668">
                      <a:solidFill>
                        <a:srgbClr val="D6E0E5"/>
                      </a:solidFill>
                      <a:prstDash val="solid"/>
                    </a:lnB>
                    <a:solidFill>
                      <a:srgbClr val="E8F0F4"/>
                    </a:solidFill>
                  </a:tcPr>
                </a:tc>
                <a:tc>
                  <a:txBody>
                    <a:bodyPr/>
                    <a:lstStyle/>
                    <a:p>
                      <a:r>
                        <a:rPr sz="1875" b="1">
                          <a:solidFill>
                            <a:srgbClr val="142633"/>
                          </a:solidFill>
                          <a:latin typeface="Arial"/>
                          <a:ea typeface="Arial"/>
                          <a:cs typeface="Arial"/>
                        </a:rPr>
                        <a:t>546 unflagged</a:t>
                      </a:r>
                    </a:p>
                  </a:txBody>
                  <a:tcPr marL="91440" marR="91440" marT="45720" marB="45720">
                    <a:lnR w="6668">
                      <a:solidFill>
                        <a:srgbClr val="D6E0E5"/>
                      </a:solidFill>
                      <a:prstDash val="solid"/>
                    </a:lnR>
                    <a:lnT w="6668">
                      <a:solidFill>
                        <a:srgbClr val="D6E0E5"/>
                      </a:solidFill>
                      <a:prstDash val="solid"/>
                    </a:lnT>
                    <a:lnB w="6668">
                      <a:solidFill>
                        <a:srgbClr val="D6E0E5"/>
                      </a:solidFill>
                      <a:prstDash val="solid"/>
                    </a:lnB>
                    <a:solidFill>
                      <a:srgbClr val="E8F0F4"/>
                    </a:solidFill>
                  </a:tcPr>
                </a:tc>
              </a:tr>
              <a:tr h="595313">
                <a:tc>
                  <a:txBody>
                    <a:bodyPr/>
                    <a:lstStyle/>
                    <a:p>
                      <a:r>
                        <a:rPr sz="1875" b="0">
                          <a:solidFill>
                            <a:srgbClr val="142633"/>
                          </a:solidFill>
                          <a:latin typeface="Arial"/>
                          <a:ea typeface="Arial"/>
                          <a:cs typeface="Arial"/>
                        </a:rPr>
                        <a:t>Adjusted detection PA</a:t>
                      </a:r>
                    </a:p>
                  </a:txBody>
                  <a:tcPr marL="91440" marR="91440" marT="45720" marB="45720">
                    <a:lnL w="6668">
                      <a:solidFill>
                        <a:srgbClr val="D6E0E5"/>
                      </a:solidFill>
                      <a:prstDash val="solid"/>
                    </a:lnL>
                    <a:lnR w="6668">
                      <a:solidFill>
                        <a:srgbClr val="D6E0E5"/>
                      </a:solidFill>
                      <a:prstDash val="solid"/>
                    </a:lnR>
                    <a:lnB w="6668">
                      <a:solidFill>
                        <a:srgbClr val="D6E0E5"/>
                      </a:solidFill>
                      <a:prstDash val="solid"/>
                    </a:lnB>
                    <a:solidFill>
                      <a:srgbClr val="FFFFFF"/>
                    </a:solidFill>
                  </a:tcPr>
                </a:tc>
                <a:tc>
                  <a:txBody>
                    <a:bodyPr/>
                    <a:lstStyle/>
                    <a:p>
                      <a:r>
                        <a:rPr sz="1875" b="0">
                          <a:solidFill>
                            <a:srgbClr val="142633"/>
                          </a:solidFill>
                          <a:latin typeface="Arial"/>
                          <a:ea typeface="Arial"/>
                          <a:cs typeface="Arial"/>
                        </a:rPr>
                        <a:t>7.07°</a:t>
                      </a:r>
                    </a:p>
                  </a:txBody>
                  <a:tcPr marL="91440" marR="91440" marT="45720" marB="45720">
                    <a:lnR w="6668">
                      <a:solidFill>
                        <a:srgbClr val="D6E0E5"/>
                      </a:solidFill>
                      <a:prstDash val="solid"/>
                    </a:lnR>
                    <a:lnB w="6668">
                      <a:solidFill>
                        <a:srgbClr val="D6E0E5"/>
                      </a:solidFill>
                      <a:prstDash val="solid"/>
                    </a:lnB>
                    <a:solidFill>
                      <a:srgbClr val="FFFFFF"/>
                    </a:solidFill>
                  </a:tcPr>
                </a:tc>
                <a:tc>
                  <a:txBody>
                    <a:bodyPr/>
                    <a:lstStyle/>
                    <a:p>
                      <a:r>
                        <a:rPr sz="1875" b="0">
                          <a:solidFill>
                            <a:srgbClr val="142633"/>
                          </a:solidFill>
                          <a:latin typeface="Arial"/>
                          <a:ea typeface="Arial"/>
                          <a:cs typeface="Arial"/>
                        </a:rPr>
                        <a:t>3.72°</a:t>
                      </a:r>
                    </a:p>
                  </a:txBody>
                  <a:tcPr marL="91440" marR="91440" marT="45720" marB="45720">
                    <a:lnR w="6668">
                      <a:solidFill>
                        <a:srgbClr val="D6E0E5"/>
                      </a:solidFill>
                      <a:prstDash val="solid"/>
                    </a:lnR>
                    <a:lnB w="6668">
                      <a:solidFill>
                        <a:srgbClr val="D6E0E5"/>
                      </a:solidFill>
                      <a:prstDash val="solid"/>
                    </a:lnB>
                    <a:solidFill>
                      <a:srgbClr val="FFFFFF"/>
                    </a:solidFill>
                  </a:tcPr>
                </a:tc>
              </a:tr>
              <a:tr h="595313">
                <a:tc>
                  <a:txBody>
                    <a:bodyPr/>
                    <a:lstStyle/>
                    <a:p>
                      <a:r>
                        <a:rPr sz="1875" b="0">
                          <a:solidFill>
                            <a:srgbClr val="142633"/>
                          </a:solidFill>
                          <a:latin typeface="Arial"/>
                          <a:ea typeface="Arial"/>
                          <a:cs typeface="Arial"/>
                        </a:rPr>
                        <a:t>Detection inclination proxy</a:t>
                      </a:r>
                    </a:p>
                  </a:txBody>
                  <a:tcPr marL="91440" marR="91440" marT="45720" marB="45720">
                    <a:lnL w="6668">
                      <a:solidFill>
                        <a:srgbClr val="D6E0E5"/>
                      </a:solidFill>
                      <a:prstDash val="solid"/>
                    </a:lnL>
                    <a:lnR w="6668">
                      <a:solidFill>
                        <a:srgbClr val="D6E0E5"/>
                      </a:solidFill>
                      <a:prstDash val="solid"/>
                    </a:lnR>
                    <a:lnB w="6668">
                      <a:solidFill>
                        <a:srgbClr val="D6E0E5"/>
                      </a:solidFill>
                      <a:prstDash val="solid"/>
                    </a:lnB>
                    <a:solidFill>
                      <a:srgbClr val="FFFFFF"/>
                    </a:solidFill>
                  </a:tcPr>
                </a:tc>
                <a:tc>
                  <a:txBody>
                    <a:bodyPr/>
                    <a:lstStyle/>
                    <a:p>
                      <a:r>
                        <a:rPr sz="1875" b="0">
                          <a:solidFill>
                            <a:srgbClr val="142633"/>
                          </a:solidFill>
                          <a:latin typeface="Arial"/>
                          <a:ea typeface="Arial"/>
                          <a:cs typeface="Arial"/>
                        </a:rPr>
                        <a:t>4.28°</a:t>
                      </a:r>
                    </a:p>
                  </a:txBody>
                  <a:tcPr marL="91440" marR="91440" marT="45720" marB="45720">
                    <a:lnR w="6668">
                      <a:solidFill>
                        <a:srgbClr val="D6E0E5"/>
                      </a:solidFill>
                      <a:prstDash val="solid"/>
                    </a:lnR>
                    <a:lnB w="6668">
                      <a:solidFill>
                        <a:srgbClr val="D6E0E5"/>
                      </a:solidFill>
                      <a:prstDash val="solid"/>
                    </a:lnB>
                    <a:solidFill>
                      <a:srgbClr val="FFFFFF"/>
                    </a:solidFill>
                  </a:tcPr>
                </a:tc>
                <a:tc>
                  <a:txBody>
                    <a:bodyPr/>
                    <a:lstStyle/>
                    <a:p>
                      <a:r>
                        <a:rPr sz="1875" b="0">
                          <a:solidFill>
                            <a:srgbClr val="142633"/>
                          </a:solidFill>
                          <a:latin typeface="Arial"/>
                          <a:ea typeface="Arial"/>
                          <a:cs typeface="Arial"/>
                        </a:rPr>
                        <a:t>2.71°</a:t>
                      </a:r>
                    </a:p>
                  </a:txBody>
                  <a:tcPr marL="91440" marR="91440" marT="45720" marB="45720">
                    <a:lnR w="6668">
                      <a:solidFill>
                        <a:srgbClr val="D6E0E5"/>
                      </a:solidFill>
                      <a:prstDash val="solid"/>
                    </a:lnR>
                    <a:lnB w="6668">
                      <a:solidFill>
                        <a:srgbClr val="D6E0E5"/>
                      </a:solidFill>
                      <a:prstDash val="solid"/>
                    </a:lnB>
                    <a:solidFill>
                      <a:srgbClr val="FFFFFF"/>
                    </a:solidFill>
                  </a:tcPr>
                </a:tc>
              </a:tr>
              <a:tr h="595313">
                <a:tc>
                  <a:txBody>
                    <a:bodyPr/>
                    <a:lstStyle/>
                    <a:p>
                      <a:r>
                        <a:rPr sz="1875" b="0">
                          <a:solidFill>
                            <a:srgbClr val="142633"/>
                          </a:solidFill>
                          <a:latin typeface="Arial"/>
                          <a:ea typeface="Arial"/>
                          <a:cs typeface="Arial"/>
                        </a:rPr>
                        <a:t>Sérsic inclination proxy</a:t>
                      </a:r>
                    </a:p>
                  </a:txBody>
                  <a:tcPr marL="91440" marR="91440" marT="45720" marB="45720">
                    <a:lnL w="6668">
                      <a:solidFill>
                        <a:srgbClr val="D6E0E5"/>
                      </a:solidFill>
                      <a:prstDash val="solid"/>
                    </a:lnL>
                    <a:lnR w="6668">
                      <a:solidFill>
                        <a:srgbClr val="D6E0E5"/>
                      </a:solidFill>
                      <a:prstDash val="solid"/>
                    </a:lnR>
                    <a:lnB w="6668">
                      <a:solidFill>
                        <a:srgbClr val="D6E0E5"/>
                      </a:solidFill>
                      <a:prstDash val="solid"/>
                    </a:lnB>
                    <a:solidFill>
                      <a:srgbClr val="FFFFFF"/>
                    </a:solidFill>
                  </a:tcPr>
                </a:tc>
                <a:tc>
                  <a:txBody>
                    <a:bodyPr/>
                    <a:lstStyle/>
                    <a:p>
                      <a:r>
                        <a:rPr sz="1875" b="0">
                          <a:solidFill>
                            <a:srgbClr val="142633"/>
                          </a:solidFill>
                          <a:latin typeface="Arial"/>
                          <a:ea typeface="Arial"/>
                          <a:cs typeface="Arial"/>
                        </a:rPr>
                        <a:t>8.41°</a:t>
                      </a:r>
                    </a:p>
                  </a:txBody>
                  <a:tcPr marL="91440" marR="91440" marT="45720" marB="45720">
                    <a:lnR w="6668">
                      <a:solidFill>
                        <a:srgbClr val="D6E0E5"/>
                      </a:solidFill>
                      <a:prstDash val="solid"/>
                    </a:lnR>
                    <a:lnB w="6668">
                      <a:solidFill>
                        <a:srgbClr val="D6E0E5"/>
                      </a:solidFill>
                      <a:prstDash val="solid"/>
                    </a:lnB>
                    <a:solidFill>
                      <a:srgbClr val="FFFFFF"/>
                    </a:solidFill>
                  </a:tcPr>
                </a:tc>
                <a:tc>
                  <a:txBody>
                    <a:bodyPr/>
                    <a:lstStyle/>
                    <a:p>
                      <a:r>
                        <a:rPr sz="1875" b="0">
                          <a:solidFill>
                            <a:srgbClr val="142633"/>
                          </a:solidFill>
                          <a:latin typeface="Arial"/>
                          <a:ea typeface="Arial"/>
                          <a:cs typeface="Arial"/>
                        </a:rPr>
                        <a:t>6.76°</a:t>
                      </a:r>
                    </a:p>
                  </a:txBody>
                  <a:tcPr marL="91440" marR="91440" marT="45720" marB="45720">
                    <a:lnR w="6668">
                      <a:solidFill>
                        <a:srgbClr val="D6E0E5"/>
                      </a:solidFill>
                      <a:prstDash val="solid"/>
                    </a:lnR>
                    <a:lnB w="6668">
                      <a:solidFill>
                        <a:srgbClr val="D6E0E5"/>
                      </a:solidFill>
                      <a:prstDash val="solid"/>
                    </a:lnB>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90D0DD15-1F67-4BF7-AD78-E0CB8A4D83C7}"/>
              </a:ext>
            </a:extLst>
          </p:cNvPr>
          <p:cNvSpPr>
            <a:spLocks xmlns:a="http://schemas.openxmlformats.org/drawingml/2006/main" noGrp="1"/>
          </p:cNvSpPr>
          <p:nvPr/>
        </p:nvSpPr>
        <p:spPr>
          <a:xfrm xmlns:a="http://schemas.openxmlformats.org/drawingml/2006/main">
            <a:off x="609600" y="5095875"/>
            <a:ext cx="10763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42633"/>
                </a:solidFill>
                <a:latin typeface="Arial"/>
                <a:ea typeface="Arial"/>
                <a:cs typeface="Arial"/>
              </a:defRPr>
            </a:defPPr>
            <a:lvl1pPr>
              <a:defRPr sz="2100" b="0">
                <a:solidFill>
                  <a:srgbClr val="142633"/>
                </a:solidFill>
                <a:latin typeface="Arial"/>
                <a:ea typeface="Arial"/>
                <a:cs typeface="Arial"/>
              </a:defRPr>
            </a:lvl1pPr>
            <a:lvl2pPr>
              <a:defRPr sz="2100" b="0">
                <a:solidFill>
                  <a:srgbClr val="142633"/>
                </a:solidFill>
                <a:latin typeface="Arial"/>
                <a:ea typeface="Arial"/>
                <a:cs typeface="Arial"/>
              </a:defRPr>
            </a:lvl2pPr>
            <a:lvl3pPr>
              <a:defRPr sz="2100" b="0">
                <a:solidFill>
                  <a:srgbClr val="142633"/>
                </a:solidFill>
                <a:latin typeface="Arial"/>
                <a:ea typeface="Arial"/>
                <a:cs typeface="Arial"/>
              </a:defRPr>
            </a:lvl3pPr>
            <a:lvl4pPr>
              <a:defRPr sz="2100" b="0">
                <a:solidFill>
                  <a:srgbClr val="142633"/>
                </a:solidFill>
                <a:latin typeface="Arial"/>
                <a:ea typeface="Arial"/>
                <a:cs typeface="Arial"/>
              </a:defRPr>
            </a:lvl4pPr>
            <a:lvl5pPr>
              <a:defRPr sz="2100" b="0">
                <a:solidFill>
                  <a:srgbClr val="142633"/>
                </a:solidFill>
                <a:latin typeface="Arial"/>
                <a:ea typeface="Arial"/>
                <a:cs typeface="Arial"/>
              </a:defRPr>
            </a:lvl5pPr>
            <a:lvl6pPr>
              <a:defRPr sz="2100" b="0">
                <a:solidFill>
                  <a:srgbClr val="142633"/>
                </a:solidFill>
                <a:latin typeface="Arial"/>
                <a:ea typeface="Arial"/>
                <a:cs typeface="Arial"/>
              </a:defRPr>
            </a:lvl6pPr>
            <a:lvl7pPr>
              <a:defRPr sz="2100" b="0">
                <a:solidFill>
                  <a:srgbClr val="142633"/>
                </a:solidFill>
                <a:latin typeface="Arial"/>
                <a:ea typeface="Arial"/>
                <a:cs typeface="Arial"/>
              </a:defRPr>
            </a:lvl7pPr>
            <a:lvl8pPr>
              <a:defRPr sz="2100" b="0">
                <a:solidFill>
                  <a:srgbClr val="142633"/>
                </a:solidFill>
                <a:latin typeface="Arial"/>
                <a:ea typeface="Arial"/>
                <a:cs typeface="Arial"/>
              </a:defRPr>
            </a:lvl8pPr>
            <a:lvl9pPr>
              <a:defRPr sz="2100" b="0">
                <a:solidFill>
                  <a:srgbClr val="142633"/>
                </a:solidFill>
                <a:latin typeface="Arial"/>
                <a:ea typeface="Arial"/>
                <a:cs typeface="Arial"/>
              </a:defRPr>
            </a:lvl9pPr>
          </a:lstStyle>
          <a:p xmlns:a="http://schemas.openxmlformats.org/drawingml/2006/main">
            <a:pPr>
              <a:defRPr sz="2100" b="0">
                <a:solidFill>
                  <a:srgbClr val="142633"/>
                </a:solidFill>
                <a:latin typeface="Arial"/>
                <a:ea typeface="Arial"/>
                <a:cs typeface="Arial"/>
              </a:defRPr>
            </a:pPr>
            <a:r>
              <a:rPr sz="2100" b="0">
                <a:solidFill>
                  <a:srgbClr val="142633"/>
                </a:solidFill>
                <a:latin typeface="Arial"/>
                <a:ea typeface="Arial"/>
                <a:cs typeface="Arial"/>
              </a:rPr>
              <a:t>79.3% of unflagged fits agree with adjusted Euclid PA within 10°.</a:t>
            </a:r>
          </a:p>
        </p:txBody>
      </p:sp>
      <p:sp>
        <p:nvSpPr>
          <p:cNvPr id="6" name="">
            <a:extLst xmlns:a="http://schemas.openxmlformats.org/drawingml/2006/main">
              <a:ext uri="{FF2B5EF4-FFF2-40B4-BE49-F238E27FC236}">
                <a16:creationId xmlns:a16="http://schemas.microsoft.com/office/drawing/2014/main" id="{E0DBFA57-4B80-49D6-99EF-6B67AF9E0397}"/>
              </a:ext>
            </a:extLst>
          </p:cNvPr>
          <p:cNvSpPr>
            <a:spLocks xmlns:a="http://schemas.openxmlformats.org/drawingml/2006/main" noGrp="1"/>
          </p:cNvSpPr>
          <p:nvPr/>
        </p:nvSpPr>
        <p:spPr>
          <a:xfrm xmlns:a="http://schemas.openxmlformats.org/drawingml/2006/main">
            <a:off x="609600" y="5772150"/>
            <a:ext cx="10953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526673"/>
                </a:solidFill>
                <a:latin typeface="Arial"/>
                <a:ea typeface="Arial"/>
                <a:cs typeface="Arial"/>
              </a:defRPr>
            </a:defPPr>
            <a:lvl1pPr>
              <a:defRPr sz="1650" b="0">
                <a:solidFill>
                  <a:srgbClr val="526673"/>
                </a:solidFill>
                <a:latin typeface="Arial"/>
                <a:ea typeface="Arial"/>
                <a:cs typeface="Arial"/>
              </a:defRPr>
            </a:lvl1pPr>
            <a:lvl2pPr>
              <a:defRPr sz="1650" b="0">
                <a:solidFill>
                  <a:srgbClr val="526673"/>
                </a:solidFill>
                <a:latin typeface="Arial"/>
                <a:ea typeface="Arial"/>
                <a:cs typeface="Arial"/>
              </a:defRPr>
            </a:lvl2pPr>
            <a:lvl3pPr>
              <a:defRPr sz="1650" b="0">
                <a:solidFill>
                  <a:srgbClr val="526673"/>
                </a:solidFill>
                <a:latin typeface="Arial"/>
                <a:ea typeface="Arial"/>
                <a:cs typeface="Arial"/>
              </a:defRPr>
            </a:lvl3pPr>
            <a:lvl4pPr>
              <a:defRPr sz="1650" b="0">
                <a:solidFill>
                  <a:srgbClr val="526673"/>
                </a:solidFill>
                <a:latin typeface="Arial"/>
                <a:ea typeface="Arial"/>
                <a:cs typeface="Arial"/>
              </a:defRPr>
            </a:lvl4pPr>
            <a:lvl5pPr>
              <a:defRPr sz="1650" b="0">
                <a:solidFill>
                  <a:srgbClr val="526673"/>
                </a:solidFill>
                <a:latin typeface="Arial"/>
                <a:ea typeface="Arial"/>
                <a:cs typeface="Arial"/>
              </a:defRPr>
            </a:lvl5pPr>
            <a:lvl6pPr>
              <a:defRPr sz="1650" b="0">
                <a:solidFill>
                  <a:srgbClr val="526673"/>
                </a:solidFill>
                <a:latin typeface="Arial"/>
                <a:ea typeface="Arial"/>
                <a:cs typeface="Arial"/>
              </a:defRPr>
            </a:lvl6pPr>
            <a:lvl7pPr>
              <a:defRPr sz="1650" b="0">
                <a:solidFill>
                  <a:srgbClr val="526673"/>
                </a:solidFill>
                <a:latin typeface="Arial"/>
                <a:ea typeface="Arial"/>
                <a:cs typeface="Arial"/>
              </a:defRPr>
            </a:lvl7pPr>
            <a:lvl8pPr>
              <a:defRPr sz="1650" b="0">
                <a:solidFill>
                  <a:srgbClr val="526673"/>
                </a:solidFill>
                <a:latin typeface="Arial"/>
                <a:ea typeface="Arial"/>
                <a:cs typeface="Arial"/>
              </a:defRPr>
            </a:lvl8pPr>
            <a:lvl9pPr>
              <a:defRPr sz="1650" b="0">
                <a:solidFill>
                  <a:srgbClr val="526673"/>
                </a:solidFill>
                <a:latin typeface="Arial"/>
                <a:ea typeface="Arial"/>
                <a:cs typeface="Arial"/>
              </a:defRPr>
            </a:lvl9pPr>
          </a:lstStyle>
          <a:p xmlns:a="http://schemas.openxmlformats.org/drawingml/2006/main">
            <a:pPr>
              <a:defRPr sz="1650" b="0">
                <a:solidFill>
                  <a:srgbClr val="526673"/>
                </a:solidFill>
                <a:latin typeface="Arial"/>
                <a:ea typeface="Arial"/>
                <a:cs typeface="Arial"/>
              </a:defRPr>
            </a:pPr>
            <a:r>
              <a:rPr sz="1650" b="0">
                <a:solidFill>
                  <a:srgbClr val="526673"/>
                </a:solidFill>
                <a:latin typeface="Arial"/>
                <a:ea typeface="Arial"/>
                <a:cs typeface="Arial"/>
              </a:rPr>
              <a:t>Codex PA: North towards East. N = 0°, NE = 45°, E = 90° (mod 180°).</a:t>
            </a:r>
          </a:p>
          <a:p xmlns:a="http://schemas.openxmlformats.org/drawingml/2006/main">
            <a:pPr>
              <a:defRPr sz="1650" b="0">
                <a:solidFill>
                  <a:srgbClr val="526673"/>
                </a:solidFill>
                <a:latin typeface="Arial"/>
                <a:ea typeface="Arial"/>
                <a:cs typeface="Arial"/>
              </a:defRPr>
            </a:pPr>
            <a:r>
              <a:rPr sz="1650" b="0">
                <a:solidFill>
                  <a:srgbClr val="526673"/>
                </a:solidFill>
                <a:latin typeface="Arial"/>
                <a:ea typeface="Arial"/>
                <a:cs typeface="Arial"/>
              </a:rPr>
              <a:t>Counterclockwise on a North-up, East-left image. Pixel angles first pass through WCS.</a:t>
            </a:r>
          </a:p>
        </p:txBody>
      </p:sp>
    </p:spTree>
    <p:extLst>
      <p:ext uri="{BB962C8B-B14F-4D97-AF65-F5344CB8AC3E}">
        <p14:creationId xmlns:p14="http://schemas.microsoft.com/office/powerpoint/2010/main" val="7441906"/>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D57E39A1-4A85-4E12-B7A4-B499B10AF1BC}"/>
              </a:ext>
            </a:extLst>
          </p:cNvPr>
          <p:cNvSpPr>
            <a:spLocks xmlns:a="http://schemas.openxmlformats.org/drawingml/2006/main" noGrp="1"/>
          </p:cNvSpPr>
          <p:nvPr/>
        </p:nvSpPr>
        <p:spPr>
          <a:xfrm xmlns:a="http://schemas.openxmlformats.org/drawingml/2006/main">
            <a:off x="609600" y="4000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42633"/>
                </a:solidFill>
                <a:latin typeface="Arial"/>
                <a:ea typeface="Arial"/>
                <a:cs typeface="Arial"/>
              </a:defRPr>
            </a:defPPr>
            <a:lvl1pPr>
              <a:defRPr sz="3300" b="1">
                <a:solidFill>
                  <a:srgbClr val="142633"/>
                </a:solidFill>
                <a:latin typeface="Arial"/>
                <a:ea typeface="Arial"/>
                <a:cs typeface="Arial"/>
              </a:defRPr>
            </a:lvl1pPr>
            <a:lvl2pPr>
              <a:defRPr sz="3300" b="1">
                <a:solidFill>
                  <a:srgbClr val="142633"/>
                </a:solidFill>
                <a:latin typeface="Arial"/>
                <a:ea typeface="Arial"/>
                <a:cs typeface="Arial"/>
              </a:defRPr>
            </a:lvl2pPr>
            <a:lvl3pPr>
              <a:defRPr sz="3300" b="1">
                <a:solidFill>
                  <a:srgbClr val="142633"/>
                </a:solidFill>
                <a:latin typeface="Arial"/>
                <a:ea typeface="Arial"/>
                <a:cs typeface="Arial"/>
              </a:defRPr>
            </a:lvl3pPr>
            <a:lvl4pPr>
              <a:defRPr sz="3300" b="1">
                <a:solidFill>
                  <a:srgbClr val="142633"/>
                </a:solidFill>
                <a:latin typeface="Arial"/>
                <a:ea typeface="Arial"/>
                <a:cs typeface="Arial"/>
              </a:defRPr>
            </a:lvl4pPr>
            <a:lvl5pPr>
              <a:defRPr sz="3300" b="1">
                <a:solidFill>
                  <a:srgbClr val="142633"/>
                </a:solidFill>
                <a:latin typeface="Arial"/>
                <a:ea typeface="Arial"/>
                <a:cs typeface="Arial"/>
              </a:defRPr>
            </a:lvl5pPr>
            <a:lvl6pPr>
              <a:defRPr sz="3300" b="1">
                <a:solidFill>
                  <a:srgbClr val="142633"/>
                </a:solidFill>
                <a:latin typeface="Arial"/>
                <a:ea typeface="Arial"/>
                <a:cs typeface="Arial"/>
              </a:defRPr>
            </a:lvl6pPr>
            <a:lvl7pPr>
              <a:defRPr sz="3300" b="1">
                <a:solidFill>
                  <a:srgbClr val="142633"/>
                </a:solidFill>
                <a:latin typeface="Arial"/>
                <a:ea typeface="Arial"/>
                <a:cs typeface="Arial"/>
              </a:defRPr>
            </a:lvl7pPr>
            <a:lvl8pPr>
              <a:defRPr sz="3300" b="1">
                <a:solidFill>
                  <a:srgbClr val="142633"/>
                </a:solidFill>
                <a:latin typeface="Arial"/>
                <a:ea typeface="Arial"/>
                <a:cs typeface="Arial"/>
              </a:defRPr>
            </a:lvl8pPr>
            <a:lvl9pPr>
              <a:defRPr sz="3300" b="1">
                <a:solidFill>
                  <a:srgbClr val="142633"/>
                </a:solidFill>
                <a:latin typeface="Arial"/>
                <a:ea typeface="Arial"/>
                <a:cs typeface="Arial"/>
              </a:defRPr>
            </a:lvl9pPr>
          </a:lstStyle>
          <a:p xmlns:a="http://schemas.openxmlformats.org/drawingml/2006/main">
            <a:pPr>
              <a:defRPr sz="3300" b="1">
                <a:solidFill>
                  <a:srgbClr val="142633"/>
                </a:solidFill>
                <a:latin typeface="Arial"/>
                <a:ea typeface="Arial"/>
                <a:cs typeface="Arial"/>
              </a:defRPr>
            </a:pPr>
            <a:r>
              <a:rPr sz="3300" b="1">
                <a:solidFill>
                  <a:srgbClr val="142633"/>
                </a:solidFill>
                <a:latin typeface="Arial"/>
                <a:ea typeface="Arial"/>
                <a:cs typeface="Arial"/>
              </a:rPr>
              <a:t>Why image review remains necessary</a:t>
            </a:r>
          </a:p>
        </p:txBody>
      </p:sp>
      <p:sp>
        <p:nvSpPr>
          <p:cNvPr id="2" name="">
            <a:extLst xmlns:a="http://schemas.openxmlformats.org/drawingml/2006/main">
              <a:ext uri="{FF2B5EF4-FFF2-40B4-BE49-F238E27FC236}">
                <a16:creationId xmlns:a16="http://schemas.microsoft.com/office/drawing/2014/main" id="{1B076F9D-2BCF-421C-96B5-06177251099E}"/>
              </a:ext>
            </a:extLst>
          </p:cNvPr>
          <p:cNvSpPr>
            <a:spLocks xmlns:a="http://schemas.openxmlformats.org/drawingml/2006/main" noGrp="1"/>
          </p:cNvSpPr>
          <p:nvPr/>
        </p:nvSpPr>
        <p:spPr>
          <a:xfrm xmlns:a="http://schemas.openxmlformats.org/drawingml/2006/main">
            <a:off x="10858500" y="6477000"/>
            <a:ext cx="7239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673"/>
                </a:solidFill>
                <a:latin typeface="Arial"/>
                <a:ea typeface="Arial"/>
                <a:cs typeface="Arial"/>
              </a:defRPr>
            </a:defPPr>
            <a:lvl1pPr>
              <a:defRPr sz="1200" b="0">
                <a:solidFill>
                  <a:srgbClr val="526673"/>
                </a:solidFill>
                <a:latin typeface="Arial"/>
                <a:ea typeface="Arial"/>
                <a:cs typeface="Arial"/>
              </a:defRPr>
            </a:lvl1pPr>
            <a:lvl2pPr>
              <a:defRPr sz="1200" b="0">
                <a:solidFill>
                  <a:srgbClr val="526673"/>
                </a:solidFill>
                <a:latin typeface="Arial"/>
                <a:ea typeface="Arial"/>
                <a:cs typeface="Arial"/>
              </a:defRPr>
            </a:lvl2pPr>
            <a:lvl3pPr>
              <a:defRPr sz="1200" b="0">
                <a:solidFill>
                  <a:srgbClr val="526673"/>
                </a:solidFill>
                <a:latin typeface="Arial"/>
                <a:ea typeface="Arial"/>
                <a:cs typeface="Arial"/>
              </a:defRPr>
            </a:lvl3pPr>
            <a:lvl4pPr>
              <a:defRPr sz="1200" b="0">
                <a:solidFill>
                  <a:srgbClr val="526673"/>
                </a:solidFill>
                <a:latin typeface="Arial"/>
                <a:ea typeface="Arial"/>
                <a:cs typeface="Arial"/>
              </a:defRPr>
            </a:lvl4pPr>
            <a:lvl5pPr>
              <a:defRPr sz="1200" b="0">
                <a:solidFill>
                  <a:srgbClr val="526673"/>
                </a:solidFill>
                <a:latin typeface="Arial"/>
                <a:ea typeface="Arial"/>
                <a:cs typeface="Arial"/>
              </a:defRPr>
            </a:lvl5pPr>
            <a:lvl6pPr>
              <a:defRPr sz="1200" b="0">
                <a:solidFill>
                  <a:srgbClr val="526673"/>
                </a:solidFill>
                <a:latin typeface="Arial"/>
                <a:ea typeface="Arial"/>
                <a:cs typeface="Arial"/>
              </a:defRPr>
            </a:lvl6pPr>
            <a:lvl7pPr>
              <a:defRPr sz="1200" b="0">
                <a:solidFill>
                  <a:srgbClr val="526673"/>
                </a:solidFill>
                <a:latin typeface="Arial"/>
                <a:ea typeface="Arial"/>
                <a:cs typeface="Arial"/>
              </a:defRPr>
            </a:lvl7pPr>
            <a:lvl8pPr>
              <a:defRPr sz="1200" b="0">
                <a:solidFill>
                  <a:srgbClr val="526673"/>
                </a:solidFill>
                <a:latin typeface="Arial"/>
                <a:ea typeface="Arial"/>
                <a:cs typeface="Arial"/>
              </a:defRPr>
            </a:lvl8pPr>
            <a:lvl9pPr>
              <a:defRPr sz="1200" b="0">
                <a:solidFill>
                  <a:srgbClr val="526673"/>
                </a:solidFill>
                <a:latin typeface="Arial"/>
                <a:ea typeface="Arial"/>
                <a:cs typeface="Arial"/>
              </a:defRPr>
            </a:lvl9pPr>
          </a:lstStyle>
          <a:p xmlns:a="http://schemas.openxmlformats.org/drawingml/2006/main">
            <a:pPr>
              <a:defRPr sz="1200" b="0">
                <a:solidFill>
                  <a:srgbClr val="526673"/>
                </a:solidFill>
                <a:latin typeface="Arial"/>
                <a:ea typeface="Arial"/>
                <a:cs typeface="Arial"/>
              </a:defRPr>
            </a:pPr>
            <a:r>
              <a:rPr sz="1200" b="0">
                <a:solidFill>
                  <a:srgbClr val="526673"/>
                </a:solidFill>
                <a:latin typeface="Arial"/>
                <a:ea typeface="Arial"/>
                <a:cs typeface="Arial"/>
              </a:rPr>
              <a:t>5 / 6</a:t>
            </a:r>
          </a:p>
        </p:txBody>
      </p:sp>
      <p:pic>
        <p:nvPicPr>
          <p:cNvPr id="3" name="">
            <a:extLst xmlns:a="http://schemas.openxmlformats.org/drawingml/2006/main">
              <a:ext uri="{FF2B5EF4-FFF2-40B4-BE49-F238E27FC236}">
                <a16:creationId xmlns:a16="http://schemas.microsoft.com/office/drawing/2014/main" id="{F14D5B7D-15A4-4BD4-86A9-B2335B0F8461}"/>
              </a:ext>
            </a:extLst>
          </p:cNvPr>
          <p:cNvPicPr>
            <a:picLocks xmlns:a="http://schemas.openxmlformats.org/drawingml/2006/main" noChangeAspect="1"/>
          </p:cNvPicPr>
          <p:nvPr/>
        </p:nvPicPr>
        <p:blipFill>
          <a:blip xmlns:r="http://schemas.openxmlformats.org/officeDocument/2006/relationships" xmlns:a="http://schemas.openxmlformats.org/drawingml/2006/main" r:embed="Ra2efc4a1498a43a7"/>
          <a:stretch xmlns:a="http://schemas.openxmlformats.org/drawingml/2006/main"/>
        </p:blipFill>
        <p:spPr>
          <a:xfrm xmlns:a="http://schemas.openxmlformats.org/drawingml/2006/main">
            <a:off x="476250" y="1619250"/>
            <a:ext cx="7286625" cy="437197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74EE7363-1004-4183-A254-E264E62BB234}"/>
              </a:ext>
            </a:extLst>
          </p:cNvPr>
          <p:cNvSpPr>
            <a:spLocks xmlns:a="http://schemas.openxmlformats.org/drawingml/2006/main" noGrp="1"/>
          </p:cNvSpPr>
          <p:nvPr/>
        </p:nvSpPr>
        <p:spPr>
          <a:xfrm xmlns:a="http://schemas.openxmlformats.org/drawingml/2006/main">
            <a:off x="8096250" y="1638300"/>
            <a:ext cx="3429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205F7A"/>
                </a:solidFill>
                <a:latin typeface="Arial"/>
                <a:ea typeface="Arial"/>
                <a:cs typeface="Arial"/>
              </a:defRPr>
            </a:defPPr>
            <a:lvl1pPr>
              <a:defRPr sz="2175" b="1">
                <a:solidFill>
                  <a:srgbClr val="205F7A"/>
                </a:solidFill>
                <a:latin typeface="Arial"/>
                <a:ea typeface="Arial"/>
                <a:cs typeface="Arial"/>
              </a:defRPr>
            </a:lvl1pPr>
            <a:lvl2pPr>
              <a:defRPr sz="2175" b="1">
                <a:solidFill>
                  <a:srgbClr val="205F7A"/>
                </a:solidFill>
                <a:latin typeface="Arial"/>
                <a:ea typeface="Arial"/>
                <a:cs typeface="Arial"/>
              </a:defRPr>
            </a:lvl2pPr>
            <a:lvl3pPr>
              <a:defRPr sz="2175" b="1">
                <a:solidFill>
                  <a:srgbClr val="205F7A"/>
                </a:solidFill>
                <a:latin typeface="Arial"/>
                <a:ea typeface="Arial"/>
                <a:cs typeface="Arial"/>
              </a:defRPr>
            </a:lvl3pPr>
            <a:lvl4pPr>
              <a:defRPr sz="2175" b="1">
                <a:solidFill>
                  <a:srgbClr val="205F7A"/>
                </a:solidFill>
                <a:latin typeface="Arial"/>
                <a:ea typeface="Arial"/>
                <a:cs typeface="Arial"/>
              </a:defRPr>
            </a:lvl4pPr>
            <a:lvl5pPr>
              <a:defRPr sz="2175" b="1">
                <a:solidFill>
                  <a:srgbClr val="205F7A"/>
                </a:solidFill>
                <a:latin typeface="Arial"/>
                <a:ea typeface="Arial"/>
                <a:cs typeface="Arial"/>
              </a:defRPr>
            </a:lvl5pPr>
            <a:lvl6pPr>
              <a:defRPr sz="2175" b="1">
                <a:solidFill>
                  <a:srgbClr val="205F7A"/>
                </a:solidFill>
                <a:latin typeface="Arial"/>
                <a:ea typeface="Arial"/>
                <a:cs typeface="Arial"/>
              </a:defRPr>
            </a:lvl6pPr>
            <a:lvl7pPr>
              <a:defRPr sz="2175" b="1">
                <a:solidFill>
                  <a:srgbClr val="205F7A"/>
                </a:solidFill>
                <a:latin typeface="Arial"/>
                <a:ea typeface="Arial"/>
                <a:cs typeface="Arial"/>
              </a:defRPr>
            </a:lvl7pPr>
            <a:lvl8pPr>
              <a:defRPr sz="2175" b="1">
                <a:solidFill>
                  <a:srgbClr val="205F7A"/>
                </a:solidFill>
                <a:latin typeface="Arial"/>
                <a:ea typeface="Arial"/>
                <a:cs typeface="Arial"/>
              </a:defRPr>
            </a:lvl8pPr>
            <a:lvl9pPr>
              <a:defRPr sz="2175" b="1">
                <a:solidFill>
                  <a:srgbClr val="205F7A"/>
                </a:solidFill>
                <a:latin typeface="Arial"/>
                <a:ea typeface="Arial"/>
                <a:cs typeface="Arial"/>
              </a:defRPr>
            </a:lvl9pPr>
          </a:lstStyle>
          <a:p xmlns:a="http://schemas.openxmlformats.org/drawingml/2006/main">
            <a:pPr>
              <a:defRPr sz="2175" b="1">
                <a:solidFill>
                  <a:srgbClr val="205F7A"/>
                </a:solidFill>
                <a:latin typeface="Arial"/>
                <a:ea typeface="Arial"/>
                <a:cs typeface="Arial"/>
              </a:defRPr>
            </a:pPr>
            <a:r>
              <a:rPr sz="2175" b="1">
                <a:solidFill>
                  <a:srgbClr val="205F7A"/>
                </a:solidFill>
                <a:latin typeface="Arial"/>
                <a:ea typeface="Arial"/>
                <a:cs typeface="Arial"/>
              </a:rPr>
              <a:t>Example QI galaxy</a:t>
            </a:r>
          </a:p>
        </p:txBody>
      </p:sp>
      <p:sp>
        <p:nvSpPr>
          <p:cNvPr id="5" name="">
            <a:extLst xmlns:a="http://schemas.openxmlformats.org/drawingml/2006/main">
              <a:ext uri="{FF2B5EF4-FFF2-40B4-BE49-F238E27FC236}">
                <a16:creationId xmlns:a16="http://schemas.microsoft.com/office/drawing/2014/main" id="{64BCD1C5-CA51-477A-8512-A333F9F6FDAB}"/>
              </a:ext>
            </a:extLst>
          </p:cNvPr>
          <p:cNvSpPr>
            <a:spLocks xmlns:a="http://schemas.openxmlformats.org/drawingml/2006/main" noGrp="1"/>
          </p:cNvSpPr>
          <p:nvPr/>
        </p:nvSpPr>
        <p:spPr>
          <a:xfrm xmlns:a="http://schemas.openxmlformats.org/drawingml/2006/main">
            <a:off x="8096250" y="2181225"/>
            <a:ext cx="3429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142633"/>
                </a:solidFill>
                <a:latin typeface="Arial"/>
                <a:ea typeface="Arial"/>
                <a:cs typeface="Arial"/>
              </a:defRPr>
            </a:defPPr>
            <a:lvl1pPr>
              <a:defRPr sz="1800" b="0">
                <a:solidFill>
                  <a:srgbClr val="142633"/>
                </a:solidFill>
                <a:latin typeface="Arial"/>
                <a:ea typeface="Arial"/>
                <a:cs typeface="Arial"/>
              </a:defRPr>
            </a:lvl1pPr>
            <a:lvl2pPr>
              <a:defRPr sz="1800" b="0">
                <a:solidFill>
                  <a:srgbClr val="142633"/>
                </a:solidFill>
                <a:latin typeface="Arial"/>
                <a:ea typeface="Arial"/>
                <a:cs typeface="Arial"/>
              </a:defRPr>
            </a:lvl2pPr>
            <a:lvl3pPr>
              <a:defRPr sz="1800" b="0">
                <a:solidFill>
                  <a:srgbClr val="142633"/>
                </a:solidFill>
                <a:latin typeface="Arial"/>
                <a:ea typeface="Arial"/>
                <a:cs typeface="Arial"/>
              </a:defRPr>
            </a:lvl3pPr>
            <a:lvl4pPr>
              <a:defRPr sz="1800" b="0">
                <a:solidFill>
                  <a:srgbClr val="142633"/>
                </a:solidFill>
                <a:latin typeface="Arial"/>
                <a:ea typeface="Arial"/>
                <a:cs typeface="Arial"/>
              </a:defRPr>
            </a:lvl4pPr>
            <a:lvl5pPr>
              <a:defRPr sz="1800" b="0">
                <a:solidFill>
                  <a:srgbClr val="142633"/>
                </a:solidFill>
                <a:latin typeface="Arial"/>
                <a:ea typeface="Arial"/>
                <a:cs typeface="Arial"/>
              </a:defRPr>
            </a:lvl5pPr>
            <a:lvl6pPr>
              <a:defRPr sz="1800" b="0">
                <a:solidFill>
                  <a:srgbClr val="142633"/>
                </a:solidFill>
                <a:latin typeface="Arial"/>
                <a:ea typeface="Arial"/>
                <a:cs typeface="Arial"/>
              </a:defRPr>
            </a:lvl6pPr>
            <a:lvl7pPr>
              <a:defRPr sz="1800" b="0">
                <a:solidFill>
                  <a:srgbClr val="142633"/>
                </a:solidFill>
                <a:latin typeface="Arial"/>
                <a:ea typeface="Arial"/>
                <a:cs typeface="Arial"/>
              </a:defRPr>
            </a:lvl7pPr>
            <a:lvl8pPr>
              <a:defRPr sz="1800" b="0">
                <a:solidFill>
                  <a:srgbClr val="142633"/>
                </a:solidFill>
                <a:latin typeface="Arial"/>
                <a:ea typeface="Arial"/>
                <a:cs typeface="Arial"/>
              </a:defRPr>
            </a:lvl8pPr>
            <a:lvl9pPr>
              <a:defRPr sz="1800" b="0">
                <a:solidFill>
                  <a:srgbClr val="142633"/>
                </a:solidFill>
                <a:latin typeface="Arial"/>
                <a:ea typeface="Arial"/>
                <a:cs typeface="Arial"/>
              </a:defRPr>
            </a:lvl9pPr>
          </a:lstStyle>
          <a:p xmlns:a="http://schemas.openxmlformats.org/drawingml/2006/main">
            <a:pPr>
              <a:defRPr sz="1800" b="0">
                <a:solidFill>
                  <a:srgbClr val="142633"/>
                </a:solidFill>
                <a:latin typeface="Arial"/>
                <a:ea typeface="Arial"/>
                <a:cs typeface="Arial"/>
              </a:defRPr>
            </a:pPr>
            <a:r>
              <a:rPr sz="1800" b="0">
                <a:solidFill>
                  <a:srgbClr val="142633"/>
                </a:solidFill>
                <a:latin typeface="Arial"/>
                <a:ea typeface="Arial"/>
                <a:cs typeface="Arial"/>
              </a:rPr>
              <a:t>−515488559271594427</a:t>
            </a:r>
          </a:p>
        </p:txBody>
      </p:sp>
      <p:sp>
        <p:nvSpPr>
          <p:cNvPr id="6" name="">
            <a:extLst xmlns:a="http://schemas.openxmlformats.org/drawingml/2006/main">
              <a:ext uri="{FF2B5EF4-FFF2-40B4-BE49-F238E27FC236}">
                <a16:creationId xmlns:a16="http://schemas.microsoft.com/office/drawing/2014/main" id="{5ABBD862-F0DA-4A05-9899-D445AFB3D6E5}"/>
              </a:ext>
            </a:extLst>
          </p:cNvPr>
          <p:cNvSpPr>
            <a:spLocks xmlns:a="http://schemas.openxmlformats.org/drawingml/2006/main" noGrp="1"/>
          </p:cNvSpPr>
          <p:nvPr/>
        </p:nvSpPr>
        <p:spPr>
          <a:xfrm xmlns:a="http://schemas.openxmlformats.org/drawingml/2006/main">
            <a:off x="8096250" y="2924175"/>
            <a:ext cx="3429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42633"/>
                </a:solidFill>
                <a:latin typeface="Arial"/>
                <a:ea typeface="Arial"/>
                <a:cs typeface="Arial"/>
              </a:defRPr>
            </a:defPPr>
            <a:lvl1pPr>
              <a:defRPr sz="2100" b="0">
                <a:solidFill>
                  <a:srgbClr val="142633"/>
                </a:solidFill>
                <a:latin typeface="Arial"/>
                <a:ea typeface="Arial"/>
                <a:cs typeface="Arial"/>
              </a:defRPr>
            </a:lvl1pPr>
            <a:lvl2pPr>
              <a:defRPr sz="2100" b="0">
                <a:solidFill>
                  <a:srgbClr val="142633"/>
                </a:solidFill>
                <a:latin typeface="Arial"/>
                <a:ea typeface="Arial"/>
                <a:cs typeface="Arial"/>
              </a:defRPr>
            </a:lvl2pPr>
            <a:lvl3pPr>
              <a:defRPr sz="2100" b="0">
                <a:solidFill>
                  <a:srgbClr val="142633"/>
                </a:solidFill>
                <a:latin typeface="Arial"/>
                <a:ea typeface="Arial"/>
                <a:cs typeface="Arial"/>
              </a:defRPr>
            </a:lvl3pPr>
            <a:lvl4pPr>
              <a:defRPr sz="2100" b="0">
                <a:solidFill>
                  <a:srgbClr val="142633"/>
                </a:solidFill>
                <a:latin typeface="Arial"/>
                <a:ea typeface="Arial"/>
                <a:cs typeface="Arial"/>
              </a:defRPr>
            </a:lvl4pPr>
            <a:lvl5pPr>
              <a:defRPr sz="2100" b="0">
                <a:solidFill>
                  <a:srgbClr val="142633"/>
                </a:solidFill>
                <a:latin typeface="Arial"/>
                <a:ea typeface="Arial"/>
                <a:cs typeface="Arial"/>
              </a:defRPr>
            </a:lvl5pPr>
            <a:lvl6pPr>
              <a:defRPr sz="2100" b="0">
                <a:solidFill>
                  <a:srgbClr val="142633"/>
                </a:solidFill>
                <a:latin typeface="Arial"/>
                <a:ea typeface="Arial"/>
                <a:cs typeface="Arial"/>
              </a:defRPr>
            </a:lvl6pPr>
            <a:lvl7pPr>
              <a:defRPr sz="2100" b="0">
                <a:solidFill>
                  <a:srgbClr val="142633"/>
                </a:solidFill>
                <a:latin typeface="Arial"/>
                <a:ea typeface="Arial"/>
                <a:cs typeface="Arial"/>
              </a:defRPr>
            </a:lvl7pPr>
            <a:lvl8pPr>
              <a:defRPr sz="2100" b="0">
                <a:solidFill>
                  <a:srgbClr val="142633"/>
                </a:solidFill>
                <a:latin typeface="Arial"/>
                <a:ea typeface="Arial"/>
                <a:cs typeface="Arial"/>
              </a:defRPr>
            </a:lvl8pPr>
            <a:lvl9pPr>
              <a:defRPr sz="2100" b="0">
                <a:solidFill>
                  <a:srgbClr val="142633"/>
                </a:solidFill>
                <a:latin typeface="Arial"/>
                <a:ea typeface="Arial"/>
                <a:cs typeface="Arial"/>
              </a:defRPr>
            </a:lvl9pPr>
          </a:lstStyle>
          <a:p xmlns:a="http://schemas.openxmlformats.org/drawingml/2006/main">
            <a:pPr>
              <a:defRPr sz="2100" b="0">
                <a:solidFill>
                  <a:srgbClr val="142633"/>
                </a:solidFill>
                <a:latin typeface="Arial"/>
                <a:ea typeface="Arial"/>
                <a:cs typeface="Arial"/>
              </a:defRPr>
            </a:pPr>
            <a:r>
              <a:rPr sz="2100" b="0">
                <a:solidFill>
                  <a:srgbClr val="142633"/>
                </a:solidFill>
                <a:latin typeface="Arial"/>
                <a:ea typeface="Arial"/>
                <a:cs typeface="Arial"/>
              </a:rPr>
              <a:t>Disc PA varies strongly across the outer interval.</a:t>
            </a:r>
          </a:p>
        </p:txBody>
      </p:sp>
      <p:sp>
        <p:nvSpPr>
          <p:cNvPr id="7" name="">
            <a:extLst xmlns:a="http://schemas.openxmlformats.org/drawingml/2006/main">
              <a:ext uri="{FF2B5EF4-FFF2-40B4-BE49-F238E27FC236}">
                <a16:creationId xmlns:a16="http://schemas.microsoft.com/office/drawing/2014/main" id="{A10B75F2-D428-41E2-82C2-E17C81F9E08A}"/>
              </a:ext>
            </a:extLst>
          </p:cNvPr>
          <p:cNvSpPr>
            <a:spLocks xmlns:a="http://schemas.openxmlformats.org/drawingml/2006/main" noGrp="1"/>
          </p:cNvSpPr>
          <p:nvPr/>
        </p:nvSpPr>
        <p:spPr>
          <a:xfrm xmlns:a="http://schemas.openxmlformats.org/drawingml/2006/main">
            <a:off x="8096250" y="4191000"/>
            <a:ext cx="34290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42633"/>
                </a:solidFill>
                <a:latin typeface="Arial"/>
                <a:ea typeface="Arial"/>
                <a:cs typeface="Arial"/>
              </a:defRPr>
            </a:defPPr>
            <a:lvl1pPr>
              <a:defRPr sz="2025" b="0">
                <a:solidFill>
                  <a:srgbClr val="142633"/>
                </a:solidFill>
                <a:latin typeface="Arial"/>
                <a:ea typeface="Arial"/>
                <a:cs typeface="Arial"/>
              </a:defRPr>
            </a:lvl1pPr>
            <a:lvl2pPr>
              <a:defRPr sz="2025" b="0">
                <a:solidFill>
                  <a:srgbClr val="142633"/>
                </a:solidFill>
                <a:latin typeface="Arial"/>
                <a:ea typeface="Arial"/>
                <a:cs typeface="Arial"/>
              </a:defRPr>
            </a:lvl2pPr>
            <a:lvl3pPr>
              <a:defRPr sz="2025" b="0">
                <a:solidFill>
                  <a:srgbClr val="142633"/>
                </a:solidFill>
                <a:latin typeface="Arial"/>
                <a:ea typeface="Arial"/>
                <a:cs typeface="Arial"/>
              </a:defRPr>
            </a:lvl3pPr>
            <a:lvl4pPr>
              <a:defRPr sz="2025" b="0">
                <a:solidFill>
                  <a:srgbClr val="142633"/>
                </a:solidFill>
                <a:latin typeface="Arial"/>
                <a:ea typeface="Arial"/>
                <a:cs typeface="Arial"/>
              </a:defRPr>
            </a:lvl4pPr>
            <a:lvl5pPr>
              <a:defRPr sz="2025" b="0">
                <a:solidFill>
                  <a:srgbClr val="142633"/>
                </a:solidFill>
                <a:latin typeface="Arial"/>
                <a:ea typeface="Arial"/>
                <a:cs typeface="Arial"/>
              </a:defRPr>
            </a:lvl5pPr>
            <a:lvl6pPr>
              <a:defRPr sz="2025" b="0">
                <a:solidFill>
                  <a:srgbClr val="142633"/>
                </a:solidFill>
                <a:latin typeface="Arial"/>
                <a:ea typeface="Arial"/>
                <a:cs typeface="Arial"/>
              </a:defRPr>
            </a:lvl6pPr>
            <a:lvl7pPr>
              <a:defRPr sz="2025" b="0">
                <a:solidFill>
                  <a:srgbClr val="142633"/>
                </a:solidFill>
                <a:latin typeface="Arial"/>
                <a:ea typeface="Arial"/>
                <a:cs typeface="Arial"/>
              </a:defRPr>
            </a:lvl7pPr>
            <a:lvl8pPr>
              <a:defRPr sz="2025" b="0">
                <a:solidFill>
                  <a:srgbClr val="142633"/>
                </a:solidFill>
                <a:latin typeface="Arial"/>
                <a:ea typeface="Arial"/>
                <a:cs typeface="Arial"/>
              </a:defRPr>
            </a:lvl8pPr>
            <a:lvl9pPr>
              <a:defRPr sz="2025" b="0">
                <a:solidFill>
                  <a:srgbClr val="142633"/>
                </a:solidFill>
                <a:latin typeface="Arial"/>
                <a:ea typeface="Arial"/>
                <a:cs typeface="Arial"/>
              </a:defRPr>
            </a:lvl9pPr>
          </a:lstStyle>
          <a:p xmlns:a="http://schemas.openxmlformats.org/drawingml/2006/main">
            <a:pPr>
              <a:defRPr sz="2025" b="0">
                <a:solidFill>
                  <a:srgbClr val="142633"/>
                </a:solidFill>
                <a:latin typeface="Arial"/>
                <a:ea typeface="Arial"/>
                <a:cs typeface="Arial"/>
              </a:defRPr>
            </a:pPr>
            <a:r>
              <a:rPr sz="2025" b="0">
                <a:solidFill>
                  <a:srgbClr val="142633"/>
                </a:solidFill>
                <a:latin typeface="Arial"/>
                <a:ea typeface="Arial"/>
                <a:cs typeface="Arial"/>
              </a:rPr>
              <a:t>The small bar interval also raises a resolution warning.</a:t>
            </a:r>
          </a:p>
        </p:txBody>
      </p:sp>
      <p:sp>
        <p:nvSpPr>
          <p:cNvPr id="8" name="">
            <a:extLst xmlns:a="http://schemas.openxmlformats.org/drawingml/2006/main">
              <a:ext uri="{FF2B5EF4-FFF2-40B4-BE49-F238E27FC236}">
                <a16:creationId xmlns:a16="http://schemas.microsoft.com/office/drawing/2014/main" id="{783B124B-10E2-41D2-B62F-A4DFA809167B}"/>
              </a:ext>
            </a:extLst>
          </p:cNvPr>
          <p:cNvSpPr>
            <a:spLocks xmlns:a="http://schemas.openxmlformats.org/drawingml/2006/main" noGrp="1"/>
          </p:cNvSpPr>
          <p:nvPr/>
        </p:nvSpPr>
        <p:spPr>
          <a:xfrm xmlns:a="http://schemas.openxmlformats.org/drawingml/2006/main">
            <a:off x="609600" y="6124575"/>
            <a:ext cx="1066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526673"/>
                </a:solidFill>
                <a:latin typeface="Arial"/>
                <a:ea typeface="Arial"/>
                <a:cs typeface="Arial"/>
              </a:defRPr>
            </a:defPPr>
            <a:lvl1pPr>
              <a:defRPr sz="1725" b="0">
                <a:solidFill>
                  <a:srgbClr val="526673"/>
                </a:solidFill>
                <a:latin typeface="Arial"/>
                <a:ea typeface="Arial"/>
                <a:cs typeface="Arial"/>
              </a:defRPr>
            </a:lvl1pPr>
            <a:lvl2pPr>
              <a:defRPr sz="1725" b="0">
                <a:solidFill>
                  <a:srgbClr val="526673"/>
                </a:solidFill>
                <a:latin typeface="Arial"/>
                <a:ea typeface="Arial"/>
                <a:cs typeface="Arial"/>
              </a:defRPr>
            </a:lvl2pPr>
            <a:lvl3pPr>
              <a:defRPr sz="1725" b="0">
                <a:solidFill>
                  <a:srgbClr val="526673"/>
                </a:solidFill>
                <a:latin typeface="Arial"/>
                <a:ea typeface="Arial"/>
                <a:cs typeface="Arial"/>
              </a:defRPr>
            </a:lvl3pPr>
            <a:lvl4pPr>
              <a:defRPr sz="1725" b="0">
                <a:solidFill>
                  <a:srgbClr val="526673"/>
                </a:solidFill>
                <a:latin typeface="Arial"/>
                <a:ea typeface="Arial"/>
                <a:cs typeface="Arial"/>
              </a:defRPr>
            </a:lvl4pPr>
            <a:lvl5pPr>
              <a:defRPr sz="1725" b="0">
                <a:solidFill>
                  <a:srgbClr val="526673"/>
                </a:solidFill>
                <a:latin typeface="Arial"/>
                <a:ea typeface="Arial"/>
                <a:cs typeface="Arial"/>
              </a:defRPr>
            </a:lvl5pPr>
            <a:lvl6pPr>
              <a:defRPr sz="1725" b="0">
                <a:solidFill>
                  <a:srgbClr val="526673"/>
                </a:solidFill>
                <a:latin typeface="Arial"/>
                <a:ea typeface="Arial"/>
                <a:cs typeface="Arial"/>
              </a:defRPr>
            </a:lvl6pPr>
            <a:lvl7pPr>
              <a:defRPr sz="1725" b="0">
                <a:solidFill>
                  <a:srgbClr val="526673"/>
                </a:solidFill>
                <a:latin typeface="Arial"/>
                <a:ea typeface="Arial"/>
                <a:cs typeface="Arial"/>
              </a:defRPr>
            </a:lvl7pPr>
            <a:lvl8pPr>
              <a:defRPr sz="1725" b="0">
                <a:solidFill>
                  <a:srgbClr val="526673"/>
                </a:solidFill>
                <a:latin typeface="Arial"/>
                <a:ea typeface="Arial"/>
                <a:cs typeface="Arial"/>
              </a:defRPr>
            </a:lvl8pPr>
            <a:lvl9pPr>
              <a:defRPr sz="1725" b="0">
                <a:solidFill>
                  <a:srgbClr val="526673"/>
                </a:solidFill>
                <a:latin typeface="Arial"/>
                <a:ea typeface="Arial"/>
                <a:cs typeface="Arial"/>
              </a:defRPr>
            </a:lvl9pPr>
          </a:lstStyle>
          <a:p xmlns:a="http://schemas.openxmlformats.org/drawingml/2006/main">
            <a:pPr>
              <a:defRPr sz="1725" b="0">
                <a:solidFill>
                  <a:srgbClr val="526673"/>
                </a:solidFill>
                <a:latin typeface="Arial"/>
                <a:ea typeface="Arial"/>
                <a:cs typeface="Arial"/>
              </a:defRPr>
            </a:pPr>
            <a:r>
              <a:rPr sz="1725" b="0">
                <a:solidFill>
                  <a:srgbClr val="526673"/>
                </a:solidFill>
                <a:latin typeface="Arial"/>
                <a:ea typeface="Arial"/>
                <a:cs typeface="Arial"/>
              </a:rPr>
              <a:t>A close mean PA match can coexist with unstable fitted geometry.</a:t>
            </a:r>
          </a:p>
        </p:txBody>
      </p:sp>
    </p:spTree>
    <p:extLst>
      <p:ext uri="{BB962C8B-B14F-4D97-AF65-F5344CB8AC3E}">
        <p14:creationId xmlns:p14="http://schemas.microsoft.com/office/powerpoint/2010/main" val="1293379055"/>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FD9527B2-C421-497E-A0D2-9FE12CEF5B17}"/>
              </a:ext>
            </a:extLst>
          </p:cNvPr>
          <p:cNvSpPr>
            <a:spLocks xmlns:a="http://schemas.openxmlformats.org/drawingml/2006/main" noGrp="1"/>
          </p:cNvSpPr>
          <p:nvPr/>
        </p:nvSpPr>
        <p:spPr>
          <a:xfrm xmlns:a="http://schemas.openxmlformats.org/drawingml/2006/main">
            <a:off x="609600" y="4000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42633"/>
                </a:solidFill>
                <a:latin typeface="Arial"/>
                <a:ea typeface="Arial"/>
                <a:cs typeface="Arial"/>
              </a:defRPr>
            </a:defPPr>
            <a:lvl1pPr>
              <a:defRPr sz="3300" b="1">
                <a:solidFill>
                  <a:srgbClr val="142633"/>
                </a:solidFill>
                <a:latin typeface="Arial"/>
                <a:ea typeface="Arial"/>
                <a:cs typeface="Arial"/>
              </a:defRPr>
            </a:lvl1pPr>
            <a:lvl2pPr>
              <a:defRPr sz="3300" b="1">
                <a:solidFill>
                  <a:srgbClr val="142633"/>
                </a:solidFill>
                <a:latin typeface="Arial"/>
                <a:ea typeface="Arial"/>
                <a:cs typeface="Arial"/>
              </a:defRPr>
            </a:lvl2pPr>
            <a:lvl3pPr>
              <a:defRPr sz="3300" b="1">
                <a:solidFill>
                  <a:srgbClr val="142633"/>
                </a:solidFill>
                <a:latin typeface="Arial"/>
                <a:ea typeface="Arial"/>
                <a:cs typeface="Arial"/>
              </a:defRPr>
            </a:lvl3pPr>
            <a:lvl4pPr>
              <a:defRPr sz="3300" b="1">
                <a:solidFill>
                  <a:srgbClr val="142633"/>
                </a:solidFill>
                <a:latin typeface="Arial"/>
                <a:ea typeface="Arial"/>
                <a:cs typeface="Arial"/>
              </a:defRPr>
            </a:lvl4pPr>
            <a:lvl5pPr>
              <a:defRPr sz="3300" b="1">
                <a:solidFill>
                  <a:srgbClr val="142633"/>
                </a:solidFill>
                <a:latin typeface="Arial"/>
                <a:ea typeface="Arial"/>
                <a:cs typeface="Arial"/>
              </a:defRPr>
            </a:lvl5pPr>
            <a:lvl6pPr>
              <a:defRPr sz="3300" b="1">
                <a:solidFill>
                  <a:srgbClr val="142633"/>
                </a:solidFill>
                <a:latin typeface="Arial"/>
                <a:ea typeface="Arial"/>
                <a:cs typeface="Arial"/>
              </a:defRPr>
            </a:lvl6pPr>
            <a:lvl7pPr>
              <a:defRPr sz="3300" b="1">
                <a:solidFill>
                  <a:srgbClr val="142633"/>
                </a:solidFill>
                <a:latin typeface="Arial"/>
                <a:ea typeface="Arial"/>
                <a:cs typeface="Arial"/>
              </a:defRPr>
            </a:lvl7pPr>
            <a:lvl8pPr>
              <a:defRPr sz="3300" b="1">
                <a:solidFill>
                  <a:srgbClr val="142633"/>
                </a:solidFill>
                <a:latin typeface="Arial"/>
                <a:ea typeface="Arial"/>
                <a:cs typeface="Arial"/>
              </a:defRPr>
            </a:lvl8pPr>
            <a:lvl9pPr>
              <a:defRPr sz="3300" b="1">
                <a:solidFill>
                  <a:srgbClr val="142633"/>
                </a:solidFill>
                <a:latin typeface="Arial"/>
                <a:ea typeface="Arial"/>
                <a:cs typeface="Arial"/>
              </a:defRPr>
            </a:lvl9pPr>
          </a:lstStyle>
          <a:p xmlns:a="http://schemas.openxmlformats.org/drawingml/2006/main">
            <a:pPr>
              <a:defRPr sz="3300" b="1">
                <a:solidFill>
                  <a:srgbClr val="142633"/>
                </a:solidFill>
                <a:latin typeface="Arial"/>
                <a:ea typeface="Arial"/>
                <a:cs typeface="Arial"/>
              </a:defRPr>
            </a:pPr>
            <a:r>
              <a:rPr sz="3300" b="1">
                <a:solidFill>
                  <a:srgbClr val="142633"/>
                </a:solidFill>
                <a:latin typeface="Arial"/>
                <a:ea typeface="Arial"/>
                <a:cs typeface="Arial"/>
              </a:rPr>
              <a:t>Review collection and next steps</a:t>
            </a:r>
          </a:p>
        </p:txBody>
      </p:sp>
      <p:sp>
        <p:nvSpPr>
          <p:cNvPr id="2" name="">
            <a:extLst xmlns:a="http://schemas.openxmlformats.org/drawingml/2006/main">
              <a:ext uri="{FF2B5EF4-FFF2-40B4-BE49-F238E27FC236}">
                <a16:creationId xmlns:a16="http://schemas.microsoft.com/office/drawing/2014/main" id="{D3C9C4AE-815D-4299-8EA1-45DCCAA69130}"/>
              </a:ext>
            </a:extLst>
          </p:cNvPr>
          <p:cNvSpPr>
            <a:spLocks xmlns:a="http://schemas.openxmlformats.org/drawingml/2006/main" noGrp="1"/>
          </p:cNvSpPr>
          <p:nvPr/>
        </p:nvSpPr>
        <p:spPr>
          <a:xfrm xmlns:a="http://schemas.openxmlformats.org/drawingml/2006/main">
            <a:off x="10858500" y="6477000"/>
            <a:ext cx="7239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673"/>
                </a:solidFill>
                <a:latin typeface="Arial"/>
                <a:ea typeface="Arial"/>
                <a:cs typeface="Arial"/>
              </a:defRPr>
            </a:defPPr>
            <a:lvl1pPr>
              <a:defRPr sz="1200" b="0">
                <a:solidFill>
                  <a:srgbClr val="526673"/>
                </a:solidFill>
                <a:latin typeface="Arial"/>
                <a:ea typeface="Arial"/>
                <a:cs typeface="Arial"/>
              </a:defRPr>
            </a:lvl1pPr>
            <a:lvl2pPr>
              <a:defRPr sz="1200" b="0">
                <a:solidFill>
                  <a:srgbClr val="526673"/>
                </a:solidFill>
                <a:latin typeface="Arial"/>
                <a:ea typeface="Arial"/>
                <a:cs typeface="Arial"/>
              </a:defRPr>
            </a:lvl2pPr>
            <a:lvl3pPr>
              <a:defRPr sz="1200" b="0">
                <a:solidFill>
                  <a:srgbClr val="526673"/>
                </a:solidFill>
                <a:latin typeface="Arial"/>
                <a:ea typeface="Arial"/>
                <a:cs typeface="Arial"/>
              </a:defRPr>
            </a:lvl3pPr>
            <a:lvl4pPr>
              <a:defRPr sz="1200" b="0">
                <a:solidFill>
                  <a:srgbClr val="526673"/>
                </a:solidFill>
                <a:latin typeface="Arial"/>
                <a:ea typeface="Arial"/>
                <a:cs typeface="Arial"/>
              </a:defRPr>
            </a:lvl4pPr>
            <a:lvl5pPr>
              <a:defRPr sz="1200" b="0">
                <a:solidFill>
                  <a:srgbClr val="526673"/>
                </a:solidFill>
                <a:latin typeface="Arial"/>
                <a:ea typeface="Arial"/>
                <a:cs typeface="Arial"/>
              </a:defRPr>
            </a:lvl5pPr>
            <a:lvl6pPr>
              <a:defRPr sz="1200" b="0">
                <a:solidFill>
                  <a:srgbClr val="526673"/>
                </a:solidFill>
                <a:latin typeface="Arial"/>
                <a:ea typeface="Arial"/>
                <a:cs typeface="Arial"/>
              </a:defRPr>
            </a:lvl6pPr>
            <a:lvl7pPr>
              <a:defRPr sz="1200" b="0">
                <a:solidFill>
                  <a:srgbClr val="526673"/>
                </a:solidFill>
                <a:latin typeface="Arial"/>
                <a:ea typeface="Arial"/>
                <a:cs typeface="Arial"/>
              </a:defRPr>
            </a:lvl7pPr>
            <a:lvl8pPr>
              <a:defRPr sz="1200" b="0">
                <a:solidFill>
                  <a:srgbClr val="526673"/>
                </a:solidFill>
                <a:latin typeface="Arial"/>
                <a:ea typeface="Arial"/>
                <a:cs typeface="Arial"/>
              </a:defRPr>
            </a:lvl8pPr>
            <a:lvl9pPr>
              <a:defRPr sz="1200" b="0">
                <a:solidFill>
                  <a:srgbClr val="526673"/>
                </a:solidFill>
                <a:latin typeface="Arial"/>
                <a:ea typeface="Arial"/>
                <a:cs typeface="Arial"/>
              </a:defRPr>
            </a:lvl9pPr>
          </a:lstStyle>
          <a:p xmlns:a="http://schemas.openxmlformats.org/drawingml/2006/main">
            <a:pPr>
              <a:defRPr sz="1200" b="0">
                <a:solidFill>
                  <a:srgbClr val="526673"/>
                </a:solidFill>
                <a:latin typeface="Arial"/>
                <a:ea typeface="Arial"/>
                <a:cs typeface="Arial"/>
              </a:defRPr>
            </a:pPr>
            <a:r>
              <a:rPr sz="1200" b="0">
                <a:solidFill>
                  <a:srgbClr val="526673"/>
                </a:solidFill>
                <a:latin typeface="Arial"/>
                <a:ea typeface="Arial"/>
                <a:cs typeface="Arial"/>
              </a:rPr>
              <a:t>6 / 6</a:t>
            </a:r>
          </a:p>
        </p:txBody>
      </p:sp>
      <p:graphicFrame>
        <p:nvGraphicFramePr>
          <p:cNvPr id="3" name="">
            <a:extLst xmlns:a="http://schemas.openxmlformats.org/drawingml/2006/main">
              <a:ext uri="{FF2B5EF4-FFF2-40B4-BE49-F238E27FC236}">
                <a16:creationId xmlns:a16="http://schemas.microsoft.com/office/drawing/2014/main" id="{2D3C0719-6F85-4123-B2E4-A2DFF6F58999}"/>
              </a:ext>
            </a:extLst>
          </p:cNvPr>
          <p:cNvGraphicFramePr/>
          <p:nvPr/>
        </p:nvGraphicFramePr>
        <p:xfrm>
          <a:off xmlns:a="http://schemas.openxmlformats.org/drawingml/2006/main" x="609600" y="1504950"/>
          <a:ext xmlns:a="http://schemas.openxmlformats.org/drawingml/2006/main" cx="10972800" cy="1809750"/>
        </p:xfrm>
        <a:graphic xmlns:a="http://schemas.openxmlformats.org/drawingml/2006/main">
          <a:graphicData uri="http://schemas.openxmlformats.org/drawingml/2006/table">
            <a:tbl>
              <a:tblPr/>
              <a:tblGrid>
                <a:gridCol w="6191250"/>
                <a:gridCol w="2381250"/>
                <a:gridCol w="2400300"/>
              </a:tblGrid>
              <a:tr h="603250">
                <a:tc>
                  <a:txBody>
                    <a:bodyPr/>
                    <a:lstStyle/>
                    <a:p>
                      <a:r>
                        <a:rPr sz="1950" b="1">
                          <a:solidFill>
                            <a:srgbClr val="142633"/>
                          </a:solidFill>
                          <a:latin typeface="Arial"/>
                          <a:ea typeface="Arial"/>
                          <a:cs typeface="Arial"/>
                        </a:rPr>
                        <a:t>Review group</a:t>
                      </a:r>
                    </a:p>
                  </a:txBody>
                  <a:tcPr marL="91440" marR="91440" marT="45720" marB="45720">
                    <a:lnL w="6668">
                      <a:solidFill>
                        <a:srgbClr val="D6E0E5"/>
                      </a:solidFill>
                      <a:prstDash val="solid"/>
                    </a:lnL>
                    <a:lnR w="6668">
                      <a:solidFill>
                        <a:srgbClr val="D6E0E5"/>
                      </a:solidFill>
                      <a:prstDash val="solid"/>
                    </a:lnR>
                    <a:lnT w="6668">
                      <a:solidFill>
                        <a:srgbClr val="D6E0E5"/>
                      </a:solidFill>
                      <a:prstDash val="solid"/>
                    </a:lnT>
                    <a:lnB w="6668">
                      <a:solidFill>
                        <a:srgbClr val="D6E0E5"/>
                      </a:solidFill>
                      <a:prstDash val="solid"/>
                    </a:lnB>
                    <a:solidFill>
                      <a:srgbClr val="E8F0F4"/>
                    </a:solidFill>
                  </a:tcPr>
                </a:tc>
                <a:tc>
                  <a:txBody>
                    <a:bodyPr/>
                    <a:lstStyle/>
                    <a:p>
                      <a:r>
                        <a:rPr sz="1950" b="1">
                          <a:solidFill>
                            <a:srgbClr val="142633"/>
                          </a:solidFill>
                          <a:latin typeface="Arial"/>
                          <a:ea typeface="Arial"/>
                          <a:cs typeface="Arial"/>
                        </a:rPr>
                        <a:t>Galaxies</a:t>
                      </a:r>
                    </a:p>
                  </a:txBody>
                  <a:tcPr marL="91440" marR="91440" marT="45720" marB="45720">
                    <a:lnR w="6668">
                      <a:solidFill>
                        <a:srgbClr val="D6E0E5"/>
                      </a:solidFill>
                      <a:prstDash val="solid"/>
                    </a:lnR>
                    <a:lnT w="6668">
                      <a:solidFill>
                        <a:srgbClr val="D6E0E5"/>
                      </a:solidFill>
                      <a:prstDash val="solid"/>
                    </a:lnT>
                    <a:lnB w="6668">
                      <a:solidFill>
                        <a:srgbClr val="D6E0E5"/>
                      </a:solidFill>
                      <a:prstDash val="solid"/>
                    </a:lnB>
                    <a:solidFill>
                      <a:srgbClr val="E8F0F4"/>
                    </a:solidFill>
                  </a:tcPr>
                </a:tc>
                <a:tc>
                  <a:txBody>
                    <a:bodyPr/>
                    <a:lstStyle/>
                    <a:p>
                      <a:r>
                        <a:rPr sz="1950" b="1">
                          <a:solidFill>
                            <a:srgbClr val="142633"/>
                          </a:solidFill>
                          <a:latin typeface="Arial"/>
                          <a:ea typeface="Arial"/>
                          <a:cs typeface="Arial"/>
                        </a:rPr>
                        <a:t>PDF batches</a:t>
                      </a:r>
                    </a:p>
                  </a:txBody>
                  <a:tcPr marL="91440" marR="91440" marT="45720" marB="45720">
                    <a:lnR w="6668">
                      <a:solidFill>
                        <a:srgbClr val="D6E0E5"/>
                      </a:solidFill>
                      <a:prstDash val="solid"/>
                    </a:lnR>
                    <a:lnT w="6668">
                      <a:solidFill>
                        <a:srgbClr val="D6E0E5"/>
                      </a:solidFill>
                      <a:prstDash val="solid"/>
                    </a:lnT>
                    <a:lnB w="6668">
                      <a:solidFill>
                        <a:srgbClr val="D6E0E5"/>
                      </a:solidFill>
                      <a:prstDash val="solid"/>
                    </a:lnB>
                    <a:solidFill>
                      <a:srgbClr val="E8F0F4"/>
                    </a:solidFill>
                  </a:tcPr>
                </a:tc>
              </a:tr>
              <a:tr h="603250">
                <a:tc>
                  <a:txBody>
                    <a:bodyPr/>
                    <a:lstStyle/>
                    <a:p>
                      <a:r>
                        <a:rPr sz="1950" b="0">
                          <a:solidFill>
                            <a:srgbClr val="142633"/>
                          </a:solidFill>
                          <a:latin typeface="Arial"/>
                          <a:ea typeface="Arial"/>
                          <a:cs typeface="Arial"/>
                        </a:rPr>
                        <a:t>QI</a:t>
                      </a:r>
                    </a:p>
                  </a:txBody>
                  <a:tcPr marL="91440" marR="91440" marT="45720" marB="45720">
                    <a:lnL w="6668">
                      <a:solidFill>
                        <a:srgbClr val="D6E0E5"/>
                      </a:solidFill>
                      <a:prstDash val="solid"/>
                    </a:lnL>
                    <a:lnR w="6668">
                      <a:solidFill>
                        <a:srgbClr val="D6E0E5"/>
                      </a:solidFill>
                      <a:prstDash val="solid"/>
                    </a:lnR>
                    <a:lnB w="6668">
                      <a:solidFill>
                        <a:srgbClr val="D6E0E5"/>
                      </a:solidFill>
                      <a:prstDash val="solid"/>
                    </a:lnB>
                    <a:solidFill>
                      <a:srgbClr val="FFFFFF"/>
                    </a:solidFill>
                  </a:tcPr>
                </a:tc>
                <a:tc>
                  <a:txBody>
                    <a:bodyPr/>
                    <a:lstStyle/>
                    <a:p>
                      <a:r>
                        <a:rPr sz="1950" b="0">
                          <a:solidFill>
                            <a:srgbClr val="142633"/>
                          </a:solidFill>
                          <a:latin typeface="Arial"/>
                          <a:ea typeface="Arial"/>
                          <a:cs typeface="Arial"/>
                        </a:rPr>
                        <a:t>2,250</a:t>
                      </a:r>
                    </a:p>
                  </a:txBody>
                  <a:tcPr marL="91440" marR="91440" marT="45720" marB="45720">
                    <a:lnR w="6668">
                      <a:solidFill>
                        <a:srgbClr val="D6E0E5"/>
                      </a:solidFill>
                      <a:prstDash val="solid"/>
                    </a:lnR>
                    <a:lnB w="6668">
                      <a:solidFill>
                        <a:srgbClr val="D6E0E5"/>
                      </a:solidFill>
                      <a:prstDash val="solid"/>
                    </a:lnB>
                    <a:solidFill>
                      <a:srgbClr val="FFFFFF"/>
                    </a:solidFill>
                  </a:tcPr>
                </a:tc>
                <a:tc>
                  <a:txBody>
                    <a:bodyPr/>
                    <a:lstStyle/>
                    <a:p>
                      <a:r>
                        <a:rPr sz="1950" b="0">
                          <a:solidFill>
                            <a:srgbClr val="142633"/>
                          </a:solidFill>
                          <a:latin typeface="Arial"/>
                          <a:ea typeface="Arial"/>
                          <a:cs typeface="Arial"/>
                        </a:rPr>
                        <a:t>38</a:t>
                      </a:r>
                    </a:p>
                  </a:txBody>
                  <a:tcPr marL="91440" marR="91440" marT="45720" marB="45720">
                    <a:lnR w="6668">
                      <a:solidFill>
                        <a:srgbClr val="D6E0E5"/>
                      </a:solidFill>
                      <a:prstDash val="solid"/>
                    </a:lnR>
                    <a:lnB w="6668">
                      <a:solidFill>
                        <a:srgbClr val="D6E0E5"/>
                      </a:solidFill>
                      <a:prstDash val="solid"/>
                    </a:lnB>
                    <a:solidFill>
                      <a:srgbClr val="FFFFFF"/>
                    </a:solidFill>
                  </a:tcPr>
                </a:tc>
              </a:tr>
              <a:tr h="603250">
                <a:tc>
                  <a:txBody>
                    <a:bodyPr/>
                    <a:lstStyle/>
                    <a:p>
                      <a:r>
                        <a:rPr sz="1950" b="0">
                          <a:solidFill>
                            <a:srgbClr val="142633"/>
                          </a:solidFill>
                          <a:latin typeface="Arial"/>
                          <a:ea typeface="Arial"/>
                          <a:cs typeface="Arial"/>
                        </a:rPr>
                        <a:t>NoQI</a:t>
                      </a:r>
                    </a:p>
                  </a:txBody>
                  <a:tcPr marL="91440" marR="91440" marT="45720" marB="45720">
                    <a:lnL w="6668">
                      <a:solidFill>
                        <a:srgbClr val="D6E0E5"/>
                      </a:solidFill>
                      <a:prstDash val="solid"/>
                    </a:lnL>
                    <a:lnR w="6668">
                      <a:solidFill>
                        <a:srgbClr val="D6E0E5"/>
                      </a:solidFill>
                      <a:prstDash val="solid"/>
                    </a:lnR>
                    <a:lnB w="6668">
                      <a:solidFill>
                        <a:srgbClr val="D6E0E5"/>
                      </a:solidFill>
                      <a:prstDash val="solid"/>
                    </a:lnB>
                    <a:solidFill>
                      <a:srgbClr val="FFFFFF"/>
                    </a:solidFill>
                  </a:tcPr>
                </a:tc>
                <a:tc>
                  <a:txBody>
                    <a:bodyPr/>
                    <a:lstStyle/>
                    <a:p>
                      <a:r>
                        <a:rPr sz="1950" b="0">
                          <a:solidFill>
                            <a:srgbClr val="142633"/>
                          </a:solidFill>
                          <a:latin typeface="Arial"/>
                          <a:ea typeface="Arial"/>
                          <a:cs typeface="Arial"/>
                        </a:rPr>
                        <a:t>527</a:t>
                      </a:r>
                    </a:p>
                  </a:txBody>
                  <a:tcPr marL="91440" marR="91440" marT="45720" marB="45720">
                    <a:lnR w="6668">
                      <a:solidFill>
                        <a:srgbClr val="D6E0E5"/>
                      </a:solidFill>
                      <a:prstDash val="solid"/>
                    </a:lnR>
                    <a:lnB w="6668">
                      <a:solidFill>
                        <a:srgbClr val="D6E0E5"/>
                      </a:solidFill>
                      <a:prstDash val="solid"/>
                    </a:lnB>
                    <a:solidFill>
                      <a:srgbClr val="FFFFFF"/>
                    </a:solidFill>
                  </a:tcPr>
                </a:tc>
                <a:tc>
                  <a:txBody>
                    <a:bodyPr/>
                    <a:lstStyle/>
                    <a:p>
                      <a:r>
                        <a:rPr sz="1950" b="0">
                          <a:solidFill>
                            <a:srgbClr val="142633"/>
                          </a:solidFill>
                          <a:latin typeface="Arial"/>
                          <a:ea typeface="Arial"/>
                          <a:cs typeface="Arial"/>
                        </a:rPr>
                        <a:t>9</a:t>
                      </a:r>
                    </a:p>
                  </a:txBody>
                  <a:tcPr marL="91440" marR="91440" marT="45720" marB="45720">
                    <a:lnR w="6668">
                      <a:solidFill>
                        <a:srgbClr val="D6E0E5"/>
                      </a:solidFill>
                      <a:prstDash val="solid"/>
                    </a:lnR>
                    <a:lnB w="6668">
                      <a:solidFill>
                        <a:srgbClr val="D6E0E5"/>
                      </a:solidFill>
                      <a:prstDash val="solid"/>
                    </a:lnB>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0CE34670-802F-46B3-9B0B-B26F88A88275}"/>
              </a:ext>
            </a:extLst>
          </p:cNvPr>
          <p:cNvSpPr>
            <a:spLocks xmlns:a="http://schemas.openxmlformats.org/drawingml/2006/main" noGrp="1"/>
          </p:cNvSpPr>
          <p:nvPr/>
        </p:nvSpPr>
        <p:spPr>
          <a:xfrm xmlns:a="http://schemas.openxmlformats.org/drawingml/2006/main">
            <a:off x="609600" y="3629025"/>
            <a:ext cx="10858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205F7A"/>
                </a:solidFill>
                <a:latin typeface="Arial"/>
                <a:ea typeface="Arial"/>
                <a:cs typeface="Arial"/>
              </a:defRPr>
            </a:defPPr>
            <a:lvl1pPr>
              <a:defRPr sz="2250" b="1">
                <a:solidFill>
                  <a:srgbClr val="205F7A"/>
                </a:solidFill>
                <a:latin typeface="Arial"/>
                <a:ea typeface="Arial"/>
                <a:cs typeface="Arial"/>
              </a:defRPr>
            </a:lvl1pPr>
            <a:lvl2pPr>
              <a:defRPr sz="2250" b="1">
                <a:solidFill>
                  <a:srgbClr val="205F7A"/>
                </a:solidFill>
                <a:latin typeface="Arial"/>
                <a:ea typeface="Arial"/>
                <a:cs typeface="Arial"/>
              </a:defRPr>
            </a:lvl2pPr>
            <a:lvl3pPr>
              <a:defRPr sz="2250" b="1">
                <a:solidFill>
                  <a:srgbClr val="205F7A"/>
                </a:solidFill>
                <a:latin typeface="Arial"/>
                <a:ea typeface="Arial"/>
                <a:cs typeface="Arial"/>
              </a:defRPr>
            </a:lvl3pPr>
            <a:lvl4pPr>
              <a:defRPr sz="2250" b="1">
                <a:solidFill>
                  <a:srgbClr val="205F7A"/>
                </a:solidFill>
                <a:latin typeface="Arial"/>
                <a:ea typeface="Arial"/>
                <a:cs typeface="Arial"/>
              </a:defRPr>
            </a:lvl4pPr>
            <a:lvl5pPr>
              <a:defRPr sz="2250" b="1">
                <a:solidFill>
                  <a:srgbClr val="205F7A"/>
                </a:solidFill>
                <a:latin typeface="Arial"/>
                <a:ea typeface="Arial"/>
                <a:cs typeface="Arial"/>
              </a:defRPr>
            </a:lvl5pPr>
            <a:lvl6pPr>
              <a:defRPr sz="2250" b="1">
                <a:solidFill>
                  <a:srgbClr val="205F7A"/>
                </a:solidFill>
                <a:latin typeface="Arial"/>
                <a:ea typeface="Arial"/>
                <a:cs typeface="Arial"/>
              </a:defRPr>
            </a:lvl6pPr>
            <a:lvl7pPr>
              <a:defRPr sz="2250" b="1">
                <a:solidFill>
                  <a:srgbClr val="205F7A"/>
                </a:solidFill>
                <a:latin typeface="Arial"/>
                <a:ea typeface="Arial"/>
                <a:cs typeface="Arial"/>
              </a:defRPr>
            </a:lvl7pPr>
            <a:lvl8pPr>
              <a:defRPr sz="2250" b="1">
                <a:solidFill>
                  <a:srgbClr val="205F7A"/>
                </a:solidFill>
                <a:latin typeface="Arial"/>
                <a:ea typeface="Arial"/>
                <a:cs typeface="Arial"/>
              </a:defRPr>
            </a:lvl8pPr>
            <a:lvl9pPr>
              <a:defRPr sz="2250" b="1">
                <a:solidFill>
                  <a:srgbClr val="205F7A"/>
                </a:solidFill>
                <a:latin typeface="Arial"/>
                <a:ea typeface="Arial"/>
                <a:cs typeface="Arial"/>
              </a:defRPr>
            </a:lvl9pPr>
          </a:lstStyle>
          <a:p xmlns:a="http://schemas.openxmlformats.org/drawingml/2006/main">
            <a:pPr>
              <a:defRPr sz="2250" b="1">
                <a:solidFill>
                  <a:srgbClr val="205F7A"/>
                </a:solidFill>
                <a:latin typeface="Arial"/>
                <a:ea typeface="Arial"/>
                <a:cs typeface="Arial"/>
              </a:defRPr>
            </a:pPr>
            <a:r>
              <a:rPr sz="2250" b="1">
                <a:solidFill>
                  <a:srgbClr val="205F7A"/>
                </a:solidFill>
                <a:latin typeface="Arial"/>
                <a:ea typeface="Arial"/>
                <a:cs typeface="Arial"/>
              </a:rPr>
              <a:t>47 PDFs contain 463 pages at six galaxies per page.</a:t>
            </a:r>
          </a:p>
        </p:txBody>
      </p:sp>
      <p:sp>
        <p:nvSpPr>
          <p:cNvPr id="5" name="">
            <a:extLst xmlns:a="http://schemas.openxmlformats.org/drawingml/2006/main">
              <a:ext uri="{FF2B5EF4-FFF2-40B4-BE49-F238E27FC236}">
                <a16:creationId xmlns:a16="http://schemas.microsoft.com/office/drawing/2014/main" id="{AADFEB96-99AB-470F-81B0-4CEE97130E23}"/>
              </a:ext>
            </a:extLst>
          </p:cNvPr>
          <p:cNvSpPr>
            <a:spLocks xmlns:a="http://schemas.openxmlformats.org/drawingml/2006/main" noGrp="1"/>
          </p:cNvSpPr>
          <p:nvPr/>
        </p:nvSpPr>
        <p:spPr>
          <a:xfrm xmlns:a="http://schemas.openxmlformats.org/drawingml/2006/main">
            <a:off x="609600" y="4429125"/>
            <a:ext cx="108585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42633"/>
                </a:solidFill>
                <a:latin typeface="Arial"/>
                <a:ea typeface="Arial"/>
                <a:cs typeface="Arial"/>
              </a:defRPr>
            </a:defPPr>
            <a:lvl1pPr>
              <a:defRPr sz="2025" b="0">
                <a:solidFill>
                  <a:srgbClr val="142633"/>
                </a:solidFill>
                <a:latin typeface="Arial"/>
                <a:ea typeface="Arial"/>
                <a:cs typeface="Arial"/>
              </a:defRPr>
            </a:lvl1pPr>
            <a:lvl2pPr>
              <a:defRPr sz="2025" b="0">
                <a:solidFill>
                  <a:srgbClr val="142633"/>
                </a:solidFill>
                <a:latin typeface="Arial"/>
                <a:ea typeface="Arial"/>
                <a:cs typeface="Arial"/>
              </a:defRPr>
            </a:lvl2pPr>
            <a:lvl3pPr>
              <a:defRPr sz="2025" b="0">
                <a:solidFill>
                  <a:srgbClr val="142633"/>
                </a:solidFill>
                <a:latin typeface="Arial"/>
                <a:ea typeface="Arial"/>
                <a:cs typeface="Arial"/>
              </a:defRPr>
            </a:lvl3pPr>
            <a:lvl4pPr>
              <a:defRPr sz="2025" b="0">
                <a:solidFill>
                  <a:srgbClr val="142633"/>
                </a:solidFill>
                <a:latin typeface="Arial"/>
                <a:ea typeface="Arial"/>
                <a:cs typeface="Arial"/>
              </a:defRPr>
            </a:lvl4pPr>
            <a:lvl5pPr>
              <a:defRPr sz="2025" b="0">
                <a:solidFill>
                  <a:srgbClr val="142633"/>
                </a:solidFill>
                <a:latin typeface="Arial"/>
                <a:ea typeface="Arial"/>
                <a:cs typeface="Arial"/>
              </a:defRPr>
            </a:lvl5pPr>
            <a:lvl6pPr>
              <a:defRPr sz="2025" b="0">
                <a:solidFill>
                  <a:srgbClr val="142633"/>
                </a:solidFill>
                <a:latin typeface="Arial"/>
                <a:ea typeface="Arial"/>
                <a:cs typeface="Arial"/>
              </a:defRPr>
            </a:lvl6pPr>
            <a:lvl7pPr>
              <a:defRPr sz="2025" b="0">
                <a:solidFill>
                  <a:srgbClr val="142633"/>
                </a:solidFill>
                <a:latin typeface="Arial"/>
                <a:ea typeface="Arial"/>
                <a:cs typeface="Arial"/>
              </a:defRPr>
            </a:lvl7pPr>
            <a:lvl8pPr>
              <a:defRPr sz="2025" b="0">
                <a:solidFill>
                  <a:srgbClr val="142633"/>
                </a:solidFill>
                <a:latin typeface="Arial"/>
                <a:ea typeface="Arial"/>
                <a:cs typeface="Arial"/>
              </a:defRPr>
            </a:lvl8pPr>
            <a:lvl9pPr>
              <a:defRPr sz="2025" b="0">
                <a:solidFill>
                  <a:srgbClr val="142633"/>
                </a:solidFill>
                <a:latin typeface="Arial"/>
                <a:ea typeface="Arial"/>
                <a:cs typeface="Arial"/>
              </a:defRPr>
            </a:lvl9pPr>
          </a:lstStyle>
          <a:p xmlns:a="http://schemas.openxmlformats.org/drawingml/2006/main">
            <a:pPr>
              <a:defRPr sz="2025" b="0">
                <a:solidFill>
                  <a:srgbClr val="142633"/>
                </a:solidFill>
                <a:latin typeface="Arial"/>
                <a:ea typeface="Arial"/>
                <a:cs typeface="Arial"/>
              </a:defRPr>
            </a:pPr>
            <a:r>
              <a:rPr sz="2025" b="0">
                <a:solidFill>
                  <a:srgbClr val="142633"/>
                </a:solidFill>
                <a:latin typeface="Arial"/>
                <a:ea typeface="Arial"/>
                <a:cs typeface="Arial"/>
              </a:rPr>
              <a:t>Review QI warnings and failures using the image and profiles.</a:t>
            </a:r>
          </a:p>
          <a:p xmlns:a="http://schemas.openxmlformats.org/drawingml/2006/main">
            <a:pPr>
              <a:defRPr sz="2025" b="0">
                <a:solidFill>
                  <a:srgbClr val="142633"/>
                </a:solidFill>
                <a:latin typeface="Arial"/>
                <a:ea typeface="Arial"/>
                <a:cs typeface="Arial"/>
              </a:defRPr>
            </a:pPr>
            <a:r>
              <a:rPr sz="2025" b="0">
                <a:solidFill>
                  <a:srgbClr val="142633"/>
                </a:solidFill>
                <a:latin typeface="Arial"/>
                <a:ea typeface="Arial"/>
                <a:cs typeface="Arial"/>
              </a:rPr>
              <a:t>Check physical component identification in the 527 NoQI cases.</a:t>
            </a:r>
          </a:p>
          <a:p xmlns:a="http://schemas.openxmlformats.org/drawingml/2006/main">
            <a:pPr>
              <a:defRPr sz="2025" b="0">
                <a:solidFill>
                  <a:srgbClr val="142633"/>
                </a:solidFill>
                <a:latin typeface="Arial"/>
                <a:ea typeface="Arial"/>
                <a:cs typeface="Arial"/>
              </a:defRPr>
            </a:pPr>
            <a:r>
              <a:rPr sz="2025" b="0">
                <a:solidFill>
                  <a:srgbClr val="142633"/>
                </a:solidFill>
                <a:latin typeface="Arial"/>
                <a:ea typeface="Arial"/>
                <a:cs typeface="Arial"/>
              </a:rPr>
              <a:t>Record accepted geometry before final deprojection.</a:t>
            </a:r>
          </a:p>
        </p:txBody>
      </p:sp>
      <p:sp>
        <p:nvSpPr>
          <p:cNvPr id="6" name="">
            <a:extLst xmlns:a="http://schemas.openxmlformats.org/drawingml/2006/main">
              <a:ext uri="{FF2B5EF4-FFF2-40B4-BE49-F238E27FC236}">
                <a16:creationId xmlns:a16="http://schemas.microsoft.com/office/drawing/2014/main" id="{B12389CD-6D56-4787-BB44-DD1FFB879363}"/>
              </a:ext>
            </a:extLst>
          </p:cNvPr>
          <p:cNvSpPr>
            <a:spLocks xmlns:a="http://schemas.openxmlformats.org/drawingml/2006/main" noGrp="1"/>
          </p:cNvSpPr>
          <p:nvPr/>
        </p:nvSpPr>
        <p:spPr>
          <a:xfrm xmlns:a="http://schemas.openxmlformats.org/drawingml/2006/main">
            <a:off x="609600" y="6134100"/>
            <a:ext cx="10668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526673"/>
                </a:solidFill>
                <a:latin typeface="Arial"/>
                <a:ea typeface="Arial"/>
                <a:cs typeface="Arial"/>
              </a:defRPr>
            </a:defPPr>
            <a:lvl1pPr>
              <a:defRPr sz="1650" b="0">
                <a:solidFill>
                  <a:srgbClr val="526673"/>
                </a:solidFill>
                <a:latin typeface="Arial"/>
                <a:ea typeface="Arial"/>
                <a:cs typeface="Arial"/>
              </a:defRPr>
            </a:lvl1pPr>
            <a:lvl2pPr>
              <a:defRPr sz="1650" b="0">
                <a:solidFill>
                  <a:srgbClr val="526673"/>
                </a:solidFill>
                <a:latin typeface="Arial"/>
                <a:ea typeface="Arial"/>
                <a:cs typeface="Arial"/>
              </a:defRPr>
            </a:lvl2pPr>
            <a:lvl3pPr>
              <a:defRPr sz="1650" b="0">
                <a:solidFill>
                  <a:srgbClr val="526673"/>
                </a:solidFill>
                <a:latin typeface="Arial"/>
                <a:ea typeface="Arial"/>
                <a:cs typeface="Arial"/>
              </a:defRPr>
            </a:lvl3pPr>
            <a:lvl4pPr>
              <a:defRPr sz="1650" b="0">
                <a:solidFill>
                  <a:srgbClr val="526673"/>
                </a:solidFill>
                <a:latin typeface="Arial"/>
                <a:ea typeface="Arial"/>
                <a:cs typeface="Arial"/>
              </a:defRPr>
            </a:lvl4pPr>
            <a:lvl5pPr>
              <a:defRPr sz="1650" b="0">
                <a:solidFill>
                  <a:srgbClr val="526673"/>
                </a:solidFill>
                <a:latin typeface="Arial"/>
                <a:ea typeface="Arial"/>
                <a:cs typeface="Arial"/>
              </a:defRPr>
            </a:lvl5pPr>
            <a:lvl6pPr>
              <a:defRPr sz="1650" b="0">
                <a:solidFill>
                  <a:srgbClr val="526673"/>
                </a:solidFill>
                <a:latin typeface="Arial"/>
                <a:ea typeface="Arial"/>
                <a:cs typeface="Arial"/>
              </a:defRPr>
            </a:lvl6pPr>
            <a:lvl7pPr>
              <a:defRPr sz="1650" b="0">
                <a:solidFill>
                  <a:srgbClr val="526673"/>
                </a:solidFill>
                <a:latin typeface="Arial"/>
                <a:ea typeface="Arial"/>
                <a:cs typeface="Arial"/>
              </a:defRPr>
            </a:lvl7pPr>
            <a:lvl8pPr>
              <a:defRPr sz="1650" b="0">
                <a:solidFill>
                  <a:srgbClr val="526673"/>
                </a:solidFill>
                <a:latin typeface="Arial"/>
                <a:ea typeface="Arial"/>
                <a:cs typeface="Arial"/>
              </a:defRPr>
            </a:lvl8pPr>
            <a:lvl9pPr>
              <a:defRPr sz="1650" b="0">
                <a:solidFill>
                  <a:srgbClr val="526673"/>
                </a:solidFill>
                <a:latin typeface="Arial"/>
                <a:ea typeface="Arial"/>
                <a:cs typeface="Arial"/>
              </a:defRPr>
            </a:lvl9pPr>
          </a:lstStyle>
          <a:p xmlns:a="http://schemas.openxmlformats.org/drawingml/2006/main">
            <a:pPr>
              <a:defRPr sz="1650" b="0">
                <a:solidFill>
                  <a:srgbClr val="526673"/>
                </a:solidFill>
                <a:latin typeface="Arial"/>
                <a:ea typeface="Arial"/>
                <a:cs typeface="Arial"/>
              </a:defRPr>
            </a:pPr>
            <a:r>
              <a:rPr sz="1650" b="0">
                <a:solidFill>
                  <a:srgbClr val="526673"/>
                </a:solidFill>
                <a:latin typeface="Arial"/>
                <a:ea typeface="Arial"/>
                <a:cs typeface="Arial"/>
              </a:rPr>
              <a:t>The galaxy index gives the PNG path, PDF batch, page and position.</a:t>
            </a:r>
          </a:p>
        </p:txBody>
      </p:sp>
    </p:spTree>
    <p:extLst>
      <p:ext uri="{BB962C8B-B14F-4D97-AF65-F5344CB8AC3E}">
        <p14:creationId xmlns:p14="http://schemas.microsoft.com/office/powerpoint/2010/main" val="3675382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2026-10-20T12:55:22.3320000Z</dcterms:created>
  <dcterms:modified xsi:type="dcterms:W3CDTF">2026-10-20T12:55:22.3320000Z</dcterms:modified>
</coreProperties>
</file>