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a15662bae049cc" /><Relationship Type="http://schemas.openxmlformats.org/officeDocument/2006/relationships/extended-properties" Target="/docProps/app.xml" Id="R051f7dac4a104415" /><Relationship Type="http://schemas.openxmlformats.org/officeDocument/2006/relationships/officeDocument" Target="/ppt/presentation.xml" Id="Rb7ff912e862f4898" /></Relationships>
</file>

<file path=ppt/presentation.xml><?xml version="1.0" encoding="utf-8"?>
<p:presentation xmlns:p="http://schemas.openxmlformats.org/presentationml/2006/main">
  <p:sldMasterIdLst>
    <p:sldMasterId xmlns:r="http://schemas.openxmlformats.org/officeDocument/2006/relationships" id="2147483648" r:id="R3ebfaabe91b145c5"/>
  </p:sldMasterIdLst>
  <p:notesMasterIdLst>
    <p:notesMasterId xmlns:r="http://schemas.openxmlformats.org/officeDocument/2006/relationships" r:id="Rfb7f49a223524fe8"/>
  </p:notesMasterIdLst>
  <p:sldIdLst>
    <p:sldId xmlns:r="http://schemas.openxmlformats.org/officeDocument/2006/relationships" id="256" r:id="Reaa71421ac9f4cf8"/>
    <p:sldId xmlns:r="http://schemas.openxmlformats.org/officeDocument/2006/relationships" id="257" r:id="R52825612970145a2"/>
    <p:sldId xmlns:r="http://schemas.openxmlformats.org/officeDocument/2006/relationships" id="258" r:id="R802f0fe18f214ece"/>
    <p:sldId xmlns:r="http://schemas.openxmlformats.org/officeDocument/2006/relationships" id="259" r:id="Rafb980b06a874828"/>
    <p:sldId xmlns:r="http://schemas.openxmlformats.org/officeDocument/2006/relationships" id="260" r:id="R5aec7ab562f045ca"/>
    <p:sldId xmlns:r="http://schemas.openxmlformats.org/officeDocument/2006/relationships" id="261" r:id="Rd88d0e65a85643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fd85701be6406e" /><Relationship Type="http://schemas.openxmlformats.org/officeDocument/2006/relationships/slideMaster" Target="/ppt/slideMasters/slideMaster1.xml" Id="R3ebfaabe91b145c5" /><Relationship Type="http://schemas.openxmlformats.org/officeDocument/2006/relationships/notesMaster" Target="/ppt/notesMasters/notesMaster1.xml" Id="Rfb7f49a223524fe8" /><Relationship Type="http://schemas.openxmlformats.org/officeDocument/2006/relationships/presProps" Target="/ppt/presProps.xml" Id="R8101f2dd508b44fa" /><Relationship Type="http://schemas.openxmlformats.org/officeDocument/2006/relationships/tableStyles" Target="/ppt/tableStyles.xml" Id="Rd82d0ac670d64698" /><Relationship Type="http://schemas.openxmlformats.org/officeDocument/2006/relationships/slide" Target="/ppt/slides/slide1.xml" Id="Reaa71421ac9f4cf8" /><Relationship Type="http://schemas.openxmlformats.org/officeDocument/2006/relationships/slide" Target="/ppt/slides/slide2.xml" Id="R52825612970145a2" /><Relationship Type="http://schemas.openxmlformats.org/officeDocument/2006/relationships/slide" Target="/ppt/slides/slide3.xml" Id="R802f0fe18f214ece" /><Relationship Type="http://schemas.openxmlformats.org/officeDocument/2006/relationships/slide" Target="/ppt/slides/slide4.xml" Id="Rafb980b06a874828" /><Relationship Type="http://schemas.openxmlformats.org/officeDocument/2006/relationships/slide" Target="/ppt/slides/slide5.xml" Id="R5aec7ab562f045ca" /><Relationship Type="http://schemas.openxmlformats.org/officeDocument/2006/relationships/slide" Target="/ppt/slides/slide6.xml" Id="Rd88d0e65a85643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e82f187bbf43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adbe1fa9a049ed" /><Relationship Type="http://schemas.openxmlformats.org/officeDocument/2006/relationships/notesMaster" Target="/ppt/notesMasters/notesMaster1.xml" Id="R47130ae058874b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fb33a780dd4b11" /><Relationship Type="http://schemas.openxmlformats.org/officeDocument/2006/relationships/notesMaster" Target="/ppt/notesMasters/notesMaster1.xml" Id="R971ddfa7eca54a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df0878d6e7447e" /><Relationship Type="http://schemas.openxmlformats.org/officeDocument/2006/relationships/notesMaster" Target="/ppt/notesMasters/notesMaster1.xml" Id="R4a995d79cb5c4a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bd93ad87be4954" /><Relationship Type="http://schemas.openxmlformats.org/officeDocument/2006/relationships/notesMaster" Target="/ppt/notesMasters/notesMaster1.xml" Id="Rb207cfada46b46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f35108ac5c4097" /><Relationship Type="http://schemas.openxmlformats.org/officeDocument/2006/relationships/notesMaster" Target="/ppt/notesMasters/notesMaster1.xml" Id="Rc3fb275f470645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57ce370aea4f68" /><Relationship Type="http://schemas.openxmlformats.org/officeDocument/2006/relationships/notesMaster" Target="/ppt/notesMasters/notesMaster1.xml" Id="R483ae1df080d4e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Flag thresholds: bar upper bound &lt;1.5 arcsec; disc PA scatter &gt;10 degrees; disc ellipticity span &gt;0.15; q&gt;0.9; bar PA scatter &gt;10 degrees; median bar ellipticity &lt;0.25. Failure breakdown: 431 range selection, 138 fewer than 10 reliable isophotes, 1 centre/component mismatch. Of 62 partial boxes, 19 have otherwise unflagged 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Its pipeline origin remains unresolved.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c6406b74444e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48500f464d436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297de4999b4b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48fe9f20c64a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2baea887644e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285258f3cd4e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F2B4F7-14C0-4A93-9524-B557DBB44D8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A2CF28-501E-4499-8764-9EE255CE9DD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2C0A0B-A0C5-4CD1-9BD8-BA127330812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4B2CA1-B002-4DBE-AE8D-C8EAD7FDE9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3B4437-8A49-49E5-95EC-CF4241F717C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96F31AC-3D3A-4401-B54A-3F54352816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A024B3-F5C3-4C81-A7DC-EEB9AC6C94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C6E9438-3AE0-4753-AA49-12480667D1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10C6A2-4058-45C0-9180-B38971E9FA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9852EC-E14F-4C1C-860C-C58BBA0DF6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eab5622cf94f2b" /><Relationship Type="http://schemas.openxmlformats.org/officeDocument/2006/relationships/slideLayout" Target="/ppt/slideLayouts/slideLayout1.xml" Id="Ra826b904797c436f" /><Relationship Type="http://schemas.openxmlformats.org/officeDocument/2006/relationships/slideLayout" Target="/ppt/slideLayouts/slideLayout2.xml" Id="R977924d41d24476f" /><Relationship Type="http://schemas.openxmlformats.org/officeDocument/2006/relationships/slideLayout" Target="/ppt/slideLayouts/slideLayout3.xml" Id="R29980f636c314cb2" /><Relationship Type="http://schemas.openxmlformats.org/officeDocument/2006/relationships/slideLayout" Target="/ppt/slideLayouts/slideLayout4.xml" Id="Rcc93ddeda18c4d85" /><Relationship Type="http://schemas.openxmlformats.org/officeDocument/2006/relationships/slideLayout" Target="/ppt/slideLayouts/slideLayout5.xml" Id="Ra773c2d82f484ef0" /><Relationship Type="http://schemas.openxmlformats.org/officeDocument/2006/relationships/slideLayout" Target="/ppt/slideLayouts/slideLayout6.xml" Id="R85757c7166d048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26b904797c436f"/>
    <p:sldLayoutId xmlns:r="http://schemas.openxmlformats.org/officeDocument/2006/relationships" id="2147483650" r:id="R977924d41d24476f"/>
    <p:sldLayoutId xmlns:r="http://schemas.openxmlformats.org/officeDocument/2006/relationships" id="2147483651" r:id="R29980f636c314cb2"/>
    <p:sldLayoutId xmlns:r="http://schemas.openxmlformats.org/officeDocument/2006/relationships" id="2147483652" r:id="Rcc93ddeda18c4d85"/>
    <p:sldLayoutId xmlns:r="http://schemas.openxmlformats.org/officeDocument/2006/relationships" id="2147483653" r:id="Ra773c2d82f484ef0"/>
    <p:sldLayoutId xmlns:r="http://schemas.openxmlformats.org/officeDocument/2006/relationships" id="2147483654" r:id="R85757c7166d048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6857a671484b0b" /><Relationship Type="http://schemas.openxmlformats.org/officeDocument/2006/relationships/notesSlide" Target="/ppt/notesSlides/notesSlide1.xml" Id="R34476d5f117047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3e94d971fd94b37" /><Relationship Type="http://schemas.openxmlformats.org/officeDocument/2006/relationships/chart" Target="/ppt/slides/charts/chart1.xml" Id="Rbd025c41cce64a48" /><Relationship Type="http://schemas.openxmlformats.org/officeDocument/2006/relationships/notesSlide" Target="/ppt/notesSlides/notesSlide2.xml" Id="R497ab3e04a2a49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70fc075e974617" /><Relationship Type="http://schemas.openxmlformats.org/officeDocument/2006/relationships/notesSlide" Target="/ppt/notesSlides/notesSlide3.xml" Id="R8770d3d262da47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00ebe1aa5fd4786" /><Relationship Type="http://schemas.openxmlformats.org/officeDocument/2006/relationships/notesSlide" Target="/ppt/notesSlides/notesSlide4.xml" Id="R564d1e47a82148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10aa63fcf384441" /><Relationship Type="http://schemas.openxmlformats.org/officeDocument/2006/relationships/image" Target="/ppt/media/image.png" Id="R18e0e37347634944" /><Relationship Type="http://schemas.openxmlformats.org/officeDocument/2006/relationships/notesSlide" Target="/ppt/notesSlides/notesSlide5.xml" Id="R67d68303ae2d42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2393283a1442a9" /><Relationship Type="http://schemas.openxmlformats.org/officeDocument/2006/relationships/notesSlide" Target="/ppt/notesSlides/notesSlide6.xml" Id="Rb8887c4bac934231" /></Relationships>
</file>

<file path=ppt/slides/charts/chart1.xml><?xml version="1.0" encoding="utf-8"?>
<c:chartSpace xmlns:c="http://schemas.openxmlformats.org/drawingml/2006/chart">
  <c:lang val="en-US"/>
  <c:chart>
    <c:plotArea>
      <c:barChart>
        <c:barDir val="col"/>
        <c:grouping val="clustered"/>
        <c:varyColors val="0"/>
        <c:ser>
          <c:idx val="0"/>
          <c:order val="0"/>
          <c:tx>
            <c:v>Galaxies</c:v>
          </c:tx>
          <c:spPr>
            <a:solidFill xmlns:a="http://schemas.openxmlformats.org/drawingml/2006/main">
              <a:srgbClr val="205F7A"/>
            </a:solidFill>
          </c:spPr>
          <c:invertIfNegative val="0"/>
          <c:dPt>
            <c:idx val="0"/>
            <c:invertIfNegative val="0"/>
            <c:spPr>
              <a:solidFill xmlns:a="http://schemas.openxmlformats.org/drawingml/2006/main">
                <a:srgbClr val="367A8C"/>
              </a:solidFill>
            </c:spPr>
          </c:dPt>
          <c:dPt>
            <c:idx val="1"/>
            <c:invertIfNegative val="0"/>
            <c:spPr>
              <a:solidFill xmlns:a="http://schemas.openxmlformats.org/drawingml/2006/main">
                <a:srgbClr val="C18B28"/>
              </a:solidFill>
            </c:spPr>
          </c:dPt>
          <c:dPt>
            <c:idx val="2"/>
            <c:invertIfNegative val="0"/>
            <c:spPr>
              <a:solidFill xmlns:a="http://schemas.openxmlformats.org/drawingml/2006/main">
                <a:srgbClr val="AC4B47"/>
              </a:solidFill>
            </c:spPr>
          </c:dPt>
          <c:cat>
            <c:strLit>
              <c:ptCount val="3"/>
              <c:pt idx="0">
                <c:v>No geometry flags</c:v>
              </c:pt>
              <c:pt idx="1">
                <c:v>Flagged fit</c:v>
              </c:pt>
              <c:pt idx="2">
                <c:v>Failed fit</c:v>
              </c:pt>
            </c:strLit>
          </c:cat>
          <c:val>
            <c:numLit>
              <c:formatCode>0</c:formatCode>
              <c:ptCount val="3"/>
              <c:pt idx="0">
                <c:v>546</c:v>
              </c:pt>
              <c:pt idx="1">
                <c:v>1661</c:v>
              </c:pt>
              <c:pt idx="2">
                <c:v>570</c:v>
              </c:pt>
            </c:numLit>
          </c:val>
        </c:ser>
        <c:dLbls>
          <c:numFmt formatCode="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963D46-DF3E-4FB9-97A3-A5459081D9C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CA1BD955-991E-4C2B-B140-470BBDC2311C}"/>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A9B27E5A-0689-4FCF-9AD6-B899CA6CF7B4}"/>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3FC8F3CE-F4C7-4797-9633-F282D2D30B83}"/>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608C707B-49D4-4C82-B67B-53727985CA30}"/>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EEA70E72-C0D5-4FED-83BE-DE54637BAD52}"/>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3237834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702E19-93E7-4F3D-8FFD-89F727FE21F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a:t>
            </a:r>
          </a:p>
        </p:txBody>
      </p:sp>
      <p:sp>
        <p:nvSpPr>
          <p:cNvPr id="2" name="">
            <a:extLst xmlns:a="http://schemas.openxmlformats.org/drawingml/2006/main">
              <a:ext uri="{FF2B5EF4-FFF2-40B4-BE49-F238E27FC236}">
                <a16:creationId xmlns:a16="http://schemas.microsoft.com/office/drawing/2014/main" id="{F1E5F0D2-C62A-419E-B923-F5DC4F26A22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graphicFrame>
        <p:nvGraphicFramePr>
          <p:cNvPr id="3" name="Chart">
            <a:extLst xmlns:a="http://schemas.openxmlformats.org/drawingml/2006/main">
              <a:ext uri="{FF2B5EF4-FFF2-40B4-BE49-F238E27FC236}">
                <a16:creationId xmlns:a16="http://schemas.microsoft.com/office/drawing/2014/main" id="{115A893B-7118-4116-8AD7-73FD62EEFFD2}"/>
              </a:ext>
            </a:extLst>
          </p:cNvPr>
          <p:cNvGraphicFramePr/>
          <p:nvPr/>
        </p:nvGraphicFramePr>
        <p:xfrm>
          <a:off xmlns:a="http://schemas.openxmlformats.org/drawingml/2006/main" x="609600" y="1666875"/>
          <a:ext xmlns:a="http://schemas.openxmlformats.org/drawingml/2006/main" cx="7286625" cy="3952875"/>
        </p:xfrm>
        <a:graphic xmlns:a="http://schemas.openxmlformats.org/drawingml/2006/main">
          <a:graphicData uri="http://schemas.openxmlformats.org/drawingml/2006/chart">
            <c:chart xmlns:r="http://schemas.openxmlformats.org/officeDocument/2006/relationships" xmlns:c="http://schemas.openxmlformats.org/drawingml/2006/chart" r:id="Rbd025c41cce64a48"/>
          </a:graphicData>
        </a:graphic>
      </p:graphicFrame>
      <p:sp>
        <p:nvSpPr>
          <p:cNvPr id="4" name="">
            <a:extLst xmlns:a="http://schemas.openxmlformats.org/drawingml/2006/main">
              <a:ext uri="{FF2B5EF4-FFF2-40B4-BE49-F238E27FC236}">
                <a16:creationId xmlns:a16="http://schemas.microsoft.com/office/drawing/2014/main" id="{24E87686-5B72-4BE2-BE6E-1F17DA5D9758}"/>
              </a:ext>
            </a:extLst>
          </p:cNvPr>
          <p:cNvSpPr>
            <a:spLocks xmlns:a="http://schemas.openxmlformats.org/drawingml/2006/main" noGrp="1"/>
          </p:cNvSpPr>
          <p:nvPr/>
        </p:nvSpPr>
        <p:spPr>
          <a:xfrm xmlns:a="http://schemas.openxmlformats.org/drawingml/2006/main">
            <a:off x="8286750" y="18097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latin typeface="Arial"/>
                <a:ea typeface="Arial"/>
                <a:cs typeface="Arial"/>
              </a:defRPr>
            </a:defPPr>
            <a:lvl1pPr>
              <a:defRPr sz="2400" b="1">
                <a:solidFill>
                  <a:srgbClr val="205F7A"/>
                </a:solidFill>
                <a:latin typeface="Arial"/>
                <a:ea typeface="Arial"/>
                <a:cs typeface="Arial"/>
              </a:defRPr>
            </a:lvl1pPr>
            <a:lvl2pPr>
              <a:defRPr sz="2400" b="1">
                <a:solidFill>
                  <a:srgbClr val="205F7A"/>
                </a:solidFill>
                <a:latin typeface="Arial"/>
                <a:ea typeface="Arial"/>
                <a:cs typeface="Arial"/>
              </a:defRPr>
            </a:lvl2pPr>
            <a:lvl3pPr>
              <a:defRPr sz="2400" b="1">
                <a:solidFill>
                  <a:srgbClr val="205F7A"/>
                </a:solidFill>
                <a:latin typeface="Arial"/>
                <a:ea typeface="Arial"/>
                <a:cs typeface="Arial"/>
              </a:defRPr>
            </a:lvl3pPr>
            <a:lvl4pPr>
              <a:defRPr sz="2400" b="1">
                <a:solidFill>
                  <a:srgbClr val="205F7A"/>
                </a:solidFill>
                <a:latin typeface="Arial"/>
                <a:ea typeface="Arial"/>
                <a:cs typeface="Arial"/>
              </a:defRPr>
            </a:lvl4pPr>
            <a:lvl5pPr>
              <a:defRPr sz="2400" b="1">
                <a:solidFill>
                  <a:srgbClr val="205F7A"/>
                </a:solidFill>
                <a:latin typeface="Arial"/>
                <a:ea typeface="Arial"/>
                <a:cs typeface="Arial"/>
              </a:defRPr>
            </a:lvl5pPr>
            <a:lvl6pPr>
              <a:defRPr sz="2400" b="1">
                <a:solidFill>
                  <a:srgbClr val="205F7A"/>
                </a:solidFill>
                <a:latin typeface="Arial"/>
                <a:ea typeface="Arial"/>
                <a:cs typeface="Arial"/>
              </a:defRPr>
            </a:lvl6pPr>
            <a:lvl7pPr>
              <a:defRPr sz="2400" b="1">
                <a:solidFill>
                  <a:srgbClr val="205F7A"/>
                </a:solidFill>
                <a:latin typeface="Arial"/>
                <a:ea typeface="Arial"/>
                <a:cs typeface="Arial"/>
              </a:defRPr>
            </a:lvl7pPr>
            <a:lvl8pPr>
              <a:defRPr sz="2400" b="1">
                <a:solidFill>
                  <a:srgbClr val="205F7A"/>
                </a:solidFill>
                <a:latin typeface="Arial"/>
                <a:ea typeface="Arial"/>
                <a:cs typeface="Arial"/>
              </a:defRPr>
            </a:lvl8pPr>
            <a:lvl9pPr>
              <a:defRPr sz="2400" b="1">
                <a:solidFill>
                  <a:srgbClr val="205F7A"/>
                </a:solidFill>
                <a:latin typeface="Arial"/>
                <a:ea typeface="Arial"/>
                <a:cs typeface="Arial"/>
              </a:defRPr>
            </a:lvl9pPr>
          </a:lstStyle>
          <a:p xmlns:a="http://schemas.openxmlformats.org/drawingml/2006/main">
            <a:pPr>
              <a:defRPr sz="2400" b="1">
                <a:solidFill>
                  <a:srgbClr val="205F7A"/>
                </a:solidFill>
                <a:latin typeface="Arial"/>
                <a:ea typeface="Arial"/>
                <a:cs typeface="Arial"/>
              </a:defRPr>
            </a:pPr>
            <a:r>
              <a:rPr sz="2400" b="1">
                <a:solidFill>
                  <a:srgbClr val="205F7A"/>
                </a:solidFill>
                <a:latin typeface="Arial"/>
                <a:ea typeface="Arial"/>
                <a:cs typeface="Arial"/>
              </a:rPr>
              <a:t>2,207 provisional fits</a:t>
            </a:r>
          </a:p>
        </p:txBody>
      </p:sp>
      <p:sp>
        <p:nvSpPr>
          <p:cNvPr id="5" name="">
            <a:extLst xmlns:a="http://schemas.openxmlformats.org/drawingml/2006/main">
              <a:ext uri="{FF2B5EF4-FFF2-40B4-BE49-F238E27FC236}">
                <a16:creationId xmlns:a16="http://schemas.microsoft.com/office/drawing/2014/main" id="{7F4BCEF8-F18D-4DFC-886C-1FF083B55AE6}"/>
              </a:ext>
            </a:extLst>
          </p:cNvPr>
          <p:cNvSpPr>
            <a:spLocks xmlns:a="http://schemas.openxmlformats.org/drawingml/2006/main" noGrp="1"/>
          </p:cNvSpPr>
          <p:nvPr/>
        </p:nvSpPr>
        <p:spPr>
          <a:xfrm xmlns:a="http://schemas.openxmlformats.org/drawingml/2006/main">
            <a:off x="8286750" y="25717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79.5% of the sample</a:t>
            </a:r>
          </a:p>
        </p:txBody>
      </p:sp>
      <p:sp>
        <p:nvSpPr>
          <p:cNvPr id="6" name="">
            <a:extLst xmlns:a="http://schemas.openxmlformats.org/drawingml/2006/main">
              <a:ext uri="{FF2B5EF4-FFF2-40B4-BE49-F238E27FC236}">
                <a16:creationId xmlns:a16="http://schemas.microsoft.com/office/drawing/2014/main" id="{BAFB69EE-5EA5-4C00-9A75-9214E3FB7DCF}"/>
              </a:ext>
            </a:extLst>
          </p:cNvPr>
          <p:cNvSpPr>
            <a:spLocks xmlns:a="http://schemas.openxmlformats.org/drawingml/2006/main" noGrp="1"/>
          </p:cNvSpPr>
          <p:nvPr/>
        </p:nvSpPr>
        <p:spPr>
          <a:xfrm xmlns:a="http://schemas.openxmlformats.org/drawingml/2006/main">
            <a:off x="8286750" y="35718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43C38"/>
                </a:solidFill>
                <a:latin typeface="Arial"/>
                <a:ea typeface="Arial"/>
                <a:cs typeface="Arial"/>
              </a:defRPr>
            </a:defPPr>
            <a:lvl1pPr>
              <a:defRPr sz="2250" b="1">
                <a:solidFill>
                  <a:srgbClr val="A43C38"/>
                </a:solidFill>
                <a:latin typeface="Arial"/>
                <a:ea typeface="Arial"/>
                <a:cs typeface="Arial"/>
              </a:defRPr>
            </a:lvl1pPr>
            <a:lvl2pPr>
              <a:defRPr sz="2250" b="1">
                <a:solidFill>
                  <a:srgbClr val="A43C38"/>
                </a:solidFill>
                <a:latin typeface="Arial"/>
                <a:ea typeface="Arial"/>
                <a:cs typeface="Arial"/>
              </a:defRPr>
            </a:lvl2pPr>
            <a:lvl3pPr>
              <a:defRPr sz="2250" b="1">
                <a:solidFill>
                  <a:srgbClr val="A43C38"/>
                </a:solidFill>
                <a:latin typeface="Arial"/>
                <a:ea typeface="Arial"/>
                <a:cs typeface="Arial"/>
              </a:defRPr>
            </a:lvl3pPr>
            <a:lvl4pPr>
              <a:defRPr sz="2250" b="1">
                <a:solidFill>
                  <a:srgbClr val="A43C38"/>
                </a:solidFill>
                <a:latin typeface="Arial"/>
                <a:ea typeface="Arial"/>
                <a:cs typeface="Arial"/>
              </a:defRPr>
            </a:lvl4pPr>
            <a:lvl5pPr>
              <a:defRPr sz="2250" b="1">
                <a:solidFill>
                  <a:srgbClr val="A43C38"/>
                </a:solidFill>
                <a:latin typeface="Arial"/>
                <a:ea typeface="Arial"/>
                <a:cs typeface="Arial"/>
              </a:defRPr>
            </a:lvl5pPr>
            <a:lvl6pPr>
              <a:defRPr sz="2250" b="1">
                <a:solidFill>
                  <a:srgbClr val="A43C38"/>
                </a:solidFill>
                <a:latin typeface="Arial"/>
                <a:ea typeface="Arial"/>
                <a:cs typeface="Arial"/>
              </a:defRPr>
            </a:lvl6pPr>
            <a:lvl7pPr>
              <a:defRPr sz="2250" b="1">
                <a:solidFill>
                  <a:srgbClr val="A43C38"/>
                </a:solidFill>
                <a:latin typeface="Arial"/>
                <a:ea typeface="Arial"/>
                <a:cs typeface="Arial"/>
              </a:defRPr>
            </a:lvl7pPr>
            <a:lvl8pPr>
              <a:defRPr sz="2250" b="1">
                <a:solidFill>
                  <a:srgbClr val="A43C38"/>
                </a:solidFill>
                <a:latin typeface="Arial"/>
                <a:ea typeface="Arial"/>
                <a:cs typeface="Arial"/>
              </a:defRPr>
            </a:lvl8pPr>
            <a:lvl9pPr>
              <a:defRPr sz="2250" b="1">
                <a:solidFill>
                  <a:srgbClr val="A43C38"/>
                </a:solidFill>
                <a:latin typeface="Arial"/>
                <a:ea typeface="Arial"/>
                <a:cs typeface="Arial"/>
              </a:defRPr>
            </a:lvl9pPr>
          </a:lstStyle>
          <a:p xmlns:a="http://schemas.openxmlformats.org/drawingml/2006/main">
            <a:pPr>
              <a:defRPr sz="2250" b="1">
                <a:solidFill>
                  <a:srgbClr val="A43C38"/>
                </a:solidFill>
                <a:latin typeface="Arial"/>
                <a:ea typeface="Arial"/>
                <a:cs typeface="Arial"/>
              </a:defRPr>
            </a:pPr>
            <a:r>
              <a:rPr sz="2250" b="1">
                <a:solidFill>
                  <a:srgbClr val="A43C38"/>
                </a:solidFill>
                <a:latin typeface="Arial"/>
                <a:ea typeface="Arial"/>
                <a:cs typeface="Arial"/>
              </a:rPr>
              <a:t>570 failed fits</a:t>
            </a:r>
          </a:p>
        </p:txBody>
      </p:sp>
      <p:sp>
        <p:nvSpPr>
          <p:cNvPr id="7" name="">
            <a:extLst xmlns:a="http://schemas.openxmlformats.org/drawingml/2006/main">
              <a:ext uri="{FF2B5EF4-FFF2-40B4-BE49-F238E27FC236}">
                <a16:creationId xmlns:a16="http://schemas.microsoft.com/office/drawing/2014/main" id="{BE899CFE-EB37-4CA6-9239-DF89843E0BAB}"/>
              </a:ext>
            </a:extLst>
          </p:cNvPr>
          <p:cNvSpPr>
            <a:spLocks xmlns:a="http://schemas.openxmlformats.org/drawingml/2006/main" noGrp="1"/>
          </p:cNvSpPr>
          <p:nvPr/>
        </p:nvSpPr>
        <p:spPr>
          <a:xfrm xmlns:a="http://schemas.openxmlformats.org/drawingml/2006/main">
            <a:off x="8286750" y="42386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20.5% of the sample</a:t>
            </a:r>
          </a:p>
        </p:txBody>
      </p:sp>
      <p:sp>
        <p:nvSpPr>
          <p:cNvPr id="8" name="">
            <a:extLst xmlns:a="http://schemas.openxmlformats.org/drawingml/2006/main">
              <a:ext uri="{FF2B5EF4-FFF2-40B4-BE49-F238E27FC236}">
                <a16:creationId xmlns:a16="http://schemas.microsoft.com/office/drawing/2014/main" id="{00CABEBD-1DA8-4476-909F-223ABABEA580}"/>
              </a:ext>
            </a:extLst>
          </p:cNvPr>
          <p:cNvSpPr>
            <a:spLocks xmlns:a="http://schemas.openxmlformats.org/drawingml/2006/main" noGrp="1"/>
          </p:cNvSpPr>
          <p:nvPr/>
        </p:nvSpPr>
        <p:spPr>
          <a:xfrm xmlns:a="http://schemas.openxmlformats.org/drawingml/2006/main">
            <a:off x="609600" y="5867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A completed fit still requires physical review of the selected disc and bar.</a:t>
            </a:r>
          </a:p>
        </p:txBody>
      </p:sp>
    </p:spTree>
    <p:extLst>
      <p:ext uri="{BB962C8B-B14F-4D97-AF65-F5344CB8AC3E}">
        <p14:creationId xmlns:p14="http://schemas.microsoft.com/office/powerpoint/2010/main" val="1702308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CE9383-7F83-4503-98F6-7ABCF766249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failed fits</a:t>
            </a:r>
          </a:p>
        </p:txBody>
      </p:sp>
      <p:sp>
        <p:nvSpPr>
          <p:cNvPr id="2" name="">
            <a:extLst xmlns:a="http://schemas.openxmlformats.org/drawingml/2006/main">
              <a:ext uri="{FF2B5EF4-FFF2-40B4-BE49-F238E27FC236}">
                <a16:creationId xmlns:a16="http://schemas.microsoft.com/office/drawing/2014/main" id="{8BFE67A3-D285-4CC5-BDAE-8AFEDCA17BD0}"/>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graphicFrame>
        <p:nvGraphicFramePr>
          <p:cNvPr id="3" name="">
            <a:extLst xmlns:a="http://schemas.openxmlformats.org/drawingml/2006/main">
              <a:ext uri="{FF2B5EF4-FFF2-40B4-BE49-F238E27FC236}">
                <a16:creationId xmlns:a16="http://schemas.microsoft.com/office/drawing/2014/main" id="{0ABBB5A2-618B-4B59-A938-AABF238D41A0}"/>
              </a:ext>
            </a:extLst>
          </p:cNvPr>
          <p:cNvGraphicFramePr/>
          <p:nvPr/>
        </p:nvGraphicFramePr>
        <p:xfrm>
          <a:off xmlns:a="http://schemas.openxmlformats.org/drawingml/2006/main" x="609600" y="1524000"/>
          <a:ext xmlns:a="http://schemas.openxmlformats.org/drawingml/2006/main" cx="6762750" cy="3857625"/>
        </p:xfrm>
        <a:graphic xmlns:a="http://schemas.openxmlformats.org/drawingml/2006/main">
          <a:graphicData uri="http://schemas.openxmlformats.org/drawingml/2006/table">
            <a:tbl>
              <a:tblPr/>
              <a:tblGrid>
                <a:gridCol w="5238750"/>
                <a:gridCol w="1524000"/>
              </a:tblGrid>
              <a:tr h="551089">
                <a:tc>
                  <a:txBody>
                    <a:bodyPr/>
                    <a:lstStyle/>
                    <a:p>
                      <a:r>
                        <a:rPr sz="1800" b="1">
                          <a:solidFill>
                            <a:srgbClr val="142633"/>
                          </a:solidFill>
                          <a:latin typeface="Arial"/>
                          <a:ea typeface="Arial"/>
                          <a:cs typeface="Arial"/>
                        </a:rPr>
                        <a:t>Quality flag condition</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0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51089">
                <a:tc>
                  <a:txBody>
                    <a:bodyPr/>
                    <a:lstStyle/>
                    <a:p>
                      <a:r>
                        <a:rPr sz="1800" b="0">
                          <a:solidFill>
                            <a:srgbClr val="142633"/>
                          </a:solidFill>
                          <a:latin typeface="Arial"/>
                          <a:ea typeface="Arial"/>
                          <a:cs typeface="Arial"/>
                        </a:rPr>
                        <a:t>Small selected bar interval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1,210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disc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791</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Changing disc ellipticity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573</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Nearly face on</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200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bar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28</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Weak ellipse bar signature</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60ED8A5-6FAB-4136-A622-D04C42EC9112}"/>
              </a:ext>
            </a:extLst>
          </p:cNvPr>
          <p:cNvSpPr>
            <a:spLocks xmlns:a="http://schemas.openxmlformats.org/drawingml/2006/main" noGrp="1"/>
          </p:cNvSpPr>
          <p:nvPr/>
        </p:nvSpPr>
        <p:spPr>
          <a:xfrm xmlns:a="http://schemas.openxmlformats.org/drawingml/2006/main">
            <a:off x="7905750" y="16002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Flags overlap</a:t>
            </a:r>
          </a:p>
        </p:txBody>
      </p:sp>
      <p:sp>
        <p:nvSpPr>
          <p:cNvPr id="5" name="">
            <a:extLst xmlns:a="http://schemas.openxmlformats.org/drawingml/2006/main">
              <a:ext uri="{FF2B5EF4-FFF2-40B4-BE49-F238E27FC236}">
                <a16:creationId xmlns:a16="http://schemas.microsoft.com/office/drawing/2014/main" id="{86EEE138-D32D-4297-B3DB-76D7C51BA9FC}"/>
              </a:ext>
            </a:extLst>
          </p:cNvPr>
          <p:cNvSpPr>
            <a:spLocks xmlns:a="http://schemas.openxmlformats.org/drawingml/2006/main" noGrp="1"/>
          </p:cNvSpPr>
          <p:nvPr/>
        </p:nvSpPr>
        <p:spPr>
          <a:xfrm xmlns:a="http://schemas.openxmlformats.org/drawingml/2006/main">
            <a:off x="7905750" y="22383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Counts refer to the 2,207 fits.</a:t>
            </a:r>
          </a:p>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They cannot be added.</a:t>
            </a:r>
          </a:p>
        </p:txBody>
      </p:sp>
      <p:sp>
        <p:nvSpPr>
          <p:cNvPr id="6" name="">
            <a:extLst xmlns:a="http://schemas.openxmlformats.org/drawingml/2006/main">
              <a:ext uri="{FF2B5EF4-FFF2-40B4-BE49-F238E27FC236}">
                <a16:creationId xmlns:a16="http://schemas.microsoft.com/office/drawing/2014/main" id="{B92153E1-BC21-4A94-AC02-6D2D15D30E0A}"/>
              </a:ext>
            </a:extLst>
          </p:cNvPr>
          <p:cNvSpPr>
            <a:spLocks xmlns:a="http://schemas.openxmlformats.org/drawingml/2006/main" noGrp="1"/>
          </p:cNvSpPr>
          <p:nvPr/>
        </p:nvSpPr>
        <p:spPr>
          <a:xfrm xmlns:a="http://schemas.openxmlformats.org/drawingml/2006/main">
            <a:off x="7905750" y="3505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633"/>
                </a:solidFill>
                <a:latin typeface="Arial"/>
                <a:ea typeface="Arial"/>
                <a:cs typeface="Arial"/>
              </a:defRPr>
            </a:defPPr>
            <a:lvl1pPr>
              <a:defRPr sz="2250" b="1">
                <a:solidFill>
                  <a:srgbClr val="142633"/>
                </a:solidFill>
                <a:latin typeface="Arial"/>
                <a:ea typeface="Arial"/>
                <a:cs typeface="Arial"/>
              </a:defRPr>
            </a:lvl1pPr>
            <a:lvl2pPr>
              <a:defRPr sz="2250" b="1">
                <a:solidFill>
                  <a:srgbClr val="142633"/>
                </a:solidFill>
                <a:latin typeface="Arial"/>
                <a:ea typeface="Arial"/>
                <a:cs typeface="Arial"/>
              </a:defRPr>
            </a:lvl2pPr>
            <a:lvl3pPr>
              <a:defRPr sz="2250" b="1">
                <a:solidFill>
                  <a:srgbClr val="142633"/>
                </a:solidFill>
                <a:latin typeface="Arial"/>
                <a:ea typeface="Arial"/>
                <a:cs typeface="Arial"/>
              </a:defRPr>
            </a:lvl3pPr>
            <a:lvl4pPr>
              <a:defRPr sz="2250" b="1">
                <a:solidFill>
                  <a:srgbClr val="142633"/>
                </a:solidFill>
                <a:latin typeface="Arial"/>
                <a:ea typeface="Arial"/>
                <a:cs typeface="Arial"/>
              </a:defRPr>
            </a:lvl4pPr>
            <a:lvl5pPr>
              <a:defRPr sz="2250" b="1">
                <a:solidFill>
                  <a:srgbClr val="142633"/>
                </a:solidFill>
                <a:latin typeface="Arial"/>
                <a:ea typeface="Arial"/>
                <a:cs typeface="Arial"/>
              </a:defRPr>
            </a:lvl5pPr>
            <a:lvl6pPr>
              <a:defRPr sz="2250" b="1">
                <a:solidFill>
                  <a:srgbClr val="142633"/>
                </a:solidFill>
                <a:latin typeface="Arial"/>
                <a:ea typeface="Arial"/>
                <a:cs typeface="Arial"/>
              </a:defRPr>
            </a:lvl6pPr>
            <a:lvl7pPr>
              <a:defRPr sz="2250" b="1">
                <a:solidFill>
                  <a:srgbClr val="142633"/>
                </a:solidFill>
                <a:latin typeface="Arial"/>
                <a:ea typeface="Arial"/>
                <a:cs typeface="Arial"/>
              </a:defRPr>
            </a:lvl7pPr>
            <a:lvl8pPr>
              <a:defRPr sz="2250" b="1">
                <a:solidFill>
                  <a:srgbClr val="142633"/>
                </a:solidFill>
                <a:latin typeface="Arial"/>
                <a:ea typeface="Arial"/>
                <a:cs typeface="Arial"/>
              </a:defRPr>
            </a:lvl8pPr>
            <a:lvl9pPr>
              <a:defRPr sz="2250" b="1">
                <a:solidFill>
                  <a:srgbClr val="142633"/>
                </a:solidFill>
                <a:latin typeface="Arial"/>
                <a:ea typeface="Arial"/>
                <a:cs typeface="Arial"/>
              </a:defRPr>
            </a:lvl9pPr>
          </a:lstStyle>
          <a:p xmlns:a="http://schemas.openxmlformats.org/drawingml/2006/main">
            <a:pPr>
              <a:defRPr sz="2250" b="1">
                <a:solidFill>
                  <a:srgbClr val="142633"/>
                </a:solidFill>
                <a:latin typeface="Arial"/>
                <a:ea typeface="Arial"/>
                <a:cs typeface="Arial"/>
              </a:defRPr>
            </a:pPr>
            <a:r>
              <a:rPr sz="2250" b="1">
                <a:solidFill>
                  <a:srgbClr val="142633"/>
                </a:solidFill>
                <a:latin typeface="Arial"/>
                <a:ea typeface="Arial"/>
                <a:cs typeface="Arial"/>
              </a:rPr>
              <a:t>431 of 570 failures</a:t>
            </a:r>
          </a:p>
        </p:txBody>
      </p:sp>
      <p:sp>
        <p:nvSpPr>
          <p:cNvPr id="7" name="">
            <a:extLst xmlns:a="http://schemas.openxmlformats.org/drawingml/2006/main">
              <a:ext uri="{FF2B5EF4-FFF2-40B4-BE49-F238E27FC236}">
                <a16:creationId xmlns:a16="http://schemas.microsoft.com/office/drawing/2014/main" id="{0B897BD8-9778-4DC9-9A3A-DBCD768738F0}"/>
              </a:ext>
            </a:extLst>
          </p:cNvPr>
          <p:cNvSpPr>
            <a:spLocks xmlns:a="http://schemas.openxmlformats.org/drawingml/2006/main" noGrp="1"/>
          </p:cNvSpPr>
          <p:nvPr/>
        </p:nvSpPr>
        <p:spPr>
          <a:xfrm xmlns:a="http://schemas.openxmlformats.org/drawingml/2006/main">
            <a:off x="7905750" y="42386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have too few reliable samples in the selected bar or disc interval.</a:t>
            </a:r>
          </a:p>
        </p:txBody>
      </p:sp>
      <p:sp>
        <p:nvSpPr>
          <p:cNvPr id="8" name="">
            <a:extLst xmlns:a="http://schemas.openxmlformats.org/drawingml/2006/main">
              <a:ext uri="{FF2B5EF4-FFF2-40B4-BE49-F238E27FC236}">
                <a16:creationId xmlns:a16="http://schemas.microsoft.com/office/drawing/2014/main" id="{111DE246-38FD-4CBD-ADA2-04C505C0FE5D}"/>
              </a:ext>
            </a:extLst>
          </p:cNvPr>
          <p:cNvSpPr>
            <a:spLocks xmlns:a="http://schemas.openxmlformats.org/drawingml/2006/main" noGrp="1"/>
          </p:cNvSpPr>
          <p:nvPr/>
        </p:nvSpPr>
        <p:spPr>
          <a:xfrm xmlns:a="http://schemas.openxmlformats.org/drawingml/2006/main">
            <a:off x="609600" y="58293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62 requested cutouts have partial coverage, which also triggers the QI label.</a:t>
            </a:r>
          </a:p>
        </p:txBody>
      </p:sp>
    </p:spTree>
    <p:extLst>
      <p:ext uri="{BB962C8B-B14F-4D97-AF65-F5344CB8AC3E}">
        <p14:creationId xmlns:p14="http://schemas.microsoft.com/office/powerpoint/2010/main" val="18519729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473455-F893-4F0D-B9E9-1EC37508DC0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BD55A263-FFF2-49C0-BB7F-9EF567CDFB8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51AC0C12-FCDF-43EF-9CC4-0FA58F340DA4}"/>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The WCS step already changes the reference axis. The extra +90° is a separate correction.</a:t>
            </a:r>
          </a:p>
        </p:txBody>
      </p:sp>
      <p:graphicFrame>
        <p:nvGraphicFramePr>
          <p:cNvPr id="4" name="">
            <a:extLst xmlns:a="http://schemas.openxmlformats.org/drawingml/2006/main">
              <a:ext uri="{FF2B5EF4-FFF2-40B4-BE49-F238E27FC236}">
                <a16:creationId xmlns:a16="http://schemas.microsoft.com/office/drawing/2014/main" id="{8FA189B5-E943-46FF-ABAC-0BF0E95E6135}"/>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C582738-8AA8-48C9-9C66-52EC7C769CE2}"/>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D77A994D-EE18-4969-B964-611DA158B9A0}"/>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10746791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57CEBC-7C0D-4B44-9A1D-0CC398C7C75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DF599300-8FED-46A1-81D6-EB50FAA13787}"/>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170470CB-B2C5-465C-B521-B795E1D33A71}"/>
              </a:ext>
            </a:extLst>
          </p:cNvPr>
          <p:cNvPicPr>
            <a:picLocks xmlns:a="http://schemas.openxmlformats.org/drawingml/2006/main" noChangeAspect="1"/>
          </p:cNvPicPr>
          <p:nvPr/>
        </p:nvPicPr>
        <p:blipFill>
          <a:blip xmlns:r="http://schemas.openxmlformats.org/officeDocument/2006/relationships" xmlns:a="http://schemas.openxmlformats.org/drawingml/2006/main" r:embed="R18e0e37347634944"/>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25EC445-5A6D-4ED0-8829-D856A562F93F}"/>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5354A141-EE98-4C1D-8A59-E931CF3C0F5A}"/>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9CACCBBF-09AB-4882-AEF7-530FA99FB6BA}"/>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0012D3AF-1A55-434C-BCB5-02B1D4330F42}"/>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17FDAE99-63DC-41CB-B85C-53292C8AA01B}"/>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7427496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FD9FCE-872B-43B6-9F3E-E08AF622A6C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FA3B3F7C-901F-42B8-A62A-167865E32DC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4D6F6137-9E0F-4002-AE7D-9121D319A47C}"/>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3EACCE5-9D32-4B11-B157-17B929335F49}"/>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9CCD54C3-D7C5-4CBE-9FB5-D6D4E20A9006}"/>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D6091CD4-5F45-43C2-A648-E18DA12D9C89}"/>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5590475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2026-10-20T10:56:59.0420000Z</dcterms:created>
  <dcterms:modified xsi:type="dcterms:W3CDTF">2026-10-20T10:56:59.0420000Z</dcterms:modified>
</coreProperties>
</file>