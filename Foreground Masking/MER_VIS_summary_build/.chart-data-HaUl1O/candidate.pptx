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4091ba9411404e" /><Relationship Type="http://schemas.openxmlformats.org/officeDocument/2006/relationships/extended-properties" Target="/docProps/app.xml" Id="Rbe3e75550f7948f7" /><Relationship Type="http://schemas.openxmlformats.org/officeDocument/2006/relationships/officeDocument" Target="/ppt/presentation.xml" Id="Re304b151dac949a8" /></Relationships>
</file>

<file path=ppt/presentation.xml><?xml version="1.0" encoding="utf-8"?>
<p:presentation xmlns:p="http://schemas.openxmlformats.org/presentationml/2006/main">
  <p:sldMasterIdLst>
    <p:sldMasterId xmlns:r="http://schemas.openxmlformats.org/officeDocument/2006/relationships" id="2147483648" r:id="Re390db2a4fd2423f"/>
  </p:sldMasterIdLst>
  <p:notesMasterIdLst>
    <p:notesMasterId xmlns:r="http://schemas.openxmlformats.org/officeDocument/2006/relationships" r:id="Rf587924781134ffe"/>
  </p:notesMasterIdLst>
  <p:sldIdLst>
    <p:sldId xmlns:r="http://schemas.openxmlformats.org/officeDocument/2006/relationships" id="256" r:id="R304199d764a64a48"/>
    <p:sldId xmlns:r="http://schemas.openxmlformats.org/officeDocument/2006/relationships" id="257" r:id="R5394351aafcd4ee8"/>
    <p:sldId xmlns:r="http://schemas.openxmlformats.org/officeDocument/2006/relationships" id="258" r:id="R0837d97c40704761"/>
    <p:sldId xmlns:r="http://schemas.openxmlformats.org/officeDocument/2006/relationships" id="259" r:id="R29499bab1c594365"/>
    <p:sldId xmlns:r="http://schemas.openxmlformats.org/officeDocument/2006/relationships" id="260" r:id="Rabd7acdeabdc4a22"/>
    <p:sldId xmlns:r="http://schemas.openxmlformats.org/officeDocument/2006/relationships" id="261" r:id="Rb969b94cf2c64e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b93d205f9a4738" /><Relationship Type="http://schemas.openxmlformats.org/officeDocument/2006/relationships/slideMaster" Target="/ppt/slideMasters/slideMaster1.xml" Id="Re390db2a4fd2423f" /><Relationship Type="http://schemas.openxmlformats.org/officeDocument/2006/relationships/notesMaster" Target="/ppt/notesMasters/notesMaster1.xml" Id="Rf587924781134ffe" /><Relationship Type="http://schemas.openxmlformats.org/officeDocument/2006/relationships/presProps" Target="/ppt/presProps.xml" Id="R2f714d9f1b024324" /><Relationship Type="http://schemas.openxmlformats.org/officeDocument/2006/relationships/tableStyles" Target="/ppt/tableStyles.xml" Id="Rc3745820f8f14f82" /><Relationship Type="http://schemas.openxmlformats.org/officeDocument/2006/relationships/slide" Target="/ppt/slides/slide1.xml" Id="R304199d764a64a48" /><Relationship Type="http://schemas.openxmlformats.org/officeDocument/2006/relationships/slide" Target="/ppt/slides/slide2.xml" Id="R5394351aafcd4ee8" /><Relationship Type="http://schemas.openxmlformats.org/officeDocument/2006/relationships/slide" Target="/ppt/slides/slide3.xml" Id="R0837d97c40704761" /><Relationship Type="http://schemas.openxmlformats.org/officeDocument/2006/relationships/slide" Target="/ppt/slides/slide4.xml" Id="R29499bab1c594365" /><Relationship Type="http://schemas.openxmlformats.org/officeDocument/2006/relationships/slide" Target="/ppt/slides/slide5.xml" Id="Rabd7acdeabdc4a22" /><Relationship Type="http://schemas.openxmlformats.org/officeDocument/2006/relationships/slide" Target="/ppt/slides/slide6.xml" Id="Rb969b94cf2c64e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ad7c799ba445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82945a44294e5d" /><Relationship Type="http://schemas.openxmlformats.org/officeDocument/2006/relationships/notesMaster" Target="/ppt/notesMasters/notesMaster1.xml" Id="R4b102170a9184f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26d2be15dc484d" /><Relationship Type="http://schemas.openxmlformats.org/officeDocument/2006/relationships/notesMaster" Target="/ppt/notesMasters/notesMaster1.xml" Id="R3cf9a69acc924e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58474b97ee4879" /><Relationship Type="http://schemas.openxmlformats.org/officeDocument/2006/relationships/notesMaster" Target="/ppt/notesMasters/notesMaster1.xml" Id="R20667729bac343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f0a8970264103" /><Relationship Type="http://schemas.openxmlformats.org/officeDocument/2006/relationships/notesMaster" Target="/ppt/notesMasters/notesMaster1.xml" Id="Rb1b1279d191741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ee8fe67a0046c9" /><Relationship Type="http://schemas.openxmlformats.org/officeDocument/2006/relationships/notesMaster" Target="/ppt/notesMasters/notesMaster1.xml" Id="R5d216b40deca45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3117619b3c4461" /><Relationship Type="http://schemas.openxmlformats.org/officeDocument/2006/relationships/notesMaster" Target="/ppt/notesMasters/notesMaster1.xml" Id="R7d5d93c1736147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The +90-degree adjustment is the adopted project rule for the current Q1 sample.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68910232e547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4087e5969948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d4f6a09a2040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f4292eb1dd4a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d019fb965347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b092cdc95049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EA06B3-C857-4313-BA09-20FCA35C42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FCA9E0-380E-4317-9FFD-6E082D6FB2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46894A-1C20-42C7-AD22-F37CF229A9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599D1E-4C20-41B8-936F-5E3F6D831D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A3A9EA-4DAA-4289-949E-BFB36FA62C9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95CF94-F621-4784-AC05-A64D6F32C4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0D2B94-5D6F-416E-9C22-5545ABBF41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E2B29B7-8011-483B-8127-2BFA73C799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1B3533-7319-44C0-8644-E8AC363CCE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A162EE-39FD-4F9B-8E61-85B481C92D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fcb726b3e54fe4" /><Relationship Type="http://schemas.openxmlformats.org/officeDocument/2006/relationships/slideLayout" Target="/ppt/slideLayouts/slideLayout1.xml" Id="R8e9795c03eea4a9a" /><Relationship Type="http://schemas.openxmlformats.org/officeDocument/2006/relationships/slideLayout" Target="/ppt/slideLayouts/slideLayout2.xml" Id="Rbea3deea9d214c15" /><Relationship Type="http://schemas.openxmlformats.org/officeDocument/2006/relationships/slideLayout" Target="/ppt/slideLayouts/slideLayout3.xml" Id="R96be361575de4ff0" /><Relationship Type="http://schemas.openxmlformats.org/officeDocument/2006/relationships/slideLayout" Target="/ppt/slideLayouts/slideLayout4.xml" Id="Rd6dff959df7c45af" /><Relationship Type="http://schemas.openxmlformats.org/officeDocument/2006/relationships/slideLayout" Target="/ppt/slideLayouts/slideLayout5.xml" Id="R51f0d966ae5146ce" /><Relationship Type="http://schemas.openxmlformats.org/officeDocument/2006/relationships/slideLayout" Target="/ppt/slideLayouts/slideLayout6.xml" Id="R4057575daacd45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9795c03eea4a9a"/>
    <p:sldLayoutId xmlns:r="http://schemas.openxmlformats.org/officeDocument/2006/relationships" id="2147483650" r:id="Rbea3deea9d214c15"/>
    <p:sldLayoutId xmlns:r="http://schemas.openxmlformats.org/officeDocument/2006/relationships" id="2147483651" r:id="R96be361575de4ff0"/>
    <p:sldLayoutId xmlns:r="http://schemas.openxmlformats.org/officeDocument/2006/relationships" id="2147483652" r:id="Rd6dff959df7c45af"/>
    <p:sldLayoutId xmlns:r="http://schemas.openxmlformats.org/officeDocument/2006/relationships" id="2147483653" r:id="R51f0d966ae5146ce"/>
    <p:sldLayoutId xmlns:r="http://schemas.openxmlformats.org/officeDocument/2006/relationships" id="2147483654" r:id="R4057575daacd45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fdb462d4b24335" /><Relationship Type="http://schemas.openxmlformats.org/officeDocument/2006/relationships/notesSlide" Target="/ppt/notesSlides/notesSlide1.xml" Id="Rd00a1699fe004d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73972600174b3e" /><Relationship Type="http://schemas.openxmlformats.org/officeDocument/2006/relationships/chart" Target="/ppt/slides/charts/chart1.xml" Id="R003d70f82d4640fe" /><Relationship Type="http://schemas.openxmlformats.org/officeDocument/2006/relationships/notesSlide" Target="/ppt/notesSlides/notesSlide2.xml" Id="Red6cd2ebdf574a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754344223f4467" /><Relationship Type="http://schemas.openxmlformats.org/officeDocument/2006/relationships/notesSlide" Target="/ppt/notesSlides/notesSlide3.xml" Id="R504a92a48f0d44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513c52c4104eab" /><Relationship Type="http://schemas.openxmlformats.org/officeDocument/2006/relationships/notesSlide" Target="/ppt/notesSlides/notesSlide4.xml" Id="R32161a8ffbd146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935d6182ef49e4" /><Relationship Type="http://schemas.openxmlformats.org/officeDocument/2006/relationships/image" Target="/ppt/media/image.png" Id="R3f3200377c9e4358" /><Relationship Type="http://schemas.openxmlformats.org/officeDocument/2006/relationships/notesSlide" Target="/ppt/notesSlides/notesSlide5.xml" Id="Rfd249bf08b9d47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2066fe897c467a" /><Relationship Type="http://schemas.openxmlformats.org/officeDocument/2006/relationships/notesSlide" Target="/ppt/notesSlides/notesSlide6.xml" Id="R617a45536f1f462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1284A4-47AA-44B5-A305-D6191E9D23B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defRPr>
            </a:defPPr>
            <a:lvl1pPr>
              <a:defRPr sz="3300" b="1">
                <a:solidFill>
                  <a:srgbClr val="142633"/>
                </a:solidFill>
              </a:defRPr>
            </a:lvl1pPr>
            <a:lvl2pPr>
              <a:defRPr sz="3300" b="1">
                <a:solidFill>
                  <a:srgbClr val="142633"/>
                </a:solidFill>
              </a:defRPr>
            </a:lvl2pPr>
            <a:lvl3pPr>
              <a:defRPr sz="3300" b="1">
                <a:solidFill>
                  <a:srgbClr val="142633"/>
                </a:solidFill>
              </a:defRPr>
            </a:lvl3pPr>
            <a:lvl4pPr>
              <a:defRPr sz="3300" b="1">
                <a:solidFill>
                  <a:srgbClr val="142633"/>
                </a:solidFill>
              </a:defRPr>
            </a:lvl4pPr>
            <a:lvl5pPr>
              <a:defRPr sz="3300" b="1">
                <a:solidFill>
                  <a:srgbClr val="142633"/>
                </a:solidFill>
              </a:defRPr>
            </a:lvl5pPr>
            <a:lvl6pPr>
              <a:defRPr sz="3300" b="1">
                <a:solidFill>
                  <a:srgbClr val="142633"/>
                </a:solidFill>
              </a:defRPr>
            </a:lvl6pPr>
            <a:lvl7pPr>
              <a:defRPr sz="3300" b="1">
                <a:solidFill>
                  <a:srgbClr val="142633"/>
                </a:solidFill>
              </a:defRPr>
            </a:lvl7pPr>
            <a:lvl8pPr>
              <a:defRPr sz="3300" b="1">
                <a:solidFill>
                  <a:srgbClr val="142633"/>
                </a:solidFill>
              </a:defRPr>
            </a:lvl8pPr>
            <a:lvl9pPr>
              <a:defRPr sz="3300" b="1">
                <a:solidFill>
                  <a:srgbClr val="142633"/>
                </a:solidFill>
              </a:defRPr>
            </a:lvl9pPr>
          </a:lstStyle>
          <a:p xmlns:a="http://schemas.openxmlformats.org/drawingml/2006/main">
            <a:pPr>
              <a:defRPr sz="3300" b="1">
                <a:solidFill>
                  <a:srgbClr val="142633"/>
                </a:solidFill>
              </a:defRPr>
            </a:pPr>
            <a:r>
              <a:rPr sz="3300" b="1">
                <a:solidFill>
                  <a:srgbClr val="142633"/>
                </a:solidFill>
              </a:rPr>
              <a:t>Euclid MER VIS geometry outcomes</a:t>
            </a:r>
          </a:p>
        </p:txBody>
      </p:sp>
      <p:sp>
        <p:nvSpPr>
          <p:cNvPr id="2" name="">
            <a:extLst xmlns:a="http://schemas.openxmlformats.org/drawingml/2006/main">
              <a:ext uri="{FF2B5EF4-FFF2-40B4-BE49-F238E27FC236}">
                <a16:creationId xmlns:a16="http://schemas.microsoft.com/office/drawing/2014/main" id="{80B03716-B7CB-4F7B-B939-C5197833F2A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defRPr>
            </a:defPPr>
            <a:lvl1pPr>
              <a:defRPr sz="1200" b="0">
                <a:solidFill>
                  <a:srgbClr val="526673"/>
                </a:solidFill>
              </a:defRPr>
            </a:lvl1pPr>
            <a:lvl2pPr>
              <a:defRPr sz="1200" b="0">
                <a:solidFill>
                  <a:srgbClr val="526673"/>
                </a:solidFill>
              </a:defRPr>
            </a:lvl2pPr>
            <a:lvl3pPr>
              <a:defRPr sz="1200" b="0">
                <a:solidFill>
                  <a:srgbClr val="526673"/>
                </a:solidFill>
              </a:defRPr>
            </a:lvl3pPr>
            <a:lvl4pPr>
              <a:defRPr sz="1200" b="0">
                <a:solidFill>
                  <a:srgbClr val="526673"/>
                </a:solidFill>
              </a:defRPr>
            </a:lvl4pPr>
            <a:lvl5pPr>
              <a:defRPr sz="1200" b="0">
                <a:solidFill>
                  <a:srgbClr val="526673"/>
                </a:solidFill>
              </a:defRPr>
            </a:lvl5pPr>
            <a:lvl6pPr>
              <a:defRPr sz="1200" b="0">
                <a:solidFill>
                  <a:srgbClr val="526673"/>
                </a:solidFill>
              </a:defRPr>
            </a:lvl6pPr>
            <a:lvl7pPr>
              <a:defRPr sz="1200" b="0">
                <a:solidFill>
                  <a:srgbClr val="526673"/>
                </a:solidFill>
              </a:defRPr>
            </a:lvl7pPr>
            <a:lvl8pPr>
              <a:defRPr sz="1200" b="0">
                <a:solidFill>
                  <a:srgbClr val="526673"/>
                </a:solidFill>
              </a:defRPr>
            </a:lvl8pPr>
            <a:lvl9pPr>
              <a:defRPr sz="1200" b="0">
                <a:solidFill>
                  <a:srgbClr val="526673"/>
                </a:solidFill>
              </a:defRPr>
            </a:lvl9pPr>
          </a:lstStyle>
          <a:p xmlns:a="http://schemas.openxmlformats.org/drawingml/2006/main">
            <a:pPr>
              <a:defRPr sz="1200" b="0">
                <a:solidFill>
                  <a:srgbClr val="526673"/>
                </a:solidFill>
              </a:defRPr>
            </a:pPr>
            <a:r>
              <a:rPr sz="1200" b="0">
                <a:solidFill>
                  <a:srgbClr val="526673"/>
                </a:solidFill>
              </a:rPr>
              <a:t>1 / 6</a:t>
            </a:r>
          </a:p>
        </p:txBody>
      </p:sp>
      <p:sp>
        <p:nvSpPr>
          <p:cNvPr id="3" name="">
            <a:extLst xmlns:a="http://schemas.openxmlformats.org/drawingml/2006/main">
              <a:ext uri="{FF2B5EF4-FFF2-40B4-BE49-F238E27FC236}">
                <a16:creationId xmlns:a16="http://schemas.microsoft.com/office/drawing/2014/main" id="{63DC6613-0308-4701-AAE9-D73BB1DFABFA}"/>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defRPr>
            </a:defPPr>
            <a:lvl1pPr>
              <a:defRPr sz="4500" b="1">
                <a:solidFill>
                  <a:srgbClr val="205F7A"/>
                </a:solidFill>
              </a:defRPr>
            </a:lvl1pPr>
            <a:lvl2pPr>
              <a:defRPr sz="4500" b="1">
                <a:solidFill>
                  <a:srgbClr val="205F7A"/>
                </a:solidFill>
              </a:defRPr>
            </a:lvl2pPr>
            <a:lvl3pPr>
              <a:defRPr sz="4500" b="1">
                <a:solidFill>
                  <a:srgbClr val="205F7A"/>
                </a:solidFill>
              </a:defRPr>
            </a:lvl3pPr>
            <a:lvl4pPr>
              <a:defRPr sz="4500" b="1">
                <a:solidFill>
                  <a:srgbClr val="205F7A"/>
                </a:solidFill>
              </a:defRPr>
            </a:lvl4pPr>
            <a:lvl5pPr>
              <a:defRPr sz="4500" b="1">
                <a:solidFill>
                  <a:srgbClr val="205F7A"/>
                </a:solidFill>
              </a:defRPr>
            </a:lvl5pPr>
            <a:lvl6pPr>
              <a:defRPr sz="4500" b="1">
                <a:solidFill>
                  <a:srgbClr val="205F7A"/>
                </a:solidFill>
              </a:defRPr>
            </a:lvl6pPr>
            <a:lvl7pPr>
              <a:defRPr sz="4500" b="1">
                <a:solidFill>
                  <a:srgbClr val="205F7A"/>
                </a:solidFill>
              </a:defRPr>
            </a:lvl7pPr>
            <a:lvl8pPr>
              <a:defRPr sz="4500" b="1">
                <a:solidFill>
                  <a:srgbClr val="205F7A"/>
                </a:solidFill>
              </a:defRPr>
            </a:lvl8pPr>
            <a:lvl9pPr>
              <a:defRPr sz="4500" b="1">
                <a:solidFill>
                  <a:srgbClr val="205F7A"/>
                </a:solidFill>
              </a:defRPr>
            </a:lvl9pPr>
          </a:lstStyle>
          <a:p xmlns:a="http://schemas.openxmlformats.org/drawingml/2006/main">
            <a:pPr>
              <a:defRPr sz="4500" b="1">
                <a:solidFill>
                  <a:srgbClr val="205F7A"/>
                </a:solidFill>
              </a:defRPr>
            </a:pPr>
            <a:r>
              <a:rPr sz="4500" b="1">
                <a:solidFill>
                  <a:srgbClr val="205F7A"/>
                </a:solidFill>
              </a:rPr>
              <a:t>2,777 galaxy cutouts</a:t>
            </a:r>
          </a:p>
        </p:txBody>
      </p:sp>
      <p:sp>
        <p:nvSpPr>
          <p:cNvPr id="4" name="">
            <a:extLst xmlns:a="http://schemas.openxmlformats.org/drawingml/2006/main">
              <a:ext uri="{FF2B5EF4-FFF2-40B4-BE49-F238E27FC236}">
                <a16:creationId xmlns:a16="http://schemas.microsoft.com/office/drawing/2014/main" id="{451E07FE-6A62-4FDE-A0E0-CF79294FB4BD}"/>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defRPr>
            </a:defPPr>
            <a:lvl1pPr>
              <a:defRPr sz="2400" b="0">
                <a:solidFill>
                  <a:srgbClr val="142633"/>
                </a:solidFill>
              </a:defRPr>
            </a:lvl1pPr>
            <a:lvl2pPr>
              <a:defRPr sz="2400" b="0">
                <a:solidFill>
                  <a:srgbClr val="142633"/>
                </a:solidFill>
              </a:defRPr>
            </a:lvl2pPr>
            <a:lvl3pPr>
              <a:defRPr sz="2400" b="0">
                <a:solidFill>
                  <a:srgbClr val="142633"/>
                </a:solidFill>
              </a:defRPr>
            </a:lvl3pPr>
            <a:lvl4pPr>
              <a:defRPr sz="2400" b="0">
                <a:solidFill>
                  <a:srgbClr val="142633"/>
                </a:solidFill>
              </a:defRPr>
            </a:lvl4pPr>
            <a:lvl5pPr>
              <a:defRPr sz="2400" b="0">
                <a:solidFill>
                  <a:srgbClr val="142633"/>
                </a:solidFill>
              </a:defRPr>
            </a:lvl5pPr>
            <a:lvl6pPr>
              <a:defRPr sz="2400" b="0">
                <a:solidFill>
                  <a:srgbClr val="142633"/>
                </a:solidFill>
              </a:defRPr>
            </a:lvl6pPr>
            <a:lvl7pPr>
              <a:defRPr sz="2400" b="0">
                <a:solidFill>
                  <a:srgbClr val="142633"/>
                </a:solidFill>
              </a:defRPr>
            </a:lvl7pPr>
            <a:lvl8pPr>
              <a:defRPr sz="2400" b="0">
                <a:solidFill>
                  <a:srgbClr val="142633"/>
                </a:solidFill>
              </a:defRPr>
            </a:lvl8pPr>
            <a:lvl9pPr>
              <a:defRPr sz="2400" b="0">
                <a:solidFill>
                  <a:srgbClr val="142633"/>
                </a:solidFill>
              </a:defRPr>
            </a:lvl9pPr>
          </a:lstStyle>
          <a:p xmlns:a="http://schemas.openxmlformats.org/drawingml/2006/main">
            <a:pPr>
              <a:defRPr sz="2400" b="0">
                <a:solidFill>
                  <a:srgbClr val="142633"/>
                </a:solidFill>
              </a:defRPr>
            </a:pPr>
            <a:r>
              <a:rPr sz="2400" b="0">
                <a:solidFill>
                  <a:srgbClr val="142633"/>
                </a:solidFill>
              </a:rPr>
              <a:t>Completed fitting and grouped review reports</a:t>
            </a:r>
          </a:p>
        </p:txBody>
      </p:sp>
      <p:sp>
        <p:nvSpPr>
          <p:cNvPr id="5" name="">
            <a:extLst xmlns:a="http://schemas.openxmlformats.org/drawingml/2006/main">
              <a:ext uri="{FF2B5EF4-FFF2-40B4-BE49-F238E27FC236}">
                <a16:creationId xmlns:a16="http://schemas.microsoft.com/office/drawing/2014/main" id="{29104622-7053-46B2-BB43-7A36E576116D}"/>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defRPr>
            </a:defPPr>
            <a:lvl1pPr>
              <a:defRPr sz="2250" b="0">
                <a:solidFill>
                  <a:srgbClr val="142633"/>
                </a:solidFill>
              </a:defRPr>
            </a:lvl1pPr>
            <a:lvl2pPr>
              <a:defRPr sz="2250" b="0">
                <a:solidFill>
                  <a:srgbClr val="142633"/>
                </a:solidFill>
              </a:defRPr>
            </a:lvl2pPr>
            <a:lvl3pPr>
              <a:defRPr sz="2250" b="0">
                <a:solidFill>
                  <a:srgbClr val="142633"/>
                </a:solidFill>
              </a:defRPr>
            </a:lvl3pPr>
            <a:lvl4pPr>
              <a:defRPr sz="2250" b="0">
                <a:solidFill>
                  <a:srgbClr val="142633"/>
                </a:solidFill>
              </a:defRPr>
            </a:lvl4pPr>
            <a:lvl5pPr>
              <a:defRPr sz="2250" b="0">
                <a:solidFill>
                  <a:srgbClr val="142633"/>
                </a:solidFill>
              </a:defRPr>
            </a:lvl5pPr>
            <a:lvl6pPr>
              <a:defRPr sz="2250" b="0">
                <a:solidFill>
                  <a:srgbClr val="142633"/>
                </a:solidFill>
              </a:defRPr>
            </a:lvl6pPr>
            <a:lvl7pPr>
              <a:defRPr sz="2250" b="0">
                <a:solidFill>
                  <a:srgbClr val="142633"/>
                </a:solidFill>
              </a:defRPr>
            </a:lvl7pPr>
            <a:lvl8pPr>
              <a:defRPr sz="2250" b="0">
                <a:solidFill>
                  <a:srgbClr val="142633"/>
                </a:solidFill>
              </a:defRPr>
            </a:lvl8pPr>
            <a:lvl9pPr>
              <a:defRPr sz="2250" b="0">
                <a:solidFill>
                  <a:srgbClr val="142633"/>
                </a:solidFill>
              </a:defRPr>
            </a:lvl9pPr>
          </a:lstStyle>
          <a:p xmlns:a="http://schemas.openxmlformats.org/drawingml/2006/main">
            <a:pPr>
              <a:defRPr sz="2250" b="0">
                <a:solidFill>
                  <a:srgbClr val="142633"/>
                </a:solidFill>
              </a:defRPr>
            </a:pPr>
            <a:r>
              <a:rPr sz="2250" b="0">
                <a:solidFill>
                  <a:srgbClr val="142633"/>
                </a:solidFill>
              </a:rPr>
              <a:t>2,250 reports carry a quality issue label</a:t>
            </a:r>
          </a:p>
          <a:p xmlns:a="http://schemas.openxmlformats.org/drawingml/2006/main">
            <a:pPr>
              <a:defRPr sz="2250" b="0">
                <a:solidFill>
                  <a:srgbClr val="142633"/>
                </a:solidFill>
              </a:defRPr>
            </a:pPr>
            <a:r>
              <a:rPr sz="2250" b="0">
                <a:solidFill>
                  <a:srgbClr val="142633"/>
                </a:solidFill>
              </a:rPr>
              <a:t>527 reports have no detected issue</a:t>
            </a:r>
          </a:p>
        </p:txBody>
      </p:sp>
      <p:sp>
        <p:nvSpPr>
          <p:cNvPr id="6" name="">
            <a:extLst xmlns:a="http://schemas.openxmlformats.org/drawingml/2006/main">
              <a:ext uri="{FF2B5EF4-FFF2-40B4-BE49-F238E27FC236}">
                <a16:creationId xmlns:a16="http://schemas.microsoft.com/office/drawing/2014/main" id="{D8D324EC-3259-4D6C-B987-512BC84D8FBD}"/>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defRPr>
            </a:defPPr>
            <a:lvl1pPr>
              <a:defRPr sz="1650" b="0">
                <a:solidFill>
                  <a:srgbClr val="526673"/>
                </a:solidFill>
              </a:defRPr>
            </a:lvl1pPr>
            <a:lvl2pPr>
              <a:defRPr sz="1650" b="0">
                <a:solidFill>
                  <a:srgbClr val="526673"/>
                </a:solidFill>
              </a:defRPr>
            </a:lvl2pPr>
            <a:lvl3pPr>
              <a:defRPr sz="1650" b="0">
                <a:solidFill>
                  <a:srgbClr val="526673"/>
                </a:solidFill>
              </a:defRPr>
            </a:lvl3pPr>
            <a:lvl4pPr>
              <a:defRPr sz="1650" b="0">
                <a:solidFill>
                  <a:srgbClr val="526673"/>
                </a:solidFill>
              </a:defRPr>
            </a:lvl4pPr>
            <a:lvl5pPr>
              <a:defRPr sz="1650" b="0">
                <a:solidFill>
                  <a:srgbClr val="526673"/>
                </a:solidFill>
              </a:defRPr>
            </a:lvl5pPr>
            <a:lvl6pPr>
              <a:defRPr sz="1650" b="0">
                <a:solidFill>
                  <a:srgbClr val="526673"/>
                </a:solidFill>
              </a:defRPr>
            </a:lvl6pPr>
            <a:lvl7pPr>
              <a:defRPr sz="1650" b="0">
                <a:solidFill>
                  <a:srgbClr val="526673"/>
                </a:solidFill>
              </a:defRPr>
            </a:lvl7pPr>
            <a:lvl8pPr>
              <a:defRPr sz="1650" b="0">
                <a:solidFill>
                  <a:srgbClr val="526673"/>
                </a:solidFill>
              </a:defRPr>
            </a:lvl8pPr>
            <a:lvl9pPr>
              <a:defRPr sz="1650" b="0">
                <a:solidFill>
                  <a:srgbClr val="526673"/>
                </a:solidFill>
              </a:defRPr>
            </a:lvl9pPr>
          </a:lstStyle>
          <a:p xmlns:a="http://schemas.openxmlformats.org/drawingml/2006/main">
            <a:pPr>
              <a:defRPr sz="1650" b="0">
                <a:solidFill>
                  <a:srgbClr val="526673"/>
                </a:solidFill>
              </a:defRPr>
            </a:pPr>
            <a:r>
              <a:rPr sz="1650" b="0">
                <a:solidFill>
                  <a:srgbClr val="526673"/>
                </a:solidFill>
              </a:rPr>
              <a:t>19 October 2026</a:t>
            </a:r>
          </a:p>
        </p:txBody>
      </p:sp>
    </p:spTree>
    <p:extLst>
      <p:ext uri="{BB962C8B-B14F-4D97-AF65-F5344CB8AC3E}">
        <p14:creationId xmlns:p14="http://schemas.microsoft.com/office/powerpoint/2010/main" val="1426355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2FBCD1-32C0-4B20-9BFE-EEF1B331110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defRPr>
            </a:defPPr>
            <a:lvl1pPr>
              <a:defRPr sz="3300" b="1">
                <a:solidFill>
                  <a:srgbClr val="142633"/>
                </a:solidFill>
              </a:defRPr>
            </a:lvl1pPr>
            <a:lvl2pPr>
              <a:defRPr sz="3300" b="1">
                <a:solidFill>
                  <a:srgbClr val="142633"/>
                </a:solidFill>
              </a:defRPr>
            </a:lvl2pPr>
            <a:lvl3pPr>
              <a:defRPr sz="3300" b="1">
                <a:solidFill>
                  <a:srgbClr val="142633"/>
                </a:solidFill>
              </a:defRPr>
            </a:lvl3pPr>
            <a:lvl4pPr>
              <a:defRPr sz="3300" b="1">
                <a:solidFill>
                  <a:srgbClr val="142633"/>
                </a:solidFill>
              </a:defRPr>
            </a:lvl4pPr>
            <a:lvl5pPr>
              <a:defRPr sz="3300" b="1">
                <a:solidFill>
                  <a:srgbClr val="142633"/>
                </a:solidFill>
              </a:defRPr>
            </a:lvl5pPr>
            <a:lvl6pPr>
              <a:defRPr sz="3300" b="1">
                <a:solidFill>
                  <a:srgbClr val="142633"/>
                </a:solidFill>
              </a:defRPr>
            </a:lvl6pPr>
            <a:lvl7pPr>
              <a:defRPr sz="3300" b="1">
                <a:solidFill>
                  <a:srgbClr val="142633"/>
                </a:solidFill>
              </a:defRPr>
            </a:lvl7pPr>
            <a:lvl8pPr>
              <a:defRPr sz="3300" b="1">
                <a:solidFill>
                  <a:srgbClr val="142633"/>
                </a:solidFill>
              </a:defRPr>
            </a:lvl8pPr>
            <a:lvl9pPr>
              <a:defRPr sz="3300" b="1">
                <a:solidFill>
                  <a:srgbClr val="142633"/>
                </a:solidFill>
              </a:defRPr>
            </a:lvl9pPr>
          </a:lstStyle>
          <a:p xmlns:a="http://schemas.openxmlformats.org/drawingml/2006/main">
            <a:pPr>
              <a:defRPr sz="3300" b="1">
                <a:solidFill>
                  <a:srgbClr val="142633"/>
                </a:solidFill>
              </a:defRPr>
            </a:pPr>
            <a:r>
              <a:rPr sz="3300" b="1">
                <a:solidFill>
                  <a:srgbClr val="142633"/>
                </a:solidFill>
              </a:rPr>
              <a:t>Fitting outcomes</a:t>
            </a:r>
          </a:p>
        </p:txBody>
      </p:sp>
      <p:sp>
        <p:nvSpPr>
          <p:cNvPr id="2" name="">
            <a:extLst xmlns:a="http://schemas.openxmlformats.org/drawingml/2006/main">
              <a:ext uri="{FF2B5EF4-FFF2-40B4-BE49-F238E27FC236}">
                <a16:creationId xmlns:a16="http://schemas.microsoft.com/office/drawing/2014/main" id="{A7C19D80-467B-4F63-B88E-A197F97C7BD1}"/>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defRPr>
            </a:defPPr>
            <a:lvl1pPr>
              <a:defRPr sz="1200" b="0">
                <a:solidFill>
                  <a:srgbClr val="526673"/>
                </a:solidFill>
              </a:defRPr>
            </a:lvl1pPr>
            <a:lvl2pPr>
              <a:defRPr sz="1200" b="0">
                <a:solidFill>
                  <a:srgbClr val="526673"/>
                </a:solidFill>
              </a:defRPr>
            </a:lvl2pPr>
            <a:lvl3pPr>
              <a:defRPr sz="1200" b="0">
                <a:solidFill>
                  <a:srgbClr val="526673"/>
                </a:solidFill>
              </a:defRPr>
            </a:lvl3pPr>
            <a:lvl4pPr>
              <a:defRPr sz="1200" b="0">
                <a:solidFill>
                  <a:srgbClr val="526673"/>
                </a:solidFill>
              </a:defRPr>
            </a:lvl4pPr>
            <a:lvl5pPr>
              <a:defRPr sz="1200" b="0">
                <a:solidFill>
                  <a:srgbClr val="526673"/>
                </a:solidFill>
              </a:defRPr>
            </a:lvl5pPr>
            <a:lvl6pPr>
              <a:defRPr sz="1200" b="0">
                <a:solidFill>
                  <a:srgbClr val="526673"/>
                </a:solidFill>
              </a:defRPr>
            </a:lvl6pPr>
            <a:lvl7pPr>
              <a:defRPr sz="1200" b="0">
                <a:solidFill>
                  <a:srgbClr val="526673"/>
                </a:solidFill>
              </a:defRPr>
            </a:lvl7pPr>
            <a:lvl8pPr>
              <a:defRPr sz="1200" b="0">
                <a:solidFill>
                  <a:srgbClr val="526673"/>
                </a:solidFill>
              </a:defRPr>
            </a:lvl8pPr>
            <a:lvl9pPr>
              <a:defRPr sz="1200" b="0">
                <a:solidFill>
                  <a:srgbClr val="526673"/>
                </a:solidFill>
              </a:defRPr>
            </a:lvl9pPr>
          </a:lstStyle>
          <a:p xmlns:a="http://schemas.openxmlformats.org/drawingml/2006/main">
            <a:pPr>
              <a:defRPr sz="1200" b="0">
                <a:solidFill>
                  <a:srgbClr val="526673"/>
                </a:solidFill>
              </a:defRPr>
            </a:pPr>
            <a:r>
              <a:rPr sz="1200" b="0">
                <a:solidFill>
                  <a:srgbClr val="526673"/>
                </a:solidFill>
              </a:rPr>
              <a:t>2 / 6</a:t>
            </a:r>
          </a:p>
        </p:txBody>
      </p:sp>
      <p:graphicFrame>
        <p:nvGraphicFramePr>
          <p:cNvPr id="3" name="Chart">
            <a:extLst xmlns:a="http://schemas.openxmlformats.org/drawingml/2006/main">
              <a:ext uri="{FF2B5EF4-FFF2-40B4-BE49-F238E27FC236}">
                <a16:creationId xmlns:a16="http://schemas.microsoft.com/office/drawing/2014/main" id="{4FDF3A19-E2A7-4B1B-8B00-3EAE176565E8}"/>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003d70f82d4640fe"/>
          </a:graphicData>
        </a:graphic>
      </p:graphicFrame>
      <p:sp>
        <p:nvSpPr>
          <p:cNvPr id="4" name="">
            <a:extLst xmlns:a="http://schemas.openxmlformats.org/drawingml/2006/main">
              <a:ext uri="{FF2B5EF4-FFF2-40B4-BE49-F238E27FC236}">
                <a16:creationId xmlns:a16="http://schemas.microsoft.com/office/drawing/2014/main" id="{EB01CA7D-4475-4791-899F-856686515095}"/>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defRPr>
            </a:defPPr>
            <a:lvl1pPr>
              <a:defRPr sz="2400" b="1">
                <a:solidFill>
                  <a:srgbClr val="205F7A"/>
                </a:solidFill>
              </a:defRPr>
            </a:lvl1pPr>
            <a:lvl2pPr>
              <a:defRPr sz="2400" b="1">
                <a:solidFill>
                  <a:srgbClr val="205F7A"/>
                </a:solidFill>
              </a:defRPr>
            </a:lvl2pPr>
            <a:lvl3pPr>
              <a:defRPr sz="2400" b="1">
                <a:solidFill>
                  <a:srgbClr val="205F7A"/>
                </a:solidFill>
              </a:defRPr>
            </a:lvl3pPr>
            <a:lvl4pPr>
              <a:defRPr sz="2400" b="1">
                <a:solidFill>
                  <a:srgbClr val="205F7A"/>
                </a:solidFill>
              </a:defRPr>
            </a:lvl4pPr>
            <a:lvl5pPr>
              <a:defRPr sz="2400" b="1">
                <a:solidFill>
                  <a:srgbClr val="205F7A"/>
                </a:solidFill>
              </a:defRPr>
            </a:lvl5pPr>
            <a:lvl6pPr>
              <a:defRPr sz="2400" b="1">
                <a:solidFill>
                  <a:srgbClr val="205F7A"/>
                </a:solidFill>
              </a:defRPr>
            </a:lvl6pPr>
            <a:lvl7pPr>
              <a:defRPr sz="2400" b="1">
                <a:solidFill>
                  <a:srgbClr val="205F7A"/>
                </a:solidFill>
              </a:defRPr>
            </a:lvl7pPr>
            <a:lvl8pPr>
              <a:defRPr sz="2400" b="1">
                <a:solidFill>
                  <a:srgbClr val="205F7A"/>
                </a:solidFill>
              </a:defRPr>
            </a:lvl8pPr>
            <a:lvl9pPr>
              <a:defRPr sz="2400" b="1">
                <a:solidFill>
                  <a:srgbClr val="205F7A"/>
                </a:solidFill>
              </a:defRPr>
            </a:lvl9pPr>
          </a:lstStyle>
          <a:p xmlns:a="http://schemas.openxmlformats.org/drawingml/2006/main">
            <a:pPr>
              <a:defRPr sz="2400" b="1">
                <a:solidFill>
                  <a:srgbClr val="205F7A"/>
                </a:solidFill>
              </a:defRPr>
            </a:pPr>
            <a:r>
              <a:rPr sz="2400" b="1">
                <a:solidFill>
                  <a:srgbClr val="205F7A"/>
                </a:solidFill>
              </a:rPr>
              <a:t>2,207 provisional fits</a:t>
            </a:r>
          </a:p>
        </p:txBody>
      </p:sp>
      <p:sp>
        <p:nvSpPr>
          <p:cNvPr id="5" name="">
            <a:extLst xmlns:a="http://schemas.openxmlformats.org/drawingml/2006/main">
              <a:ext uri="{FF2B5EF4-FFF2-40B4-BE49-F238E27FC236}">
                <a16:creationId xmlns:a16="http://schemas.microsoft.com/office/drawing/2014/main" id="{73FA7DA8-127B-4C3C-92D1-9361998EE4D1}"/>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defRPr>
            </a:defPPr>
            <a:lvl1pPr>
              <a:defRPr sz="2025" b="0">
                <a:solidFill>
                  <a:srgbClr val="142633"/>
                </a:solidFill>
              </a:defRPr>
            </a:lvl1pPr>
            <a:lvl2pPr>
              <a:defRPr sz="2025" b="0">
                <a:solidFill>
                  <a:srgbClr val="142633"/>
                </a:solidFill>
              </a:defRPr>
            </a:lvl2pPr>
            <a:lvl3pPr>
              <a:defRPr sz="2025" b="0">
                <a:solidFill>
                  <a:srgbClr val="142633"/>
                </a:solidFill>
              </a:defRPr>
            </a:lvl3pPr>
            <a:lvl4pPr>
              <a:defRPr sz="2025" b="0">
                <a:solidFill>
                  <a:srgbClr val="142633"/>
                </a:solidFill>
              </a:defRPr>
            </a:lvl4pPr>
            <a:lvl5pPr>
              <a:defRPr sz="2025" b="0">
                <a:solidFill>
                  <a:srgbClr val="142633"/>
                </a:solidFill>
              </a:defRPr>
            </a:lvl5pPr>
            <a:lvl6pPr>
              <a:defRPr sz="2025" b="0">
                <a:solidFill>
                  <a:srgbClr val="142633"/>
                </a:solidFill>
              </a:defRPr>
            </a:lvl6pPr>
            <a:lvl7pPr>
              <a:defRPr sz="2025" b="0">
                <a:solidFill>
                  <a:srgbClr val="142633"/>
                </a:solidFill>
              </a:defRPr>
            </a:lvl7pPr>
            <a:lvl8pPr>
              <a:defRPr sz="2025" b="0">
                <a:solidFill>
                  <a:srgbClr val="142633"/>
                </a:solidFill>
              </a:defRPr>
            </a:lvl8pPr>
            <a:lvl9pPr>
              <a:defRPr sz="2025" b="0">
                <a:solidFill>
                  <a:srgbClr val="142633"/>
                </a:solidFill>
              </a:defRPr>
            </a:lvl9pPr>
          </a:lstStyle>
          <a:p xmlns:a="http://schemas.openxmlformats.org/drawingml/2006/main">
            <a:pPr>
              <a:defRPr sz="2025" b="0">
                <a:solidFill>
                  <a:srgbClr val="142633"/>
                </a:solidFill>
              </a:defRPr>
            </a:pPr>
            <a:r>
              <a:rPr sz="2025" b="0">
                <a:solidFill>
                  <a:srgbClr val="142633"/>
                </a:solidFill>
              </a:rPr>
              <a:t>79.5% of the sample</a:t>
            </a:r>
          </a:p>
        </p:txBody>
      </p:sp>
      <p:sp>
        <p:nvSpPr>
          <p:cNvPr id="6" name="">
            <a:extLst xmlns:a="http://schemas.openxmlformats.org/drawingml/2006/main">
              <a:ext uri="{FF2B5EF4-FFF2-40B4-BE49-F238E27FC236}">
                <a16:creationId xmlns:a16="http://schemas.microsoft.com/office/drawing/2014/main" id="{F6DE5692-5CC9-4025-B5F3-0AB6BB3F3D9E}"/>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defRPr>
            </a:defPPr>
            <a:lvl1pPr>
              <a:defRPr sz="2250" b="1">
                <a:solidFill>
                  <a:srgbClr val="A43C38"/>
                </a:solidFill>
              </a:defRPr>
            </a:lvl1pPr>
            <a:lvl2pPr>
              <a:defRPr sz="2250" b="1">
                <a:solidFill>
                  <a:srgbClr val="A43C38"/>
                </a:solidFill>
              </a:defRPr>
            </a:lvl2pPr>
            <a:lvl3pPr>
              <a:defRPr sz="2250" b="1">
                <a:solidFill>
                  <a:srgbClr val="A43C38"/>
                </a:solidFill>
              </a:defRPr>
            </a:lvl3pPr>
            <a:lvl4pPr>
              <a:defRPr sz="2250" b="1">
                <a:solidFill>
                  <a:srgbClr val="A43C38"/>
                </a:solidFill>
              </a:defRPr>
            </a:lvl4pPr>
            <a:lvl5pPr>
              <a:defRPr sz="2250" b="1">
                <a:solidFill>
                  <a:srgbClr val="A43C38"/>
                </a:solidFill>
              </a:defRPr>
            </a:lvl5pPr>
            <a:lvl6pPr>
              <a:defRPr sz="2250" b="1">
                <a:solidFill>
                  <a:srgbClr val="A43C38"/>
                </a:solidFill>
              </a:defRPr>
            </a:lvl6pPr>
            <a:lvl7pPr>
              <a:defRPr sz="2250" b="1">
                <a:solidFill>
                  <a:srgbClr val="A43C38"/>
                </a:solidFill>
              </a:defRPr>
            </a:lvl7pPr>
            <a:lvl8pPr>
              <a:defRPr sz="2250" b="1">
                <a:solidFill>
                  <a:srgbClr val="A43C38"/>
                </a:solidFill>
              </a:defRPr>
            </a:lvl8pPr>
            <a:lvl9pPr>
              <a:defRPr sz="2250" b="1">
                <a:solidFill>
                  <a:srgbClr val="A43C38"/>
                </a:solidFill>
              </a:defRPr>
            </a:lvl9pPr>
          </a:lstStyle>
          <a:p xmlns:a="http://schemas.openxmlformats.org/drawingml/2006/main">
            <a:pPr>
              <a:defRPr sz="2250" b="1">
                <a:solidFill>
                  <a:srgbClr val="A43C38"/>
                </a:solidFill>
              </a:defRPr>
            </a:pPr>
            <a:r>
              <a:rPr sz="2250" b="1">
                <a:solidFill>
                  <a:srgbClr val="A43C38"/>
                </a:solidFill>
              </a:rPr>
              <a:t>570 failed fits</a:t>
            </a:r>
          </a:p>
        </p:txBody>
      </p:sp>
      <p:sp>
        <p:nvSpPr>
          <p:cNvPr id="7" name="">
            <a:extLst xmlns:a="http://schemas.openxmlformats.org/drawingml/2006/main">
              <a:ext uri="{FF2B5EF4-FFF2-40B4-BE49-F238E27FC236}">
                <a16:creationId xmlns:a16="http://schemas.microsoft.com/office/drawing/2014/main" id="{06ADBFBE-65C7-4C5A-A035-6EEEC754A671}"/>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defRPr>
            </a:defPPr>
            <a:lvl1pPr>
              <a:defRPr sz="2025" b="0">
                <a:solidFill>
                  <a:srgbClr val="142633"/>
                </a:solidFill>
              </a:defRPr>
            </a:lvl1pPr>
            <a:lvl2pPr>
              <a:defRPr sz="2025" b="0">
                <a:solidFill>
                  <a:srgbClr val="142633"/>
                </a:solidFill>
              </a:defRPr>
            </a:lvl2pPr>
            <a:lvl3pPr>
              <a:defRPr sz="2025" b="0">
                <a:solidFill>
                  <a:srgbClr val="142633"/>
                </a:solidFill>
              </a:defRPr>
            </a:lvl3pPr>
            <a:lvl4pPr>
              <a:defRPr sz="2025" b="0">
                <a:solidFill>
                  <a:srgbClr val="142633"/>
                </a:solidFill>
              </a:defRPr>
            </a:lvl4pPr>
            <a:lvl5pPr>
              <a:defRPr sz="2025" b="0">
                <a:solidFill>
                  <a:srgbClr val="142633"/>
                </a:solidFill>
              </a:defRPr>
            </a:lvl5pPr>
            <a:lvl6pPr>
              <a:defRPr sz="2025" b="0">
                <a:solidFill>
                  <a:srgbClr val="142633"/>
                </a:solidFill>
              </a:defRPr>
            </a:lvl6pPr>
            <a:lvl7pPr>
              <a:defRPr sz="2025" b="0">
                <a:solidFill>
                  <a:srgbClr val="142633"/>
                </a:solidFill>
              </a:defRPr>
            </a:lvl7pPr>
            <a:lvl8pPr>
              <a:defRPr sz="2025" b="0">
                <a:solidFill>
                  <a:srgbClr val="142633"/>
                </a:solidFill>
              </a:defRPr>
            </a:lvl8pPr>
            <a:lvl9pPr>
              <a:defRPr sz="2025" b="0">
                <a:solidFill>
                  <a:srgbClr val="142633"/>
                </a:solidFill>
              </a:defRPr>
            </a:lvl9pPr>
          </a:lstStyle>
          <a:p xmlns:a="http://schemas.openxmlformats.org/drawingml/2006/main">
            <a:pPr>
              <a:defRPr sz="2025" b="0">
                <a:solidFill>
                  <a:srgbClr val="142633"/>
                </a:solidFill>
              </a:defRPr>
            </a:pPr>
            <a:r>
              <a:rPr sz="2025" b="0">
                <a:solidFill>
                  <a:srgbClr val="142633"/>
                </a:solidFill>
              </a:rPr>
              <a:t>20.5% of the sample</a:t>
            </a:r>
          </a:p>
        </p:txBody>
      </p:sp>
      <p:sp>
        <p:nvSpPr>
          <p:cNvPr id="8" name="">
            <a:extLst xmlns:a="http://schemas.openxmlformats.org/drawingml/2006/main">
              <a:ext uri="{FF2B5EF4-FFF2-40B4-BE49-F238E27FC236}">
                <a16:creationId xmlns:a16="http://schemas.microsoft.com/office/drawing/2014/main" id="{6BEC2988-E278-4585-BBE7-5B4597A2D72D}"/>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defRPr>
            </a:defPPr>
            <a:lvl1pPr>
              <a:defRPr sz="1800" b="0">
                <a:solidFill>
                  <a:srgbClr val="526673"/>
                </a:solidFill>
              </a:defRPr>
            </a:lvl1pPr>
            <a:lvl2pPr>
              <a:defRPr sz="1800" b="0">
                <a:solidFill>
                  <a:srgbClr val="526673"/>
                </a:solidFill>
              </a:defRPr>
            </a:lvl2pPr>
            <a:lvl3pPr>
              <a:defRPr sz="1800" b="0">
                <a:solidFill>
                  <a:srgbClr val="526673"/>
                </a:solidFill>
              </a:defRPr>
            </a:lvl3pPr>
            <a:lvl4pPr>
              <a:defRPr sz="1800" b="0">
                <a:solidFill>
                  <a:srgbClr val="526673"/>
                </a:solidFill>
              </a:defRPr>
            </a:lvl4pPr>
            <a:lvl5pPr>
              <a:defRPr sz="1800" b="0">
                <a:solidFill>
                  <a:srgbClr val="526673"/>
                </a:solidFill>
              </a:defRPr>
            </a:lvl5pPr>
            <a:lvl6pPr>
              <a:defRPr sz="1800" b="0">
                <a:solidFill>
                  <a:srgbClr val="526673"/>
                </a:solidFill>
              </a:defRPr>
            </a:lvl6pPr>
            <a:lvl7pPr>
              <a:defRPr sz="1800" b="0">
                <a:solidFill>
                  <a:srgbClr val="526673"/>
                </a:solidFill>
              </a:defRPr>
            </a:lvl7pPr>
            <a:lvl8pPr>
              <a:defRPr sz="1800" b="0">
                <a:solidFill>
                  <a:srgbClr val="526673"/>
                </a:solidFill>
              </a:defRPr>
            </a:lvl8pPr>
            <a:lvl9pPr>
              <a:defRPr sz="1800" b="0">
                <a:solidFill>
                  <a:srgbClr val="526673"/>
                </a:solidFill>
              </a:defRPr>
            </a:lvl9pPr>
          </a:lstStyle>
          <a:p xmlns:a="http://schemas.openxmlformats.org/drawingml/2006/main">
            <a:pPr>
              <a:defRPr sz="1800" b="0">
                <a:solidFill>
                  <a:srgbClr val="526673"/>
                </a:solidFill>
              </a:defRPr>
            </a:pPr>
            <a:r>
              <a:rPr sz="1800" b="0">
                <a:solidFill>
                  <a:srgbClr val="526673"/>
                </a:solidFill>
              </a:rPr>
              <a:t>A completed fit still requires physical review of the selected disc and bar.</a:t>
            </a:r>
          </a:p>
        </p:txBody>
      </p:sp>
    </p:spTree>
    <p:extLst>
      <p:ext uri="{BB962C8B-B14F-4D97-AF65-F5344CB8AC3E}">
        <p14:creationId xmlns:p14="http://schemas.microsoft.com/office/powerpoint/2010/main" val="2586971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D78946-F6CA-4B9D-BBE2-96934565F28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defRPr>
            </a:defPPr>
            <a:lvl1pPr>
              <a:defRPr sz="3300" b="1">
                <a:solidFill>
                  <a:srgbClr val="142633"/>
                </a:solidFill>
              </a:defRPr>
            </a:lvl1pPr>
            <a:lvl2pPr>
              <a:defRPr sz="3300" b="1">
                <a:solidFill>
                  <a:srgbClr val="142633"/>
                </a:solidFill>
              </a:defRPr>
            </a:lvl2pPr>
            <a:lvl3pPr>
              <a:defRPr sz="3300" b="1">
                <a:solidFill>
                  <a:srgbClr val="142633"/>
                </a:solidFill>
              </a:defRPr>
            </a:lvl3pPr>
            <a:lvl4pPr>
              <a:defRPr sz="3300" b="1">
                <a:solidFill>
                  <a:srgbClr val="142633"/>
                </a:solidFill>
              </a:defRPr>
            </a:lvl4pPr>
            <a:lvl5pPr>
              <a:defRPr sz="3300" b="1">
                <a:solidFill>
                  <a:srgbClr val="142633"/>
                </a:solidFill>
              </a:defRPr>
            </a:lvl5pPr>
            <a:lvl6pPr>
              <a:defRPr sz="3300" b="1">
                <a:solidFill>
                  <a:srgbClr val="142633"/>
                </a:solidFill>
              </a:defRPr>
            </a:lvl6pPr>
            <a:lvl7pPr>
              <a:defRPr sz="3300" b="1">
                <a:solidFill>
                  <a:srgbClr val="142633"/>
                </a:solidFill>
              </a:defRPr>
            </a:lvl7pPr>
            <a:lvl8pPr>
              <a:defRPr sz="3300" b="1">
                <a:solidFill>
                  <a:srgbClr val="142633"/>
                </a:solidFill>
              </a:defRPr>
            </a:lvl8pPr>
            <a:lvl9pPr>
              <a:defRPr sz="3300" b="1">
                <a:solidFill>
                  <a:srgbClr val="142633"/>
                </a:solidFill>
              </a:defRPr>
            </a:lvl9pPr>
          </a:lstStyle>
          <a:p xmlns:a="http://schemas.openxmlformats.org/drawingml/2006/main">
            <a:pPr>
              <a:defRPr sz="3300" b="1">
                <a:solidFill>
                  <a:srgbClr val="142633"/>
                </a:solidFill>
              </a:defRPr>
            </a:pPr>
            <a:r>
              <a:rPr sz="3300" b="1">
                <a:solidFill>
                  <a:srgbClr val="142633"/>
                </a:solidFill>
              </a:rPr>
              <a:t>Quality flags and failed fits</a:t>
            </a:r>
          </a:p>
        </p:txBody>
      </p:sp>
      <p:sp>
        <p:nvSpPr>
          <p:cNvPr id="2" name="">
            <a:extLst xmlns:a="http://schemas.openxmlformats.org/drawingml/2006/main">
              <a:ext uri="{FF2B5EF4-FFF2-40B4-BE49-F238E27FC236}">
                <a16:creationId xmlns:a16="http://schemas.microsoft.com/office/drawing/2014/main" id="{FBD45DB7-B21E-4364-A19F-A13BB1978FB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defRPr>
            </a:defPPr>
            <a:lvl1pPr>
              <a:defRPr sz="1200" b="0">
                <a:solidFill>
                  <a:srgbClr val="526673"/>
                </a:solidFill>
              </a:defRPr>
            </a:lvl1pPr>
            <a:lvl2pPr>
              <a:defRPr sz="1200" b="0">
                <a:solidFill>
                  <a:srgbClr val="526673"/>
                </a:solidFill>
              </a:defRPr>
            </a:lvl2pPr>
            <a:lvl3pPr>
              <a:defRPr sz="1200" b="0">
                <a:solidFill>
                  <a:srgbClr val="526673"/>
                </a:solidFill>
              </a:defRPr>
            </a:lvl3pPr>
            <a:lvl4pPr>
              <a:defRPr sz="1200" b="0">
                <a:solidFill>
                  <a:srgbClr val="526673"/>
                </a:solidFill>
              </a:defRPr>
            </a:lvl4pPr>
            <a:lvl5pPr>
              <a:defRPr sz="1200" b="0">
                <a:solidFill>
                  <a:srgbClr val="526673"/>
                </a:solidFill>
              </a:defRPr>
            </a:lvl5pPr>
            <a:lvl6pPr>
              <a:defRPr sz="1200" b="0">
                <a:solidFill>
                  <a:srgbClr val="526673"/>
                </a:solidFill>
              </a:defRPr>
            </a:lvl6pPr>
            <a:lvl7pPr>
              <a:defRPr sz="1200" b="0">
                <a:solidFill>
                  <a:srgbClr val="526673"/>
                </a:solidFill>
              </a:defRPr>
            </a:lvl7pPr>
            <a:lvl8pPr>
              <a:defRPr sz="1200" b="0">
                <a:solidFill>
                  <a:srgbClr val="526673"/>
                </a:solidFill>
              </a:defRPr>
            </a:lvl8pPr>
            <a:lvl9pPr>
              <a:defRPr sz="1200" b="0">
                <a:solidFill>
                  <a:srgbClr val="526673"/>
                </a:solidFill>
              </a:defRPr>
            </a:lvl9pPr>
          </a:lstStyle>
          <a:p xmlns:a="http://schemas.openxmlformats.org/drawingml/2006/main">
            <a:pPr>
              <a:defRPr sz="1200" b="0">
                <a:solidFill>
                  <a:srgbClr val="526673"/>
                </a:solidFill>
              </a:defRPr>
            </a:pPr>
            <a:r>
              <a:rPr sz="1200" b="0">
                <a:solidFill>
                  <a:srgbClr val="526673"/>
                </a:solidFill>
              </a:rPr>
              <a:t>3 / 6</a:t>
            </a:r>
          </a:p>
        </p:txBody>
      </p:sp>
      <p:graphicFrame>
        <p:nvGraphicFramePr>
          <p:cNvPr id="3" name="">
            <a:extLst xmlns:a="http://schemas.openxmlformats.org/drawingml/2006/main">
              <a:ext uri="{FF2B5EF4-FFF2-40B4-BE49-F238E27FC236}">
                <a16:creationId xmlns:a16="http://schemas.microsoft.com/office/drawing/2014/main" id="{25941314-AA18-46CC-AFD6-D7F8FBE0DC8C}"/>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E189AA2-2263-4C5A-9570-CD4C51B69F5F}"/>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defRPr>
            </a:defPPr>
            <a:lvl1pPr>
              <a:defRPr sz="2250" b="1">
                <a:solidFill>
                  <a:srgbClr val="205F7A"/>
                </a:solidFill>
              </a:defRPr>
            </a:lvl1pPr>
            <a:lvl2pPr>
              <a:defRPr sz="2250" b="1">
                <a:solidFill>
                  <a:srgbClr val="205F7A"/>
                </a:solidFill>
              </a:defRPr>
            </a:lvl2pPr>
            <a:lvl3pPr>
              <a:defRPr sz="2250" b="1">
                <a:solidFill>
                  <a:srgbClr val="205F7A"/>
                </a:solidFill>
              </a:defRPr>
            </a:lvl3pPr>
            <a:lvl4pPr>
              <a:defRPr sz="2250" b="1">
                <a:solidFill>
                  <a:srgbClr val="205F7A"/>
                </a:solidFill>
              </a:defRPr>
            </a:lvl4pPr>
            <a:lvl5pPr>
              <a:defRPr sz="2250" b="1">
                <a:solidFill>
                  <a:srgbClr val="205F7A"/>
                </a:solidFill>
              </a:defRPr>
            </a:lvl5pPr>
            <a:lvl6pPr>
              <a:defRPr sz="2250" b="1">
                <a:solidFill>
                  <a:srgbClr val="205F7A"/>
                </a:solidFill>
              </a:defRPr>
            </a:lvl6pPr>
            <a:lvl7pPr>
              <a:defRPr sz="2250" b="1">
                <a:solidFill>
                  <a:srgbClr val="205F7A"/>
                </a:solidFill>
              </a:defRPr>
            </a:lvl7pPr>
            <a:lvl8pPr>
              <a:defRPr sz="2250" b="1">
                <a:solidFill>
                  <a:srgbClr val="205F7A"/>
                </a:solidFill>
              </a:defRPr>
            </a:lvl8pPr>
            <a:lvl9pPr>
              <a:defRPr sz="2250" b="1">
                <a:solidFill>
                  <a:srgbClr val="205F7A"/>
                </a:solidFill>
              </a:defRPr>
            </a:lvl9pPr>
          </a:lstStyle>
          <a:p xmlns:a="http://schemas.openxmlformats.org/drawingml/2006/main">
            <a:pPr>
              <a:defRPr sz="2250" b="1">
                <a:solidFill>
                  <a:srgbClr val="205F7A"/>
                </a:solidFill>
              </a:defRPr>
            </a:pPr>
            <a:r>
              <a:rPr sz="2250" b="1">
                <a:solidFill>
                  <a:srgbClr val="205F7A"/>
                </a:solidFill>
              </a:rPr>
              <a:t>Flags overlap</a:t>
            </a:r>
          </a:p>
        </p:txBody>
      </p:sp>
      <p:sp>
        <p:nvSpPr>
          <p:cNvPr id="5" name="">
            <a:extLst xmlns:a="http://schemas.openxmlformats.org/drawingml/2006/main">
              <a:ext uri="{FF2B5EF4-FFF2-40B4-BE49-F238E27FC236}">
                <a16:creationId xmlns:a16="http://schemas.microsoft.com/office/drawing/2014/main" id="{A61F2B42-F550-43B6-A3E6-0C892B901E83}"/>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defRPr>
            </a:defPPr>
            <a:lvl1pPr>
              <a:defRPr sz="1875" b="0">
                <a:solidFill>
                  <a:srgbClr val="142633"/>
                </a:solidFill>
              </a:defRPr>
            </a:lvl1pPr>
            <a:lvl2pPr>
              <a:defRPr sz="1875" b="0">
                <a:solidFill>
                  <a:srgbClr val="142633"/>
                </a:solidFill>
              </a:defRPr>
            </a:lvl2pPr>
            <a:lvl3pPr>
              <a:defRPr sz="1875" b="0">
                <a:solidFill>
                  <a:srgbClr val="142633"/>
                </a:solidFill>
              </a:defRPr>
            </a:lvl3pPr>
            <a:lvl4pPr>
              <a:defRPr sz="1875" b="0">
                <a:solidFill>
                  <a:srgbClr val="142633"/>
                </a:solidFill>
              </a:defRPr>
            </a:lvl4pPr>
            <a:lvl5pPr>
              <a:defRPr sz="1875" b="0">
                <a:solidFill>
                  <a:srgbClr val="142633"/>
                </a:solidFill>
              </a:defRPr>
            </a:lvl5pPr>
            <a:lvl6pPr>
              <a:defRPr sz="1875" b="0">
                <a:solidFill>
                  <a:srgbClr val="142633"/>
                </a:solidFill>
              </a:defRPr>
            </a:lvl6pPr>
            <a:lvl7pPr>
              <a:defRPr sz="1875" b="0">
                <a:solidFill>
                  <a:srgbClr val="142633"/>
                </a:solidFill>
              </a:defRPr>
            </a:lvl7pPr>
            <a:lvl8pPr>
              <a:defRPr sz="1875" b="0">
                <a:solidFill>
                  <a:srgbClr val="142633"/>
                </a:solidFill>
              </a:defRPr>
            </a:lvl8pPr>
            <a:lvl9pPr>
              <a:defRPr sz="1875" b="0">
                <a:solidFill>
                  <a:srgbClr val="142633"/>
                </a:solidFill>
              </a:defRPr>
            </a:lvl9pPr>
          </a:lstStyle>
          <a:p xmlns:a="http://schemas.openxmlformats.org/drawingml/2006/main">
            <a:pPr>
              <a:defRPr sz="1875" b="0">
                <a:solidFill>
                  <a:srgbClr val="142633"/>
                </a:solidFill>
              </a:defRPr>
            </a:pPr>
            <a:r>
              <a:rPr sz="1875" b="0">
                <a:solidFill>
                  <a:srgbClr val="142633"/>
                </a:solidFill>
              </a:rPr>
              <a:t>Counts refer to the 2,207 fits.</a:t>
            </a:r>
          </a:p>
          <a:p xmlns:a="http://schemas.openxmlformats.org/drawingml/2006/main">
            <a:pPr>
              <a:defRPr sz="1875" b="0">
                <a:solidFill>
                  <a:srgbClr val="142633"/>
                </a:solidFill>
              </a:defRPr>
            </a:pPr>
            <a:r>
              <a:rPr sz="1875" b="0">
                <a:solidFill>
                  <a:srgbClr val="142633"/>
                </a:solidFill>
              </a:rPr>
              <a:t>They cannot be added.</a:t>
            </a:r>
          </a:p>
        </p:txBody>
      </p:sp>
      <p:sp>
        <p:nvSpPr>
          <p:cNvPr id="6" name="">
            <a:extLst xmlns:a="http://schemas.openxmlformats.org/drawingml/2006/main">
              <a:ext uri="{FF2B5EF4-FFF2-40B4-BE49-F238E27FC236}">
                <a16:creationId xmlns:a16="http://schemas.microsoft.com/office/drawing/2014/main" id="{2DCD706C-004B-41BA-BA74-765729B8D7E0}"/>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defRPr>
            </a:defPPr>
            <a:lvl1pPr>
              <a:defRPr sz="2250" b="1">
                <a:solidFill>
                  <a:srgbClr val="142633"/>
                </a:solidFill>
              </a:defRPr>
            </a:lvl1pPr>
            <a:lvl2pPr>
              <a:defRPr sz="2250" b="1">
                <a:solidFill>
                  <a:srgbClr val="142633"/>
                </a:solidFill>
              </a:defRPr>
            </a:lvl2pPr>
            <a:lvl3pPr>
              <a:defRPr sz="2250" b="1">
                <a:solidFill>
                  <a:srgbClr val="142633"/>
                </a:solidFill>
              </a:defRPr>
            </a:lvl3pPr>
            <a:lvl4pPr>
              <a:defRPr sz="2250" b="1">
                <a:solidFill>
                  <a:srgbClr val="142633"/>
                </a:solidFill>
              </a:defRPr>
            </a:lvl4pPr>
            <a:lvl5pPr>
              <a:defRPr sz="2250" b="1">
                <a:solidFill>
                  <a:srgbClr val="142633"/>
                </a:solidFill>
              </a:defRPr>
            </a:lvl5pPr>
            <a:lvl6pPr>
              <a:defRPr sz="2250" b="1">
                <a:solidFill>
                  <a:srgbClr val="142633"/>
                </a:solidFill>
              </a:defRPr>
            </a:lvl6pPr>
            <a:lvl7pPr>
              <a:defRPr sz="2250" b="1">
                <a:solidFill>
                  <a:srgbClr val="142633"/>
                </a:solidFill>
              </a:defRPr>
            </a:lvl7pPr>
            <a:lvl8pPr>
              <a:defRPr sz="2250" b="1">
                <a:solidFill>
                  <a:srgbClr val="142633"/>
                </a:solidFill>
              </a:defRPr>
            </a:lvl8pPr>
            <a:lvl9pPr>
              <a:defRPr sz="2250" b="1">
                <a:solidFill>
                  <a:srgbClr val="142633"/>
                </a:solidFill>
              </a:defRPr>
            </a:lvl9pPr>
          </a:lstStyle>
          <a:p xmlns:a="http://schemas.openxmlformats.org/drawingml/2006/main">
            <a:pPr>
              <a:defRPr sz="2250" b="1">
                <a:solidFill>
                  <a:srgbClr val="142633"/>
                </a:solidFill>
              </a:defRPr>
            </a:pPr>
            <a:r>
              <a:rPr sz="2250" b="1">
                <a:solidFill>
                  <a:srgbClr val="142633"/>
                </a:solidFill>
              </a:rPr>
              <a:t>431 of 570 failures</a:t>
            </a:r>
          </a:p>
        </p:txBody>
      </p:sp>
      <p:sp>
        <p:nvSpPr>
          <p:cNvPr id="7" name="">
            <a:extLst xmlns:a="http://schemas.openxmlformats.org/drawingml/2006/main">
              <a:ext uri="{FF2B5EF4-FFF2-40B4-BE49-F238E27FC236}">
                <a16:creationId xmlns:a16="http://schemas.microsoft.com/office/drawing/2014/main" id="{3260C4C9-32CD-43F6-9329-91C962697C87}"/>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defRPr>
            </a:defPPr>
            <a:lvl1pPr>
              <a:defRPr sz="1875" b="0">
                <a:solidFill>
                  <a:srgbClr val="142633"/>
                </a:solidFill>
              </a:defRPr>
            </a:lvl1pPr>
            <a:lvl2pPr>
              <a:defRPr sz="1875" b="0">
                <a:solidFill>
                  <a:srgbClr val="142633"/>
                </a:solidFill>
              </a:defRPr>
            </a:lvl2pPr>
            <a:lvl3pPr>
              <a:defRPr sz="1875" b="0">
                <a:solidFill>
                  <a:srgbClr val="142633"/>
                </a:solidFill>
              </a:defRPr>
            </a:lvl3pPr>
            <a:lvl4pPr>
              <a:defRPr sz="1875" b="0">
                <a:solidFill>
                  <a:srgbClr val="142633"/>
                </a:solidFill>
              </a:defRPr>
            </a:lvl4pPr>
            <a:lvl5pPr>
              <a:defRPr sz="1875" b="0">
                <a:solidFill>
                  <a:srgbClr val="142633"/>
                </a:solidFill>
              </a:defRPr>
            </a:lvl5pPr>
            <a:lvl6pPr>
              <a:defRPr sz="1875" b="0">
                <a:solidFill>
                  <a:srgbClr val="142633"/>
                </a:solidFill>
              </a:defRPr>
            </a:lvl6pPr>
            <a:lvl7pPr>
              <a:defRPr sz="1875" b="0">
                <a:solidFill>
                  <a:srgbClr val="142633"/>
                </a:solidFill>
              </a:defRPr>
            </a:lvl7pPr>
            <a:lvl8pPr>
              <a:defRPr sz="1875" b="0">
                <a:solidFill>
                  <a:srgbClr val="142633"/>
                </a:solidFill>
              </a:defRPr>
            </a:lvl8pPr>
            <a:lvl9pPr>
              <a:defRPr sz="1875" b="0">
                <a:solidFill>
                  <a:srgbClr val="142633"/>
                </a:solidFill>
              </a:defRPr>
            </a:lvl9pPr>
          </a:lstStyle>
          <a:p xmlns:a="http://schemas.openxmlformats.org/drawingml/2006/main">
            <a:pPr>
              <a:defRPr sz="1875" b="0">
                <a:solidFill>
                  <a:srgbClr val="142633"/>
                </a:solidFill>
              </a:defRPr>
            </a:pPr>
            <a:r>
              <a:rPr sz="1875" b="0">
                <a:solidFill>
                  <a:srgbClr val="142633"/>
                </a:solidFil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3AC244DC-5FE9-4CC5-893E-22B38D523919}"/>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defRPr>
            </a:defPPr>
            <a:lvl1pPr>
              <a:defRPr sz="1800" b="0">
                <a:solidFill>
                  <a:srgbClr val="526673"/>
                </a:solidFill>
              </a:defRPr>
            </a:lvl1pPr>
            <a:lvl2pPr>
              <a:defRPr sz="1800" b="0">
                <a:solidFill>
                  <a:srgbClr val="526673"/>
                </a:solidFill>
              </a:defRPr>
            </a:lvl2pPr>
            <a:lvl3pPr>
              <a:defRPr sz="1800" b="0">
                <a:solidFill>
                  <a:srgbClr val="526673"/>
                </a:solidFill>
              </a:defRPr>
            </a:lvl3pPr>
            <a:lvl4pPr>
              <a:defRPr sz="1800" b="0">
                <a:solidFill>
                  <a:srgbClr val="526673"/>
                </a:solidFill>
              </a:defRPr>
            </a:lvl4pPr>
            <a:lvl5pPr>
              <a:defRPr sz="1800" b="0">
                <a:solidFill>
                  <a:srgbClr val="526673"/>
                </a:solidFill>
              </a:defRPr>
            </a:lvl5pPr>
            <a:lvl6pPr>
              <a:defRPr sz="1800" b="0">
                <a:solidFill>
                  <a:srgbClr val="526673"/>
                </a:solidFill>
              </a:defRPr>
            </a:lvl6pPr>
            <a:lvl7pPr>
              <a:defRPr sz="1800" b="0">
                <a:solidFill>
                  <a:srgbClr val="526673"/>
                </a:solidFill>
              </a:defRPr>
            </a:lvl7pPr>
            <a:lvl8pPr>
              <a:defRPr sz="1800" b="0">
                <a:solidFill>
                  <a:srgbClr val="526673"/>
                </a:solidFill>
              </a:defRPr>
            </a:lvl8pPr>
            <a:lvl9pPr>
              <a:defRPr sz="1800" b="0">
                <a:solidFill>
                  <a:srgbClr val="526673"/>
                </a:solidFill>
              </a:defRPr>
            </a:lvl9pPr>
          </a:lstStyle>
          <a:p xmlns:a="http://schemas.openxmlformats.org/drawingml/2006/main">
            <a:pPr>
              <a:defRPr sz="1800" b="0">
                <a:solidFill>
                  <a:srgbClr val="526673"/>
                </a:solidFill>
              </a:defRPr>
            </a:pPr>
            <a:r>
              <a:rPr sz="1800" b="0">
                <a:solidFill>
                  <a:srgbClr val="526673"/>
                </a:solidFill>
              </a:rPr>
              <a:t>62 requested cutouts have partial coverage, which also triggers the QI label.</a:t>
            </a:r>
          </a:p>
        </p:txBody>
      </p:sp>
    </p:spTree>
    <p:extLst>
      <p:ext uri="{BB962C8B-B14F-4D97-AF65-F5344CB8AC3E}">
        <p14:creationId xmlns:p14="http://schemas.microsoft.com/office/powerpoint/2010/main" val="16612860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35A7D1-0175-4FF3-B48F-7CAD58859C2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defRPr>
            </a:defPPr>
            <a:lvl1pPr>
              <a:defRPr sz="3300" b="1">
                <a:solidFill>
                  <a:srgbClr val="142633"/>
                </a:solidFill>
              </a:defRPr>
            </a:lvl1pPr>
            <a:lvl2pPr>
              <a:defRPr sz="3300" b="1">
                <a:solidFill>
                  <a:srgbClr val="142633"/>
                </a:solidFill>
              </a:defRPr>
            </a:lvl2pPr>
            <a:lvl3pPr>
              <a:defRPr sz="3300" b="1">
                <a:solidFill>
                  <a:srgbClr val="142633"/>
                </a:solidFill>
              </a:defRPr>
            </a:lvl3pPr>
            <a:lvl4pPr>
              <a:defRPr sz="3300" b="1">
                <a:solidFill>
                  <a:srgbClr val="142633"/>
                </a:solidFill>
              </a:defRPr>
            </a:lvl4pPr>
            <a:lvl5pPr>
              <a:defRPr sz="3300" b="1">
                <a:solidFill>
                  <a:srgbClr val="142633"/>
                </a:solidFill>
              </a:defRPr>
            </a:lvl5pPr>
            <a:lvl6pPr>
              <a:defRPr sz="3300" b="1">
                <a:solidFill>
                  <a:srgbClr val="142633"/>
                </a:solidFill>
              </a:defRPr>
            </a:lvl6pPr>
            <a:lvl7pPr>
              <a:defRPr sz="3300" b="1">
                <a:solidFill>
                  <a:srgbClr val="142633"/>
                </a:solidFill>
              </a:defRPr>
            </a:lvl7pPr>
            <a:lvl8pPr>
              <a:defRPr sz="3300" b="1">
                <a:solidFill>
                  <a:srgbClr val="142633"/>
                </a:solidFill>
              </a:defRPr>
            </a:lvl8pPr>
            <a:lvl9pPr>
              <a:defRPr sz="3300" b="1">
                <a:solidFill>
                  <a:srgbClr val="142633"/>
                </a:solidFill>
              </a:defRPr>
            </a:lvl9pPr>
          </a:lstStyle>
          <a:p xmlns:a="http://schemas.openxmlformats.org/drawingml/2006/main">
            <a:pPr>
              <a:defRPr sz="3300" b="1">
                <a:solidFill>
                  <a:srgbClr val="142633"/>
                </a:solidFill>
              </a:defRPr>
            </a:pPr>
            <a:r>
              <a:rPr sz="3300" b="1">
                <a:solidFill>
                  <a:srgbClr val="142633"/>
                </a:solidFill>
              </a:rPr>
              <a:t>Comparison with Euclid geometry</a:t>
            </a:r>
          </a:p>
        </p:txBody>
      </p:sp>
      <p:sp>
        <p:nvSpPr>
          <p:cNvPr id="2" name="">
            <a:extLst xmlns:a="http://schemas.openxmlformats.org/drawingml/2006/main">
              <a:ext uri="{FF2B5EF4-FFF2-40B4-BE49-F238E27FC236}">
                <a16:creationId xmlns:a16="http://schemas.microsoft.com/office/drawing/2014/main" id="{E8ACFBDE-614F-4637-B842-D2CFED89E24F}"/>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defRPr>
            </a:defPPr>
            <a:lvl1pPr>
              <a:defRPr sz="1200" b="0">
                <a:solidFill>
                  <a:srgbClr val="526673"/>
                </a:solidFill>
              </a:defRPr>
            </a:lvl1pPr>
            <a:lvl2pPr>
              <a:defRPr sz="1200" b="0">
                <a:solidFill>
                  <a:srgbClr val="526673"/>
                </a:solidFill>
              </a:defRPr>
            </a:lvl2pPr>
            <a:lvl3pPr>
              <a:defRPr sz="1200" b="0">
                <a:solidFill>
                  <a:srgbClr val="526673"/>
                </a:solidFill>
              </a:defRPr>
            </a:lvl3pPr>
            <a:lvl4pPr>
              <a:defRPr sz="1200" b="0">
                <a:solidFill>
                  <a:srgbClr val="526673"/>
                </a:solidFill>
              </a:defRPr>
            </a:lvl4pPr>
            <a:lvl5pPr>
              <a:defRPr sz="1200" b="0">
                <a:solidFill>
                  <a:srgbClr val="526673"/>
                </a:solidFill>
              </a:defRPr>
            </a:lvl5pPr>
            <a:lvl6pPr>
              <a:defRPr sz="1200" b="0">
                <a:solidFill>
                  <a:srgbClr val="526673"/>
                </a:solidFill>
              </a:defRPr>
            </a:lvl6pPr>
            <a:lvl7pPr>
              <a:defRPr sz="1200" b="0">
                <a:solidFill>
                  <a:srgbClr val="526673"/>
                </a:solidFill>
              </a:defRPr>
            </a:lvl7pPr>
            <a:lvl8pPr>
              <a:defRPr sz="1200" b="0">
                <a:solidFill>
                  <a:srgbClr val="526673"/>
                </a:solidFill>
              </a:defRPr>
            </a:lvl8pPr>
            <a:lvl9pPr>
              <a:defRPr sz="1200" b="0">
                <a:solidFill>
                  <a:srgbClr val="526673"/>
                </a:solidFill>
              </a:defRPr>
            </a:lvl9pPr>
          </a:lstStyle>
          <a:p xmlns:a="http://schemas.openxmlformats.org/drawingml/2006/main">
            <a:pPr>
              <a:defRPr sz="1200" b="0">
                <a:solidFill>
                  <a:srgbClr val="526673"/>
                </a:solidFill>
              </a:defRPr>
            </a:pPr>
            <a:r>
              <a:rPr sz="1200" b="0">
                <a:solidFill>
                  <a:srgbClr val="526673"/>
                </a:solidFill>
              </a:rPr>
              <a:t>4 / 6</a:t>
            </a:r>
          </a:p>
        </p:txBody>
      </p:sp>
      <p:sp>
        <p:nvSpPr>
          <p:cNvPr id="3" name="">
            <a:extLst xmlns:a="http://schemas.openxmlformats.org/drawingml/2006/main">
              <a:ext uri="{FF2B5EF4-FFF2-40B4-BE49-F238E27FC236}">
                <a16:creationId xmlns:a16="http://schemas.microsoft.com/office/drawing/2014/main" id="{61F94A25-892B-4EB2-8DA6-ECCC707F0715}"/>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defRPr>
            </a:defPPr>
            <a:lvl1pPr>
              <a:defRPr sz="2025" b="1">
                <a:solidFill>
                  <a:srgbClr val="205F7A"/>
                </a:solidFill>
              </a:defRPr>
            </a:lvl1pPr>
            <a:lvl2pPr>
              <a:defRPr sz="2025" b="1">
                <a:solidFill>
                  <a:srgbClr val="205F7A"/>
                </a:solidFill>
              </a:defRPr>
            </a:lvl2pPr>
            <a:lvl3pPr>
              <a:defRPr sz="2025" b="1">
                <a:solidFill>
                  <a:srgbClr val="205F7A"/>
                </a:solidFill>
              </a:defRPr>
            </a:lvl3pPr>
            <a:lvl4pPr>
              <a:defRPr sz="2025" b="1">
                <a:solidFill>
                  <a:srgbClr val="205F7A"/>
                </a:solidFill>
              </a:defRPr>
            </a:lvl4pPr>
            <a:lvl5pPr>
              <a:defRPr sz="2025" b="1">
                <a:solidFill>
                  <a:srgbClr val="205F7A"/>
                </a:solidFill>
              </a:defRPr>
            </a:lvl5pPr>
            <a:lvl6pPr>
              <a:defRPr sz="2025" b="1">
                <a:solidFill>
                  <a:srgbClr val="205F7A"/>
                </a:solidFill>
              </a:defRPr>
            </a:lvl6pPr>
            <a:lvl7pPr>
              <a:defRPr sz="2025" b="1">
                <a:solidFill>
                  <a:srgbClr val="205F7A"/>
                </a:solidFill>
              </a:defRPr>
            </a:lvl7pPr>
            <a:lvl8pPr>
              <a:defRPr sz="2025" b="1">
                <a:solidFill>
                  <a:srgbClr val="205F7A"/>
                </a:solidFill>
              </a:defRPr>
            </a:lvl8pPr>
            <a:lvl9pPr>
              <a:defRPr sz="2025" b="1">
                <a:solidFill>
                  <a:srgbClr val="205F7A"/>
                </a:solidFill>
              </a:defRPr>
            </a:lvl9pPr>
          </a:lstStyle>
          <a:p xmlns:a="http://schemas.openxmlformats.org/drawingml/2006/main">
            <a:pPr>
              <a:defRPr sz="2025" b="1">
                <a:solidFill>
                  <a:srgbClr val="205F7A"/>
                </a:solidFill>
              </a:defRPr>
            </a:pPr>
            <a:r>
              <a:rPr sz="2025" b="1">
                <a:solidFill>
                  <a:srgbClr val="205F7A"/>
                </a:solidFil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F4243FDD-B2F0-4349-8430-DDBA0E614DF4}"/>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1811C2C-81E0-4769-8799-68E2B395F0B4}"/>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defRPr>
            </a:defPPr>
            <a:lvl1pPr>
              <a:defRPr sz="2100" b="0">
                <a:solidFill>
                  <a:srgbClr val="142633"/>
                </a:solidFill>
              </a:defRPr>
            </a:lvl1pPr>
            <a:lvl2pPr>
              <a:defRPr sz="2100" b="0">
                <a:solidFill>
                  <a:srgbClr val="142633"/>
                </a:solidFill>
              </a:defRPr>
            </a:lvl2pPr>
            <a:lvl3pPr>
              <a:defRPr sz="2100" b="0">
                <a:solidFill>
                  <a:srgbClr val="142633"/>
                </a:solidFill>
              </a:defRPr>
            </a:lvl3pPr>
            <a:lvl4pPr>
              <a:defRPr sz="2100" b="0">
                <a:solidFill>
                  <a:srgbClr val="142633"/>
                </a:solidFill>
              </a:defRPr>
            </a:lvl4pPr>
            <a:lvl5pPr>
              <a:defRPr sz="2100" b="0">
                <a:solidFill>
                  <a:srgbClr val="142633"/>
                </a:solidFill>
              </a:defRPr>
            </a:lvl5pPr>
            <a:lvl6pPr>
              <a:defRPr sz="2100" b="0">
                <a:solidFill>
                  <a:srgbClr val="142633"/>
                </a:solidFill>
              </a:defRPr>
            </a:lvl6pPr>
            <a:lvl7pPr>
              <a:defRPr sz="2100" b="0">
                <a:solidFill>
                  <a:srgbClr val="142633"/>
                </a:solidFill>
              </a:defRPr>
            </a:lvl7pPr>
            <a:lvl8pPr>
              <a:defRPr sz="2100" b="0">
                <a:solidFill>
                  <a:srgbClr val="142633"/>
                </a:solidFill>
              </a:defRPr>
            </a:lvl8pPr>
            <a:lvl9pPr>
              <a:defRPr sz="2100" b="0">
                <a:solidFill>
                  <a:srgbClr val="142633"/>
                </a:solidFill>
              </a:defRPr>
            </a:lvl9pPr>
          </a:lstStyle>
          <a:p xmlns:a="http://schemas.openxmlformats.org/drawingml/2006/main">
            <a:pPr>
              <a:defRPr sz="2100" b="0">
                <a:solidFill>
                  <a:srgbClr val="142633"/>
                </a:solidFill>
              </a:defRPr>
            </a:pPr>
            <a:r>
              <a:rPr sz="2100" b="0">
                <a:solidFill>
                  <a:srgbClr val="142633"/>
                </a:solidFil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654C9826-CA55-4828-88D6-694D0C1EFD71}"/>
              </a:ext>
            </a:extLst>
          </p:cNvPr>
          <p:cNvSpPr>
            <a:spLocks xmlns:a="http://schemas.openxmlformats.org/drawingml/2006/main" noGrp="1"/>
          </p:cNvSpPr>
          <p:nvPr/>
        </p:nvSpPr>
        <p:spPr>
          <a:xfrm xmlns:a="http://schemas.openxmlformats.org/drawingml/2006/main">
            <a:off x="609600" y="58388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defRPr>
            </a:defPPr>
            <a:lvl1pPr>
              <a:defRPr sz="1725" b="0">
                <a:solidFill>
                  <a:srgbClr val="526673"/>
                </a:solidFill>
              </a:defRPr>
            </a:lvl1pPr>
            <a:lvl2pPr>
              <a:defRPr sz="1725" b="0">
                <a:solidFill>
                  <a:srgbClr val="526673"/>
                </a:solidFill>
              </a:defRPr>
            </a:lvl2pPr>
            <a:lvl3pPr>
              <a:defRPr sz="1725" b="0">
                <a:solidFill>
                  <a:srgbClr val="526673"/>
                </a:solidFill>
              </a:defRPr>
            </a:lvl3pPr>
            <a:lvl4pPr>
              <a:defRPr sz="1725" b="0">
                <a:solidFill>
                  <a:srgbClr val="526673"/>
                </a:solidFill>
              </a:defRPr>
            </a:lvl4pPr>
            <a:lvl5pPr>
              <a:defRPr sz="1725" b="0">
                <a:solidFill>
                  <a:srgbClr val="526673"/>
                </a:solidFill>
              </a:defRPr>
            </a:lvl5pPr>
            <a:lvl6pPr>
              <a:defRPr sz="1725" b="0">
                <a:solidFill>
                  <a:srgbClr val="526673"/>
                </a:solidFill>
              </a:defRPr>
            </a:lvl6pPr>
            <a:lvl7pPr>
              <a:defRPr sz="1725" b="0">
                <a:solidFill>
                  <a:srgbClr val="526673"/>
                </a:solidFill>
              </a:defRPr>
            </a:lvl7pPr>
            <a:lvl8pPr>
              <a:defRPr sz="1725" b="0">
                <a:solidFill>
                  <a:srgbClr val="526673"/>
                </a:solidFill>
              </a:defRPr>
            </a:lvl8pPr>
            <a:lvl9pPr>
              <a:defRPr sz="1725" b="0">
                <a:solidFill>
                  <a:srgbClr val="526673"/>
                </a:solidFill>
              </a:defRPr>
            </a:lvl9pPr>
          </a:lstStyle>
          <a:p xmlns:a="http://schemas.openxmlformats.org/drawingml/2006/main">
            <a:pPr>
              <a:defRPr sz="1725" b="0">
                <a:solidFill>
                  <a:srgbClr val="526673"/>
                </a:solidFill>
              </a:defRPr>
            </a:pPr>
            <a:r>
              <a:rPr sz="1725" b="0">
                <a:solidFill>
                  <a:srgbClr val="526673"/>
                </a:solidFill>
              </a:rPr>
              <a:t>Euclid shapes describe whole-object light. No independent Euclid bar PA is available.</a:t>
            </a:r>
          </a:p>
        </p:txBody>
      </p:sp>
    </p:spTree>
    <p:extLst>
      <p:ext uri="{BB962C8B-B14F-4D97-AF65-F5344CB8AC3E}">
        <p14:creationId xmlns:p14="http://schemas.microsoft.com/office/powerpoint/2010/main" val="13768421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6DBF53-89AA-45EF-9C1A-EA47078DD27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defRPr>
            </a:defPPr>
            <a:lvl1pPr>
              <a:defRPr sz="3300" b="1">
                <a:solidFill>
                  <a:srgbClr val="142633"/>
                </a:solidFill>
              </a:defRPr>
            </a:lvl1pPr>
            <a:lvl2pPr>
              <a:defRPr sz="3300" b="1">
                <a:solidFill>
                  <a:srgbClr val="142633"/>
                </a:solidFill>
              </a:defRPr>
            </a:lvl2pPr>
            <a:lvl3pPr>
              <a:defRPr sz="3300" b="1">
                <a:solidFill>
                  <a:srgbClr val="142633"/>
                </a:solidFill>
              </a:defRPr>
            </a:lvl3pPr>
            <a:lvl4pPr>
              <a:defRPr sz="3300" b="1">
                <a:solidFill>
                  <a:srgbClr val="142633"/>
                </a:solidFill>
              </a:defRPr>
            </a:lvl4pPr>
            <a:lvl5pPr>
              <a:defRPr sz="3300" b="1">
                <a:solidFill>
                  <a:srgbClr val="142633"/>
                </a:solidFill>
              </a:defRPr>
            </a:lvl5pPr>
            <a:lvl6pPr>
              <a:defRPr sz="3300" b="1">
                <a:solidFill>
                  <a:srgbClr val="142633"/>
                </a:solidFill>
              </a:defRPr>
            </a:lvl6pPr>
            <a:lvl7pPr>
              <a:defRPr sz="3300" b="1">
                <a:solidFill>
                  <a:srgbClr val="142633"/>
                </a:solidFill>
              </a:defRPr>
            </a:lvl7pPr>
            <a:lvl8pPr>
              <a:defRPr sz="3300" b="1">
                <a:solidFill>
                  <a:srgbClr val="142633"/>
                </a:solidFill>
              </a:defRPr>
            </a:lvl8pPr>
            <a:lvl9pPr>
              <a:defRPr sz="3300" b="1">
                <a:solidFill>
                  <a:srgbClr val="142633"/>
                </a:solidFill>
              </a:defRPr>
            </a:lvl9pPr>
          </a:lstStyle>
          <a:p xmlns:a="http://schemas.openxmlformats.org/drawingml/2006/main">
            <a:pPr>
              <a:defRPr sz="3300" b="1">
                <a:solidFill>
                  <a:srgbClr val="142633"/>
                </a:solidFill>
              </a:defRPr>
            </a:pPr>
            <a:r>
              <a:rPr sz="3300" b="1">
                <a:solidFill>
                  <a:srgbClr val="142633"/>
                </a:solidFill>
              </a:rPr>
              <a:t>Why image review remains necessary</a:t>
            </a:r>
          </a:p>
        </p:txBody>
      </p:sp>
      <p:sp>
        <p:nvSpPr>
          <p:cNvPr id="2" name="">
            <a:extLst xmlns:a="http://schemas.openxmlformats.org/drawingml/2006/main">
              <a:ext uri="{FF2B5EF4-FFF2-40B4-BE49-F238E27FC236}">
                <a16:creationId xmlns:a16="http://schemas.microsoft.com/office/drawing/2014/main" id="{B6BAC726-7F51-4599-8D1A-EEF25638C5A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defRPr>
            </a:defPPr>
            <a:lvl1pPr>
              <a:defRPr sz="1200" b="0">
                <a:solidFill>
                  <a:srgbClr val="526673"/>
                </a:solidFill>
              </a:defRPr>
            </a:lvl1pPr>
            <a:lvl2pPr>
              <a:defRPr sz="1200" b="0">
                <a:solidFill>
                  <a:srgbClr val="526673"/>
                </a:solidFill>
              </a:defRPr>
            </a:lvl2pPr>
            <a:lvl3pPr>
              <a:defRPr sz="1200" b="0">
                <a:solidFill>
                  <a:srgbClr val="526673"/>
                </a:solidFill>
              </a:defRPr>
            </a:lvl3pPr>
            <a:lvl4pPr>
              <a:defRPr sz="1200" b="0">
                <a:solidFill>
                  <a:srgbClr val="526673"/>
                </a:solidFill>
              </a:defRPr>
            </a:lvl4pPr>
            <a:lvl5pPr>
              <a:defRPr sz="1200" b="0">
                <a:solidFill>
                  <a:srgbClr val="526673"/>
                </a:solidFill>
              </a:defRPr>
            </a:lvl5pPr>
            <a:lvl6pPr>
              <a:defRPr sz="1200" b="0">
                <a:solidFill>
                  <a:srgbClr val="526673"/>
                </a:solidFill>
              </a:defRPr>
            </a:lvl6pPr>
            <a:lvl7pPr>
              <a:defRPr sz="1200" b="0">
                <a:solidFill>
                  <a:srgbClr val="526673"/>
                </a:solidFill>
              </a:defRPr>
            </a:lvl7pPr>
            <a:lvl8pPr>
              <a:defRPr sz="1200" b="0">
                <a:solidFill>
                  <a:srgbClr val="526673"/>
                </a:solidFill>
              </a:defRPr>
            </a:lvl8pPr>
            <a:lvl9pPr>
              <a:defRPr sz="1200" b="0">
                <a:solidFill>
                  <a:srgbClr val="526673"/>
                </a:solidFill>
              </a:defRPr>
            </a:lvl9pPr>
          </a:lstStyle>
          <a:p xmlns:a="http://schemas.openxmlformats.org/drawingml/2006/main">
            <a:pPr>
              <a:defRPr sz="1200" b="0">
                <a:solidFill>
                  <a:srgbClr val="526673"/>
                </a:solidFill>
              </a:defRPr>
            </a:pPr>
            <a:r>
              <a:rPr sz="1200" b="0">
                <a:solidFill>
                  <a:srgbClr val="526673"/>
                </a:solidFill>
              </a:rPr>
              <a:t>5 / 6</a:t>
            </a:r>
          </a:p>
        </p:txBody>
      </p:sp>
      <p:pic>
        <p:nvPicPr>
          <p:cNvPr id="3" name="">
            <a:extLst xmlns:a="http://schemas.openxmlformats.org/drawingml/2006/main">
              <a:ext uri="{FF2B5EF4-FFF2-40B4-BE49-F238E27FC236}">
                <a16:creationId xmlns:a16="http://schemas.microsoft.com/office/drawing/2014/main" id="{7C57A571-E555-4436-8D81-ECC6BF185837}"/>
              </a:ext>
            </a:extLst>
          </p:cNvPr>
          <p:cNvPicPr>
            <a:picLocks xmlns:a="http://schemas.openxmlformats.org/drawingml/2006/main" noChangeAspect="1"/>
          </p:cNvPicPr>
          <p:nvPr/>
        </p:nvPicPr>
        <p:blipFill>
          <a:blip xmlns:r="http://schemas.openxmlformats.org/officeDocument/2006/relationships" xmlns:a="http://schemas.openxmlformats.org/drawingml/2006/main" r:embed="R3f3200377c9e4358"/>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1153D1-EB1F-467F-8FC4-CE600175BBEF}"/>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defRPr>
            </a:defPPr>
            <a:lvl1pPr>
              <a:defRPr sz="2175" b="1">
                <a:solidFill>
                  <a:srgbClr val="205F7A"/>
                </a:solidFill>
              </a:defRPr>
            </a:lvl1pPr>
            <a:lvl2pPr>
              <a:defRPr sz="2175" b="1">
                <a:solidFill>
                  <a:srgbClr val="205F7A"/>
                </a:solidFill>
              </a:defRPr>
            </a:lvl2pPr>
            <a:lvl3pPr>
              <a:defRPr sz="2175" b="1">
                <a:solidFill>
                  <a:srgbClr val="205F7A"/>
                </a:solidFill>
              </a:defRPr>
            </a:lvl3pPr>
            <a:lvl4pPr>
              <a:defRPr sz="2175" b="1">
                <a:solidFill>
                  <a:srgbClr val="205F7A"/>
                </a:solidFill>
              </a:defRPr>
            </a:lvl4pPr>
            <a:lvl5pPr>
              <a:defRPr sz="2175" b="1">
                <a:solidFill>
                  <a:srgbClr val="205F7A"/>
                </a:solidFill>
              </a:defRPr>
            </a:lvl5pPr>
            <a:lvl6pPr>
              <a:defRPr sz="2175" b="1">
                <a:solidFill>
                  <a:srgbClr val="205F7A"/>
                </a:solidFill>
              </a:defRPr>
            </a:lvl6pPr>
            <a:lvl7pPr>
              <a:defRPr sz="2175" b="1">
                <a:solidFill>
                  <a:srgbClr val="205F7A"/>
                </a:solidFill>
              </a:defRPr>
            </a:lvl7pPr>
            <a:lvl8pPr>
              <a:defRPr sz="2175" b="1">
                <a:solidFill>
                  <a:srgbClr val="205F7A"/>
                </a:solidFill>
              </a:defRPr>
            </a:lvl8pPr>
            <a:lvl9pPr>
              <a:defRPr sz="2175" b="1">
                <a:solidFill>
                  <a:srgbClr val="205F7A"/>
                </a:solidFill>
              </a:defRPr>
            </a:lvl9pPr>
          </a:lstStyle>
          <a:p xmlns:a="http://schemas.openxmlformats.org/drawingml/2006/main">
            <a:pPr>
              <a:defRPr sz="2175" b="1">
                <a:solidFill>
                  <a:srgbClr val="205F7A"/>
                </a:solidFill>
              </a:defRPr>
            </a:pPr>
            <a:r>
              <a:rPr sz="2175" b="1">
                <a:solidFill>
                  <a:srgbClr val="205F7A"/>
                </a:solidFill>
              </a:rPr>
              <a:t>Example QI galaxy</a:t>
            </a:r>
          </a:p>
        </p:txBody>
      </p:sp>
      <p:sp>
        <p:nvSpPr>
          <p:cNvPr id="5" name="">
            <a:extLst xmlns:a="http://schemas.openxmlformats.org/drawingml/2006/main">
              <a:ext uri="{FF2B5EF4-FFF2-40B4-BE49-F238E27FC236}">
                <a16:creationId xmlns:a16="http://schemas.microsoft.com/office/drawing/2014/main" id="{629924B7-06FC-4765-8982-0D2A933CD662}"/>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defRPr>
            </a:defPPr>
            <a:lvl1pPr>
              <a:defRPr sz="1800" b="0">
                <a:solidFill>
                  <a:srgbClr val="142633"/>
                </a:solidFill>
              </a:defRPr>
            </a:lvl1pPr>
            <a:lvl2pPr>
              <a:defRPr sz="1800" b="0">
                <a:solidFill>
                  <a:srgbClr val="142633"/>
                </a:solidFill>
              </a:defRPr>
            </a:lvl2pPr>
            <a:lvl3pPr>
              <a:defRPr sz="1800" b="0">
                <a:solidFill>
                  <a:srgbClr val="142633"/>
                </a:solidFill>
              </a:defRPr>
            </a:lvl3pPr>
            <a:lvl4pPr>
              <a:defRPr sz="1800" b="0">
                <a:solidFill>
                  <a:srgbClr val="142633"/>
                </a:solidFill>
              </a:defRPr>
            </a:lvl4pPr>
            <a:lvl5pPr>
              <a:defRPr sz="1800" b="0">
                <a:solidFill>
                  <a:srgbClr val="142633"/>
                </a:solidFill>
              </a:defRPr>
            </a:lvl5pPr>
            <a:lvl6pPr>
              <a:defRPr sz="1800" b="0">
                <a:solidFill>
                  <a:srgbClr val="142633"/>
                </a:solidFill>
              </a:defRPr>
            </a:lvl6pPr>
            <a:lvl7pPr>
              <a:defRPr sz="1800" b="0">
                <a:solidFill>
                  <a:srgbClr val="142633"/>
                </a:solidFill>
              </a:defRPr>
            </a:lvl7pPr>
            <a:lvl8pPr>
              <a:defRPr sz="1800" b="0">
                <a:solidFill>
                  <a:srgbClr val="142633"/>
                </a:solidFill>
              </a:defRPr>
            </a:lvl8pPr>
            <a:lvl9pPr>
              <a:defRPr sz="1800" b="0">
                <a:solidFill>
                  <a:srgbClr val="142633"/>
                </a:solidFill>
              </a:defRPr>
            </a:lvl9pPr>
          </a:lstStyle>
          <a:p xmlns:a="http://schemas.openxmlformats.org/drawingml/2006/main">
            <a:pPr>
              <a:defRPr sz="1800" b="0">
                <a:solidFill>
                  <a:srgbClr val="142633"/>
                </a:solidFill>
              </a:defRPr>
            </a:pPr>
            <a:r>
              <a:rPr sz="1800" b="0">
                <a:solidFill>
                  <a:srgbClr val="142633"/>
                </a:solidFill>
              </a:rPr>
              <a:t>−515488559271594427</a:t>
            </a:r>
          </a:p>
        </p:txBody>
      </p:sp>
      <p:sp>
        <p:nvSpPr>
          <p:cNvPr id="6" name="">
            <a:extLst xmlns:a="http://schemas.openxmlformats.org/drawingml/2006/main">
              <a:ext uri="{FF2B5EF4-FFF2-40B4-BE49-F238E27FC236}">
                <a16:creationId xmlns:a16="http://schemas.microsoft.com/office/drawing/2014/main" id="{CBDBB0D6-0F4E-4110-825E-085ABAB5F1E0}"/>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defRPr>
            </a:defPPr>
            <a:lvl1pPr>
              <a:defRPr sz="2100" b="0">
                <a:solidFill>
                  <a:srgbClr val="142633"/>
                </a:solidFill>
              </a:defRPr>
            </a:lvl1pPr>
            <a:lvl2pPr>
              <a:defRPr sz="2100" b="0">
                <a:solidFill>
                  <a:srgbClr val="142633"/>
                </a:solidFill>
              </a:defRPr>
            </a:lvl2pPr>
            <a:lvl3pPr>
              <a:defRPr sz="2100" b="0">
                <a:solidFill>
                  <a:srgbClr val="142633"/>
                </a:solidFill>
              </a:defRPr>
            </a:lvl3pPr>
            <a:lvl4pPr>
              <a:defRPr sz="2100" b="0">
                <a:solidFill>
                  <a:srgbClr val="142633"/>
                </a:solidFill>
              </a:defRPr>
            </a:lvl4pPr>
            <a:lvl5pPr>
              <a:defRPr sz="2100" b="0">
                <a:solidFill>
                  <a:srgbClr val="142633"/>
                </a:solidFill>
              </a:defRPr>
            </a:lvl5pPr>
            <a:lvl6pPr>
              <a:defRPr sz="2100" b="0">
                <a:solidFill>
                  <a:srgbClr val="142633"/>
                </a:solidFill>
              </a:defRPr>
            </a:lvl6pPr>
            <a:lvl7pPr>
              <a:defRPr sz="2100" b="0">
                <a:solidFill>
                  <a:srgbClr val="142633"/>
                </a:solidFill>
              </a:defRPr>
            </a:lvl7pPr>
            <a:lvl8pPr>
              <a:defRPr sz="2100" b="0">
                <a:solidFill>
                  <a:srgbClr val="142633"/>
                </a:solidFill>
              </a:defRPr>
            </a:lvl8pPr>
            <a:lvl9pPr>
              <a:defRPr sz="2100" b="0">
                <a:solidFill>
                  <a:srgbClr val="142633"/>
                </a:solidFill>
              </a:defRPr>
            </a:lvl9pPr>
          </a:lstStyle>
          <a:p xmlns:a="http://schemas.openxmlformats.org/drawingml/2006/main">
            <a:pPr>
              <a:defRPr sz="2100" b="0">
                <a:solidFill>
                  <a:srgbClr val="142633"/>
                </a:solidFill>
              </a:defRPr>
            </a:pPr>
            <a:r>
              <a:rPr sz="2100" b="0">
                <a:solidFill>
                  <a:srgbClr val="142633"/>
                </a:solidFill>
              </a:rPr>
              <a:t>Disc PA varies strongly across the outer interval.</a:t>
            </a:r>
          </a:p>
        </p:txBody>
      </p:sp>
      <p:sp>
        <p:nvSpPr>
          <p:cNvPr id="7" name="">
            <a:extLst xmlns:a="http://schemas.openxmlformats.org/drawingml/2006/main">
              <a:ext uri="{FF2B5EF4-FFF2-40B4-BE49-F238E27FC236}">
                <a16:creationId xmlns:a16="http://schemas.microsoft.com/office/drawing/2014/main" id="{2182F714-9891-4848-B134-0F5A65646FC1}"/>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defRPr>
            </a:defPPr>
            <a:lvl1pPr>
              <a:defRPr sz="2025" b="0">
                <a:solidFill>
                  <a:srgbClr val="142633"/>
                </a:solidFill>
              </a:defRPr>
            </a:lvl1pPr>
            <a:lvl2pPr>
              <a:defRPr sz="2025" b="0">
                <a:solidFill>
                  <a:srgbClr val="142633"/>
                </a:solidFill>
              </a:defRPr>
            </a:lvl2pPr>
            <a:lvl3pPr>
              <a:defRPr sz="2025" b="0">
                <a:solidFill>
                  <a:srgbClr val="142633"/>
                </a:solidFill>
              </a:defRPr>
            </a:lvl3pPr>
            <a:lvl4pPr>
              <a:defRPr sz="2025" b="0">
                <a:solidFill>
                  <a:srgbClr val="142633"/>
                </a:solidFill>
              </a:defRPr>
            </a:lvl4pPr>
            <a:lvl5pPr>
              <a:defRPr sz="2025" b="0">
                <a:solidFill>
                  <a:srgbClr val="142633"/>
                </a:solidFill>
              </a:defRPr>
            </a:lvl5pPr>
            <a:lvl6pPr>
              <a:defRPr sz="2025" b="0">
                <a:solidFill>
                  <a:srgbClr val="142633"/>
                </a:solidFill>
              </a:defRPr>
            </a:lvl6pPr>
            <a:lvl7pPr>
              <a:defRPr sz="2025" b="0">
                <a:solidFill>
                  <a:srgbClr val="142633"/>
                </a:solidFill>
              </a:defRPr>
            </a:lvl7pPr>
            <a:lvl8pPr>
              <a:defRPr sz="2025" b="0">
                <a:solidFill>
                  <a:srgbClr val="142633"/>
                </a:solidFill>
              </a:defRPr>
            </a:lvl8pPr>
            <a:lvl9pPr>
              <a:defRPr sz="2025" b="0">
                <a:solidFill>
                  <a:srgbClr val="142633"/>
                </a:solidFill>
              </a:defRPr>
            </a:lvl9pPr>
          </a:lstStyle>
          <a:p xmlns:a="http://schemas.openxmlformats.org/drawingml/2006/main">
            <a:pPr>
              <a:defRPr sz="2025" b="0">
                <a:solidFill>
                  <a:srgbClr val="142633"/>
                </a:solidFill>
              </a:defRPr>
            </a:pPr>
            <a:r>
              <a:rPr sz="2025" b="0">
                <a:solidFill>
                  <a:srgbClr val="142633"/>
                </a:solidFil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D1B6F66B-C9C6-4B0B-99FF-681E31F10C3C}"/>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defRPr>
            </a:defPPr>
            <a:lvl1pPr>
              <a:defRPr sz="1725" b="0">
                <a:solidFill>
                  <a:srgbClr val="526673"/>
                </a:solidFill>
              </a:defRPr>
            </a:lvl1pPr>
            <a:lvl2pPr>
              <a:defRPr sz="1725" b="0">
                <a:solidFill>
                  <a:srgbClr val="526673"/>
                </a:solidFill>
              </a:defRPr>
            </a:lvl2pPr>
            <a:lvl3pPr>
              <a:defRPr sz="1725" b="0">
                <a:solidFill>
                  <a:srgbClr val="526673"/>
                </a:solidFill>
              </a:defRPr>
            </a:lvl3pPr>
            <a:lvl4pPr>
              <a:defRPr sz="1725" b="0">
                <a:solidFill>
                  <a:srgbClr val="526673"/>
                </a:solidFill>
              </a:defRPr>
            </a:lvl4pPr>
            <a:lvl5pPr>
              <a:defRPr sz="1725" b="0">
                <a:solidFill>
                  <a:srgbClr val="526673"/>
                </a:solidFill>
              </a:defRPr>
            </a:lvl5pPr>
            <a:lvl6pPr>
              <a:defRPr sz="1725" b="0">
                <a:solidFill>
                  <a:srgbClr val="526673"/>
                </a:solidFill>
              </a:defRPr>
            </a:lvl6pPr>
            <a:lvl7pPr>
              <a:defRPr sz="1725" b="0">
                <a:solidFill>
                  <a:srgbClr val="526673"/>
                </a:solidFill>
              </a:defRPr>
            </a:lvl7pPr>
            <a:lvl8pPr>
              <a:defRPr sz="1725" b="0">
                <a:solidFill>
                  <a:srgbClr val="526673"/>
                </a:solidFill>
              </a:defRPr>
            </a:lvl8pPr>
            <a:lvl9pPr>
              <a:defRPr sz="1725" b="0">
                <a:solidFill>
                  <a:srgbClr val="526673"/>
                </a:solidFill>
              </a:defRPr>
            </a:lvl9pPr>
          </a:lstStyle>
          <a:p xmlns:a="http://schemas.openxmlformats.org/drawingml/2006/main">
            <a:pPr>
              <a:defRPr sz="1725" b="0">
                <a:solidFill>
                  <a:srgbClr val="526673"/>
                </a:solidFill>
              </a:defRPr>
            </a:pPr>
            <a:r>
              <a:rPr sz="1725" b="0">
                <a:solidFill>
                  <a:srgbClr val="526673"/>
                </a:solidFill>
              </a:rPr>
              <a:t>A close mean PA match can coexist with unstable fitted geometry.</a:t>
            </a:r>
          </a:p>
        </p:txBody>
      </p:sp>
    </p:spTree>
    <p:extLst>
      <p:ext uri="{BB962C8B-B14F-4D97-AF65-F5344CB8AC3E}">
        <p14:creationId xmlns:p14="http://schemas.microsoft.com/office/powerpoint/2010/main" val="17563557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38D040-BA72-403F-9340-4E42059C259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defRPr>
            </a:defPPr>
            <a:lvl1pPr>
              <a:defRPr sz="3300" b="1">
                <a:solidFill>
                  <a:srgbClr val="142633"/>
                </a:solidFill>
              </a:defRPr>
            </a:lvl1pPr>
            <a:lvl2pPr>
              <a:defRPr sz="3300" b="1">
                <a:solidFill>
                  <a:srgbClr val="142633"/>
                </a:solidFill>
              </a:defRPr>
            </a:lvl2pPr>
            <a:lvl3pPr>
              <a:defRPr sz="3300" b="1">
                <a:solidFill>
                  <a:srgbClr val="142633"/>
                </a:solidFill>
              </a:defRPr>
            </a:lvl3pPr>
            <a:lvl4pPr>
              <a:defRPr sz="3300" b="1">
                <a:solidFill>
                  <a:srgbClr val="142633"/>
                </a:solidFill>
              </a:defRPr>
            </a:lvl4pPr>
            <a:lvl5pPr>
              <a:defRPr sz="3300" b="1">
                <a:solidFill>
                  <a:srgbClr val="142633"/>
                </a:solidFill>
              </a:defRPr>
            </a:lvl5pPr>
            <a:lvl6pPr>
              <a:defRPr sz="3300" b="1">
                <a:solidFill>
                  <a:srgbClr val="142633"/>
                </a:solidFill>
              </a:defRPr>
            </a:lvl6pPr>
            <a:lvl7pPr>
              <a:defRPr sz="3300" b="1">
                <a:solidFill>
                  <a:srgbClr val="142633"/>
                </a:solidFill>
              </a:defRPr>
            </a:lvl7pPr>
            <a:lvl8pPr>
              <a:defRPr sz="3300" b="1">
                <a:solidFill>
                  <a:srgbClr val="142633"/>
                </a:solidFill>
              </a:defRPr>
            </a:lvl8pPr>
            <a:lvl9pPr>
              <a:defRPr sz="3300" b="1">
                <a:solidFill>
                  <a:srgbClr val="142633"/>
                </a:solidFill>
              </a:defRPr>
            </a:lvl9pPr>
          </a:lstStyle>
          <a:p xmlns:a="http://schemas.openxmlformats.org/drawingml/2006/main">
            <a:pPr>
              <a:defRPr sz="3300" b="1">
                <a:solidFill>
                  <a:srgbClr val="142633"/>
                </a:solidFill>
              </a:defRPr>
            </a:pPr>
            <a:r>
              <a:rPr sz="3300" b="1">
                <a:solidFill>
                  <a:srgbClr val="142633"/>
                </a:solidFill>
              </a:rPr>
              <a:t>Review collection and next steps</a:t>
            </a:r>
          </a:p>
        </p:txBody>
      </p:sp>
      <p:sp>
        <p:nvSpPr>
          <p:cNvPr id="2" name="">
            <a:extLst xmlns:a="http://schemas.openxmlformats.org/drawingml/2006/main">
              <a:ext uri="{FF2B5EF4-FFF2-40B4-BE49-F238E27FC236}">
                <a16:creationId xmlns:a16="http://schemas.microsoft.com/office/drawing/2014/main" id="{02099666-E01C-4920-A393-41F21A7A019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defRPr>
            </a:defPPr>
            <a:lvl1pPr>
              <a:defRPr sz="1200" b="0">
                <a:solidFill>
                  <a:srgbClr val="526673"/>
                </a:solidFill>
              </a:defRPr>
            </a:lvl1pPr>
            <a:lvl2pPr>
              <a:defRPr sz="1200" b="0">
                <a:solidFill>
                  <a:srgbClr val="526673"/>
                </a:solidFill>
              </a:defRPr>
            </a:lvl2pPr>
            <a:lvl3pPr>
              <a:defRPr sz="1200" b="0">
                <a:solidFill>
                  <a:srgbClr val="526673"/>
                </a:solidFill>
              </a:defRPr>
            </a:lvl3pPr>
            <a:lvl4pPr>
              <a:defRPr sz="1200" b="0">
                <a:solidFill>
                  <a:srgbClr val="526673"/>
                </a:solidFill>
              </a:defRPr>
            </a:lvl4pPr>
            <a:lvl5pPr>
              <a:defRPr sz="1200" b="0">
                <a:solidFill>
                  <a:srgbClr val="526673"/>
                </a:solidFill>
              </a:defRPr>
            </a:lvl5pPr>
            <a:lvl6pPr>
              <a:defRPr sz="1200" b="0">
                <a:solidFill>
                  <a:srgbClr val="526673"/>
                </a:solidFill>
              </a:defRPr>
            </a:lvl6pPr>
            <a:lvl7pPr>
              <a:defRPr sz="1200" b="0">
                <a:solidFill>
                  <a:srgbClr val="526673"/>
                </a:solidFill>
              </a:defRPr>
            </a:lvl7pPr>
            <a:lvl8pPr>
              <a:defRPr sz="1200" b="0">
                <a:solidFill>
                  <a:srgbClr val="526673"/>
                </a:solidFill>
              </a:defRPr>
            </a:lvl8pPr>
            <a:lvl9pPr>
              <a:defRPr sz="1200" b="0">
                <a:solidFill>
                  <a:srgbClr val="526673"/>
                </a:solidFill>
              </a:defRPr>
            </a:lvl9pPr>
          </a:lstStyle>
          <a:p xmlns:a="http://schemas.openxmlformats.org/drawingml/2006/main">
            <a:pPr>
              <a:defRPr sz="1200" b="0">
                <a:solidFill>
                  <a:srgbClr val="526673"/>
                </a:solidFill>
              </a:defRPr>
            </a:pPr>
            <a:r>
              <a:rPr sz="1200" b="0">
                <a:solidFill>
                  <a:srgbClr val="526673"/>
                </a:solidFill>
              </a:rPr>
              <a:t>6 / 6</a:t>
            </a:r>
          </a:p>
        </p:txBody>
      </p:sp>
      <p:graphicFrame>
        <p:nvGraphicFramePr>
          <p:cNvPr id="3" name="">
            <a:extLst xmlns:a="http://schemas.openxmlformats.org/drawingml/2006/main">
              <a:ext uri="{FF2B5EF4-FFF2-40B4-BE49-F238E27FC236}">
                <a16:creationId xmlns:a16="http://schemas.microsoft.com/office/drawing/2014/main" id="{3A243066-77B2-4774-BFC2-18535BE221E4}"/>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EEC270D-B4CB-464B-8425-CA121512A509}"/>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defRPr>
            </a:defPPr>
            <a:lvl1pPr>
              <a:defRPr sz="2250" b="1">
                <a:solidFill>
                  <a:srgbClr val="205F7A"/>
                </a:solidFill>
              </a:defRPr>
            </a:lvl1pPr>
            <a:lvl2pPr>
              <a:defRPr sz="2250" b="1">
                <a:solidFill>
                  <a:srgbClr val="205F7A"/>
                </a:solidFill>
              </a:defRPr>
            </a:lvl2pPr>
            <a:lvl3pPr>
              <a:defRPr sz="2250" b="1">
                <a:solidFill>
                  <a:srgbClr val="205F7A"/>
                </a:solidFill>
              </a:defRPr>
            </a:lvl3pPr>
            <a:lvl4pPr>
              <a:defRPr sz="2250" b="1">
                <a:solidFill>
                  <a:srgbClr val="205F7A"/>
                </a:solidFill>
              </a:defRPr>
            </a:lvl4pPr>
            <a:lvl5pPr>
              <a:defRPr sz="2250" b="1">
                <a:solidFill>
                  <a:srgbClr val="205F7A"/>
                </a:solidFill>
              </a:defRPr>
            </a:lvl5pPr>
            <a:lvl6pPr>
              <a:defRPr sz="2250" b="1">
                <a:solidFill>
                  <a:srgbClr val="205F7A"/>
                </a:solidFill>
              </a:defRPr>
            </a:lvl6pPr>
            <a:lvl7pPr>
              <a:defRPr sz="2250" b="1">
                <a:solidFill>
                  <a:srgbClr val="205F7A"/>
                </a:solidFill>
              </a:defRPr>
            </a:lvl7pPr>
            <a:lvl8pPr>
              <a:defRPr sz="2250" b="1">
                <a:solidFill>
                  <a:srgbClr val="205F7A"/>
                </a:solidFill>
              </a:defRPr>
            </a:lvl8pPr>
            <a:lvl9pPr>
              <a:defRPr sz="2250" b="1">
                <a:solidFill>
                  <a:srgbClr val="205F7A"/>
                </a:solidFill>
              </a:defRPr>
            </a:lvl9pPr>
          </a:lstStyle>
          <a:p xmlns:a="http://schemas.openxmlformats.org/drawingml/2006/main">
            <a:pPr>
              <a:defRPr sz="2250" b="1">
                <a:solidFill>
                  <a:srgbClr val="205F7A"/>
                </a:solidFill>
              </a:defRPr>
            </a:pPr>
            <a:r>
              <a:rPr sz="2250" b="1">
                <a:solidFill>
                  <a:srgbClr val="205F7A"/>
                </a:solidFill>
              </a:rPr>
              <a:t>47 PDFs contain 463 pages at six galaxies per page.</a:t>
            </a:r>
          </a:p>
        </p:txBody>
      </p:sp>
      <p:sp>
        <p:nvSpPr>
          <p:cNvPr id="5" name="">
            <a:extLst xmlns:a="http://schemas.openxmlformats.org/drawingml/2006/main">
              <a:ext uri="{FF2B5EF4-FFF2-40B4-BE49-F238E27FC236}">
                <a16:creationId xmlns:a16="http://schemas.microsoft.com/office/drawing/2014/main" id="{19D481F2-1995-4A0E-A549-775A994CB92B}"/>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defRPr>
            </a:defPPr>
            <a:lvl1pPr>
              <a:defRPr sz="2025" b="0">
                <a:solidFill>
                  <a:srgbClr val="142633"/>
                </a:solidFill>
              </a:defRPr>
            </a:lvl1pPr>
            <a:lvl2pPr>
              <a:defRPr sz="2025" b="0">
                <a:solidFill>
                  <a:srgbClr val="142633"/>
                </a:solidFill>
              </a:defRPr>
            </a:lvl2pPr>
            <a:lvl3pPr>
              <a:defRPr sz="2025" b="0">
                <a:solidFill>
                  <a:srgbClr val="142633"/>
                </a:solidFill>
              </a:defRPr>
            </a:lvl3pPr>
            <a:lvl4pPr>
              <a:defRPr sz="2025" b="0">
                <a:solidFill>
                  <a:srgbClr val="142633"/>
                </a:solidFill>
              </a:defRPr>
            </a:lvl4pPr>
            <a:lvl5pPr>
              <a:defRPr sz="2025" b="0">
                <a:solidFill>
                  <a:srgbClr val="142633"/>
                </a:solidFill>
              </a:defRPr>
            </a:lvl5pPr>
            <a:lvl6pPr>
              <a:defRPr sz="2025" b="0">
                <a:solidFill>
                  <a:srgbClr val="142633"/>
                </a:solidFill>
              </a:defRPr>
            </a:lvl6pPr>
            <a:lvl7pPr>
              <a:defRPr sz="2025" b="0">
                <a:solidFill>
                  <a:srgbClr val="142633"/>
                </a:solidFill>
              </a:defRPr>
            </a:lvl7pPr>
            <a:lvl8pPr>
              <a:defRPr sz="2025" b="0">
                <a:solidFill>
                  <a:srgbClr val="142633"/>
                </a:solidFill>
              </a:defRPr>
            </a:lvl8pPr>
            <a:lvl9pPr>
              <a:defRPr sz="2025" b="0">
                <a:solidFill>
                  <a:srgbClr val="142633"/>
                </a:solidFill>
              </a:defRPr>
            </a:lvl9pPr>
          </a:lstStyle>
          <a:p xmlns:a="http://schemas.openxmlformats.org/drawingml/2006/main">
            <a:pPr>
              <a:defRPr sz="2025" b="0">
                <a:solidFill>
                  <a:srgbClr val="142633"/>
                </a:solidFill>
              </a:defRPr>
            </a:pPr>
            <a:r>
              <a:rPr sz="2025" b="0">
                <a:solidFill>
                  <a:srgbClr val="142633"/>
                </a:solidFill>
              </a:rPr>
              <a:t>Review QI warnings and failures using the image and profiles.</a:t>
            </a:r>
          </a:p>
          <a:p xmlns:a="http://schemas.openxmlformats.org/drawingml/2006/main">
            <a:pPr>
              <a:defRPr sz="2025" b="0">
                <a:solidFill>
                  <a:srgbClr val="142633"/>
                </a:solidFill>
              </a:defRPr>
            </a:pPr>
            <a:r>
              <a:rPr sz="2025" b="0">
                <a:solidFill>
                  <a:srgbClr val="142633"/>
                </a:solidFill>
              </a:rPr>
              <a:t>Check physical component identification in the 527 NoQI cases.</a:t>
            </a:r>
          </a:p>
          <a:p xmlns:a="http://schemas.openxmlformats.org/drawingml/2006/main">
            <a:pPr>
              <a:defRPr sz="2025" b="0">
                <a:solidFill>
                  <a:srgbClr val="142633"/>
                </a:solidFill>
              </a:defRPr>
            </a:pPr>
            <a:r>
              <a:rPr sz="2025" b="0">
                <a:solidFill>
                  <a:srgbClr val="142633"/>
                </a:solidFill>
              </a:rPr>
              <a:t>Record accepted geometry before final deprojection.</a:t>
            </a:r>
          </a:p>
        </p:txBody>
      </p:sp>
      <p:sp>
        <p:nvSpPr>
          <p:cNvPr id="6" name="">
            <a:extLst xmlns:a="http://schemas.openxmlformats.org/drawingml/2006/main">
              <a:ext uri="{FF2B5EF4-FFF2-40B4-BE49-F238E27FC236}">
                <a16:creationId xmlns:a16="http://schemas.microsoft.com/office/drawing/2014/main" id="{79DAE87B-D9C3-4076-B174-C0D002F6879E}"/>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defRPr>
            </a:defPPr>
            <a:lvl1pPr>
              <a:defRPr sz="1650" b="0">
                <a:solidFill>
                  <a:srgbClr val="526673"/>
                </a:solidFill>
              </a:defRPr>
            </a:lvl1pPr>
            <a:lvl2pPr>
              <a:defRPr sz="1650" b="0">
                <a:solidFill>
                  <a:srgbClr val="526673"/>
                </a:solidFill>
              </a:defRPr>
            </a:lvl2pPr>
            <a:lvl3pPr>
              <a:defRPr sz="1650" b="0">
                <a:solidFill>
                  <a:srgbClr val="526673"/>
                </a:solidFill>
              </a:defRPr>
            </a:lvl3pPr>
            <a:lvl4pPr>
              <a:defRPr sz="1650" b="0">
                <a:solidFill>
                  <a:srgbClr val="526673"/>
                </a:solidFill>
              </a:defRPr>
            </a:lvl4pPr>
            <a:lvl5pPr>
              <a:defRPr sz="1650" b="0">
                <a:solidFill>
                  <a:srgbClr val="526673"/>
                </a:solidFill>
              </a:defRPr>
            </a:lvl5pPr>
            <a:lvl6pPr>
              <a:defRPr sz="1650" b="0">
                <a:solidFill>
                  <a:srgbClr val="526673"/>
                </a:solidFill>
              </a:defRPr>
            </a:lvl6pPr>
            <a:lvl7pPr>
              <a:defRPr sz="1650" b="0">
                <a:solidFill>
                  <a:srgbClr val="526673"/>
                </a:solidFill>
              </a:defRPr>
            </a:lvl7pPr>
            <a:lvl8pPr>
              <a:defRPr sz="1650" b="0">
                <a:solidFill>
                  <a:srgbClr val="526673"/>
                </a:solidFill>
              </a:defRPr>
            </a:lvl8pPr>
            <a:lvl9pPr>
              <a:defRPr sz="1650" b="0">
                <a:solidFill>
                  <a:srgbClr val="526673"/>
                </a:solidFill>
              </a:defRPr>
            </a:lvl9pPr>
          </a:lstStyle>
          <a:p xmlns:a="http://schemas.openxmlformats.org/drawingml/2006/main">
            <a:pPr>
              <a:defRPr sz="1650" b="0">
                <a:solidFill>
                  <a:srgbClr val="526673"/>
                </a:solidFill>
              </a:defRPr>
            </a:pPr>
            <a:r>
              <a:rPr sz="1650" b="0">
                <a:solidFill>
                  <a:srgbClr val="526673"/>
                </a:solidFill>
              </a:rPr>
              <a:t>The galaxy index gives the PNG path, PDF batch, page and position.</a:t>
            </a:r>
          </a:p>
        </p:txBody>
      </p:sp>
    </p:spTree>
    <p:extLst>
      <p:ext uri="{BB962C8B-B14F-4D97-AF65-F5344CB8AC3E}">
        <p14:creationId xmlns:p14="http://schemas.microsoft.com/office/powerpoint/2010/main" val="621042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2026-10-19T18:15:32.6640000Z</dcterms:created>
  <dcterms:modified xsi:type="dcterms:W3CDTF">2026-10-19T18:15:32.6640000Z</dcterms:modified>
</coreProperties>
</file>