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b1b14dd18684269" /><Relationship Type="http://schemas.openxmlformats.org/officeDocument/2006/relationships/extended-properties" Target="/docProps/app.xml" Id="R77ff8ce1a6564fb7" /><Relationship Type="http://schemas.openxmlformats.org/officeDocument/2006/relationships/officeDocument" Target="/ppt/presentation.xml" Id="R7ef1e77c1f684694" /></Relationships>
</file>

<file path=ppt/presentation.xml><?xml version="1.0" encoding="utf-8"?>
<p:presentation xmlns:p="http://schemas.openxmlformats.org/presentationml/2006/main">
  <p:sldMasterIdLst>
    <p:sldMasterId xmlns:r="http://schemas.openxmlformats.org/officeDocument/2006/relationships" id="2147483648" r:id="R31799ab275a242e8"/>
  </p:sldMasterIdLst>
  <p:notesMasterIdLst>
    <p:notesMasterId xmlns:r="http://schemas.openxmlformats.org/officeDocument/2006/relationships" r:id="R9794e6d7566e4fd0"/>
  </p:notesMasterIdLst>
  <p:sldIdLst>
    <p:sldId xmlns:r="http://schemas.openxmlformats.org/officeDocument/2006/relationships" id="256" r:id="R0ac8f0504ecc4dec"/>
    <p:sldId xmlns:r="http://schemas.openxmlformats.org/officeDocument/2006/relationships" id="257" r:id="R50a61a1378c54494"/>
    <p:sldId xmlns:r="http://schemas.openxmlformats.org/officeDocument/2006/relationships" id="258" r:id="R719101608c034611"/>
    <p:sldId xmlns:r="http://schemas.openxmlformats.org/officeDocument/2006/relationships" id="259" r:id="Raf7e2b20bbc54af1"/>
    <p:sldId xmlns:r="http://schemas.openxmlformats.org/officeDocument/2006/relationships" id="260" r:id="R3beaccce5fb0490d"/>
    <p:sldId xmlns:r="http://schemas.openxmlformats.org/officeDocument/2006/relationships" id="261" r:id="R61767dc9ea294c44"/>
    <p:sldId xmlns:r="http://schemas.openxmlformats.org/officeDocument/2006/relationships" id="262" r:id="R3dd3111a6208444a"/>
    <p:sldId xmlns:r="http://schemas.openxmlformats.org/officeDocument/2006/relationships" id="263" r:id="R1cd7c060fc0d4668"/>
    <p:sldId xmlns:r="http://schemas.openxmlformats.org/officeDocument/2006/relationships" id="264" r:id="R0aadecc86592453e"/>
    <p:sldId xmlns:r="http://schemas.openxmlformats.org/officeDocument/2006/relationships" id="265" r:id="R97f4904394ae44c0"/>
    <p:sldId xmlns:r="http://schemas.openxmlformats.org/officeDocument/2006/relationships" id="266" r:id="R99f2178569e14f49"/>
    <p:sldId xmlns:r="http://schemas.openxmlformats.org/officeDocument/2006/relationships" id="267" r:id="R706bd189b99a4b23"/>
    <p:sldId xmlns:r="http://schemas.openxmlformats.org/officeDocument/2006/relationships" id="268" r:id="R4f6544e65d434a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b51688a40a04bb6" /><Relationship Type="http://schemas.openxmlformats.org/officeDocument/2006/relationships/slideMaster" Target="/ppt/slideMasters/slideMaster1.xml" Id="R31799ab275a242e8" /><Relationship Type="http://schemas.openxmlformats.org/officeDocument/2006/relationships/notesMaster" Target="/ppt/notesMasters/notesMaster1.xml" Id="R9794e6d7566e4fd0" /><Relationship Type="http://schemas.openxmlformats.org/officeDocument/2006/relationships/presProps" Target="/ppt/presProps.xml" Id="R56f990284ed74aef" /><Relationship Type="http://schemas.openxmlformats.org/officeDocument/2006/relationships/tableStyles" Target="/ppt/tableStyles.xml" Id="R3589101932d04c64" /><Relationship Type="http://schemas.openxmlformats.org/officeDocument/2006/relationships/slide" Target="/ppt/slides/slide1.xml" Id="R0ac8f0504ecc4dec" /><Relationship Type="http://schemas.openxmlformats.org/officeDocument/2006/relationships/slide" Target="/ppt/slides/slide2.xml" Id="R50a61a1378c54494" /><Relationship Type="http://schemas.openxmlformats.org/officeDocument/2006/relationships/slide" Target="/ppt/slides/slide3.xml" Id="R719101608c034611" /><Relationship Type="http://schemas.openxmlformats.org/officeDocument/2006/relationships/slide" Target="/ppt/slides/slide4.xml" Id="Raf7e2b20bbc54af1" /><Relationship Type="http://schemas.openxmlformats.org/officeDocument/2006/relationships/slide" Target="/ppt/slides/slide5.xml" Id="R3beaccce5fb0490d" /><Relationship Type="http://schemas.openxmlformats.org/officeDocument/2006/relationships/slide" Target="/ppt/slides/slide6.xml" Id="R61767dc9ea294c44" /><Relationship Type="http://schemas.openxmlformats.org/officeDocument/2006/relationships/slide" Target="/ppt/slides/slide7.xml" Id="R3dd3111a6208444a" /><Relationship Type="http://schemas.openxmlformats.org/officeDocument/2006/relationships/slide" Target="/ppt/slides/slide8.xml" Id="R1cd7c060fc0d4668" /><Relationship Type="http://schemas.openxmlformats.org/officeDocument/2006/relationships/slide" Target="/ppt/slides/slide9.xml" Id="R0aadecc86592453e" /><Relationship Type="http://schemas.openxmlformats.org/officeDocument/2006/relationships/slide" Target="/ppt/slides/slide10.xml" Id="R97f4904394ae44c0" /><Relationship Type="http://schemas.openxmlformats.org/officeDocument/2006/relationships/slide" Target="/ppt/slides/slide11.xml" Id="R99f2178569e14f49" /><Relationship Type="http://schemas.openxmlformats.org/officeDocument/2006/relationships/slide" Target="/ppt/slides/slide12.xml" Id="R706bd189b99a4b23" /><Relationship Type="http://schemas.openxmlformats.org/officeDocument/2006/relationships/slide" Target="/ppt/slides/slide13.xml" Id="R4f6544e65d434a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2c77aacc1445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9c879af25f4862" /><Relationship Type="http://schemas.openxmlformats.org/officeDocument/2006/relationships/notesMaster" Target="/ppt/notesMasters/notesMaster1.xml" Id="R28ef252f9fbc44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f03e6c80e445a9" /><Relationship Type="http://schemas.openxmlformats.org/officeDocument/2006/relationships/notesMaster" Target="/ppt/notesMasters/notesMaster1.xml" Id="Rc2cf51261d6543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d8bf1f27cc4f77" /><Relationship Type="http://schemas.openxmlformats.org/officeDocument/2006/relationships/notesMaster" Target="/ppt/notesMasters/notesMaster1.xml" Id="Rb39dd99679c143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04b2131a164ee2" /><Relationship Type="http://schemas.openxmlformats.org/officeDocument/2006/relationships/notesMaster" Target="/ppt/notesMasters/notesMaster1.xml" Id="R1e476e979de449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e73bc1ab284178" /><Relationship Type="http://schemas.openxmlformats.org/officeDocument/2006/relationships/notesMaster" Target="/ppt/notesMasters/notesMaster1.xml" Id="R234b0afd405b49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35a7e0d7165f4ab1" /><Relationship Type="http://schemas.openxmlformats.org/officeDocument/2006/relationships/notesMaster" Target="/ppt/notesMasters/notesMaster1.xml" Id="Rddbfa364ed7b4a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f820a03f1a4327" /><Relationship Type="http://schemas.openxmlformats.org/officeDocument/2006/relationships/notesMaster" Target="/ppt/notesMasters/notesMaster1.xml" Id="R4d91609f9c2949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3a9c89b6f3455d" /><Relationship Type="http://schemas.openxmlformats.org/officeDocument/2006/relationships/notesMaster" Target="/ppt/notesMasters/notesMaster1.xml" Id="R9ec9e5a4a94949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3c3b3cdfa34d69" /><Relationship Type="http://schemas.openxmlformats.org/officeDocument/2006/relationships/notesMaster" Target="/ppt/notesMasters/notesMaster1.xml" Id="R72a954ecf608407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1bd2c067514b94" /><Relationship Type="http://schemas.openxmlformats.org/officeDocument/2006/relationships/notesMaster" Target="/ppt/notesMasters/notesMaster1.xml" Id="R925b1f2d44274a3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612be7d7cf14dde" /><Relationship Type="http://schemas.openxmlformats.org/officeDocument/2006/relationships/notesMaster" Target="/ppt/notesMasters/notesMaster1.xml" Id="Rd62a29b694f842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bdc09516db14fc7" /><Relationship Type="http://schemas.openxmlformats.org/officeDocument/2006/relationships/notesMaster" Target="/ppt/notesMasters/notesMaster1.xml" Id="R7db48d669e9441f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cae9799641d46a5" /><Relationship Type="http://schemas.openxmlformats.org/officeDocument/2006/relationships/notesMaster" Target="/ppt/notesMasters/notesMaster1.xml" Id="Rb551efbe0e6446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QI includes any geometry flag, failed fit or partial requested coverage. NoQI is a screening label and does not certify physical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Revised chart policy: remove nearly_face_on_PA_uncertain from all counts, and discard disc_PA_unstable for the 200 nearly-face-on fits. Counts now 0=601,1=963,2=466,3=176,4=1;flagged1606. Original source flags and QI/NoQI review groups remain unchanged. Previous calculation for provenance: Flag multiplicity computed directly from non-empty semicolon-separated codex_quality_flags for provisional_fit rows: 0=546,1=850,2=497,3=291,4=23. Flagged subtotal1661. All stacked segments use denominator2777. Failed fits are separate and not classified by flag count. Partial coverage is not counted as a geometry flag.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Revised flag display: remove face-on category. Exclude 200 face-on fits from the disc PA eligible population, including 182 with disc_PA_unstable. Remaining disc PA instability609/2007=30.3%. Other flag percentages retain denominator2207. Failure chart unchanged. Previous counts retained here for provenance only. Failure counts are grouped directly from codex_error for codex_fit_status=fit_failed. 431 entries say ValueError: Insufficient bar/disc isophotes in selected radial ranges, triggered when either selected interval has fewer than three reliable isophotes. 138 say Only N reliable isophotes; inspect profile, with N&lt;10. One says Catalogue centre is not on a detected galaxy. These are recorded failure stages, not an independent diagnosis of physical cause. Left chart denominator2207, overlapping flags. Right chart denominator570, exclusive failures. Quality flag counts1210,791,573,200,28,7. 62 partial requested cutouts separately trigger QI.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The unflagged comparison includes 546 fits, including 19 partial cutouts, and differs from the 527 NoQI group. Codex fits Photutils isophotes, converts their pixel major-axis vectors using the local FITS WCS, and calculates degrees(atan2(East, North)) modulo 180. It uses axial means in selected disc and bar radial ranges. These are observed sky PAs before deprojection. North towards East is counterclockwise on a North-up East-left display, clockwise if East is right. Euclid documents raw POSITION_ANGLE as CCW from image x (SExtractor THETA_IMAGE), not necessarily celestial East. Our +90 adjustment follows the WCS conversion. For North-up East-left images, sky PA = (CCW image angle from +x +90) modulo180. This reference change is ALREADY included in the original WCS conversion. The adopted ADDITIONAL +90 follows that conversion and cannot be explained by counting the same reference change again. The observed offset is consistent with POSITION_ANGLE being referenced to the detection image y-axis rather than the documented x-axis, assuming the same rotation sense and major-axis definition. Interpreting a y-referenced value as x-referenced introduces a quarter-turn, cancelled by the additional 90-degree adjustment modulo180. This is a plausible explanation, not a confirmed documentation or pipeline error. The 2777 local North offsets have median absolute 0.141 degrees and maximum 0.604 degrees. No additional thumbnail rotation is applied. We adopt the correction without asserting an official Euclid North/East reference change. Euclid source: https://euclid.esac.esa.int/dr/q1/dpdd/merdpd/dpcards/mer_finalcatalog.html#mer-main-catalog-fits. Inclinations assume a circular thin disc, q0=0. No separate disc-component b/a values are populated. These are consistency checks, not independent true outer-disc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Image source: MER_VIS_explanation_work/example_5.png, prepared from this galaxy native FITS cutout and saved ellipse profile. Disc PA 151.1468 degrees, inclination 27.2469 degrees, disc PA scatter 35.4256 degrees. Original flags: disc_PA_unstable;small_bar_sensitive_to_resolution. Orange and green identify selected bar and disc intervals. The close adjusted Euclid mean PA does not remove radial instability.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Output root: D:/Dropbox/Public Documents/UCLAN/MSc Research/Euclid/MER_VIS_galaxy_reports/all_2777. QI = 1661 flagged fits + 570 failures + 19 otherwise unflagged partial cases. NoQI = 527. Each PDF contains at most 60 galaxies. Index: MER_VIS_report_review_index.csv. The source FITS files and fitting manifest remain unchanged. All fitted geometry remains provisional until physical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-520196615291310590: Bar interval upper bound: 1.15 arcsec (threshold &lt;1.5). Original flag: small_bar_sensitive_to_resolution. Source: D:\Dropbox\Public Documents\UCLAN\MSc Research\Euclid\MER_VIS_galaxy_reports\all_2777\png_QI\0001_Euclid_-520196615291310590_MER_VIS_geometry_report_QI.png Galaxy -519465826287599179: Bar interval upper bound: 1.48 arcsec (threshold &lt;1.5). Original flag: small_bar_sensitive_to_resolution. Source: D:\Dropbox\Public Documents\UCLAN\MSc Research\Euclid\MER_VIS_galaxy_reports\all_2777\png_QI\0002_Euclid_-519465826287599179_MER_VIS_geometry_report_QI.png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-591287408514481131: Disc PA radial scatter: 11.2° (threshold &gt;10°). Original flag: disc_PA_unstable. Source: D:\Dropbox\Public Documents\UCLAN\MSc Research\Euclid\MER_VIS_galaxy_reports\all_2777\png_QI\0034_Euclid_-591287408514481131_MER_VIS_geometry_report_QI.png Galaxy -591265046503894332: Disc PA radial scatter: 12.4° (threshold &gt;10°). Original flag: disc_PA_unstable. Source: D:\Dropbox\Public Documents\UCLAN\MSc Research\Euclid\MER_VIS_galaxy_reports\all_2777\png_QI\0109_Euclid_-591265046503894332_MER_VIS_geometry_report_QI.png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-548398753282885623: Disc ellipticity span: 0.168 (threshold &gt;0.15). Original flag: disc_axis_ratio_unstable. Source: D:\Dropbox\Public Documents\UCLAN\MSc Research\Euclid\MER_VIS_galaxy_reports\all_2777\png_QI\0020_Euclid_-548398753282885623_MER_VIS_geometry_report_QI.png Galaxy 2694485455649440299: Disc ellipticity span: 0.196 (threshold &gt;0.15). Original flag: disc_axis_ratio_unstable. Source: D:\Dropbox\Public Documents\UCLAN\MSc Research\Euclid\MER_VIS_galaxy_reports\all_2777\png_QI\0031_Euclid_2694485455649440299_MER_VIS_geometry_report_QI.png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-560500769490472523: Bar PA radial scatter: 10.8° (threshold &gt;10°). Original flag: bar_PA_unstable. Source: D:\Dropbox\Public Documents\UCLAN\MSc Research\Euclid\MER_VIS_galaxy_reports\all_2777\png_QI\0401_Euclid_-560500769490472523_MER_VIS_geometry_report_QI.png Galaxy -630490045487791289: Bar PA radial scatter: 11.6° (threshold &gt;10°). Original flag: bar_PA_unstable. Source: D:\Dropbox\Public Documents\UCLAN\MSc Research\Euclid\MER_VIS_galaxy_reports\all_2777\png_QI\0514_Euclid_-630490045487791289_MER_VIS_geometry_report_QI.png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2654979879662853093: Median bar ellipticity: 0.180 (threshold &lt;0.25). Original flag: weak_ellipse_bar_signature. Source: D:\Dropbox\Public Documents\UCLAN\MSc Research\Euclid\MER_VIS_galaxy_reports\all_2777\png_QI\2423_Euclid_2654979879662853093_MER_VIS_geometry_report_QI.png Galaxy 2719973573665957979: Median bar ellipticity: 0.222 (threshold &lt;0.25). Original flag: weak_ellipse_bar_signature. Source: D:\Dropbox\Public Documents\UCLAN\MSc Research\Euclid\MER_VIS_galaxy_reports\all_2777\png_QI\2469_Euclid_2719973573665957979_MER_VIS_geometry_report_QI.png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-519246610291156594: Insufficient bar/disc isophotes in selected radial ranges. Reliable ellipses overall: 20. Original flag: none; failed fit. Source: D:\Dropbox\Public Documents\UCLAN\MSc Research\Euclid\MER_VIS_galaxy_reports\all_2777\png_QI\0003_Euclid_-519246610291156594_MER_VIS_geometry_report_QI.png Galaxy -517222724292083077: Insufficient bar/disc isophotes in selected radial ranges. Reliable ellipses overall: 16. Original flag: none; failed fit. Source: D:\Dropbox\Public Documents\UCLAN\MSc Research\Euclid\MER_VIS_galaxy_reports\all_2777\png_QI\0008_Euclid_-517222724292083077_MER_VIS_geometry_report_QI.png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Two examples selected from the original fitting manifest with exactly one nonempty original geometry flag, no partial coverage, and no secondary informational flag. Failed cases selected by recorded error and have no adopted geometry. Orange=bar interval; green=disc interval; blue=reliable samples; grey=rejected samples. Image and profiles are crops from the existing full-resolution report cards; no refitting or image rotation. Interpretation concerns the numerical trigger, not a confirmed physical cause. Galaxy -550147948285020121: Only 8 reliable isophotes; inspect profile. Reliable ellipses overall: 8. Original flag: none; failed fit. Source: D:\Dropbox\Public Documents\UCLAN\MSc Research\Euclid\MER_VIS_galaxy_reports\all_2777\png_QI\0016_Euclid_-550147948285020121_MER_VIS_geometry_report_QI.png Galaxy -560894756493198556: Only 9 reliable isophotes; inspect profile. Reliable ellipses overall: 9. Original flag: none; failed fit. Source: D:\Dropbox\Public Documents\UCLAN\MSc Research\Euclid\MER_VIS_galaxy_reports\all_2777\png_QI\0281_Euclid_-560894756493198556_MER_VIS_geometry_report_QI.png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c7e35454234cb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ed084e42c06407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9d507677e1f4b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87b16590904465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5a02485f4264f4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88d44dff8e945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847F46-F411-4291-AF23-1787FA9DC59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4FCFF02-0C44-4B0D-A843-9F3BE7AC7C4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5E491D4-DB32-4DA6-A331-831B02794C5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C35018-8414-48E2-A1C5-41B7ED0388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4D0247E-8A76-47FA-8126-85010A048C7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0AF04F-4E85-41FC-92F8-56192D4634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0C5725B-62EA-4B0A-8264-E4D9B775E7F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05D2A95-7722-4D23-8366-5E32D48A308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DFD4D8-C429-4ED0-B28A-EF105E92CE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7A0366-C390-4FD3-AD5B-9DEB644857A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1e544782fd4c6b" /><Relationship Type="http://schemas.openxmlformats.org/officeDocument/2006/relationships/slideLayout" Target="/ppt/slideLayouts/slideLayout1.xml" Id="R0b3e3ac33b6c41e6" /><Relationship Type="http://schemas.openxmlformats.org/officeDocument/2006/relationships/slideLayout" Target="/ppt/slideLayouts/slideLayout2.xml" Id="R0938021aa0db465c" /><Relationship Type="http://schemas.openxmlformats.org/officeDocument/2006/relationships/slideLayout" Target="/ppt/slideLayouts/slideLayout3.xml" Id="R3ffcc19710214ee7" /><Relationship Type="http://schemas.openxmlformats.org/officeDocument/2006/relationships/slideLayout" Target="/ppt/slideLayouts/slideLayout4.xml" Id="Rd0235cafd2b143b9" /><Relationship Type="http://schemas.openxmlformats.org/officeDocument/2006/relationships/slideLayout" Target="/ppt/slideLayouts/slideLayout5.xml" Id="Ra91495aafc0b4df7" /><Relationship Type="http://schemas.openxmlformats.org/officeDocument/2006/relationships/slideLayout" Target="/ppt/slideLayouts/slideLayout6.xml" Id="R47b901eeb8b44f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3e3ac33b6c41e6"/>
    <p:sldLayoutId xmlns:r="http://schemas.openxmlformats.org/officeDocument/2006/relationships" id="2147483650" r:id="R0938021aa0db465c"/>
    <p:sldLayoutId xmlns:r="http://schemas.openxmlformats.org/officeDocument/2006/relationships" id="2147483651" r:id="R3ffcc19710214ee7"/>
    <p:sldLayoutId xmlns:r="http://schemas.openxmlformats.org/officeDocument/2006/relationships" id="2147483652" r:id="Rd0235cafd2b143b9"/>
    <p:sldLayoutId xmlns:r="http://schemas.openxmlformats.org/officeDocument/2006/relationships" id="2147483653" r:id="Ra91495aafc0b4df7"/>
    <p:sldLayoutId xmlns:r="http://schemas.openxmlformats.org/officeDocument/2006/relationships" id="2147483654" r:id="R47b901eeb8b44f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cbdc26775e7472e" /><Relationship Type="http://schemas.openxmlformats.org/officeDocument/2006/relationships/notesSlide" Target="/ppt/notesSlides/notesSlide1.xml" Id="R8807a29f17ee49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ae461088733487b" /><Relationship Type="http://schemas.openxmlformats.org/officeDocument/2006/relationships/chart" Target="/ppt/slides/charts/chart1.xml" Id="R1670b52d6dcb4e35" /><Relationship Type="http://schemas.openxmlformats.org/officeDocument/2006/relationships/notesSlide" Target="/ppt/notesSlides/notesSlide2.xml" Id="Rb809239cfaac45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f8d84b583634a5e" /><Relationship Type="http://schemas.openxmlformats.org/officeDocument/2006/relationships/chart" Target="/ppt/slides/charts/chart2.xml" Id="R5c7a82c3e20d4cf5" /><Relationship Type="http://schemas.openxmlformats.org/officeDocument/2006/relationships/chart" Target="/ppt/slides/charts/chart3.xml" Id="R8342a7cb01b945ac" /><Relationship Type="http://schemas.openxmlformats.org/officeDocument/2006/relationships/notesSlide" Target="/ppt/notesSlides/notesSlide3.xml" Id="R2d3b85619c7445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36bbfcc33da4126" /><Relationship Type="http://schemas.openxmlformats.org/officeDocument/2006/relationships/notesSlide" Target="/ppt/notesSlides/notesSlide4.xml" Id="R4b278520689e4c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050862962524c9f" /><Relationship Type="http://schemas.openxmlformats.org/officeDocument/2006/relationships/image" Target="/ppt/media/image.png" Id="R76d9f735b17e47df" /><Relationship Type="http://schemas.openxmlformats.org/officeDocument/2006/relationships/notesSlide" Target="/ppt/notesSlides/notesSlide5.xml" Id="Rc5790ffaa7334c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4fe2d8598ab4750" /><Relationship Type="http://schemas.openxmlformats.org/officeDocument/2006/relationships/notesSlide" Target="/ppt/notesSlides/notesSlide6.xml" Id="R250b74c834af43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4575297f2774810" /><Relationship Type="http://schemas.openxmlformats.org/officeDocument/2006/relationships/image" Target="/ppt/media/image2.png" Id="R7accee212aed48c5" /><Relationship Type="http://schemas.openxmlformats.org/officeDocument/2006/relationships/image" Target="/ppt/media/image3.png" Id="Read3be8937c84359" /><Relationship Type="http://schemas.openxmlformats.org/officeDocument/2006/relationships/notesSlide" Target="/ppt/notesSlides/notesSlide7.xml" Id="R76dddbb3e9c643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cefc74a24be4a7e" /><Relationship Type="http://schemas.openxmlformats.org/officeDocument/2006/relationships/image" Target="/ppt/media/image4.png" Id="R86e244dc8bd5401a" /><Relationship Type="http://schemas.openxmlformats.org/officeDocument/2006/relationships/image" Target="/ppt/media/image5.png" Id="R7b25017f46f34fa7" /><Relationship Type="http://schemas.openxmlformats.org/officeDocument/2006/relationships/notesSlide" Target="/ppt/notesSlides/notesSlide8.xml" Id="R9b34d1a682c94e5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de7e5a672134ca8" /><Relationship Type="http://schemas.openxmlformats.org/officeDocument/2006/relationships/image" Target="/ppt/media/image6.png" Id="R5782069ccf28417c" /><Relationship Type="http://schemas.openxmlformats.org/officeDocument/2006/relationships/image" Target="/ppt/media/image7.png" Id="Rf8834408ec5f4691" /><Relationship Type="http://schemas.openxmlformats.org/officeDocument/2006/relationships/notesSlide" Target="/ppt/notesSlides/notesSlide9.xml" Id="R92fed91cef6741e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33a4d78ae584dc8" /><Relationship Type="http://schemas.openxmlformats.org/officeDocument/2006/relationships/image" Target="/ppt/media/image8.png" Id="R984460342b394496" /><Relationship Type="http://schemas.openxmlformats.org/officeDocument/2006/relationships/image" Target="/ppt/media/image9.png" Id="R5ac64125889049f1" /><Relationship Type="http://schemas.openxmlformats.org/officeDocument/2006/relationships/notesSlide" Target="/ppt/notesSlides/notesSlide10.xml" Id="R2114a8c15baa43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97514a98d1e494f" /><Relationship Type="http://schemas.openxmlformats.org/officeDocument/2006/relationships/image" Target="/ppt/media/image10.png" Id="Rb8fc6f28bb044b7b" /><Relationship Type="http://schemas.openxmlformats.org/officeDocument/2006/relationships/image" Target="/ppt/media/image11.png" Id="R5b4ee453a2ce4b08" /><Relationship Type="http://schemas.openxmlformats.org/officeDocument/2006/relationships/notesSlide" Target="/ppt/notesSlides/notesSlide11.xml" Id="R00f98ebc00834cf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c38cb9e17304349" /><Relationship Type="http://schemas.openxmlformats.org/officeDocument/2006/relationships/image" Target="/ppt/media/image12.png" Id="Rad5b4a12240a47ae" /><Relationship Type="http://schemas.openxmlformats.org/officeDocument/2006/relationships/image" Target="/ppt/media/image13.png" Id="R496211f32fc7403d" /><Relationship Type="http://schemas.openxmlformats.org/officeDocument/2006/relationships/notesSlide" Target="/ppt/notesSlides/notesSlide12.xml" Id="Rab94f4c2d7134f6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d718bf03eb34fa8" /><Relationship Type="http://schemas.openxmlformats.org/officeDocument/2006/relationships/image" Target="/ppt/media/image14.png" Id="Re68ea05cd7a742ab" /><Relationship Type="http://schemas.openxmlformats.org/officeDocument/2006/relationships/image" Target="/ppt/media/image15.png" Id="R1bb41d2b2d154b18" /><Relationship Type="http://schemas.openxmlformats.org/officeDocument/2006/relationships/notesSlide" Target="/ppt/notesSlides/notesSlide13.xml" Id="R55d7506117b4404b" /></Relationships>
</file>

<file path=ppt/slides/charts/chart1.xml><?xml version="1.0" encoding="utf-8"?>
<c:chartSpace xmlns:c="http://schemas.openxmlformats.org/drawingml/2006/chart">
  <c:lang val="en-US"/>
  <c:chart>
    <c:plotArea>
      <c:barChart>
        <c:barDir val="col"/>
        <c:grouping val="stacked"/>
        <c:varyColors val="0"/>
        <c:ser>
          <c:idx val="0"/>
          <c:order val="0"/>
          <c:tx>
            <c:v>No counted flags</c:v>
          </c:tx>
          <c:spPr>
            <a:solidFill xmlns:a="http://schemas.openxmlformats.org/drawingml/2006/main">
              <a:srgbClr val="367A8C"/>
            </a:solidFill>
          </c:spPr>
          <c:invertIfNegative val="0"/>
          <c:cat>
            <c:strLit>
              <c:ptCount val="3"/>
              <c:pt idx="0">
                <c:v>No counted flags</c:v>
              </c:pt>
              <c:pt idx="1">
                <c:v>Flagged fit</c:v>
              </c:pt>
              <c:pt idx="2">
                <c:v>Failed fit</c:v>
              </c:pt>
            </c:strLit>
          </c:cat>
          <c:val>
            <c:numLit>
              <c:formatCode>0.0%</c:formatCode>
              <c:ptCount val="3"/>
              <c:pt idx="0">
                <c:v>0.216421</c:v>
              </c:pt>
              <c:pt idx="1">
                <c:v>0</c:v>
              </c:pt>
              <c:pt idx="2">
                <c:v>0</c:v>
              </c:pt>
            </c:numLit>
          </c:val>
        </c:ser>
        <c:ser>
          <c:idx val="1"/>
          <c:order val="1"/>
          <c:tx>
            <c:v>1 flag</c:v>
          </c:tx>
          <c:spPr>
            <a:solidFill xmlns:a="http://schemas.openxmlformats.org/drawingml/2006/main">
              <a:srgbClr val="E5BB66"/>
            </a:solidFill>
          </c:spPr>
          <c:invertIfNegative val="0"/>
          <c:cat>
            <c:strLit>
              <c:ptCount val="3"/>
              <c:pt idx="0">
                <c:v>No counted flags</c:v>
              </c:pt>
              <c:pt idx="1">
                <c:v>Flagged fit</c:v>
              </c:pt>
              <c:pt idx="2">
                <c:v>Failed fit</c:v>
              </c:pt>
            </c:strLit>
          </c:cat>
          <c:val>
            <c:numLit>
              <c:formatCode>0.0%</c:formatCode>
              <c:ptCount val="3"/>
              <c:pt idx="0">
                <c:v>0</c:v>
              </c:pt>
              <c:pt idx="1">
                <c:v>0.346777</c:v>
              </c:pt>
              <c:pt idx="2">
                <c:v>0</c:v>
              </c:pt>
            </c:numLit>
          </c:val>
        </c:ser>
        <c:ser>
          <c:idx val="2"/>
          <c:order val="2"/>
          <c:tx>
            <c:v>2 flags</c:v>
          </c:tx>
          <c:spPr>
            <a:solidFill xmlns:a="http://schemas.openxmlformats.org/drawingml/2006/main">
              <a:srgbClr val="CC9637"/>
            </a:solidFill>
          </c:spPr>
          <c:invertIfNegative val="0"/>
          <c:cat>
            <c:strLit>
              <c:ptCount val="3"/>
              <c:pt idx="0">
                <c:v>No counted flags</c:v>
              </c:pt>
              <c:pt idx="1">
                <c:v>Flagged fit</c:v>
              </c:pt>
              <c:pt idx="2">
                <c:v>Failed fit</c:v>
              </c:pt>
            </c:strLit>
          </c:cat>
          <c:val>
            <c:numLit>
              <c:formatCode>0.0%</c:formatCode>
              <c:ptCount val="3"/>
              <c:pt idx="0">
                <c:v>0</c:v>
              </c:pt>
              <c:pt idx="1">
                <c:v>0.167807</c:v>
              </c:pt>
              <c:pt idx="2">
                <c:v>0</c:v>
              </c:pt>
            </c:numLit>
          </c:val>
        </c:ser>
        <c:ser>
          <c:idx val="3"/>
          <c:order val="3"/>
          <c:tx>
            <c:v>3 flags</c:v>
          </c:tx>
          <c:spPr>
            <a:solidFill xmlns:a="http://schemas.openxmlformats.org/drawingml/2006/main">
              <a:srgbClr val="A66B24"/>
            </a:solidFill>
          </c:spPr>
          <c:invertIfNegative val="0"/>
          <c:cat>
            <c:strLit>
              <c:ptCount val="3"/>
              <c:pt idx="0">
                <c:v>No counted flags</c:v>
              </c:pt>
              <c:pt idx="1">
                <c:v>Flagged fit</c:v>
              </c:pt>
              <c:pt idx="2">
                <c:v>Failed fit</c:v>
              </c:pt>
            </c:strLit>
          </c:cat>
          <c:val>
            <c:numLit>
              <c:formatCode>0.0%</c:formatCode>
              <c:ptCount val="3"/>
              <c:pt idx="0">
                <c:v>0</c:v>
              </c:pt>
              <c:pt idx="1">
                <c:v>0.063378</c:v>
              </c:pt>
              <c:pt idx="2">
                <c:v>0</c:v>
              </c:pt>
            </c:numLit>
          </c:val>
        </c:ser>
        <c:ser>
          <c:idx val="4"/>
          <c:order val="4"/>
          <c:tx>
            <c:v>4 flags</c:v>
          </c:tx>
          <c:spPr>
            <a:solidFill xmlns:a="http://schemas.openxmlformats.org/drawingml/2006/main">
              <a:srgbClr val="72441C"/>
            </a:solidFill>
          </c:spPr>
          <c:invertIfNegative val="0"/>
          <c:cat>
            <c:strLit>
              <c:ptCount val="3"/>
              <c:pt idx="0">
                <c:v>No counted flags</c:v>
              </c:pt>
              <c:pt idx="1">
                <c:v>Flagged fit</c:v>
              </c:pt>
              <c:pt idx="2">
                <c:v>Failed fit</c:v>
              </c:pt>
            </c:strLit>
          </c:cat>
          <c:val>
            <c:numLit>
              <c:formatCode>0.0%</c:formatCode>
              <c:ptCount val="3"/>
              <c:pt idx="0">
                <c:v>0</c:v>
              </c:pt>
              <c:pt idx="1">
                <c:v>0.00036</c:v>
              </c:pt>
              <c:pt idx="2">
                <c:v>0</c:v>
              </c:pt>
            </c:numLit>
          </c:val>
        </c:ser>
        <c:ser>
          <c:idx val="5"/>
          <c:order val="5"/>
          <c:tx>
            <c:v>Failed</c:v>
          </c:tx>
          <c:spPr>
            <a:solidFill xmlns:a="http://schemas.openxmlformats.org/drawingml/2006/main">
              <a:srgbClr val="AC4B47"/>
            </a:solidFill>
          </c:spPr>
          <c:invertIfNegative val="0"/>
          <c:cat>
            <c:strLit>
              <c:ptCount val="3"/>
              <c:pt idx="0">
                <c:v>No counted flags</c:v>
              </c:pt>
              <c:pt idx="1">
                <c:v>Flagged fit</c:v>
              </c:pt>
              <c:pt idx="2">
                <c:v>Failed fit</c:v>
              </c:pt>
            </c:strLit>
          </c:cat>
          <c:val>
            <c:numLit>
              <c:formatCode>0.0%</c:formatCode>
              <c:ptCount val="3"/>
              <c:pt idx="0">
                <c:v>0</c:v>
              </c:pt>
              <c:pt idx="1">
                <c:v>0</c:v>
              </c:pt>
              <c:pt idx="2">
                <c:v>0.205258</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chartSpace>
</file>

<file path=ppt/slides/charts/chart2.xml><?xml version="1.0" encoding="utf-8"?>
<c:chartSpace xmlns:c="http://schemas.openxmlformats.org/drawingml/2006/chart">
  <c:lang val="en-US"/>
  <c:chart>
    <c:plotArea>
      <c:barChart>
        <c:barDir val="bar"/>
        <c:grouping val="clustered"/>
        <c:varyColors val="0"/>
        <c:ser>
          <c:idx val="0"/>
          <c:order val="0"/>
          <c:tx>
            <c:v>Share of fitted galaxies</c:v>
          </c:tx>
          <c:spPr>
            <a:solidFill xmlns:a="http://schemas.openxmlformats.org/drawingml/2006/main">
              <a:srgbClr val="C18B28"/>
            </a:solidFill>
          </c:spPr>
          <c:invertIfNegative val="0"/>
          <c:cat>
            <c:strLit>
              <c:ptCount val="5"/>
              <c:pt idx="0">
                <c:v>Small bar interval</c:v>
              </c:pt>
              <c:pt idx="1">
                <c:v>Unstable disc PA*</c:v>
              </c:pt>
              <c:pt idx="2">
                <c:v>Changing disc shape</c:v>
              </c:pt>
              <c:pt idx="3">
                <c:v>Unstable bar PA</c:v>
              </c:pt>
              <c:pt idx="4">
                <c:v>Weak bar signature</c:v>
              </c:pt>
            </c:strLit>
          </c:cat>
          <c:val>
            <c:numLit>
              <c:formatCode>0.0%</c:formatCode>
              <c:ptCount val="5"/>
              <c:pt idx="0">
                <c:v>0.548256</c:v>
              </c:pt>
              <c:pt idx="1">
                <c:v>0.303438</c:v>
              </c:pt>
              <c:pt idx="2">
                <c:v>0.259628</c:v>
              </c:pt>
              <c:pt idx="3">
                <c:v>0.012687</c:v>
              </c:pt>
              <c:pt idx="4">
                <c:v>0.003172</c:v>
              </c:pt>
            </c:numLit>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grouping val="clustered"/>
        <c:varyColors val="0"/>
        <c:ser>
          <c:idx val="0"/>
          <c:order val="0"/>
          <c:tx>
            <c:v>Share of failures</c:v>
          </c:tx>
          <c:spPr>
            <a:solidFill xmlns:a="http://schemas.openxmlformats.org/drawingml/2006/main">
              <a:srgbClr val="AC4B47"/>
            </a:solidFill>
          </c:spPr>
          <c:invertIfNegative val="0"/>
          <c:cat>
            <c:strLit>
              <c:ptCount val="3"/>
              <c:pt idx="0">
                <c:v>Interval</c:v>
              </c:pt>
              <c:pt idx="1">
                <c:v>Short profile</c:v>
              </c:pt>
              <c:pt idx="2">
                <c:v>Centre</c:v>
              </c:pt>
            </c:strLit>
          </c:cat>
          <c:val>
            <c:numLit>
              <c:formatCode>0.0%</c:formatCode>
              <c:ptCount val="3"/>
              <c:pt idx="0">
                <c:v>0.75614</c:v>
              </c:pt>
              <c:pt idx="1">
                <c:v>0.242105</c:v>
              </c:pt>
              <c:pt idx="2">
                <c:v>0.001754</c:v>
              </c:pt>
            </c:numLit>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B90F99-BC35-4E3F-AD99-FA34FB51689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Euclid MER VIS geometry outcomes</a:t>
            </a:r>
          </a:p>
        </p:txBody>
      </p:sp>
      <p:sp>
        <p:nvSpPr>
          <p:cNvPr id="2" name="">
            <a:extLst xmlns:a="http://schemas.openxmlformats.org/drawingml/2006/main">
              <a:ext uri="{FF2B5EF4-FFF2-40B4-BE49-F238E27FC236}">
                <a16:creationId xmlns:a16="http://schemas.microsoft.com/office/drawing/2014/main" id="{36B4E59A-4E7D-4916-99F9-8B690F8071C1}"/>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13</a:t>
            </a:r>
          </a:p>
        </p:txBody>
      </p:sp>
      <p:sp>
        <p:nvSpPr>
          <p:cNvPr id="3" name="">
            <a:extLst xmlns:a="http://schemas.openxmlformats.org/drawingml/2006/main">
              <a:ext uri="{FF2B5EF4-FFF2-40B4-BE49-F238E27FC236}">
                <a16:creationId xmlns:a16="http://schemas.microsoft.com/office/drawing/2014/main" id="{6B5721B1-DA82-4C81-911B-3315E2A67418}"/>
              </a:ext>
            </a:extLst>
          </p:cNvPr>
          <p:cNvSpPr>
            <a:spLocks xmlns:a="http://schemas.openxmlformats.org/drawingml/2006/main" noGrp="1"/>
          </p:cNvSpPr>
          <p:nvPr/>
        </p:nvSpPr>
        <p:spPr>
          <a:xfrm xmlns:a="http://schemas.openxmlformats.org/drawingml/2006/main">
            <a:off x="609600" y="1981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05F7A"/>
                </a:solidFill>
                <a:latin typeface="Arial"/>
                <a:ea typeface="Arial"/>
                <a:cs typeface="Arial"/>
              </a:defRPr>
            </a:defPPr>
            <a:lvl1pPr>
              <a:defRPr sz="4500" b="1">
                <a:solidFill>
                  <a:srgbClr val="205F7A"/>
                </a:solidFill>
                <a:latin typeface="Arial"/>
                <a:ea typeface="Arial"/>
                <a:cs typeface="Arial"/>
              </a:defRPr>
            </a:lvl1pPr>
            <a:lvl2pPr>
              <a:defRPr sz="4500" b="1">
                <a:solidFill>
                  <a:srgbClr val="205F7A"/>
                </a:solidFill>
                <a:latin typeface="Arial"/>
                <a:ea typeface="Arial"/>
                <a:cs typeface="Arial"/>
              </a:defRPr>
            </a:lvl2pPr>
            <a:lvl3pPr>
              <a:defRPr sz="4500" b="1">
                <a:solidFill>
                  <a:srgbClr val="205F7A"/>
                </a:solidFill>
                <a:latin typeface="Arial"/>
                <a:ea typeface="Arial"/>
                <a:cs typeface="Arial"/>
              </a:defRPr>
            </a:lvl3pPr>
            <a:lvl4pPr>
              <a:defRPr sz="4500" b="1">
                <a:solidFill>
                  <a:srgbClr val="205F7A"/>
                </a:solidFill>
                <a:latin typeface="Arial"/>
                <a:ea typeface="Arial"/>
                <a:cs typeface="Arial"/>
              </a:defRPr>
            </a:lvl4pPr>
            <a:lvl5pPr>
              <a:defRPr sz="4500" b="1">
                <a:solidFill>
                  <a:srgbClr val="205F7A"/>
                </a:solidFill>
                <a:latin typeface="Arial"/>
                <a:ea typeface="Arial"/>
                <a:cs typeface="Arial"/>
              </a:defRPr>
            </a:lvl5pPr>
            <a:lvl6pPr>
              <a:defRPr sz="4500" b="1">
                <a:solidFill>
                  <a:srgbClr val="205F7A"/>
                </a:solidFill>
                <a:latin typeface="Arial"/>
                <a:ea typeface="Arial"/>
                <a:cs typeface="Arial"/>
              </a:defRPr>
            </a:lvl6pPr>
            <a:lvl7pPr>
              <a:defRPr sz="4500" b="1">
                <a:solidFill>
                  <a:srgbClr val="205F7A"/>
                </a:solidFill>
                <a:latin typeface="Arial"/>
                <a:ea typeface="Arial"/>
                <a:cs typeface="Arial"/>
              </a:defRPr>
            </a:lvl7pPr>
            <a:lvl8pPr>
              <a:defRPr sz="4500" b="1">
                <a:solidFill>
                  <a:srgbClr val="205F7A"/>
                </a:solidFill>
                <a:latin typeface="Arial"/>
                <a:ea typeface="Arial"/>
                <a:cs typeface="Arial"/>
              </a:defRPr>
            </a:lvl8pPr>
            <a:lvl9pPr>
              <a:defRPr sz="4500" b="1">
                <a:solidFill>
                  <a:srgbClr val="205F7A"/>
                </a:solidFill>
                <a:latin typeface="Arial"/>
                <a:ea typeface="Arial"/>
                <a:cs typeface="Arial"/>
              </a:defRPr>
            </a:lvl9pPr>
          </a:lstStyle>
          <a:p xmlns:a="http://schemas.openxmlformats.org/drawingml/2006/main">
            <a:pPr>
              <a:defRPr sz="4500" b="1">
                <a:solidFill>
                  <a:srgbClr val="205F7A"/>
                </a:solidFill>
                <a:latin typeface="Arial"/>
                <a:ea typeface="Arial"/>
                <a:cs typeface="Arial"/>
              </a:defRPr>
            </a:pPr>
            <a:r>
              <a:rPr sz="4500" b="1">
                <a:solidFill>
                  <a:srgbClr val="205F7A"/>
                </a:solidFill>
                <a:latin typeface="Arial"/>
                <a:ea typeface="Arial"/>
                <a:cs typeface="Arial"/>
              </a:rPr>
              <a:t>2,777 galaxy cutouts</a:t>
            </a:r>
          </a:p>
        </p:txBody>
      </p:sp>
      <p:sp>
        <p:nvSpPr>
          <p:cNvPr id="4" name="">
            <a:extLst xmlns:a="http://schemas.openxmlformats.org/drawingml/2006/main">
              <a:ext uri="{FF2B5EF4-FFF2-40B4-BE49-F238E27FC236}">
                <a16:creationId xmlns:a16="http://schemas.microsoft.com/office/drawing/2014/main" id="{BEA92F58-E2BA-44BA-BB48-FA4410FF47EE}"/>
              </a:ext>
            </a:extLst>
          </p:cNvPr>
          <p:cNvSpPr>
            <a:spLocks xmlns:a="http://schemas.openxmlformats.org/drawingml/2006/main" noGrp="1"/>
          </p:cNvSpPr>
          <p:nvPr/>
        </p:nvSpPr>
        <p:spPr>
          <a:xfrm xmlns:a="http://schemas.openxmlformats.org/drawingml/2006/main">
            <a:off x="609600" y="3200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Completed fitting and grouped review reports</a:t>
            </a:r>
          </a:p>
        </p:txBody>
      </p:sp>
      <p:sp>
        <p:nvSpPr>
          <p:cNvPr id="5" name="">
            <a:extLst xmlns:a="http://schemas.openxmlformats.org/drawingml/2006/main">
              <a:ext uri="{FF2B5EF4-FFF2-40B4-BE49-F238E27FC236}">
                <a16:creationId xmlns:a16="http://schemas.microsoft.com/office/drawing/2014/main" id="{AF408113-4D4F-47CB-896C-514C0440BBF7}"/>
              </a:ext>
            </a:extLst>
          </p:cNvPr>
          <p:cNvSpPr>
            <a:spLocks xmlns:a="http://schemas.openxmlformats.org/drawingml/2006/main" noGrp="1"/>
          </p:cNvSpPr>
          <p:nvPr/>
        </p:nvSpPr>
        <p:spPr>
          <a:xfrm xmlns:a="http://schemas.openxmlformats.org/drawingml/2006/main">
            <a:off x="6096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633"/>
                </a:solidFill>
                <a:latin typeface="Arial"/>
                <a:ea typeface="Arial"/>
                <a:cs typeface="Arial"/>
              </a:defRPr>
            </a:defPPr>
            <a:lvl1pPr>
              <a:defRPr sz="2250" b="0">
                <a:solidFill>
                  <a:srgbClr val="142633"/>
                </a:solidFill>
                <a:latin typeface="Arial"/>
                <a:ea typeface="Arial"/>
                <a:cs typeface="Arial"/>
              </a:defRPr>
            </a:lvl1pPr>
            <a:lvl2pPr>
              <a:defRPr sz="2250" b="0">
                <a:solidFill>
                  <a:srgbClr val="142633"/>
                </a:solidFill>
                <a:latin typeface="Arial"/>
                <a:ea typeface="Arial"/>
                <a:cs typeface="Arial"/>
              </a:defRPr>
            </a:lvl2pPr>
            <a:lvl3pPr>
              <a:defRPr sz="2250" b="0">
                <a:solidFill>
                  <a:srgbClr val="142633"/>
                </a:solidFill>
                <a:latin typeface="Arial"/>
                <a:ea typeface="Arial"/>
                <a:cs typeface="Arial"/>
              </a:defRPr>
            </a:lvl3pPr>
            <a:lvl4pPr>
              <a:defRPr sz="2250" b="0">
                <a:solidFill>
                  <a:srgbClr val="142633"/>
                </a:solidFill>
                <a:latin typeface="Arial"/>
                <a:ea typeface="Arial"/>
                <a:cs typeface="Arial"/>
              </a:defRPr>
            </a:lvl4pPr>
            <a:lvl5pPr>
              <a:defRPr sz="2250" b="0">
                <a:solidFill>
                  <a:srgbClr val="142633"/>
                </a:solidFill>
                <a:latin typeface="Arial"/>
                <a:ea typeface="Arial"/>
                <a:cs typeface="Arial"/>
              </a:defRPr>
            </a:lvl5pPr>
            <a:lvl6pPr>
              <a:defRPr sz="2250" b="0">
                <a:solidFill>
                  <a:srgbClr val="142633"/>
                </a:solidFill>
                <a:latin typeface="Arial"/>
                <a:ea typeface="Arial"/>
                <a:cs typeface="Arial"/>
              </a:defRPr>
            </a:lvl6pPr>
            <a:lvl7pPr>
              <a:defRPr sz="2250" b="0">
                <a:solidFill>
                  <a:srgbClr val="142633"/>
                </a:solidFill>
                <a:latin typeface="Arial"/>
                <a:ea typeface="Arial"/>
                <a:cs typeface="Arial"/>
              </a:defRPr>
            </a:lvl7pPr>
            <a:lvl8pPr>
              <a:defRPr sz="2250" b="0">
                <a:solidFill>
                  <a:srgbClr val="142633"/>
                </a:solidFill>
                <a:latin typeface="Arial"/>
                <a:ea typeface="Arial"/>
                <a:cs typeface="Arial"/>
              </a:defRPr>
            </a:lvl8pPr>
            <a:lvl9pPr>
              <a:defRPr sz="2250" b="0">
                <a:solidFill>
                  <a:srgbClr val="142633"/>
                </a:solidFill>
                <a:latin typeface="Arial"/>
                <a:ea typeface="Arial"/>
                <a:cs typeface="Arial"/>
              </a:defRPr>
            </a:lvl9pPr>
          </a:lstStyle>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2,250 reports carry a quality issue label</a:t>
            </a:r>
          </a:p>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527 reports have no detected issue</a:t>
            </a:r>
          </a:p>
        </p:txBody>
      </p:sp>
      <p:sp>
        <p:nvSpPr>
          <p:cNvPr id="6" name="">
            <a:extLst xmlns:a="http://schemas.openxmlformats.org/drawingml/2006/main">
              <a:ext uri="{FF2B5EF4-FFF2-40B4-BE49-F238E27FC236}">
                <a16:creationId xmlns:a16="http://schemas.microsoft.com/office/drawing/2014/main" id="{CCBFF805-E899-4395-9AF5-DD7F22FBCF22}"/>
              </a:ext>
            </a:extLst>
          </p:cNvPr>
          <p:cNvSpPr>
            <a:spLocks xmlns:a="http://schemas.openxmlformats.org/drawingml/2006/main" noGrp="1"/>
          </p:cNvSpPr>
          <p:nvPr/>
        </p:nvSpPr>
        <p:spPr>
          <a:xfrm xmlns:a="http://schemas.openxmlformats.org/drawingml/2006/main">
            <a:off x="609600" y="5829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Updated 20 October 2026</a:t>
            </a:r>
          </a:p>
        </p:txBody>
      </p:sp>
    </p:spTree>
    <p:extLst>
      <p:ext uri="{BB962C8B-B14F-4D97-AF65-F5344CB8AC3E}">
        <p14:creationId xmlns:p14="http://schemas.microsoft.com/office/powerpoint/2010/main" val="108706865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40F54B1-9D95-4DF6-85ED-B69CA45AC43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Fitting outcomes by number of flags</a:t>
            </a:r>
          </a:p>
        </p:txBody>
      </p:sp>
      <p:sp>
        <p:nvSpPr>
          <p:cNvPr id="2" name="">
            <a:extLst xmlns:a="http://schemas.openxmlformats.org/drawingml/2006/main">
              <a:ext uri="{FF2B5EF4-FFF2-40B4-BE49-F238E27FC236}">
                <a16:creationId xmlns:a16="http://schemas.microsoft.com/office/drawing/2014/main" id="{B4ED334F-0661-46EB-80E5-4EB4969A6891}"/>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13</a:t>
            </a:r>
          </a:p>
        </p:txBody>
      </p:sp>
      <p:sp>
        <p:nvSpPr>
          <p:cNvPr id="3" name="">
            <a:extLst xmlns:a="http://schemas.openxmlformats.org/drawingml/2006/main">
              <a:ext uri="{FF2B5EF4-FFF2-40B4-BE49-F238E27FC236}">
                <a16:creationId xmlns:a16="http://schemas.microsoft.com/office/drawing/2014/main" id="{B3116386-B610-44DD-952F-749FBD7C92CF}"/>
              </a:ext>
            </a:extLst>
          </p:cNvPr>
          <p:cNvSpPr>
            <a:spLocks xmlns:a="http://schemas.openxmlformats.org/drawingml/2006/main" noGrp="1"/>
          </p:cNvSpPr>
          <p:nvPr/>
        </p:nvSpPr>
        <p:spPr>
          <a:xfrm xmlns:a="http://schemas.openxmlformats.org/drawingml/2006/main">
            <a:off x="609600" y="129540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3"/>
                </a:solidFill>
                <a:latin typeface="Arial"/>
                <a:ea typeface="Arial"/>
                <a:cs typeface="Arial"/>
              </a:defRPr>
            </a:defPPr>
            <a:lvl1pPr>
              <a:defRPr sz="1875" b="0">
                <a:solidFill>
                  <a:srgbClr val="526673"/>
                </a:solidFill>
                <a:latin typeface="Arial"/>
                <a:ea typeface="Arial"/>
                <a:cs typeface="Arial"/>
              </a:defRPr>
            </a:lvl1pPr>
            <a:lvl2pPr>
              <a:defRPr sz="1875" b="0">
                <a:solidFill>
                  <a:srgbClr val="526673"/>
                </a:solidFill>
                <a:latin typeface="Arial"/>
                <a:ea typeface="Arial"/>
                <a:cs typeface="Arial"/>
              </a:defRPr>
            </a:lvl2pPr>
            <a:lvl3pPr>
              <a:defRPr sz="1875" b="0">
                <a:solidFill>
                  <a:srgbClr val="526673"/>
                </a:solidFill>
                <a:latin typeface="Arial"/>
                <a:ea typeface="Arial"/>
                <a:cs typeface="Arial"/>
              </a:defRPr>
            </a:lvl3pPr>
            <a:lvl4pPr>
              <a:defRPr sz="1875" b="0">
                <a:solidFill>
                  <a:srgbClr val="526673"/>
                </a:solidFill>
                <a:latin typeface="Arial"/>
                <a:ea typeface="Arial"/>
                <a:cs typeface="Arial"/>
              </a:defRPr>
            </a:lvl4pPr>
            <a:lvl5pPr>
              <a:defRPr sz="1875" b="0">
                <a:solidFill>
                  <a:srgbClr val="526673"/>
                </a:solidFill>
                <a:latin typeface="Arial"/>
                <a:ea typeface="Arial"/>
                <a:cs typeface="Arial"/>
              </a:defRPr>
            </a:lvl5pPr>
            <a:lvl6pPr>
              <a:defRPr sz="1875" b="0">
                <a:solidFill>
                  <a:srgbClr val="526673"/>
                </a:solidFill>
                <a:latin typeface="Arial"/>
                <a:ea typeface="Arial"/>
                <a:cs typeface="Arial"/>
              </a:defRPr>
            </a:lvl6pPr>
            <a:lvl7pPr>
              <a:defRPr sz="1875" b="0">
                <a:solidFill>
                  <a:srgbClr val="526673"/>
                </a:solidFill>
                <a:latin typeface="Arial"/>
                <a:ea typeface="Arial"/>
                <a:cs typeface="Arial"/>
              </a:defRPr>
            </a:lvl7pPr>
            <a:lvl8pPr>
              <a:defRPr sz="1875" b="0">
                <a:solidFill>
                  <a:srgbClr val="526673"/>
                </a:solidFill>
                <a:latin typeface="Arial"/>
                <a:ea typeface="Arial"/>
                <a:cs typeface="Arial"/>
              </a:defRPr>
            </a:lvl8pPr>
            <a:lvl9pPr>
              <a:defRPr sz="1875" b="0">
                <a:solidFill>
                  <a:srgbClr val="526673"/>
                </a:solidFill>
                <a:latin typeface="Arial"/>
                <a:ea typeface="Arial"/>
                <a:cs typeface="Arial"/>
              </a:defRPr>
            </a:lvl9pPr>
          </a:lstStyle>
          <a:p xmlns:a="http://schemas.openxmlformats.org/drawingml/2006/main">
            <a:pPr>
              <a:defRPr sz="1875" b="0">
                <a:solidFill>
                  <a:srgbClr val="526673"/>
                </a:solidFill>
                <a:latin typeface="Arial"/>
                <a:ea typeface="Arial"/>
                <a:cs typeface="Arial"/>
              </a:defRPr>
            </a:pPr>
            <a:r>
              <a:rPr sz="1875" b="0">
                <a:solidFill>
                  <a:srgbClr val="526673"/>
                </a:solidFill>
                <a:latin typeface="Arial"/>
                <a:ea typeface="Arial"/>
                <a:cs typeface="Arial"/>
              </a:rPr>
              <a:t>Percentage of all 2,777 galaxies</a:t>
            </a:r>
          </a:p>
        </p:txBody>
      </p:sp>
      <p:graphicFrame>
        <p:nvGraphicFramePr>
          <p:cNvPr id="4" name="Chart">
            <a:extLst xmlns:a="http://schemas.openxmlformats.org/drawingml/2006/main">
              <a:ext uri="{FF2B5EF4-FFF2-40B4-BE49-F238E27FC236}">
                <a16:creationId xmlns:a16="http://schemas.microsoft.com/office/drawing/2014/main" id="{BA1EE520-46CC-4413-B869-539001876F93}"/>
              </a:ext>
            </a:extLst>
          </p:cNvPr>
          <p:cNvGraphicFramePr/>
          <p:nvPr/>
        </p:nvGraphicFramePr>
        <p:xfrm>
          <a:off xmlns:a="http://schemas.openxmlformats.org/drawingml/2006/main" x="609600" y="1762125"/>
          <a:ext xmlns:a="http://schemas.openxmlformats.org/drawingml/2006/main" cx="7429500" cy="3810000"/>
        </p:xfrm>
        <a:graphic xmlns:a="http://schemas.openxmlformats.org/drawingml/2006/main">
          <a:graphicData uri="http://schemas.openxmlformats.org/drawingml/2006/chart">
            <c:chart xmlns:r="http://schemas.openxmlformats.org/officeDocument/2006/relationships" xmlns:c="http://schemas.openxmlformats.org/drawingml/2006/chart" r:id="R1670b52d6dcb4e35"/>
          </a:graphicData>
        </a:graphic>
      </p:graphicFrame>
      <p:sp>
        <p:nvSpPr>
          <p:cNvPr id="5" name="">
            <a:extLst xmlns:a="http://schemas.openxmlformats.org/drawingml/2006/main">
              <a:ext uri="{FF2B5EF4-FFF2-40B4-BE49-F238E27FC236}">
                <a16:creationId xmlns:a16="http://schemas.microsoft.com/office/drawing/2014/main" id="{B1077E54-2380-4DEC-9E9F-DAD100A1F0AE}"/>
              </a:ext>
            </a:extLst>
          </p:cNvPr>
          <p:cNvSpPr>
            <a:spLocks xmlns:a="http://schemas.openxmlformats.org/drawingml/2006/main" noGrp="1"/>
          </p:cNvSpPr>
          <p:nvPr/>
        </p:nvSpPr>
        <p:spPr>
          <a:xfrm xmlns:a="http://schemas.openxmlformats.org/drawingml/2006/main">
            <a:off x="8286750" y="171450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Flagged fit: 57.8% total</a:t>
            </a:r>
          </a:p>
        </p:txBody>
      </p:sp>
      <p:sp>
        <p:nvSpPr>
          <p:cNvPr id="6" name="">
            <a:extLst xmlns:a="http://schemas.openxmlformats.org/drawingml/2006/main">
              <a:ext uri="{FF2B5EF4-FFF2-40B4-BE49-F238E27FC236}">
                <a16:creationId xmlns:a16="http://schemas.microsoft.com/office/drawing/2014/main" id="{D2B775B4-0E03-4755-850B-E3D1C84B5E54}"/>
              </a:ext>
            </a:extLst>
          </p:cNvPr>
          <p:cNvSpPr>
            <a:spLocks xmlns:a="http://schemas.openxmlformats.org/drawingml/2006/main" noGrp="1"/>
          </p:cNvSpPr>
          <p:nvPr/>
        </p:nvSpPr>
        <p:spPr>
          <a:xfrm xmlns:a="http://schemas.openxmlformats.org/drawingml/2006/main">
            <a:off x="8286750" y="233362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E5BB66"/>
                </a:solidFill>
                <a:latin typeface="Arial"/>
                <a:ea typeface="Arial"/>
                <a:cs typeface="Arial"/>
              </a:defRPr>
            </a:defPPr>
            <a:lvl1pPr>
              <a:defRPr sz="1875" b="1">
                <a:solidFill>
                  <a:srgbClr val="E5BB66"/>
                </a:solidFill>
                <a:latin typeface="Arial"/>
                <a:ea typeface="Arial"/>
                <a:cs typeface="Arial"/>
              </a:defRPr>
            </a:lvl1pPr>
            <a:lvl2pPr>
              <a:defRPr sz="1875" b="1">
                <a:solidFill>
                  <a:srgbClr val="E5BB66"/>
                </a:solidFill>
                <a:latin typeface="Arial"/>
                <a:ea typeface="Arial"/>
                <a:cs typeface="Arial"/>
              </a:defRPr>
            </a:lvl2pPr>
            <a:lvl3pPr>
              <a:defRPr sz="1875" b="1">
                <a:solidFill>
                  <a:srgbClr val="E5BB66"/>
                </a:solidFill>
                <a:latin typeface="Arial"/>
                <a:ea typeface="Arial"/>
                <a:cs typeface="Arial"/>
              </a:defRPr>
            </a:lvl3pPr>
            <a:lvl4pPr>
              <a:defRPr sz="1875" b="1">
                <a:solidFill>
                  <a:srgbClr val="E5BB66"/>
                </a:solidFill>
                <a:latin typeface="Arial"/>
                <a:ea typeface="Arial"/>
                <a:cs typeface="Arial"/>
              </a:defRPr>
            </a:lvl4pPr>
            <a:lvl5pPr>
              <a:defRPr sz="1875" b="1">
                <a:solidFill>
                  <a:srgbClr val="E5BB66"/>
                </a:solidFill>
                <a:latin typeface="Arial"/>
                <a:ea typeface="Arial"/>
                <a:cs typeface="Arial"/>
              </a:defRPr>
            </a:lvl5pPr>
            <a:lvl6pPr>
              <a:defRPr sz="1875" b="1">
                <a:solidFill>
                  <a:srgbClr val="E5BB66"/>
                </a:solidFill>
                <a:latin typeface="Arial"/>
                <a:ea typeface="Arial"/>
                <a:cs typeface="Arial"/>
              </a:defRPr>
            </a:lvl6pPr>
            <a:lvl7pPr>
              <a:defRPr sz="1875" b="1">
                <a:solidFill>
                  <a:srgbClr val="E5BB66"/>
                </a:solidFill>
                <a:latin typeface="Arial"/>
                <a:ea typeface="Arial"/>
                <a:cs typeface="Arial"/>
              </a:defRPr>
            </a:lvl7pPr>
            <a:lvl8pPr>
              <a:defRPr sz="1875" b="1">
                <a:solidFill>
                  <a:srgbClr val="E5BB66"/>
                </a:solidFill>
                <a:latin typeface="Arial"/>
                <a:ea typeface="Arial"/>
                <a:cs typeface="Arial"/>
              </a:defRPr>
            </a:lvl8pPr>
            <a:lvl9pPr>
              <a:defRPr sz="1875" b="1">
                <a:solidFill>
                  <a:srgbClr val="E5BB66"/>
                </a:solidFill>
                <a:latin typeface="Arial"/>
                <a:ea typeface="Arial"/>
                <a:cs typeface="Arial"/>
              </a:defRPr>
            </a:lvl9pPr>
          </a:lstStyle>
          <a:p xmlns:a="http://schemas.openxmlformats.org/drawingml/2006/main">
            <a:pPr>
              <a:defRPr sz="1875" b="1">
                <a:solidFill>
                  <a:srgbClr val="E5BB66"/>
                </a:solidFill>
                <a:latin typeface="Arial"/>
                <a:ea typeface="Arial"/>
                <a:cs typeface="Arial"/>
              </a:defRPr>
            </a:pPr>
            <a:r>
              <a:rPr sz="1875" b="1">
                <a:solidFill>
                  <a:srgbClr val="E5BB66"/>
                </a:solidFill>
                <a:latin typeface="Arial"/>
                <a:ea typeface="Arial"/>
                <a:cs typeface="Arial"/>
              </a:rPr>
              <a:t>1 flag: 963 (34.7%)</a:t>
            </a:r>
          </a:p>
        </p:txBody>
      </p:sp>
      <p:sp>
        <p:nvSpPr>
          <p:cNvPr id="7" name="">
            <a:extLst xmlns:a="http://schemas.openxmlformats.org/drawingml/2006/main">
              <a:ext uri="{FF2B5EF4-FFF2-40B4-BE49-F238E27FC236}">
                <a16:creationId xmlns:a16="http://schemas.microsoft.com/office/drawing/2014/main" id="{D663D3FB-3F54-488D-A967-44BD64FF23FD}"/>
              </a:ext>
            </a:extLst>
          </p:cNvPr>
          <p:cNvSpPr>
            <a:spLocks xmlns:a="http://schemas.openxmlformats.org/drawingml/2006/main" noGrp="1"/>
          </p:cNvSpPr>
          <p:nvPr/>
        </p:nvSpPr>
        <p:spPr>
          <a:xfrm xmlns:a="http://schemas.openxmlformats.org/drawingml/2006/main">
            <a:off x="8286750" y="285750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C9637"/>
                </a:solidFill>
                <a:latin typeface="Arial"/>
                <a:ea typeface="Arial"/>
                <a:cs typeface="Arial"/>
              </a:defRPr>
            </a:defPPr>
            <a:lvl1pPr>
              <a:defRPr sz="1875" b="1">
                <a:solidFill>
                  <a:srgbClr val="CC9637"/>
                </a:solidFill>
                <a:latin typeface="Arial"/>
                <a:ea typeface="Arial"/>
                <a:cs typeface="Arial"/>
              </a:defRPr>
            </a:lvl1pPr>
            <a:lvl2pPr>
              <a:defRPr sz="1875" b="1">
                <a:solidFill>
                  <a:srgbClr val="CC9637"/>
                </a:solidFill>
                <a:latin typeface="Arial"/>
                <a:ea typeface="Arial"/>
                <a:cs typeface="Arial"/>
              </a:defRPr>
            </a:lvl2pPr>
            <a:lvl3pPr>
              <a:defRPr sz="1875" b="1">
                <a:solidFill>
                  <a:srgbClr val="CC9637"/>
                </a:solidFill>
                <a:latin typeface="Arial"/>
                <a:ea typeface="Arial"/>
                <a:cs typeface="Arial"/>
              </a:defRPr>
            </a:lvl3pPr>
            <a:lvl4pPr>
              <a:defRPr sz="1875" b="1">
                <a:solidFill>
                  <a:srgbClr val="CC9637"/>
                </a:solidFill>
                <a:latin typeface="Arial"/>
                <a:ea typeface="Arial"/>
                <a:cs typeface="Arial"/>
              </a:defRPr>
            </a:lvl4pPr>
            <a:lvl5pPr>
              <a:defRPr sz="1875" b="1">
                <a:solidFill>
                  <a:srgbClr val="CC9637"/>
                </a:solidFill>
                <a:latin typeface="Arial"/>
                <a:ea typeface="Arial"/>
                <a:cs typeface="Arial"/>
              </a:defRPr>
            </a:lvl5pPr>
            <a:lvl6pPr>
              <a:defRPr sz="1875" b="1">
                <a:solidFill>
                  <a:srgbClr val="CC9637"/>
                </a:solidFill>
                <a:latin typeface="Arial"/>
                <a:ea typeface="Arial"/>
                <a:cs typeface="Arial"/>
              </a:defRPr>
            </a:lvl6pPr>
            <a:lvl7pPr>
              <a:defRPr sz="1875" b="1">
                <a:solidFill>
                  <a:srgbClr val="CC9637"/>
                </a:solidFill>
                <a:latin typeface="Arial"/>
                <a:ea typeface="Arial"/>
                <a:cs typeface="Arial"/>
              </a:defRPr>
            </a:lvl7pPr>
            <a:lvl8pPr>
              <a:defRPr sz="1875" b="1">
                <a:solidFill>
                  <a:srgbClr val="CC9637"/>
                </a:solidFill>
                <a:latin typeface="Arial"/>
                <a:ea typeface="Arial"/>
                <a:cs typeface="Arial"/>
              </a:defRPr>
            </a:lvl8pPr>
            <a:lvl9pPr>
              <a:defRPr sz="1875" b="1">
                <a:solidFill>
                  <a:srgbClr val="CC9637"/>
                </a:solidFill>
                <a:latin typeface="Arial"/>
                <a:ea typeface="Arial"/>
                <a:cs typeface="Arial"/>
              </a:defRPr>
            </a:lvl9pPr>
          </a:lstStyle>
          <a:p xmlns:a="http://schemas.openxmlformats.org/drawingml/2006/main">
            <a:pPr>
              <a:defRPr sz="1875" b="1">
                <a:solidFill>
                  <a:srgbClr val="CC9637"/>
                </a:solidFill>
                <a:latin typeface="Arial"/>
                <a:ea typeface="Arial"/>
                <a:cs typeface="Arial"/>
              </a:defRPr>
            </a:pPr>
            <a:r>
              <a:rPr sz="1875" b="1">
                <a:solidFill>
                  <a:srgbClr val="CC9637"/>
                </a:solidFill>
                <a:latin typeface="Arial"/>
                <a:ea typeface="Arial"/>
                <a:cs typeface="Arial"/>
              </a:rPr>
              <a:t>2 flags: 466 (16.8%)</a:t>
            </a:r>
          </a:p>
        </p:txBody>
      </p:sp>
      <p:sp>
        <p:nvSpPr>
          <p:cNvPr id="8" name="">
            <a:extLst xmlns:a="http://schemas.openxmlformats.org/drawingml/2006/main">
              <a:ext uri="{FF2B5EF4-FFF2-40B4-BE49-F238E27FC236}">
                <a16:creationId xmlns:a16="http://schemas.microsoft.com/office/drawing/2014/main" id="{7B0C5E65-CDC6-4247-8784-21B1FD8D4207}"/>
              </a:ext>
            </a:extLst>
          </p:cNvPr>
          <p:cNvSpPr>
            <a:spLocks xmlns:a="http://schemas.openxmlformats.org/drawingml/2006/main" noGrp="1"/>
          </p:cNvSpPr>
          <p:nvPr/>
        </p:nvSpPr>
        <p:spPr>
          <a:xfrm xmlns:a="http://schemas.openxmlformats.org/drawingml/2006/main">
            <a:off x="8286750" y="338137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66B24"/>
                </a:solidFill>
                <a:latin typeface="Arial"/>
                <a:ea typeface="Arial"/>
                <a:cs typeface="Arial"/>
              </a:defRPr>
            </a:defPPr>
            <a:lvl1pPr>
              <a:defRPr sz="1875" b="1">
                <a:solidFill>
                  <a:srgbClr val="A66B24"/>
                </a:solidFill>
                <a:latin typeface="Arial"/>
                <a:ea typeface="Arial"/>
                <a:cs typeface="Arial"/>
              </a:defRPr>
            </a:lvl1pPr>
            <a:lvl2pPr>
              <a:defRPr sz="1875" b="1">
                <a:solidFill>
                  <a:srgbClr val="A66B24"/>
                </a:solidFill>
                <a:latin typeface="Arial"/>
                <a:ea typeface="Arial"/>
                <a:cs typeface="Arial"/>
              </a:defRPr>
            </a:lvl2pPr>
            <a:lvl3pPr>
              <a:defRPr sz="1875" b="1">
                <a:solidFill>
                  <a:srgbClr val="A66B24"/>
                </a:solidFill>
                <a:latin typeface="Arial"/>
                <a:ea typeface="Arial"/>
                <a:cs typeface="Arial"/>
              </a:defRPr>
            </a:lvl3pPr>
            <a:lvl4pPr>
              <a:defRPr sz="1875" b="1">
                <a:solidFill>
                  <a:srgbClr val="A66B24"/>
                </a:solidFill>
                <a:latin typeface="Arial"/>
                <a:ea typeface="Arial"/>
                <a:cs typeface="Arial"/>
              </a:defRPr>
            </a:lvl4pPr>
            <a:lvl5pPr>
              <a:defRPr sz="1875" b="1">
                <a:solidFill>
                  <a:srgbClr val="A66B24"/>
                </a:solidFill>
                <a:latin typeface="Arial"/>
                <a:ea typeface="Arial"/>
                <a:cs typeface="Arial"/>
              </a:defRPr>
            </a:lvl5pPr>
            <a:lvl6pPr>
              <a:defRPr sz="1875" b="1">
                <a:solidFill>
                  <a:srgbClr val="A66B24"/>
                </a:solidFill>
                <a:latin typeface="Arial"/>
                <a:ea typeface="Arial"/>
                <a:cs typeface="Arial"/>
              </a:defRPr>
            </a:lvl6pPr>
            <a:lvl7pPr>
              <a:defRPr sz="1875" b="1">
                <a:solidFill>
                  <a:srgbClr val="A66B24"/>
                </a:solidFill>
                <a:latin typeface="Arial"/>
                <a:ea typeface="Arial"/>
                <a:cs typeface="Arial"/>
              </a:defRPr>
            </a:lvl7pPr>
            <a:lvl8pPr>
              <a:defRPr sz="1875" b="1">
                <a:solidFill>
                  <a:srgbClr val="A66B24"/>
                </a:solidFill>
                <a:latin typeface="Arial"/>
                <a:ea typeface="Arial"/>
                <a:cs typeface="Arial"/>
              </a:defRPr>
            </a:lvl8pPr>
            <a:lvl9pPr>
              <a:defRPr sz="1875" b="1">
                <a:solidFill>
                  <a:srgbClr val="A66B24"/>
                </a:solidFill>
                <a:latin typeface="Arial"/>
                <a:ea typeface="Arial"/>
                <a:cs typeface="Arial"/>
              </a:defRPr>
            </a:lvl9pPr>
          </a:lstStyle>
          <a:p xmlns:a="http://schemas.openxmlformats.org/drawingml/2006/main">
            <a:pPr>
              <a:defRPr sz="1875" b="1">
                <a:solidFill>
                  <a:srgbClr val="A66B24"/>
                </a:solidFill>
                <a:latin typeface="Arial"/>
                <a:ea typeface="Arial"/>
                <a:cs typeface="Arial"/>
              </a:defRPr>
            </a:pPr>
            <a:r>
              <a:rPr sz="1875" b="1">
                <a:solidFill>
                  <a:srgbClr val="A66B24"/>
                </a:solidFill>
                <a:latin typeface="Arial"/>
                <a:ea typeface="Arial"/>
                <a:cs typeface="Arial"/>
              </a:rPr>
              <a:t>3 flags: 176 (6.3%)</a:t>
            </a:r>
          </a:p>
        </p:txBody>
      </p:sp>
      <p:sp>
        <p:nvSpPr>
          <p:cNvPr id="9" name="">
            <a:extLst xmlns:a="http://schemas.openxmlformats.org/drawingml/2006/main">
              <a:ext uri="{FF2B5EF4-FFF2-40B4-BE49-F238E27FC236}">
                <a16:creationId xmlns:a16="http://schemas.microsoft.com/office/drawing/2014/main" id="{31F00A3A-B874-45D3-9CA3-DC05851D54CF}"/>
              </a:ext>
            </a:extLst>
          </p:cNvPr>
          <p:cNvSpPr>
            <a:spLocks xmlns:a="http://schemas.openxmlformats.org/drawingml/2006/main" noGrp="1"/>
          </p:cNvSpPr>
          <p:nvPr/>
        </p:nvSpPr>
        <p:spPr>
          <a:xfrm xmlns:a="http://schemas.openxmlformats.org/drawingml/2006/main">
            <a:off x="8286750" y="390525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2441C"/>
                </a:solidFill>
                <a:latin typeface="Arial"/>
                <a:ea typeface="Arial"/>
                <a:cs typeface="Arial"/>
              </a:defRPr>
            </a:defPPr>
            <a:lvl1pPr>
              <a:defRPr sz="1875" b="1">
                <a:solidFill>
                  <a:srgbClr val="72441C"/>
                </a:solidFill>
                <a:latin typeface="Arial"/>
                <a:ea typeface="Arial"/>
                <a:cs typeface="Arial"/>
              </a:defRPr>
            </a:lvl1pPr>
            <a:lvl2pPr>
              <a:defRPr sz="1875" b="1">
                <a:solidFill>
                  <a:srgbClr val="72441C"/>
                </a:solidFill>
                <a:latin typeface="Arial"/>
                <a:ea typeface="Arial"/>
                <a:cs typeface="Arial"/>
              </a:defRPr>
            </a:lvl2pPr>
            <a:lvl3pPr>
              <a:defRPr sz="1875" b="1">
                <a:solidFill>
                  <a:srgbClr val="72441C"/>
                </a:solidFill>
                <a:latin typeface="Arial"/>
                <a:ea typeface="Arial"/>
                <a:cs typeface="Arial"/>
              </a:defRPr>
            </a:lvl3pPr>
            <a:lvl4pPr>
              <a:defRPr sz="1875" b="1">
                <a:solidFill>
                  <a:srgbClr val="72441C"/>
                </a:solidFill>
                <a:latin typeface="Arial"/>
                <a:ea typeface="Arial"/>
                <a:cs typeface="Arial"/>
              </a:defRPr>
            </a:lvl4pPr>
            <a:lvl5pPr>
              <a:defRPr sz="1875" b="1">
                <a:solidFill>
                  <a:srgbClr val="72441C"/>
                </a:solidFill>
                <a:latin typeface="Arial"/>
                <a:ea typeface="Arial"/>
                <a:cs typeface="Arial"/>
              </a:defRPr>
            </a:lvl5pPr>
            <a:lvl6pPr>
              <a:defRPr sz="1875" b="1">
                <a:solidFill>
                  <a:srgbClr val="72441C"/>
                </a:solidFill>
                <a:latin typeface="Arial"/>
                <a:ea typeface="Arial"/>
                <a:cs typeface="Arial"/>
              </a:defRPr>
            </a:lvl6pPr>
            <a:lvl7pPr>
              <a:defRPr sz="1875" b="1">
                <a:solidFill>
                  <a:srgbClr val="72441C"/>
                </a:solidFill>
                <a:latin typeface="Arial"/>
                <a:ea typeface="Arial"/>
                <a:cs typeface="Arial"/>
              </a:defRPr>
            </a:lvl7pPr>
            <a:lvl8pPr>
              <a:defRPr sz="1875" b="1">
                <a:solidFill>
                  <a:srgbClr val="72441C"/>
                </a:solidFill>
                <a:latin typeface="Arial"/>
                <a:ea typeface="Arial"/>
                <a:cs typeface="Arial"/>
              </a:defRPr>
            </a:lvl8pPr>
            <a:lvl9pPr>
              <a:defRPr sz="1875" b="1">
                <a:solidFill>
                  <a:srgbClr val="72441C"/>
                </a:solidFill>
                <a:latin typeface="Arial"/>
                <a:ea typeface="Arial"/>
                <a:cs typeface="Arial"/>
              </a:defRPr>
            </a:lvl9pPr>
          </a:lstStyle>
          <a:p xmlns:a="http://schemas.openxmlformats.org/drawingml/2006/main">
            <a:pPr>
              <a:defRPr sz="1875" b="1">
                <a:solidFill>
                  <a:srgbClr val="72441C"/>
                </a:solidFill>
                <a:latin typeface="Arial"/>
                <a:ea typeface="Arial"/>
                <a:cs typeface="Arial"/>
              </a:defRPr>
            </a:pPr>
            <a:r>
              <a:rPr sz="1875" b="1">
                <a:solidFill>
                  <a:srgbClr val="72441C"/>
                </a:solidFill>
                <a:latin typeface="Arial"/>
                <a:ea typeface="Arial"/>
                <a:cs typeface="Arial"/>
              </a:rPr>
              <a:t>4 flags: 1 (&lt;0.1%)</a:t>
            </a:r>
          </a:p>
        </p:txBody>
      </p:sp>
      <p:sp>
        <p:nvSpPr>
          <p:cNvPr id="10" name="">
            <a:extLst xmlns:a="http://schemas.openxmlformats.org/drawingml/2006/main">
              <a:ext uri="{FF2B5EF4-FFF2-40B4-BE49-F238E27FC236}">
                <a16:creationId xmlns:a16="http://schemas.microsoft.com/office/drawing/2014/main" id="{355B75C3-98E8-496E-8712-9978C293BAE2}"/>
              </a:ext>
            </a:extLst>
          </p:cNvPr>
          <p:cNvSpPr>
            <a:spLocks xmlns:a="http://schemas.openxmlformats.org/drawingml/2006/main" noGrp="1"/>
          </p:cNvSpPr>
          <p:nvPr/>
        </p:nvSpPr>
        <p:spPr>
          <a:xfrm xmlns:a="http://schemas.openxmlformats.org/drawingml/2006/main">
            <a:off x="8286750" y="4667250"/>
            <a:ext cx="3286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No counted flags: 21.6% (601)</a:t>
            </a:r>
          </a:p>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Failed: 20.5% (570)</a:t>
            </a:r>
          </a:p>
        </p:txBody>
      </p:sp>
      <p:sp>
        <p:nvSpPr>
          <p:cNvPr id="11" name="">
            <a:extLst xmlns:a="http://schemas.openxmlformats.org/drawingml/2006/main">
              <a:ext uri="{FF2B5EF4-FFF2-40B4-BE49-F238E27FC236}">
                <a16:creationId xmlns:a16="http://schemas.microsoft.com/office/drawing/2014/main" id="{58AC3378-BEA0-47C8-8EA4-CB5782855A58}"/>
              </a:ext>
            </a:extLst>
          </p:cNvPr>
          <p:cNvSpPr>
            <a:spLocks xmlns:a="http://schemas.openxmlformats.org/drawingml/2006/main" noGrp="1"/>
          </p:cNvSpPr>
          <p:nvPr/>
        </p:nvSpPr>
        <p:spPr>
          <a:xfrm xmlns:a="http://schemas.openxmlformats.org/drawingml/2006/main">
            <a:off x="609600" y="5791200"/>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Chart excludes face-on flag and disc PA instability for face-on galaxies. Source QI labels unchanged.</a:t>
            </a:r>
          </a:p>
        </p:txBody>
      </p:sp>
    </p:spTree>
    <p:extLst>
      <p:ext uri="{BB962C8B-B14F-4D97-AF65-F5344CB8AC3E}">
        <p14:creationId xmlns:p14="http://schemas.microsoft.com/office/powerpoint/2010/main" val="10698484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0450135-8A2B-4A76-A756-790C66253C88}"/>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Quality flags and reasons for failure</a:t>
            </a:r>
          </a:p>
        </p:txBody>
      </p:sp>
      <p:sp>
        <p:nvSpPr>
          <p:cNvPr id="2" name="">
            <a:extLst xmlns:a="http://schemas.openxmlformats.org/drawingml/2006/main">
              <a:ext uri="{FF2B5EF4-FFF2-40B4-BE49-F238E27FC236}">
                <a16:creationId xmlns:a16="http://schemas.microsoft.com/office/drawing/2014/main" id="{CF19C623-5082-4D09-96B9-5CDA534528B1}"/>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13</a:t>
            </a:r>
          </a:p>
        </p:txBody>
      </p:sp>
      <p:sp>
        <p:nvSpPr>
          <p:cNvPr id="3" name="">
            <a:extLst xmlns:a="http://schemas.openxmlformats.org/drawingml/2006/main">
              <a:ext uri="{FF2B5EF4-FFF2-40B4-BE49-F238E27FC236}">
                <a16:creationId xmlns:a16="http://schemas.microsoft.com/office/drawing/2014/main" id="{30D070BD-B4B5-4CFB-B2EE-27CE852C5604}"/>
              </a:ext>
            </a:extLst>
          </p:cNvPr>
          <p:cNvSpPr>
            <a:spLocks xmlns:a="http://schemas.openxmlformats.org/drawingml/2006/main" noGrp="1"/>
          </p:cNvSpPr>
          <p:nvPr/>
        </p:nvSpPr>
        <p:spPr>
          <a:xfrm xmlns:a="http://schemas.openxmlformats.org/drawingml/2006/main">
            <a:off x="609600" y="1314450"/>
            <a:ext cx="633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Counted flags among completed fits</a:t>
            </a:r>
          </a:p>
        </p:txBody>
      </p:sp>
      <p:graphicFrame>
        <p:nvGraphicFramePr>
          <p:cNvPr id="4" name="Chart">
            <a:extLst xmlns:a="http://schemas.openxmlformats.org/drawingml/2006/main">
              <a:ext uri="{FF2B5EF4-FFF2-40B4-BE49-F238E27FC236}">
                <a16:creationId xmlns:a16="http://schemas.microsoft.com/office/drawing/2014/main" id="{887BC620-08D4-4894-BD07-5F412957AA34}"/>
              </a:ext>
            </a:extLst>
          </p:cNvPr>
          <p:cNvGraphicFramePr/>
          <p:nvPr/>
        </p:nvGraphicFramePr>
        <p:xfrm>
          <a:off xmlns:a="http://schemas.openxmlformats.org/drawingml/2006/main" x="495300" y="1876425"/>
          <a:ext xmlns:a="http://schemas.openxmlformats.org/drawingml/2006/main" cx="6572250" cy="3429000"/>
        </p:xfrm>
        <a:graphic xmlns:a="http://schemas.openxmlformats.org/drawingml/2006/main">
          <a:graphicData uri="http://schemas.openxmlformats.org/drawingml/2006/chart">
            <c:chart xmlns:r="http://schemas.openxmlformats.org/officeDocument/2006/relationships" xmlns:c="http://schemas.openxmlformats.org/drawingml/2006/chart" r:id="R5c7a82c3e20d4cf5"/>
          </a:graphicData>
        </a:graphic>
      </p:graphicFrame>
      <p:sp>
        <p:nvSpPr>
          <p:cNvPr id="5" name="">
            <a:extLst xmlns:a="http://schemas.openxmlformats.org/drawingml/2006/main">
              <a:ext uri="{FF2B5EF4-FFF2-40B4-BE49-F238E27FC236}">
                <a16:creationId xmlns:a16="http://schemas.microsoft.com/office/drawing/2014/main" id="{EF1D5277-6C91-4C38-A2E4-9FC3EE5B7E55}"/>
              </a:ext>
            </a:extLst>
          </p:cNvPr>
          <p:cNvSpPr>
            <a:spLocks xmlns:a="http://schemas.openxmlformats.org/drawingml/2006/main" noGrp="1"/>
          </p:cNvSpPr>
          <p:nvPr/>
        </p:nvSpPr>
        <p:spPr>
          <a:xfrm xmlns:a="http://schemas.openxmlformats.org/drawingml/2006/main">
            <a:off x="609600" y="5429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*Disc PA: 609 / 2,007 non-face-on fits (30.3%).</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Other bars: denominator 2,207. Flags overlap.</a:t>
            </a:r>
          </a:p>
        </p:txBody>
      </p:sp>
      <p:sp>
        <p:nvSpPr>
          <p:cNvPr id="6" name="">
            <a:extLst xmlns:a="http://schemas.openxmlformats.org/drawingml/2006/main">
              <a:ext uri="{FF2B5EF4-FFF2-40B4-BE49-F238E27FC236}">
                <a16:creationId xmlns:a16="http://schemas.microsoft.com/office/drawing/2014/main" id="{96C4D53A-1BB1-40F6-8FFE-153F5740452B}"/>
              </a:ext>
            </a:extLst>
          </p:cNvPr>
          <p:cNvSpPr>
            <a:spLocks xmlns:a="http://schemas.openxmlformats.org/drawingml/2006/main" noGrp="1"/>
          </p:cNvSpPr>
          <p:nvPr/>
        </p:nvSpPr>
        <p:spPr>
          <a:xfrm xmlns:a="http://schemas.openxmlformats.org/drawingml/2006/main">
            <a:off x="7334250" y="1314450"/>
            <a:ext cx="433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05F7A"/>
                </a:solidFill>
                <a:latin typeface="Arial"/>
                <a:ea typeface="Arial"/>
                <a:cs typeface="Arial"/>
              </a:defRPr>
            </a:defPPr>
            <a:lvl1pPr>
              <a:defRPr sz="1950" b="1">
                <a:solidFill>
                  <a:srgbClr val="205F7A"/>
                </a:solidFill>
                <a:latin typeface="Arial"/>
                <a:ea typeface="Arial"/>
                <a:cs typeface="Arial"/>
              </a:defRPr>
            </a:lvl1pPr>
            <a:lvl2pPr>
              <a:defRPr sz="1950" b="1">
                <a:solidFill>
                  <a:srgbClr val="205F7A"/>
                </a:solidFill>
                <a:latin typeface="Arial"/>
                <a:ea typeface="Arial"/>
                <a:cs typeface="Arial"/>
              </a:defRPr>
            </a:lvl2pPr>
            <a:lvl3pPr>
              <a:defRPr sz="1950" b="1">
                <a:solidFill>
                  <a:srgbClr val="205F7A"/>
                </a:solidFill>
                <a:latin typeface="Arial"/>
                <a:ea typeface="Arial"/>
                <a:cs typeface="Arial"/>
              </a:defRPr>
            </a:lvl3pPr>
            <a:lvl4pPr>
              <a:defRPr sz="1950" b="1">
                <a:solidFill>
                  <a:srgbClr val="205F7A"/>
                </a:solidFill>
                <a:latin typeface="Arial"/>
                <a:ea typeface="Arial"/>
                <a:cs typeface="Arial"/>
              </a:defRPr>
            </a:lvl4pPr>
            <a:lvl5pPr>
              <a:defRPr sz="1950" b="1">
                <a:solidFill>
                  <a:srgbClr val="205F7A"/>
                </a:solidFill>
                <a:latin typeface="Arial"/>
                <a:ea typeface="Arial"/>
                <a:cs typeface="Arial"/>
              </a:defRPr>
            </a:lvl5pPr>
            <a:lvl6pPr>
              <a:defRPr sz="1950" b="1">
                <a:solidFill>
                  <a:srgbClr val="205F7A"/>
                </a:solidFill>
                <a:latin typeface="Arial"/>
                <a:ea typeface="Arial"/>
                <a:cs typeface="Arial"/>
              </a:defRPr>
            </a:lvl6pPr>
            <a:lvl7pPr>
              <a:defRPr sz="1950" b="1">
                <a:solidFill>
                  <a:srgbClr val="205F7A"/>
                </a:solidFill>
                <a:latin typeface="Arial"/>
                <a:ea typeface="Arial"/>
                <a:cs typeface="Arial"/>
              </a:defRPr>
            </a:lvl7pPr>
            <a:lvl8pPr>
              <a:defRPr sz="1950" b="1">
                <a:solidFill>
                  <a:srgbClr val="205F7A"/>
                </a:solidFill>
                <a:latin typeface="Arial"/>
                <a:ea typeface="Arial"/>
                <a:cs typeface="Arial"/>
              </a:defRPr>
            </a:lvl8pPr>
            <a:lvl9pPr>
              <a:defRPr sz="1950" b="1">
                <a:solidFill>
                  <a:srgbClr val="205F7A"/>
                </a:solidFill>
                <a:latin typeface="Arial"/>
                <a:ea typeface="Arial"/>
                <a:cs typeface="Arial"/>
              </a:defRPr>
            </a:lvl9pPr>
          </a:lstStyle>
          <a:p xmlns:a="http://schemas.openxmlformats.org/drawingml/2006/main">
            <a:pPr>
              <a:defRPr sz="1950" b="1">
                <a:solidFill>
                  <a:srgbClr val="205F7A"/>
                </a:solidFill>
                <a:latin typeface="Arial"/>
                <a:ea typeface="Arial"/>
                <a:cs typeface="Arial"/>
              </a:defRPr>
            </a:pPr>
            <a:r>
              <a:rPr sz="1950" b="1">
                <a:solidFill>
                  <a:srgbClr val="205F7A"/>
                </a:solidFill>
                <a:latin typeface="Arial"/>
                <a:ea typeface="Arial"/>
                <a:cs typeface="Arial"/>
              </a:rPr>
              <a:t>570 failed fits: recorded reasons</a:t>
            </a:r>
          </a:p>
        </p:txBody>
      </p:sp>
      <p:graphicFrame>
        <p:nvGraphicFramePr>
          <p:cNvPr id="7" name="Chart">
            <a:extLst xmlns:a="http://schemas.openxmlformats.org/drawingml/2006/main">
              <a:ext uri="{FF2B5EF4-FFF2-40B4-BE49-F238E27FC236}">
                <a16:creationId xmlns:a16="http://schemas.microsoft.com/office/drawing/2014/main" id="{65CF82E3-60DB-41B6-9038-610FD373942F}"/>
              </a:ext>
            </a:extLst>
          </p:cNvPr>
          <p:cNvGraphicFramePr/>
          <p:nvPr/>
        </p:nvGraphicFramePr>
        <p:xfrm>
          <a:off xmlns:a="http://schemas.openxmlformats.org/drawingml/2006/main" x="7286625" y="2000250"/>
          <a:ext xmlns:a="http://schemas.openxmlformats.org/drawingml/2006/main" cx="4333875" cy="2524125"/>
        </p:xfrm>
        <a:graphic xmlns:a="http://schemas.openxmlformats.org/drawingml/2006/main">
          <a:graphicData uri="http://schemas.openxmlformats.org/drawingml/2006/chart">
            <c:chart xmlns:r="http://schemas.openxmlformats.org/officeDocument/2006/relationships" xmlns:c="http://schemas.openxmlformats.org/drawingml/2006/chart" r:id="R8342a7cb01b945ac"/>
          </a:graphicData>
        </a:graphic>
      </p:graphicFrame>
      <p:sp>
        <p:nvSpPr>
          <p:cNvPr id="8" name="">
            <a:extLst xmlns:a="http://schemas.openxmlformats.org/drawingml/2006/main">
              <a:ext uri="{FF2B5EF4-FFF2-40B4-BE49-F238E27FC236}">
                <a16:creationId xmlns:a16="http://schemas.microsoft.com/office/drawing/2014/main" id="{18DAA87A-4BD7-42D2-9820-0ED67C90281E}"/>
              </a:ext>
            </a:extLst>
          </p:cNvPr>
          <p:cNvSpPr>
            <a:spLocks xmlns:a="http://schemas.openxmlformats.org/drawingml/2006/main" noGrp="1"/>
          </p:cNvSpPr>
          <p:nvPr/>
        </p:nvSpPr>
        <p:spPr>
          <a:xfrm xmlns:a="http://schemas.openxmlformats.org/drawingml/2006/main">
            <a:off x="7334250" y="4629150"/>
            <a:ext cx="4238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633"/>
                </a:solidFill>
                <a:latin typeface="Arial"/>
                <a:ea typeface="Arial"/>
                <a:cs typeface="Arial"/>
              </a:defRPr>
            </a:defPPr>
            <a:lvl1pPr>
              <a:defRPr sz="1575" b="0">
                <a:solidFill>
                  <a:srgbClr val="142633"/>
                </a:solidFill>
                <a:latin typeface="Arial"/>
                <a:ea typeface="Arial"/>
                <a:cs typeface="Arial"/>
              </a:defRPr>
            </a:lvl1pPr>
            <a:lvl2pPr>
              <a:defRPr sz="1575" b="0">
                <a:solidFill>
                  <a:srgbClr val="142633"/>
                </a:solidFill>
                <a:latin typeface="Arial"/>
                <a:ea typeface="Arial"/>
                <a:cs typeface="Arial"/>
              </a:defRPr>
            </a:lvl2pPr>
            <a:lvl3pPr>
              <a:defRPr sz="1575" b="0">
                <a:solidFill>
                  <a:srgbClr val="142633"/>
                </a:solidFill>
                <a:latin typeface="Arial"/>
                <a:ea typeface="Arial"/>
                <a:cs typeface="Arial"/>
              </a:defRPr>
            </a:lvl3pPr>
            <a:lvl4pPr>
              <a:defRPr sz="1575" b="0">
                <a:solidFill>
                  <a:srgbClr val="142633"/>
                </a:solidFill>
                <a:latin typeface="Arial"/>
                <a:ea typeface="Arial"/>
                <a:cs typeface="Arial"/>
              </a:defRPr>
            </a:lvl4pPr>
            <a:lvl5pPr>
              <a:defRPr sz="1575" b="0">
                <a:solidFill>
                  <a:srgbClr val="142633"/>
                </a:solidFill>
                <a:latin typeface="Arial"/>
                <a:ea typeface="Arial"/>
                <a:cs typeface="Arial"/>
              </a:defRPr>
            </a:lvl5pPr>
            <a:lvl6pPr>
              <a:defRPr sz="1575" b="0">
                <a:solidFill>
                  <a:srgbClr val="142633"/>
                </a:solidFill>
                <a:latin typeface="Arial"/>
                <a:ea typeface="Arial"/>
                <a:cs typeface="Arial"/>
              </a:defRPr>
            </a:lvl6pPr>
            <a:lvl7pPr>
              <a:defRPr sz="1575" b="0">
                <a:solidFill>
                  <a:srgbClr val="142633"/>
                </a:solidFill>
                <a:latin typeface="Arial"/>
                <a:ea typeface="Arial"/>
                <a:cs typeface="Arial"/>
              </a:defRPr>
            </a:lvl7pPr>
            <a:lvl8pPr>
              <a:defRPr sz="1575" b="0">
                <a:solidFill>
                  <a:srgbClr val="142633"/>
                </a:solidFill>
                <a:latin typeface="Arial"/>
                <a:ea typeface="Arial"/>
                <a:cs typeface="Arial"/>
              </a:defRPr>
            </a:lvl8pPr>
            <a:lvl9pPr>
              <a:defRPr sz="1575" b="0">
                <a:solidFill>
                  <a:srgbClr val="142633"/>
                </a:solidFill>
                <a:latin typeface="Arial"/>
                <a:ea typeface="Arial"/>
                <a:cs typeface="Arial"/>
              </a:defRPr>
            </a:lvl9pPr>
          </a:lstStyle>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431: fewer than 3 reliable ellipses in the selected bar or disc interval.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138: fewer than 10 reliable ellipses overall.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 centre outside a detected galaxy.</a:t>
            </a:r>
          </a:p>
        </p:txBody>
      </p:sp>
      <p:sp>
        <p:nvSpPr>
          <p:cNvPr id="9" name="">
            <a:extLst xmlns:a="http://schemas.openxmlformats.org/drawingml/2006/main">
              <a:ext uri="{FF2B5EF4-FFF2-40B4-BE49-F238E27FC236}">
                <a16:creationId xmlns:a16="http://schemas.microsoft.com/office/drawing/2014/main" id="{6FC0DFAF-39BC-4559-B2E4-7D7CCB6338F6}"/>
              </a:ext>
            </a:extLst>
          </p:cNvPr>
          <p:cNvSpPr>
            <a:spLocks xmlns:a="http://schemas.openxmlformats.org/drawingml/2006/main" noGrp="1"/>
          </p:cNvSpPr>
          <p:nvPr/>
        </p:nvSpPr>
        <p:spPr>
          <a:xfrm xmlns:a="http://schemas.openxmlformats.org/drawingml/2006/main">
            <a:off x="609600" y="61912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673"/>
                </a:solidFill>
                <a:latin typeface="Arial"/>
                <a:ea typeface="Arial"/>
                <a:cs typeface="Arial"/>
              </a:defRPr>
            </a:defPPr>
            <a:lvl1pPr>
              <a:defRPr sz="1575" b="0">
                <a:solidFill>
                  <a:srgbClr val="526673"/>
                </a:solidFill>
                <a:latin typeface="Arial"/>
                <a:ea typeface="Arial"/>
                <a:cs typeface="Arial"/>
              </a:defRPr>
            </a:lvl1pPr>
            <a:lvl2pPr>
              <a:defRPr sz="1575" b="0">
                <a:solidFill>
                  <a:srgbClr val="526673"/>
                </a:solidFill>
                <a:latin typeface="Arial"/>
                <a:ea typeface="Arial"/>
                <a:cs typeface="Arial"/>
              </a:defRPr>
            </a:lvl2pPr>
            <a:lvl3pPr>
              <a:defRPr sz="1575" b="0">
                <a:solidFill>
                  <a:srgbClr val="526673"/>
                </a:solidFill>
                <a:latin typeface="Arial"/>
                <a:ea typeface="Arial"/>
                <a:cs typeface="Arial"/>
              </a:defRPr>
            </a:lvl3pPr>
            <a:lvl4pPr>
              <a:defRPr sz="1575" b="0">
                <a:solidFill>
                  <a:srgbClr val="526673"/>
                </a:solidFill>
                <a:latin typeface="Arial"/>
                <a:ea typeface="Arial"/>
                <a:cs typeface="Arial"/>
              </a:defRPr>
            </a:lvl4pPr>
            <a:lvl5pPr>
              <a:defRPr sz="1575" b="0">
                <a:solidFill>
                  <a:srgbClr val="526673"/>
                </a:solidFill>
                <a:latin typeface="Arial"/>
                <a:ea typeface="Arial"/>
                <a:cs typeface="Arial"/>
              </a:defRPr>
            </a:lvl5pPr>
            <a:lvl6pPr>
              <a:defRPr sz="1575" b="0">
                <a:solidFill>
                  <a:srgbClr val="526673"/>
                </a:solidFill>
                <a:latin typeface="Arial"/>
                <a:ea typeface="Arial"/>
                <a:cs typeface="Arial"/>
              </a:defRPr>
            </a:lvl6pPr>
            <a:lvl7pPr>
              <a:defRPr sz="1575" b="0">
                <a:solidFill>
                  <a:srgbClr val="526673"/>
                </a:solidFill>
                <a:latin typeface="Arial"/>
                <a:ea typeface="Arial"/>
                <a:cs typeface="Arial"/>
              </a:defRPr>
            </a:lvl7pPr>
            <a:lvl8pPr>
              <a:defRPr sz="1575" b="0">
                <a:solidFill>
                  <a:srgbClr val="526673"/>
                </a:solidFill>
                <a:latin typeface="Arial"/>
                <a:ea typeface="Arial"/>
                <a:cs typeface="Arial"/>
              </a:defRPr>
            </a:lvl8pPr>
            <a:lvl9pPr>
              <a:defRPr sz="1575" b="0">
                <a:solidFill>
                  <a:srgbClr val="526673"/>
                </a:solidFill>
                <a:latin typeface="Arial"/>
                <a:ea typeface="Arial"/>
                <a:cs typeface="Arial"/>
              </a:defRPr>
            </a:lvl9pPr>
          </a:lstStyle>
          <a:p xmlns:a="http://schemas.openxmlformats.org/drawingml/2006/main">
            <a:pPr>
              <a:defRPr sz="1575" b="0">
                <a:solidFill>
                  <a:srgbClr val="526673"/>
                </a:solidFill>
                <a:latin typeface="Arial"/>
                <a:ea typeface="Arial"/>
                <a:cs typeface="Arial"/>
              </a:defRPr>
            </a:pPr>
            <a:r>
              <a:rPr sz="1575" b="0">
                <a:solidFill>
                  <a:srgbClr val="526673"/>
                </a:solidFill>
                <a:latin typeface="Arial"/>
                <a:ea typeface="Arial"/>
                <a:cs typeface="Arial"/>
              </a:rPr>
              <a:t>Failure categories are mutually exclusive: 431 + 138 + 1 = 570.</a:t>
            </a:r>
          </a:p>
        </p:txBody>
      </p:sp>
    </p:spTree>
    <p:extLst>
      <p:ext uri="{BB962C8B-B14F-4D97-AF65-F5344CB8AC3E}">
        <p14:creationId xmlns:p14="http://schemas.microsoft.com/office/powerpoint/2010/main" val="12814805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2FBBE0-84E6-48F6-A3AE-5284261424C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Comparison with Euclid geometry</a:t>
            </a:r>
          </a:p>
        </p:txBody>
      </p:sp>
      <p:sp>
        <p:nvSpPr>
          <p:cNvPr id="2" name="">
            <a:extLst xmlns:a="http://schemas.openxmlformats.org/drawingml/2006/main">
              <a:ext uri="{FF2B5EF4-FFF2-40B4-BE49-F238E27FC236}">
                <a16:creationId xmlns:a16="http://schemas.microsoft.com/office/drawing/2014/main" id="{ACE44C82-BC5A-4E62-BC94-62271DB73F43}"/>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13</a:t>
            </a:r>
          </a:p>
        </p:txBody>
      </p:sp>
      <p:sp>
        <p:nvSpPr>
          <p:cNvPr id="3" name="">
            <a:extLst xmlns:a="http://schemas.openxmlformats.org/drawingml/2006/main">
              <a:ext uri="{FF2B5EF4-FFF2-40B4-BE49-F238E27FC236}">
                <a16:creationId xmlns:a16="http://schemas.microsoft.com/office/drawing/2014/main" id="{5F069F54-1E1B-4DF3-9A54-F032EF443999}"/>
              </a:ext>
            </a:extLst>
          </p:cNvPr>
          <p:cNvSpPr>
            <a:spLocks xmlns:a="http://schemas.openxmlformats.org/drawingml/2006/main" noGrp="1"/>
          </p:cNvSpPr>
          <p:nvPr/>
        </p:nvSpPr>
        <p:spPr>
          <a:xfrm xmlns:a="http://schemas.openxmlformats.org/drawingml/2006/main">
            <a:off x="609600" y="13335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Adopted rule: adjusted Euclid sky PA = (WCS-converted PA + 90°) mod 180°</a:t>
            </a:r>
          </a:p>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Possible explanation: catalogue angle from detection-image y rather than documented x (unconfirmed).</a:t>
            </a:r>
          </a:p>
        </p:txBody>
      </p:sp>
      <p:graphicFrame>
        <p:nvGraphicFramePr>
          <p:cNvPr id="4" name="">
            <a:extLst xmlns:a="http://schemas.openxmlformats.org/drawingml/2006/main">
              <a:ext uri="{FF2B5EF4-FFF2-40B4-BE49-F238E27FC236}">
                <a16:creationId xmlns:a16="http://schemas.microsoft.com/office/drawing/2014/main" id="{C56F81E8-6F1E-42A5-8A58-790E80863641}"/>
              </a:ext>
            </a:extLst>
          </p:cNvPr>
          <p:cNvGraphicFramePr/>
          <p:nvPr/>
        </p:nvGraphicFramePr>
        <p:xfrm>
          <a:off xmlns:a="http://schemas.openxmlformats.org/drawingml/2006/main" x="609600" y="2381250"/>
          <a:ext xmlns:a="http://schemas.openxmlformats.org/drawingml/2006/main" cx="10972800" cy="2381250"/>
        </p:xfrm>
        <a:graphic xmlns:a="http://schemas.openxmlformats.org/drawingml/2006/main">
          <a:graphicData uri="http://schemas.openxmlformats.org/drawingml/2006/table">
            <a:tbl>
              <a:tblPr/>
              <a:tblGrid>
                <a:gridCol w="5905500"/>
                <a:gridCol w="2533650"/>
                <a:gridCol w="2533650"/>
              </a:tblGrid>
              <a:tr h="595313">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All 2,207 fits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546 unflagged</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95313">
                <a:tc>
                  <a:txBody>
                    <a:bodyPr/>
                    <a:lstStyle/>
                    <a:p>
                      <a:r>
                        <a:rPr sz="1875" b="0">
                          <a:solidFill>
                            <a:srgbClr val="142633"/>
                          </a:solidFill>
                          <a:latin typeface="Arial"/>
                          <a:ea typeface="Arial"/>
                          <a:cs typeface="Arial"/>
                        </a:rPr>
                        <a:t>Adjusted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7.07°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3.72°</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4.28°</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2.71°</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8.41°</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6.76°</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EDB36BA-A975-4CB5-BE3E-914511D960A3}"/>
              </a:ext>
            </a:extLst>
          </p:cNvPr>
          <p:cNvSpPr>
            <a:spLocks xmlns:a="http://schemas.openxmlformats.org/drawingml/2006/main" noGrp="1"/>
          </p:cNvSpPr>
          <p:nvPr/>
        </p:nvSpPr>
        <p:spPr>
          <a:xfrm xmlns:a="http://schemas.openxmlformats.org/drawingml/2006/main">
            <a:off x="60960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79.3% of unflagged fits agree with adjusted Euclid PA within 10°.</a:t>
            </a:r>
          </a:p>
        </p:txBody>
      </p:sp>
      <p:sp>
        <p:nvSpPr>
          <p:cNvPr id="6" name="">
            <a:extLst xmlns:a="http://schemas.openxmlformats.org/drawingml/2006/main">
              <a:ext uri="{FF2B5EF4-FFF2-40B4-BE49-F238E27FC236}">
                <a16:creationId xmlns:a16="http://schemas.microsoft.com/office/drawing/2014/main" id="{4CA04753-DDC1-4309-ADAD-33AC99E4F4C8}"/>
              </a:ext>
            </a:extLst>
          </p:cNvPr>
          <p:cNvSpPr>
            <a:spLocks xmlns:a="http://schemas.openxmlformats.org/drawingml/2006/main" noGrp="1"/>
          </p:cNvSpPr>
          <p:nvPr/>
        </p:nvSpPr>
        <p:spPr>
          <a:xfrm xmlns:a="http://schemas.openxmlformats.org/drawingml/2006/main">
            <a:off x="609600" y="57721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Codex PA: North towards East. N = 0°, NE = 45°, E = 90° (mod 180°).</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Counterclockwise on a North-up, East-left image. Pixel angles first pass through WCS.</a:t>
            </a:r>
          </a:p>
        </p:txBody>
      </p:sp>
    </p:spTree>
    <p:extLst>
      <p:ext uri="{BB962C8B-B14F-4D97-AF65-F5344CB8AC3E}">
        <p14:creationId xmlns:p14="http://schemas.microsoft.com/office/powerpoint/2010/main" val="156006537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F974062-A73A-407C-AD22-E2354593770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Why image review remains necessary</a:t>
            </a:r>
          </a:p>
        </p:txBody>
      </p:sp>
      <p:sp>
        <p:nvSpPr>
          <p:cNvPr id="2" name="">
            <a:extLst xmlns:a="http://schemas.openxmlformats.org/drawingml/2006/main">
              <a:ext uri="{FF2B5EF4-FFF2-40B4-BE49-F238E27FC236}">
                <a16:creationId xmlns:a16="http://schemas.microsoft.com/office/drawing/2014/main" id="{3C4EB1D7-7C62-4AD5-87ED-04DE75E00BB9}"/>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13</a:t>
            </a:r>
          </a:p>
        </p:txBody>
      </p:sp>
      <p:pic>
        <p:nvPicPr>
          <p:cNvPr id="3" name="">
            <a:extLst xmlns:a="http://schemas.openxmlformats.org/drawingml/2006/main">
              <a:ext uri="{FF2B5EF4-FFF2-40B4-BE49-F238E27FC236}">
                <a16:creationId xmlns:a16="http://schemas.microsoft.com/office/drawing/2014/main" id="{BE1810D9-8519-4193-9A79-967F16DB510F}"/>
              </a:ext>
            </a:extLst>
          </p:cNvPr>
          <p:cNvPicPr>
            <a:picLocks xmlns:a="http://schemas.openxmlformats.org/drawingml/2006/main" noChangeAspect="1"/>
          </p:cNvPicPr>
          <p:nvPr/>
        </p:nvPicPr>
        <p:blipFill>
          <a:blip xmlns:r="http://schemas.openxmlformats.org/officeDocument/2006/relationships" xmlns:a="http://schemas.openxmlformats.org/drawingml/2006/main" r:embed="R76d9f735b17e47df"/>
          <a:stretch xmlns:a="http://schemas.openxmlformats.org/drawingml/2006/main"/>
        </p:blipFill>
        <p:spPr>
          <a:xfrm xmlns:a="http://schemas.openxmlformats.org/drawingml/2006/main">
            <a:off x="476250" y="1619250"/>
            <a:ext cx="7286625"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6B9D504-12C5-4D43-BBD2-FA07E89D8649}"/>
              </a:ext>
            </a:extLst>
          </p:cNvPr>
          <p:cNvSpPr>
            <a:spLocks xmlns:a="http://schemas.openxmlformats.org/drawingml/2006/main" noGrp="1"/>
          </p:cNvSpPr>
          <p:nvPr/>
        </p:nvSpPr>
        <p:spPr>
          <a:xfrm xmlns:a="http://schemas.openxmlformats.org/drawingml/2006/main">
            <a:off x="8096250" y="1638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05F7A"/>
                </a:solidFill>
                <a:latin typeface="Arial"/>
                <a:ea typeface="Arial"/>
                <a:cs typeface="Arial"/>
              </a:defRPr>
            </a:defPPr>
            <a:lvl1pPr>
              <a:defRPr sz="2175" b="1">
                <a:solidFill>
                  <a:srgbClr val="205F7A"/>
                </a:solidFill>
                <a:latin typeface="Arial"/>
                <a:ea typeface="Arial"/>
                <a:cs typeface="Arial"/>
              </a:defRPr>
            </a:lvl1pPr>
            <a:lvl2pPr>
              <a:defRPr sz="2175" b="1">
                <a:solidFill>
                  <a:srgbClr val="205F7A"/>
                </a:solidFill>
                <a:latin typeface="Arial"/>
                <a:ea typeface="Arial"/>
                <a:cs typeface="Arial"/>
              </a:defRPr>
            </a:lvl2pPr>
            <a:lvl3pPr>
              <a:defRPr sz="2175" b="1">
                <a:solidFill>
                  <a:srgbClr val="205F7A"/>
                </a:solidFill>
                <a:latin typeface="Arial"/>
                <a:ea typeface="Arial"/>
                <a:cs typeface="Arial"/>
              </a:defRPr>
            </a:lvl3pPr>
            <a:lvl4pPr>
              <a:defRPr sz="2175" b="1">
                <a:solidFill>
                  <a:srgbClr val="205F7A"/>
                </a:solidFill>
                <a:latin typeface="Arial"/>
                <a:ea typeface="Arial"/>
                <a:cs typeface="Arial"/>
              </a:defRPr>
            </a:lvl4pPr>
            <a:lvl5pPr>
              <a:defRPr sz="2175" b="1">
                <a:solidFill>
                  <a:srgbClr val="205F7A"/>
                </a:solidFill>
                <a:latin typeface="Arial"/>
                <a:ea typeface="Arial"/>
                <a:cs typeface="Arial"/>
              </a:defRPr>
            </a:lvl5pPr>
            <a:lvl6pPr>
              <a:defRPr sz="2175" b="1">
                <a:solidFill>
                  <a:srgbClr val="205F7A"/>
                </a:solidFill>
                <a:latin typeface="Arial"/>
                <a:ea typeface="Arial"/>
                <a:cs typeface="Arial"/>
              </a:defRPr>
            </a:lvl6pPr>
            <a:lvl7pPr>
              <a:defRPr sz="2175" b="1">
                <a:solidFill>
                  <a:srgbClr val="205F7A"/>
                </a:solidFill>
                <a:latin typeface="Arial"/>
                <a:ea typeface="Arial"/>
                <a:cs typeface="Arial"/>
              </a:defRPr>
            </a:lvl7pPr>
            <a:lvl8pPr>
              <a:defRPr sz="2175" b="1">
                <a:solidFill>
                  <a:srgbClr val="205F7A"/>
                </a:solidFill>
                <a:latin typeface="Arial"/>
                <a:ea typeface="Arial"/>
                <a:cs typeface="Arial"/>
              </a:defRPr>
            </a:lvl8pPr>
            <a:lvl9pPr>
              <a:defRPr sz="2175" b="1">
                <a:solidFill>
                  <a:srgbClr val="205F7A"/>
                </a:solidFill>
                <a:latin typeface="Arial"/>
                <a:ea typeface="Arial"/>
                <a:cs typeface="Arial"/>
              </a:defRPr>
            </a:lvl9pPr>
          </a:lstStyle>
          <a:p xmlns:a="http://schemas.openxmlformats.org/drawingml/2006/main">
            <a:pPr>
              <a:defRPr sz="2175" b="1">
                <a:solidFill>
                  <a:srgbClr val="205F7A"/>
                </a:solidFill>
                <a:latin typeface="Arial"/>
                <a:ea typeface="Arial"/>
                <a:cs typeface="Arial"/>
              </a:defRPr>
            </a:pPr>
            <a:r>
              <a:rPr sz="2175" b="1">
                <a:solidFill>
                  <a:srgbClr val="205F7A"/>
                </a:solidFill>
                <a:latin typeface="Arial"/>
                <a:ea typeface="Arial"/>
                <a:cs typeface="Arial"/>
              </a:rPr>
              <a:t>Example QI galaxy</a:t>
            </a:r>
          </a:p>
        </p:txBody>
      </p:sp>
      <p:sp>
        <p:nvSpPr>
          <p:cNvPr id="5" name="">
            <a:extLst xmlns:a="http://schemas.openxmlformats.org/drawingml/2006/main">
              <a:ext uri="{FF2B5EF4-FFF2-40B4-BE49-F238E27FC236}">
                <a16:creationId xmlns:a16="http://schemas.microsoft.com/office/drawing/2014/main" id="{113CFEC0-2BD4-4CBB-8390-1E728DC71B67}"/>
              </a:ext>
            </a:extLst>
          </p:cNvPr>
          <p:cNvSpPr>
            <a:spLocks xmlns:a="http://schemas.openxmlformats.org/drawingml/2006/main" noGrp="1"/>
          </p:cNvSpPr>
          <p:nvPr/>
        </p:nvSpPr>
        <p:spPr>
          <a:xfrm xmlns:a="http://schemas.openxmlformats.org/drawingml/2006/main">
            <a:off x="8096250" y="2181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−515488559271594427</a:t>
            </a:r>
          </a:p>
        </p:txBody>
      </p:sp>
      <p:sp>
        <p:nvSpPr>
          <p:cNvPr id="6" name="">
            <a:extLst xmlns:a="http://schemas.openxmlformats.org/drawingml/2006/main">
              <a:ext uri="{FF2B5EF4-FFF2-40B4-BE49-F238E27FC236}">
                <a16:creationId xmlns:a16="http://schemas.microsoft.com/office/drawing/2014/main" id="{B0AA2B46-D9B7-42D4-ACAC-E9516DA921A9}"/>
              </a:ext>
            </a:extLst>
          </p:cNvPr>
          <p:cNvSpPr>
            <a:spLocks xmlns:a="http://schemas.openxmlformats.org/drawingml/2006/main" noGrp="1"/>
          </p:cNvSpPr>
          <p:nvPr/>
        </p:nvSpPr>
        <p:spPr>
          <a:xfrm xmlns:a="http://schemas.openxmlformats.org/drawingml/2006/main">
            <a:off x="8096250" y="292417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Disc PA varies strongly across the outer interval.</a:t>
            </a:r>
          </a:p>
        </p:txBody>
      </p:sp>
      <p:sp>
        <p:nvSpPr>
          <p:cNvPr id="7" name="">
            <a:extLst xmlns:a="http://schemas.openxmlformats.org/drawingml/2006/main">
              <a:ext uri="{FF2B5EF4-FFF2-40B4-BE49-F238E27FC236}">
                <a16:creationId xmlns:a16="http://schemas.microsoft.com/office/drawing/2014/main" id="{81AE09BE-D4F0-483F-9767-3B9EB4625016}"/>
              </a:ext>
            </a:extLst>
          </p:cNvPr>
          <p:cNvSpPr>
            <a:spLocks xmlns:a="http://schemas.openxmlformats.org/drawingml/2006/main" noGrp="1"/>
          </p:cNvSpPr>
          <p:nvPr/>
        </p:nvSpPr>
        <p:spPr>
          <a:xfrm xmlns:a="http://schemas.openxmlformats.org/drawingml/2006/main">
            <a:off x="8096250" y="41910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The small bar interval also raises a resolution warning.</a:t>
            </a:r>
          </a:p>
        </p:txBody>
      </p:sp>
      <p:sp>
        <p:nvSpPr>
          <p:cNvPr id="8" name="">
            <a:extLst xmlns:a="http://schemas.openxmlformats.org/drawingml/2006/main">
              <a:ext uri="{FF2B5EF4-FFF2-40B4-BE49-F238E27FC236}">
                <a16:creationId xmlns:a16="http://schemas.microsoft.com/office/drawing/2014/main" id="{CA06BBA6-6B0A-4D21-AAA1-4B8C4BF56946}"/>
              </a:ext>
            </a:extLst>
          </p:cNvPr>
          <p:cNvSpPr>
            <a:spLocks xmlns:a="http://schemas.openxmlformats.org/drawingml/2006/main" noGrp="1"/>
          </p:cNvSpPr>
          <p:nvPr/>
        </p:nvSpPr>
        <p:spPr>
          <a:xfrm xmlns:a="http://schemas.openxmlformats.org/drawingml/2006/main">
            <a:off x="609600"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A close mean PA match can coexist with unstable fitted geometry.</a:t>
            </a:r>
          </a:p>
        </p:txBody>
      </p:sp>
    </p:spTree>
    <p:extLst>
      <p:ext uri="{BB962C8B-B14F-4D97-AF65-F5344CB8AC3E}">
        <p14:creationId xmlns:p14="http://schemas.microsoft.com/office/powerpoint/2010/main" val="92435617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2D98103-A664-4BAD-BF87-C88D39EF8A83}"/>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Review collection and next steps</a:t>
            </a:r>
          </a:p>
        </p:txBody>
      </p:sp>
      <p:sp>
        <p:nvSpPr>
          <p:cNvPr id="2" name="">
            <a:extLst xmlns:a="http://schemas.openxmlformats.org/drawingml/2006/main">
              <a:ext uri="{FF2B5EF4-FFF2-40B4-BE49-F238E27FC236}">
                <a16:creationId xmlns:a16="http://schemas.microsoft.com/office/drawing/2014/main" id="{885E215D-D226-4627-B8F2-2614E733D4A4}"/>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13</a:t>
            </a:r>
          </a:p>
        </p:txBody>
      </p:sp>
      <p:graphicFrame>
        <p:nvGraphicFramePr>
          <p:cNvPr id="3" name="">
            <a:extLst xmlns:a="http://schemas.openxmlformats.org/drawingml/2006/main">
              <a:ext uri="{FF2B5EF4-FFF2-40B4-BE49-F238E27FC236}">
                <a16:creationId xmlns:a16="http://schemas.microsoft.com/office/drawing/2014/main" id="{8ECC12E3-2B58-41CB-B305-D862C67BD687}"/>
              </a:ext>
            </a:extLst>
          </p:cNvPr>
          <p:cNvGraphicFramePr/>
          <p:nvPr/>
        </p:nvGraphicFramePr>
        <p:xfrm>
          <a:off xmlns:a="http://schemas.openxmlformats.org/drawingml/2006/main" x="609600" y="1504950"/>
          <a:ext xmlns:a="http://schemas.openxmlformats.org/drawingml/2006/main" cx="10972800" cy="1809750"/>
        </p:xfrm>
        <a:graphic xmlns:a="http://schemas.openxmlformats.org/drawingml/2006/main">
          <a:graphicData uri="http://schemas.openxmlformats.org/drawingml/2006/table">
            <a:tbl>
              <a:tblPr/>
              <a:tblGrid>
                <a:gridCol w="6191250"/>
                <a:gridCol w="2381250"/>
                <a:gridCol w="2400300"/>
              </a:tblGrid>
              <a:tr h="603250">
                <a:tc>
                  <a:txBody>
                    <a:bodyPr/>
                    <a:lstStyle/>
                    <a:p>
                      <a:r>
                        <a:rPr sz="1950"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PDF batches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603250">
                <a:tc>
                  <a:txBody>
                    <a:bodyPr/>
                    <a:lstStyle/>
                    <a:p>
                      <a:r>
                        <a:rPr sz="1950"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2,250</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38</a:t>
                      </a:r>
                    </a:p>
                  </a:txBody>
                  <a:tcPr marL="91440" marR="91440" marT="45720" marB="45720">
                    <a:lnR w="6668">
                      <a:solidFill>
                        <a:srgbClr val="D6E0E5"/>
                      </a:solidFill>
                      <a:prstDash val="solid"/>
                    </a:lnR>
                    <a:lnB w="6668">
                      <a:solidFill>
                        <a:srgbClr val="D6E0E5"/>
                      </a:solidFill>
                      <a:prstDash val="solid"/>
                    </a:lnB>
                    <a:solidFill>
                      <a:srgbClr val="FFFFFF"/>
                    </a:solidFill>
                  </a:tcPr>
                </a:tc>
              </a:tr>
              <a:tr h="603250">
                <a:tc>
                  <a:txBody>
                    <a:bodyPr/>
                    <a:lstStyle/>
                    <a:p>
                      <a:r>
                        <a:rPr sz="1950"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527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9</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B36CD20-C650-4E4B-B195-5FFB9069B211}"/>
              </a:ext>
            </a:extLst>
          </p:cNvPr>
          <p:cNvSpPr>
            <a:spLocks xmlns:a="http://schemas.openxmlformats.org/drawingml/2006/main" noGrp="1"/>
          </p:cNvSpPr>
          <p:nvPr/>
        </p:nvSpPr>
        <p:spPr>
          <a:xfrm xmlns:a="http://schemas.openxmlformats.org/drawingml/2006/main">
            <a:off x="609600" y="36290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47 PDFs contain 463 pages at six galaxies per page.</a:t>
            </a:r>
          </a:p>
        </p:txBody>
      </p:sp>
      <p:sp>
        <p:nvSpPr>
          <p:cNvPr id="5" name="">
            <a:extLst xmlns:a="http://schemas.openxmlformats.org/drawingml/2006/main">
              <a:ext uri="{FF2B5EF4-FFF2-40B4-BE49-F238E27FC236}">
                <a16:creationId xmlns:a16="http://schemas.microsoft.com/office/drawing/2014/main" id="{A89EFF70-4C49-4493-915B-703701C4F53C}"/>
              </a:ext>
            </a:extLst>
          </p:cNvPr>
          <p:cNvSpPr>
            <a:spLocks xmlns:a="http://schemas.openxmlformats.org/drawingml/2006/main" noGrp="1"/>
          </p:cNvSpPr>
          <p:nvPr/>
        </p:nvSpPr>
        <p:spPr>
          <a:xfrm xmlns:a="http://schemas.openxmlformats.org/drawingml/2006/main">
            <a:off x="609600" y="44291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Review QI warnings and failures using the image and profiles.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Check physical component identification in the 527 NoQI cases.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Record accepted geometry before final deprojection.</a:t>
            </a:r>
          </a:p>
        </p:txBody>
      </p:sp>
      <p:sp>
        <p:nvSpPr>
          <p:cNvPr id="6" name="">
            <a:extLst xmlns:a="http://schemas.openxmlformats.org/drawingml/2006/main">
              <a:ext uri="{FF2B5EF4-FFF2-40B4-BE49-F238E27FC236}">
                <a16:creationId xmlns:a16="http://schemas.microsoft.com/office/drawing/2014/main" id="{3A37DA2A-3CD7-486E-A0DF-87D473F4AF2B}"/>
              </a:ext>
            </a:extLst>
          </p:cNvPr>
          <p:cNvSpPr>
            <a:spLocks xmlns:a="http://schemas.openxmlformats.org/drawingml/2006/main" noGrp="1"/>
          </p:cNvSpPr>
          <p:nvPr/>
        </p:nvSpPr>
        <p:spPr>
          <a:xfrm xmlns:a="http://schemas.openxmlformats.org/drawingml/2006/main">
            <a:off x="6096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The galaxy index gives the PNG path, PDF batch, page and position.</a:t>
            </a:r>
          </a:p>
        </p:txBody>
      </p:sp>
    </p:spTree>
    <p:extLst>
      <p:ext uri="{BB962C8B-B14F-4D97-AF65-F5344CB8AC3E}">
        <p14:creationId xmlns:p14="http://schemas.microsoft.com/office/powerpoint/2010/main" val="4339417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3A529C1-332E-42D6-91DC-FED36D48F287}"/>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Small bar interval</a:t>
            </a:r>
          </a:p>
        </p:txBody>
      </p:sp>
      <p:sp>
        <p:nvSpPr>
          <p:cNvPr id="2" name="">
            <a:extLst xmlns:a="http://schemas.openxmlformats.org/drawingml/2006/main">
              <a:ext uri="{FF2B5EF4-FFF2-40B4-BE49-F238E27FC236}">
                <a16:creationId xmlns:a16="http://schemas.microsoft.com/office/drawing/2014/main" id="{DC5AC6E2-D849-44E9-B789-5E7CEFF8C7A6}"/>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7 / 13</a:t>
            </a:r>
          </a:p>
        </p:txBody>
      </p:sp>
      <p:sp>
        <p:nvSpPr>
          <p:cNvPr id="3" name="">
            <a:extLst xmlns:a="http://schemas.openxmlformats.org/drawingml/2006/main">
              <a:ext uri="{FF2B5EF4-FFF2-40B4-BE49-F238E27FC236}">
                <a16:creationId xmlns:a16="http://schemas.microsoft.com/office/drawing/2014/main" id="{D7964E29-3B45-4109-A418-67132E8E258D}"/>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103D9A9D-BB22-4A94-B4C6-D7D059652B84}"/>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-520196615291310590</a:t>
            </a:r>
          </a:p>
        </p:txBody>
      </p:sp>
      <p:pic>
        <p:nvPicPr>
          <p:cNvPr id="5" name="">
            <a:extLst xmlns:a="http://schemas.openxmlformats.org/drawingml/2006/main">
              <a:ext uri="{FF2B5EF4-FFF2-40B4-BE49-F238E27FC236}">
                <a16:creationId xmlns:a16="http://schemas.microsoft.com/office/drawing/2014/main" id="{AC5DB843-5B52-4835-8310-A1B64D565EDF}"/>
              </a:ext>
            </a:extLst>
          </p:cNvPr>
          <p:cNvPicPr>
            <a:picLocks xmlns:a="http://schemas.openxmlformats.org/drawingml/2006/main" noChangeAspect="1"/>
          </p:cNvPicPr>
          <p:nvPr/>
        </p:nvPicPr>
        <p:blipFill>
          <a:blip xmlns:r="http://schemas.openxmlformats.org/officeDocument/2006/relationships" xmlns:a="http://schemas.openxmlformats.org/drawingml/2006/main" r:embed="R7accee212aed48c5"/>
          <a:stretch xmlns:a="http://schemas.openxmlformats.org/drawingml/2006/main"/>
        </p:blipFill>
        <p:spPr>
          <a:xfrm xmlns:a="http://schemas.openxmlformats.org/drawingml/2006/main">
            <a:off x="609600" y="2255420"/>
            <a:ext cx="5334000" cy="244241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9D7083E-33E9-4A4F-93C3-C7531E94A18B}"/>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interval upper bound: 1.15 arcsec (threshold &lt;1.5).</a:t>
            </a:r>
          </a:p>
        </p:txBody>
      </p:sp>
      <p:sp>
        <p:nvSpPr>
          <p:cNvPr id="7" name="">
            <a:extLst xmlns:a="http://schemas.openxmlformats.org/drawingml/2006/main">
              <a:ext uri="{FF2B5EF4-FFF2-40B4-BE49-F238E27FC236}">
                <a16:creationId xmlns:a16="http://schemas.microsoft.com/office/drawing/2014/main" id="{78843286-EE53-4D29-B1C3-8274D01FFFA9}"/>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-519465826287599179</a:t>
            </a:r>
          </a:p>
        </p:txBody>
      </p:sp>
      <p:pic>
        <p:nvPicPr>
          <p:cNvPr id="8" name="">
            <a:extLst xmlns:a="http://schemas.openxmlformats.org/drawingml/2006/main">
              <a:ext uri="{FF2B5EF4-FFF2-40B4-BE49-F238E27FC236}">
                <a16:creationId xmlns:a16="http://schemas.microsoft.com/office/drawing/2014/main" id="{B2B5284C-CB1B-45FE-B777-924C7A9F60B7}"/>
              </a:ext>
            </a:extLst>
          </p:cNvPr>
          <p:cNvPicPr>
            <a:picLocks xmlns:a="http://schemas.openxmlformats.org/drawingml/2006/main" noChangeAspect="1"/>
          </p:cNvPicPr>
          <p:nvPr/>
        </p:nvPicPr>
        <p:blipFill>
          <a:blip xmlns:r="http://schemas.openxmlformats.org/officeDocument/2006/relationships" xmlns:a="http://schemas.openxmlformats.org/drawingml/2006/main" r:embed="Read3be8937c84359"/>
          <a:stretch xmlns:a="http://schemas.openxmlformats.org/drawingml/2006/main"/>
        </p:blipFill>
        <p:spPr>
          <a:xfrm xmlns:a="http://schemas.openxmlformats.org/drawingml/2006/main">
            <a:off x="6172200" y="2255420"/>
            <a:ext cx="5334000" cy="244241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C7BC468-214F-4F51-8016-BE344C7E4E64}"/>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interval upper bound: 1.48 arcsec (threshold &lt;1.5).</a:t>
            </a:r>
          </a:p>
        </p:txBody>
      </p:sp>
      <p:sp>
        <p:nvSpPr>
          <p:cNvPr id="10" name="">
            <a:extLst xmlns:a="http://schemas.openxmlformats.org/drawingml/2006/main">
              <a:ext uri="{FF2B5EF4-FFF2-40B4-BE49-F238E27FC236}">
                <a16:creationId xmlns:a16="http://schemas.microsoft.com/office/drawing/2014/main" id="{7154B1AF-4FA9-4986-8FB4-F6462747BADA}"/>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 selected bar interval ends below 1.5 arcsec. This warns about resolution and range selection, not a measured physical bar length.</a:t>
            </a:r>
          </a:p>
        </p:txBody>
      </p:sp>
    </p:spTree>
    <p:extLst>
      <p:ext uri="{BB962C8B-B14F-4D97-AF65-F5344CB8AC3E}">
        <p14:creationId xmlns:p14="http://schemas.microsoft.com/office/powerpoint/2010/main" val="18054137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04318D2-6A32-434B-B522-2D51AF35CAF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Unstable disc PA</a:t>
            </a:r>
          </a:p>
        </p:txBody>
      </p:sp>
      <p:sp>
        <p:nvSpPr>
          <p:cNvPr id="2" name="">
            <a:extLst xmlns:a="http://schemas.openxmlformats.org/drawingml/2006/main">
              <a:ext uri="{FF2B5EF4-FFF2-40B4-BE49-F238E27FC236}">
                <a16:creationId xmlns:a16="http://schemas.microsoft.com/office/drawing/2014/main" id="{4FCE5B1E-C6B0-4734-A8CF-6EC3F6AFDF81}"/>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8 / 13</a:t>
            </a:r>
          </a:p>
        </p:txBody>
      </p:sp>
      <p:sp>
        <p:nvSpPr>
          <p:cNvPr id="3" name="">
            <a:extLst xmlns:a="http://schemas.openxmlformats.org/drawingml/2006/main">
              <a:ext uri="{FF2B5EF4-FFF2-40B4-BE49-F238E27FC236}">
                <a16:creationId xmlns:a16="http://schemas.microsoft.com/office/drawing/2014/main" id="{D91E651F-9DD8-4940-AEE7-427F1BD41771}"/>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B145FE1A-80DB-4F4E-A0DE-D89B01A0C8AE}"/>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-591287408514481131</a:t>
            </a:r>
          </a:p>
        </p:txBody>
      </p:sp>
      <p:pic>
        <p:nvPicPr>
          <p:cNvPr id="5" name="">
            <a:extLst xmlns:a="http://schemas.openxmlformats.org/drawingml/2006/main">
              <a:ext uri="{FF2B5EF4-FFF2-40B4-BE49-F238E27FC236}">
                <a16:creationId xmlns:a16="http://schemas.microsoft.com/office/drawing/2014/main" id="{DEAD886A-BA44-4876-B8C4-8CF7D032719B}"/>
              </a:ext>
            </a:extLst>
          </p:cNvPr>
          <p:cNvPicPr>
            <a:picLocks xmlns:a="http://schemas.openxmlformats.org/drawingml/2006/main" noChangeAspect="1"/>
          </p:cNvPicPr>
          <p:nvPr/>
        </p:nvPicPr>
        <p:blipFill>
          <a:blip xmlns:r="http://schemas.openxmlformats.org/officeDocument/2006/relationships" xmlns:a="http://schemas.openxmlformats.org/drawingml/2006/main" r:embed="R86e244dc8bd5401a"/>
          <a:stretch xmlns:a="http://schemas.openxmlformats.org/drawingml/2006/main"/>
        </p:blipFill>
        <p:spPr>
          <a:xfrm xmlns:a="http://schemas.openxmlformats.org/drawingml/2006/main">
            <a:off x="609600" y="2255420"/>
            <a:ext cx="5334000" cy="244241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AFA9EE6-0EE3-48C3-B4DB-B4986ACADE3D}"/>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PA radial scatter: 11.2° (threshold &gt;10°).</a:t>
            </a:r>
          </a:p>
        </p:txBody>
      </p:sp>
      <p:sp>
        <p:nvSpPr>
          <p:cNvPr id="7" name="">
            <a:extLst xmlns:a="http://schemas.openxmlformats.org/drawingml/2006/main">
              <a:ext uri="{FF2B5EF4-FFF2-40B4-BE49-F238E27FC236}">
                <a16:creationId xmlns:a16="http://schemas.microsoft.com/office/drawing/2014/main" id="{1301CE50-5D91-42A9-9735-A3CD77D481B6}"/>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-591265046503894332</a:t>
            </a:r>
          </a:p>
        </p:txBody>
      </p:sp>
      <p:pic>
        <p:nvPicPr>
          <p:cNvPr id="8" name="">
            <a:extLst xmlns:a="http://schemas.openxmlformats.org/drawingml/2006/main">
              <a:ext uri="{FF2B5EF4-FFF2-40B4-BE49-F238E27FC236}">
                <a16:creationId xmlns:a16="http://schemas.microsoft.com/office/drawing/2014/main" id="{D46251BD-1F02-455B-B1FC-69709F41379B}"/>
              </a:ext>
            </a:extLst>
          </p:cNvPr>
          <p:cNvPicPr>
            <a:picLocks xmlns:a="http://schemas.openxmlformats.org/drawingml/2006/main" noChangeAspect="1"/>
          </p:cNvPicPr>
          <p:nvPr/>
        </p:nvPicPr>
        <p:blipFill>
          <a:blip xmlns:r="http://schemas.openxmlformats.org/officeDocument/2006/relationships" xmlns:a="http://schemas.openxmlformats.org/drawingml/2006/main" r:embed="R7b25017f46f34fa7"/>
          <a:stretch xmlns:a="http://schemas.openxmlformats.org/drawingml/2006/main"/>
        </p:blipFill>
        <p:spPr>
          <a:xfrm xmlns:a="http://schemas.openxmlformats.org/drawingml/2006/main">
            <a:off x="6172200" y="2255420"/>
            <a:ext cx="5334000" cy="244241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67E4A4C-D936-4544-AF60-51EF166676C7}"/>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PA radial scatter: 12.4° (threshold &gt;10°).</a:t>
            </a:r>
          </a:p>
        </p:txBody>
      </p:sp>
      <p:sp>
        <p:nvSpPr>
          <p:cNvPr id="10" name="">
            <a:extLst xmlns:a="http://schemas.openxmlformats.org/drawingml/2006/main">
              <a:ext uri="{FF2B5EF4-FFF2-40B4-BE49-F238E27FC236}">
                <a16:creationId xmlns:a16="http://schemas.microsoft.com/office/drawing/2014/main" id="{EBA880D0-0317-423F-BCDA-D0E6B49160E8}"/>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 sky PA changes across the green disc interval. The outer contours do not give one stable disc direction.</a:t>
            </a:r>
          </a:p>
        </p:txBody>
      </p:sp>
    </p:spTree>
    <p:extLst>
      <p:ext uri="{BB962C8B-B14F-4D97-AF65-F5344CB8AC3E}">
        <p14:creationId xmlns:p14="http://schemas.microsoft.com/office/powerpoint/2010/main" val="8101546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AC15CAB-990B-4BC9-830E-318FE6EF065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Changing disc ellipticity</a:t>
            </a:r>
          </a:p>
        </p:txBody>
      </p:sp>
      <p:sp>
        <p:nvSpPr>
          <p:cNvPr id="2" name="">
            <a:extLst xmlns:a="http://schemas.openxmlformats.org/drawingml/2006/main">
              <a:ext uri="{FF2B5EF4-FFF2-40B4-BE49-F238E27FC236}">
                <a16:creationId xmlns:a16="http://schemas.microsoft.com/office/drawing/2014/main" id="{80884D92-B7C9-4107-9F9A-7899C9CA7A73}"/>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9 / 13</a:t>
            </a:r>
          </a:p>
        </p:txBody>
      </p:sp>
      <p:sp>
        <p:nvSpPr>
          <p:cNvPr id="3" name="">
            <a:extLst xmlns:a="http://schemas.openxmlformats.org/drawingml/2006/main">
              <a:ext uri="{FF2B5EF4-FFF2-40B4-BE49-F238E27FC236}">
                <a16:creationId xmlns:a16="http://schemas.microsoft.com/office/drawing/2014/main" id="{1748E416-9ABB-4119-96FF-4EF9D6F005F0}"/>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942E8172-04BE-4A5D-8F15-B7B558B3A88B}"/>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-548398753282885623</a:t>
            </a:r>
          </a:p>
        </p:txBody>
      </p:sp>
      <p:pic>
        <p:nvPicPr>
          <p:cNvPr id="5" name="">
            <a:extLst xmlns:a="http://schemas.openxmlformats.org/drawingml/2006/main">
              <a:ext uri="{FF2B5EF4-FFF2-40B4-BE49-F238E27FC236}">
                <a16:creationId xmlns:a16="http://schemas.microsoft.com/office/drawing/2014/main" id="{F4F3A51C-E022-4B48-8426-7FA8A32B7AAB}"/>
              </a:ext>
            </a:extLst>
          </p:cNvPr>
          <p:cNvPicPr>
            <a:picLocks xmlns:a="http://schemas.openxmlformats.org/drawingml/2006/main" noChangeAspect="1"/>
          </p:cNvPicPr>
          <p:nvPr/>
        </p:nvPicPr>
        <p:blipFill>
          <a:blip xmlns:r="http://schemas.openxmlformats.org/officeDocument/2006/relationships" xmlns:a="http://schemas.openxmlformats.org/drawingml/2006/main" r:embed="R5782069ccf28417c"/>
          <a:stretch xmlns:a="http://schemas.openxmlformats.org/drawingml/2006/main"/>
        </p:blipFill>
        <p:spPr>
          <a:xfrm xmlns:a="http://schemas.openxmlformats.org/drawingml/2006/main">
            <a:off x="609600" y="2255420"/>
            <a:ext cx="5334000" cy="244241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E3C4F0C-01A0-4BD6-BC5F-5F360692CAD4}"/>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ellipticity span: 0.168 (threshold &gt;0.15).</a:t>
            </a:r>
          </a:p>
        </p:txBody>
      </p:sp>
      <p:sp>
        <p:nvSpPr>
          <p:cNvPr id="7" name="">
            <a:extLst xmlns:a="http://schemas.openxmlformats.org/drawingml/2006/main">
              <a:ext uri="{FF2B5EF4-FFF2-40B4-BE49-F238E27FC236}">
                <a16:creationId xmlns:a16="http://schemas.microsoft.com/office/drawing/2014/main" id="{716135CF-969C-4B75-B573-B3AA55C84CD7}"/>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2694485455649440299</a:t>
            </a:r>
          </a:p>
        </p:txBody>
      </p:sp>
      <p:pic>
        <p:nvPicPr>
          <p:cNvPr id="8" name="">
            <a:extLst xmlns:a="http://schemas.openxmlformats.org/drawingml/2006/main">
              <a:ext uri="{FF2B5EF4-FFF2-40B4-BE49-F238E27FC236}">
                <a16:creationId xmlns:a16="http://schemas.microsoft.com/office/drawing/2014/main" id="{CC4C5598-7FBC-4475-8CA6-55036360B662}"/>
              </a:ext>
            </a:extLst>
          </p:cNvPr>
          <p:cNvPicPr>
            <a:picLocks xmlns:a="http://schemas.openxmlformats.org/drawingml/2006/main" noChangeAspect="1"/>
          </p:cNvPicPr>
          <p:nvPr/>
        </p:nvPicPr>
        <p:blipFill>
          <a:blip xmlns:r="http://schemas.openxmlformats.org/officeDocument/2006/relationships" xmlns:a="http://schemas.openxmlformats.org/drawingml/2006/main" r:embed="Rf8834408ec5f4691"/>
          <a:stretch xmlns:a="http://schemas.openxmlformats.org/drawingml/2006/main"/>
        </p:blipFill>
        <p:spPr>
          <a:xfrm xmlns:a="http://schemas.openxmlformats.org/drawingml/2006/main">
            <a:off x="6172200" y="2255420"/>
            <a:ext cx="5334000" cy="244241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C45321E-7F61-4784-8E9C-F5FD270F5F0E}"/>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Disc ellipticity span: 0.196 (threshold &gt;0.15).</a:t>
            </a:r>
          </a:p>
        </p:txBody>
      </p:sp>
      <p:sp>
        <p:nvSpPr>
          <p:cNvPr id="10" name="">
            <a:extLst xmlns:a="http://schemas.openxmlformats.org/drawingml/2006/main">
              <a:ext uri="{FF2B5EF4-FFF2-40B4-BE49-F238E27FC236}">
                <a16:creationId xmlns:a16="http://schemas.microsoft.com/office/drawing/2014/main" id="{4D827F13-F92C-43D8-9F7B-ECF6D3AD2710}"/>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Ellipticity changes across the green disc interval. Inclination depends on which outer contours are used.</a:t>
            </a:r>
          </a:p>
        </p:txBody>
      </p:sp>
    </p:spTree>
    <p:extLst>
      <p:ext uri="{BB962C8B-B14F-4D97-AF65-F5344CB8AC3E}">
        <p14:creationId xmlns:p14="http://schemas.microsoft.com/office/powerpoint/2010/main" val="108867717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F502025-A3E1-4261-B0F4-B39B3AE58B10}"/>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Unstable bar PA</a:t>
            </a:r>
          </a:p>
        </p:txBody>
      </p:sp>
      <p:sp>
        <p:nvSpPr>
          <p:cNvPr id="2" name="">
            <a:extLst xmlns:a="http://schemas.openxmlformats.org/drawingml/2006/main">
              <a:ext uri="{FF2B5EF4-FFF2-40B4-BE49-F238E27FC236}">
                <a16:creationId xmlns:a16="http://schemas.microsoft.com/office/drawing/2014/main" id="{D9B85328-DEF1-49EA-AD6B-A231043CA6D6}"/>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10 / 13</a:t>
            </a:r>
          </a:p>
        </p:txBody>
      </p:sp>
      <p:sp>
        <p:nvSpPr>
          <p:cNvPr id="3" name="">
            <a:extLst xmlns:a="http://schemas.openxmlformats.org/drawingml/2006/main">
              <a:ext uri="{FF2B5EF4-FFF2-40B4-BE49-F238E27FC236}">
                <a16:creationId xmlns:a16="http://schemas.microsoft.com/office/drawing/2014/main" id="{2CD0C35F-1F16-4CB2-B938-EF731340D644}"/>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050DF6A0-98B7-4611-8FBF-318F69830EEC}"/>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-560500769490472523</a:t>
            </a:r>
          </a:p>
        </p:txBody>
      </p:sp>
      <p:pic>
        <p:nvPicPr>
          <p:cNvPr id="5" name="">
            <a:extLst xmlns:a="http://schemas.openxmlformats.org/drawingml/2006/main">
              <a:ext uri="{FF2B5EF4-FFF2-40B4-BE49-F238E27FC236}">
                <a16:creationId xmlns:a16="http://schemas.microsoft.com/office/drawing/2014/main" id="{632C8BF9-BFB8-4CE7-A84C-FC987C0C8CDA}"/>
              </a:ext>
            </a:extLst>
          </p:cNvPr>
          <p:cNvPicPr>
            <a:picLocks xmlns:a="http://schemas.openxmlformats.org/drawingml/2006/main" noChangeAspect="1"/>
          </p:cNvPicPr>
          <p:nvPr/>
        </p:nvPicPr>
        <p:blipFill>
          <a:blip xmlns:r="http://schemas.openxmlformats.org/officeDocument/2006/relationships" xmlns:a="http://schemas.openxmlformats.org/drawingml/2006/main" r:embed="R984460342b394496"/>
          <a:stretch xmlns:a="http://schemas.openxmlformats.org/drawingml/2006/main"/>
        </p:blipFill>
        <p:spPr>
          <a:xfrm xmlns:a="http://schemas.openxmlformats.org/drawingml/2006/main">
            <a:off x="609600" y="2255420"/>
            <a:ext cx="5334000" cy="244241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0B06F35-7EFA-419C-813F-D3619E581FC1}"/>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PA radial scatter: 10.8° (threshold &gt;10°).</a:t>
            </a:r>
          </a:p>
        </p:txBody>
      </p:sp>
      <p:sp>
        <p:nvSpPr>
          <p:cNvPr id="7" name="">
            <a:extLst xmlns:a="http://schemas.openxmlformats.org/drawingml/2006/main">
              <a:ext uri="{FF2B5EF4-FFF2-40B4-BE49-F238E27FC236}">
                <a16:creationId xmlns:a16="http://schemas.microsoft.com/office/drawing/2014/main" id="{A3817200-AE08-42CF-B9F1-389EC4DE8BA5}"/>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-630490045487791289</a:t>
            </a:r>
          </a:p>
        </p:txBody>
      </p:sp>
      <p:pic>
        <p:nvPicPr>
          <p:cNvPr id="8" name="">
            <a:extLst xmlns:a="http://schemas.openxmlformats.org/drawingml/2006/main">
              <a:ext uri="{FF2B5EF4-FFF2-40B4-BE49-F238E27FC236}">
                <a16:creationId xmlns:a16="http://schemas.microsoft.com/office/drawing/2014/main" id="{95227FD9-633E-4326-BCE5-02EA40DD5A71}"/>
              </a:ext>
            </a:extLst>
          </p:cNvPr>
          <p:cNvPicPr>
            <a:picLocks xmlns:a="http://schemas.openxmlformats.org/drawingml/2006/main" noChangeAspect="1"/>
          </p:cNvPicPr>
          <p:nvPr/>
        </p:nvPicPr>
        <p:blipFill>
          <a:blip xmlns:r="http://schemas.openxmlformats.org/officeDocument/2006/relationships" xmlns:a="http://schemas.openxmlformats.org/drawingml/2006/main" r:embed="R5ac64125889049f1"/>
          <a:stretch xmlns:a="http://schemas.openxmlformats.org/drawingml/2006/main"/>
        </p:blipFill>
        <p:spPr>
          <a:xfrm xmlns:a="http://schemas.openxmlformats.org/drawingml/2006/main">
            <a:off x="6172200" y="2255420"/>
            <a:ext cx="5334000" cy="244241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1AF9C55-D597-4274-B6EA-6196CFE1407F}"/>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Bar PA radial scatter: 11.6° (threshold &gt;10°).</a:t>
            </a:r>
          </a:p>
        </p:txBody>
      </p:sp>
      <p:sp>
        <p:nvSpPr>
          <p:cNvPr id="10" name="">
            <a:extLst xmlns:a="http://schemas.openxmlformats.org/drawingml/2006/main">
              <a:ext uri="{FF2B5EF4-FFF2-40B4-BE49-F238E27FC236}">
                <a16:creationId xmlns:a16="http://schemas.microsoft.com/office/drawing/2014/main" id="{152A079F-460F-4202-B348-EE1CD1066F88}"/>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 PA changes across the orange bar interval. A single adopted bar direction is uncertain.</a:t>
            </a:r>
          </a:p>
        </p:txBody>
      </p:sp>
    </p:spTree>
    <p:extLst>
      <p:ext uri="{BB962C8B-B14F-4D97-AF65-F5344CB8AC3E}">
        <p14:creationId xmlns:p14="http://schemas.microsoft.com/office/powerpoint/2010/main" val="9053049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A9B3BE8-9B1C-40B9-9CD8-52BAA7D5550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Weak ellipse bar signature</a:t>
            </a:r>
          </a:p>
        </p:txBody>
      </p:sp>
      <p:sp>
        <p:nvSpPr>
          <p:cNvPr id="2" name="">
            <a:extLst xmlns:a="http://schemas.openxmlformats.org/drawingml/2006/main">
              <a:ext uri="{FF2B5EF4-FFF2-40B4-BE49-F238E27FC236}">
                <a16:creationId xmlns:a16="http://schemas.microsoft.com/office/drawing/2014/main" id="{2FD995A4-E697-4848-BB8F-9EE251FB2679}"/>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11 / 13</a:t>
            </a:r>
          </a:p>
        </p:txBody>
      </p:sp>
      <p:sp>
        <p:nvSpPr>
          <p:cNvPr id="3" name="">
            <a:extLst xmlns:a="http://schemas.openxmlformats.org/drawingml/2006/main">
              <a:ext uri="{FF2B5EF4-FFF2-40B4-BE49-F238E27FC236}">
                <a16:creationId xmlns:a16="http://schemas.microsoft.com/office/drawing/2014/main" id="{7AE44541-594D-473A-A76E-C909493C839B}"/>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Each galaxy has exactly this ONE original geometry flag; neither cutout is partial.</a:t>
            </a:r>
          </a:p>
        </p:txBody>
      </p:sp>
      <p:sp>
        <p:nvSpPr>
          <p:cNvPr id="4" name="">
            <a:extLst xmlns:a="http://schemas.openxmlformats.org/drawingml/2006/main">
              <a:ext uri="{FF2B5EF4-FFF2-40B4-BE49-F238E27FC236}">
                <a16:creationId xmlns:a16="http://schemas.microsoft.com/office/drawing/2014/main" id="{29DC762D-6A73-4DD5-9343-063ED96BFEFE}"/>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2654979879662853093</a:t>
            </a:r>
          </a:p>
        </p:txBody>
      </p:sp>
      <p:pic>
        <p:nvPicPr>
          <p:cNvPr id="5" name="">
            <a:extLst xmlns:a="http://schemas.openxmlformats.org/drawingml/2006/main">
              <a:ext uri="{FF2B5EF4-FFF2-40B4-BE49-F238E27FC236}">
                <a16:creationId xmlns:a16="http://schemas.microsoft.com/office/drawing/2014/main" id="{61607024-ED9A-4DEB-B2B9-AAA8CE15D0A3}"/>
              </a:ext>
            </a:extLst>
          </p:cNvPr>
          <p:cNvPicPr>
            <a:picLocks xmlns:a="http://schemas.openxmlformats.org/drawingml/2006/main" noChangeAspect="1"/>
          </p:cNvPicPr>
          <p:nvPr/>
        </p:nvPicPr>
        <p:blipFill>
          <a:blip xmlns:r="http://schemas.openxmlformats.org/officeDocument/2006/relationships" xmlns:a="http://schemas.openxmlformats.org/drawingml/2006/main" r:embed="Rb8fc6f28bb044b7b"/>
          <a:stretch xmlns:a="http://schemas.openxmlformats.org/drawingml/2006/main"/>
        </p:blipFill>
        <p:spPr>
          <a:xfrm xmlns:a="http://schemas.openxmlformats.org/drawingml/2006/main">
            <a:off x="609600" y="2255420"/>
            <a:ext cx="5334000" cy="244241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5125E5F-F4A9-407D-91C5-223C7E5587F2}"/>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Median bar ellipticity: 0.180 (threshold &lt;0.25).</a:t>
            </a:r>
          </a:p>
        </p:txBody>
      </p:sp>
      <p:sp>
        <p:nvSpPr>
          <p:cNvPr id="7" name="">
            <a:extLst xmlns:a="http://schemas.openxmlformats.org/drawingml/2006/main">
              <a:ext uri="{FF2B5EF4-FFF2-40B4-BE49-F238E27FC236}">
                <a16:creationId xmlns:a16="http://schemas.microsoft.com/office/drawing/2014/main" id="{716E1F64-277C-40DC-9B87-90C6F105D584}"/>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2719973573665957979</a:t>
            </a:r>
          </a:p>
        </p:txBody>
      </p:sp>
      <p:pic>
        <p:nvPicPr>
          <p:cNvPr id="8" name="">
            <a:extLst xmlns:a="http://schemas.openxmlformats.org/drawingml/2006/main">
              <a:ext uri="{FF2B5EF4-FFF2-40B4-BE49-F238E27FC236}">
                <a16:creationId xmlns:a16="http://schemas.microsoft.com/office/drawing/2014/main" id="{0015EC33-382B-4032-83A7-F239A38D9C7D}"/>
              </a:ext>
            </a:extLst>
          </p:cNvPr>
          <p:cNvPicPr>
            <a:picLocks xmlns:a="http://schemas.openxmlformats.org/drawingml/2006/main" noChangeAspect="1"/>
          </p:cNvPicPr>
          <p:nvPr/>
        </p:nvPicPr>
        <p:blipFill>
          <a:blip xmlns:r="http://schemas.openxmlformats.org/officeDocument/2006/relationships" xmlns:a="http://schemas.openxmlformats.org/drawingml/2006/main" r:embed="R5b4ee453a2ce4b08"/>
          <a:stretch xmlns:a="http://schemas.openxmlformats.org/drawingml/2006/main"/>
        </p:blipFill>
        <p:spPr>
          <a:xfrm xmlns:a="http://schemas.openxmlformats.org/drawingml/2006/main">
            <a:off x="6172200" y="2255420"/>
            <a:ext cx="5334000" cy="244241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A3F1EE7-6C0F-4C90-9E78-8E757A462444}"/>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Median bar ellipticity: 0.222 (threshold &lt;0.25).</a:t>
            </a:r>
          </a:p>
        </p:txBody>
      </p:sp>
      <p:sp>
        <p:nvSpPr>
          <p:cNvPr id="10" name="">
            <a:extLst xmlns:a="http://schemas.openxmlformats.org/drawingml/2006/main">
              <a:ext uri="{FF2B5EF4-FFF2-40B4-BE49-F238E27FC236}">
                <a16:creationId xmlns:a16="http://schemas.microsoft.com/office/drawing/2014/main" id="{F8A068E4-0EAA-4ED5-B299-C60970119D8C}"/>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Ellipses in the orange interval are relatively round. This weakens the ellipse-based bar signature, rather than proving there is no bar.</a:t>
            </a:r>
          </a:p>
        </p:txBody>
      </p:sp>
    </p:spTree>
    <p:extLst>
      <p:ext uri="{BB962C8B-B14F-4D97-AF65-F5344CB8AC3E}">
        <p14:creationId xmlns:p14="http://schemas.microsoft.com/office/powerpoint/2010/main" val="141938336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E7A9354-3F95-411D-A07B-F614DCDF87D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Failed fit: selected interval</a:t>
            </a:r>
          </a:p>
        </p:txBody>
      </p:sp>
      <p:sp>
        <p:nvSpPr>
          <p:cNvPr id="2" name="">
            <a:extLst xmlns:a="http://schemas.openxmlformats.org/drawingml/2006/main">
              <a:ext uri="{FF2B5EF4-FFF2-40B4-BE49-F238E27FC236}">
                <a16:creationId xmlns:a16="http://schemas.microsoft.com/office/drawing/2014/main" id="{7BFF9308-7032-4FEB-9978-801072F44908}"/>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12 / 13</a:t>
            </a:r>
          </a:p>
        </p:txBody>
      </p:sp>
      <p:sp>
        <p:nvSpPr>
          <p:cNvPr id="3" name="">
            <a:extLst xmlns:a="http://schemas.openxmlformats.org/drawingml/2006/main">
              <a:ext uri="{FF2B5EF4-FFF2-40B4-BE49-F238E27FC236}">
                <a16:creationId xmlns:a16="http://schemas.microsoft.com/office/drawing/2014/main" id="{AB676842-6C37-4692-8178-462F4F688226}"/>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Two examples of this recorded failure type; neither cutout is partial.</a:t>
            </a:r>
          </a:p>
        </p:txBody>
      </p:sp>
      <p:sp>
        <p:nvSpPr>
          <p:cNvPr id="4" name="">
            <a:extLst xmlns:a="http://schemas.openxmlformats.org/drawingml/2006/main">
              <a:ext uri="{FF2B5EF4-FFF2-40B4-BE49-F238E27FC236}">
                <a16:creationId xmlns:a16="http://schemas.microsoft.com/office/drawing/2014/main" id="{FD92FF40-244C-4B20-BCD8-C15C2B632DA4}"/>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-519246610291156594</a:t>
            </a:r>
          </a:p>
        </p:txBody>
      </p:sp>
      <p:pic>
        <p:nvPicPr>
          <p:cNvPr id="5" name="">
            <a:extLst xmlns:a="http://schemas.openxmlformats.org/drawingml/2006/main">
              <a:ext uri="{FF2B5EF4-FFF2-40B4-BE49-F238E27FC236}">
                <a16:creationId xmlns:a16="http://schemas.microsoft.com/office/drawing/2014/main" id="{2DE01FF9-A6ED-4F5F-AF4B-2527CE856E20}"/>
              </a:ext>
            </a:extLst>
          </p:cNvPr>
          <p:cNvPicPr>
            <a:picLocks xmlns:a="http://schemas.openxmlformats.org/drawingml/2006/main" noChangeAspect="1"/>
          </p:cNvPicPr>
          <p:nvPr/>
        </p:nvPicPr>
        <p:blipFill>
          <a:blip xmlns:r="http://schemas.openxmlformats.org/officeDocument/2006/relationships" xmlns:a="http://schemas.openxmlformats.org/drawingml/2006/main" r:embed="Rad5b4a12240a47ae"/>
          <a:stretch xmlns:a="http://schemas.openxmlformats.org/drawingml/2006/main"/>
        </p:blipFill>
        <p:spPr>
          <a:xfrm xmlns:a="http://schemas.openxmlformats.org/drawingml/2006/main">
            <a:off x="609600" y="2255420"/>
            <a:ext cx="5334000" cy="244241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A4313F7-A47C-4DC3-9667-D8FED086049C}"/>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Insufficient bar/disc isophotes in selected radial ranges. Reliable ellipses overall: 20.</a:t>
            </a:r>
          </a:p>
        </p:txBody>
      </p:sp>
      <p:sp>
        <p:nvSpPr>
          <p:cNvPr id="7" name="">
            <a:extLst xmlns:a="http://schemas.openxmlformats.org/drawingml/2006/main">
              <a:ext uri="{FF2B5EF4-FFF2-40B4-BE49-F238E27FC236}">
                <a16:creationId xmlns:a16="http://schemas.microsoft.com/office/drawing/2014/main" id="{D9D21CAC-A8F2-4CDB-BA63-54A7AA055EB5}"/>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-517222724292083077</a:t>
            </a:r>
          </a:p>
        </p:txBody>
      </p:sp>
      <p:pic>
        <p:nvPicPr>
          <p:cNvPr id="8" name="">
            <a:extLst xmlns:a="http://schemas.openxmlformats.org/drawingml/2006/main">
              <a:ext uri="{FF2B5EF4-FFF2-40B4-BE49-F238E27FC236}">
                <a16:creationId xmlns:a16="http://schemas.microsoft.com/office/drawing/2014/main" id="{0A642EF4-D83B-40EF-B3AC-7D97D41A9499}"/>
              </a:ext>
            </a:extLst>
          </p:cNvPr>
          <p:cNvPicPr>
            <a:picLocks xmlns:a="http://schemas.openxmlformats.org/drawingml/2006/main" noChangeAspect="1"/>
          </p:cNvPicPr>
          <p:nvPr/>
        </p:nvPicPr>
        <p:blipFill>
          <a:blip xmlns:r="http://schemas.openxmlformats.org/officeDocument/2006/relationships" xmlns:a="http://schemas.openxmlformats.org/drawingml/2006/main" r:embed="R496211f32fc7403d"/>
          <a:stretch xmlns:a="http://schemas.openxmlformats.org/drawingml/2006/main"/>
        </p:blipFill>
        <p:spPr>
          <a:xfrm xmlns:a="http://schemas.openxmlformats.org/drawingml/2006/main">
            <a:off x="6172200" y="2255420"/>
            <a:ext cx="5334000" cy="244241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9E48735-4F35-45A5-8FE3-DCD0CFD279EF}"/>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Insufficient bar/disc isophotes in selected radial ranges. Reliable ellipses overall: 16.</a:t>
            </a:r>
          </a:p>
        </p:txBody>
      </p:sp>
      <p:sp>
        <p:nvSpPr>
          <p:cNvPr id="10" name="">
            <a:extLst xmlns:a="http://schemas.openxmlformats.org/drawingml/2006/main">
              <a:ext uri="{FF2B5EF4-FFF2-40B4-BE49-F238E27FC236}">
                <a16:creationId xmlns:a16="http://schemas.microsoft.com/office/drawing/2014/main" id="{BAE4E07B-4AF2-4B0D-936C-F34BA0546E88}"/>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There are at least ten reliable ellipses overall, but fewer than three in at least one selected bar/disc interval. Candidate ranges are not accepted geometry.</a:t>
            </a:r>
          </a:p>
        </p:txBody>
      </p:sp>
    </p:spTree>
    <p:extLst>
      <p:ext uri="{BB962C8B-B14F-4D97-AF65-F5344CB8AC3E}">
        <p14:creationId xmlns:p14="http://schemas.microsoft.com/office/powerpoint/2010/main" val="49406258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60C1041-07A5-436C-8A20-69EC7134DF3C}"/>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Failed fit: short reliable profile</a:t>
            </a:r>
          </a:p>
        </p:txBody>
      </p:sp>
      <p:sp>
        <p:nvSpPr>
          <p:cNvPr id="2" name="">
            <a:extLst xmlns:a="http://schemas.openxmlformats.org/drawingml/2006/main">
              <a:ext uri="{FF2B5EF4-FFF2-40B4-BE49-F238E27FC236}">
                <a16:creationId xmlns:a16="http://schemas.microsoft.com/office/drawing/2014/main" id="{155C4E26-0BAF-4FAD-9C1D-1101FE18874B}"/>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13 / 13</a:t>
            </a:r>
          </a:p>
        </p:txBody>
      </p:sp>
      <p:sp>
        <p:nvSpPr>
          <p:cNvPr id="3" name="">
            <a:extLst xmlns:a="http://schemas.openxmlformats.org/drawingml/2006/main">
              <a:ext uri="{FF2B5EF4-FFF2-40B4-BE49-F238E27FC236}">
                <a16:creationId xmlns:a16="http://schemas.microsoft.com/office/drawing/2014/main" id="{8ECB2EFD-382B-4D4E-9167-6128E386D7DC}"/>
              </a:ext>
            </a:extLst>
          </p:cNvPr>
          <p:cNvSpPr>
            <a:spLocks xmlns:a="http://schemas.openxmlformats.org/drawingml/2006/main" noGrp="1"/>
          </p:cNvSpPr>
          <p:nvPr/>
        </p:nvSpPr>
        <p:spPr>
          <a:xfrm xmlns:a="http://schemas.openxmlformats.org/drawingml/2006/main">
            <a:off x="609600" y="12763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Two examples of this recorded failure type; neither cutout is partial.</a:t>
            </a:r>
          </a:p>
        </p:txBody>
      </p:sp>
      <p:sp>
        <p:nvSpPr>
          <p:cNvPr id="4" name="">
            <a:extLst xmlns:a="http://schemas.openxmlformats.org/drawingml/2006/main">
              <a:ext uri="{FF2B5EF4-FFF2-40B4-BE49-F238E27FC236}">
                <a16:creationId xmlns:a16="http://schemas.microsoft.com/office/drawing/2014/main" id="{E70157B7-3C34-4D1D-9D02-844874860D3D}"/>
              </a:ext>
            </a:extLst>
          </p:cNvPr>
          <p:cNvSpPr>
            <a:spLocks xmlns:a="http://schemas.openxmlformats.org/drawingml/2006/main" noGrp="1"/>
          </p:cNvSpPr>
          <p:nvPr/>
        </p:nvSpPr>
        <p:spPr>
          <a:xfrm xmlns:a="http://schemas.openxmlformats.org/drawingml/2006/main">
            <a:off x="6096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-550147948285020121</a:t>
            </a:r>
          </a:p>
        </p:txBody>
      </p:sp>
      <p:pic>
        <p:nvPicPr>
          <p:cNvPr id="5" name="">
            <a:extLst xmlns:a="http://schemas.openxmlformats.org/drawingml/2006/main">
              <a:ext uri="{FF2B5EF4-FFF2-40B4-BE49-F238E27FC236}">
                <a16:creationId xmlns:a16="http://schemas.microsoft.com/office/drawing/2014/main" id="{572D6298-4FF1-4CD2-8DAC-77287BF0FE46}"/>
              </a:ext>
            </a:extLst>
          </p:cNvPr>
          <p:cNvPicPr>
            <a:picLocks xmlns:a="http://schemas.openxmlformats.org/drawingml/2006/main" noChangeAspect="1"/>
          </p:cNvPicPr>
          <p:nvPr/>
        </p:nvPicPr>
        <p:blipFill>
          <a:blip xmlns:r="http://schemas.openxmlformats.org/officeDocument/2006/relationships" xmlns:a="http://schemas.openxmlformats.org/drawingml/2006/main" r:embed="Re68ea05cd7a742ab"/>
          <a:stretch xmlns:a="http://schemas.openxmlformats.org/drawingml/2006/main"/>
        </p:blipFill>
        <p:spPr>
          <a:xfrm xmlns:a="http://schemas.openxmlformats.org/drawingml/2006/main">
            <a:off x="609600" y="2255420"/>
            <a:ext cx="5334000" cy="244241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DFE7643-926A-4888-B3A1-BD28B760CB8E}"/>
              </a:ext>
            </a:extLst>
          </p:cNvPr>
          <p:cNvSpPr>
            <a:spLocks xmlns:a="http://schemas.openxmlformats.org/drawingml/2006/main" noGrp="1"/>
          </p:cNvSpPr>
          <p:nvPr/>
        </p:nvSpPr>
        <p:spPr>
          <a:xfrm xmlns:a="http://schemas.openxmlformats.org/drawingml/2006/main">
            <a:off x="6096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Only 8 reliable isophotes; inspect profile. Reliable ellipses overall: 8.</a:t>
            </a:r>
          </a:p>
        </p:txBody>
      </p:sp>
      <p:sp>
        <p:nvSpPr>
          <p:cNvPr id="7" name="">
            <a:extLst xmlns:a="http://schemas.openxmlformats.org/drawingml/2006/main">
              <a:ext uri="{FF2B5EF4-FFF2-40B4-BE49-F238E27FC236}">
                <a16:creationId xmlns:a16="http://schemas.microsoft.com/office/drawing/2014/main" id="{30AD8F92-14D7-431A-9EE0-8DDC601B5BEB}"/>
              </a:ext>
            </a:extLst>
          </p:cNvPr>
          <p:cNvSpPr>
            <a:spLocks xmlns:a="http://schemas.openxmlformats.org/drawingml/2006/main" noGrp="1"/>
          </p:cNvSpPr>
          <p:nvPr/>
        </p:nvSpPr>
        <p:spPr>
          <a:xfrm xmlns:a="http://schemas.openxmlformats.org/drawingml/2006/main">
            <a:off x="6172200" y="185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42633"/>
                </a:solidFill>
                <a:latin typeface="Arial"/>
                <a:ea typeface="Arial"/>
                <a:cs typeface="Arial"/>
              </a:defRPr>
            </a:defPPr>
            <a:lvl1pPr>
              <a:defRPr sz="1650" b="1">
                <a:solidFill>
                  <a:srgbClr val="142633"/>
                </a:solidFill>
                <a:latin typeface="Arial"/>
                <a:ea typeface="Arial"/>
                <a:cs typeface="Arial"/>
              </a:defRPr>
            </a:lvl1pPr>
            <a:lvl2pPr>
              <a:defRPr sz="1650" b="1">
                <a:solidFill>
                  <a:srgbClr val="142633"/>
                </a:solidFill>
                <a:latin typeface="Arial"/>
                <a:ea typeface="Arial"/>
                <a:cs typeface="Arial"/>
              </a:defRPr>
            </a:lvl2pPr>
            <a:lvl3pPr>
              <a:defRPr sz="1650" b="1">
                <a:solidFill>
                  <a:srgbClr val="142633"/>
                </a:solidFill>
                <a:latin typeface="Arial"/>
                <a:ea typeface="Arial"/>
                <a:cs typeface="Arial"/>
              </a:defRPr>
            </a:lvl3pPr>
            <a:lvl4pPr>
              <a:defRPr sz="1650" b="1">
                <a:solidFill>
                  <a:srgbClr val="142633"/>
                </a:solidFill>
                <a:latin typeface="Arial"/>
                <a:ea typeface="Arial"/>
                <a:cs typeface="Arial"/>
              </a:defRPr>
            </a:lvl4pPr>
            <a:lvl5pPr>
              <a:defRPr sz="1650" b="1">
                <a:solidFill>
                  <a:srgbClr val="142633"/>
                </a:solidFill>
                <a:latin typeface="Arial"/>
                <a:ea typeface="Arial"/>
                <a:cs typeface="Arial"/>
              </a:defRPr>
            </a:lvl5pPr>
            <a:lvl6pPr>
              <a:defRPr sz="1650" b="1">
                <a:solidFill>
                  <a:srgbClr val="142633"/>
                </a:solidFill>
                <a:latin typeface="Arial"/>
                <a:ea typeface="Arial"/>
                <a:cs typeface="Arial"/>
              </a:defRPr>
            </a:lvl6pPr>
            <a:lvl7pPr>
              <a:defRPr sz="1650" b="1">
                <a:solidFill>
                  <a:srgbClr val="142633"/>
                </a:solidFill>
                <a:latin typeface="Arial"/>
                <a:ea typeface="Arial"/>
                <a:cs typeface="Arial"/>
              </a:defRPr>
            </a:lvl7pPr>
            <a:lvl8pPr>
              <a:defRPr sz="1650" b="1">
                <a:solidFill>
                  <a:srgbClr val="142633"/>
                </a:solidFill>
                <a:latin typeface="Arial"/>
                <a:ea typeface="Arial"/>
                <a:cs typeface="Arial"/>
              </a:defRPr>
            </a:lvl8pPr>
            <a:lvl9pPr>
              <a:defRPr sz="1650" b="1">
                <a:solidFill>
                  <a:srgbClr val="142633"/>
                </a:solidFill>
                <a:latin typeface="Arial"/>
                <a:ea typeface="Arial"/>
                <a:cs typeface="Arial"/>
              </a:defRPr>
            </a:lvl9pPr>
          </a:lstStyle>
          <a:p xmlns:a="http://schemas.openxmlformats.org/drawingml/2006/main">
            <a:pPr>
              <a:defRPr sz="1650" b="1">
                <a:solidFill>
                  <a:srgbClr val="142633"/>
                </a:solidFill>
                <a:latin typeface="Arial"/>
                <a:ea typeface="Arial"/>
                <a:cs typeface="Arial"/>
              </a:defRPr>
            </a:pPr>
            <a:r>
              <a:rPr sz="1650" b="1">
                <a:solidFill>
                  <a:srgbClr val="142633"/>
                </a:solidFill>
                <a:latin typeface="Arial"/>
                <a:ea typeface="Arial"/>
                <a:cs typeface="Arial"/>
              </a:rPr>
              <a:t>Galaxy -560894756493198556</a:t>
            </a:r>
          </a:p>
        </p:txBody>
      </p:sp>
      <p:pic>
        <p:nvPicPr>
          <p:cNvPr id="8" name="">
            <a:extLst xmlns:a="http://schemas.openxmlformats.org/drawingml/2006/main">
              <a:ext uri="{FF2B5EF4-FFF2-40B4-BE49-F238E27FC236}">
                <a16:creationId xmlns:a16="http://schemas.microsoft.com/office/drawing/2014/main" id="{4384038D-4E66-4983-808B-13C3D38045A2}"/>
              </a:ext>
            </a:extLst>
          </p:cNvPr>
          <p:cNvPicPr>
            <a:picLocks xmlns:a="http://schemas.openxmlformats.org/drawingml/2006/main" noChangeAspect="1"/>
          </p:cNvPicPr>
          <p:nvPr/>
        </p:nvPicPr>
        <p:blipFill>
          <a:blip xmlns:r="http://schemas.openxmlformats.org/officeDocument/2006/relationships" xmlns:a="http://schemas.openxmlformats.org/drawingml/2006/main" r:embed="R1bb41d2b2d154b18"/>
          <a:stretch xmlns:a="http://schemas.openxmlformats.org/drawingml/2006/main"/>
        </p:blipFill>
        <p:spPr>
          <a:xfrm xmlns:a="http://schemas.openxmlformats.org/drawingml/2006/main">
            <a:off x="6172200" y="2255420"/>
            <a:ext cx="5334000" cy="244241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1F61383-EE24-4C83-9C74-65216275128E}"/>
              </a:ext>
            </a:extLst>
          </p:cNvPr>
          <p:cNvSpPr>
            <a:spLocks xmlns:a="http://schemas.openxmlformats.org/drawingml/2006/main" noGrp="1"/>
          </p:cNvSpPr>
          <p:nvPr/>
        </p:nvSpPr>
        <p:spPr>
          <a:xfrm xmlns:a="http://schemas.openxmlformats.org/drawingml/2006/main">
            <a:off x="6172200" y="48577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42633"/>
                </a:solidFill>
                <a:latin typeface="Arial"/>
                <a:ea typeface="Arial"/>
                <a:cs typeface="Arial"/>
              </a:defRPr>
            </a:defPPr>
            <a:lvl1pPr>
              <a:defRPr sz="1725" b="1">
                <a:solidFill>
                  <a:srgbClr val="142633"/>
                </a:solidFill>
                <a:latin typeface="Arial"/>
                <a:ea typeface="Arial"/>
                <a:cs typeface="Arial"/>
              </a:defRPr>
            </a:lvl1pPr>
            <a:lvl2pPr>
              <a:defRPr sz="1725" b="1">
                <a:solidFill>
                  <a:srgbClr val="142633"/>
                </a:solidFill>
                <a:latin typeface="Arial"/>
                <a:ea typeface="Arial"/>
                <a:cs typeface="Arial"/>
              </a:defRPr>
            </a:lvl2pPr>
            <a:lvl3pPr>
              <a:defRPr sz="1725" b="1">
                <a:solidFill>
                  <a:srgbClr val="142633"/>
                </a:solidFill>
                <a:latin typeface="Arial"/>
                <a:ea typeface="Arial"/>
                <a:cs typeface="Arial"/>
              </a:defRPr>
            </a:lvl3pPr>
            <a:lvl4pPr>
              <a:defRPr sz="1725" b="1">
                <a:solidFill>
                  <a:srgbClr val="142633"/>
                </a:solidFill>
                <a:latin typeface="Arial"/>
                <a:ea typeface="Arial"/>
                <a:cs typeface="Arial"/>
              </a:defRPr>
            </a:lvl4pPr>
            <a:lvl5pPr>
              <a:defRPr sz="1725" b="1">
                <a:solidFill>
                  <a:srgbClr val="142633"/>
                </a:solidFill>
                <a:latin typeface="Arial"/>
                <a:ea typeface="Arial"/>
                <a:cs typeface="Arial"/>
              </a:defRPr>
            </a:lvl5pPr>
            <a:lvl6pPr>
              <a:defRPr sz="1725" b="1">
                <a:solidFill>
                  <a:srgbClr val="142633"/>
                </a:solidFill>
                <a:latin typeface="Arial"/>
                <a:ea typeface="Arial"/>
                <a:cs typeface="Arial"/>
              </a:defRPr>
            </a:lvl6pPr>
            <a:lvl7pPr>
              <a:defRPr sz="1725" b="1">
                <a:solidFill>
                  <a:srgbClr val="142633"/>
                </a:solidFill>
                <a:latin typeface="Arial"/>
                <a:ea typeface="Arial"/>
                <a:cs typeface="Arial"/>
              </a:defRPr>
            </a:lvl7pPr>
            <a:lvl8pPr>
              <a:defRPr sz="1725" b="1">
                <a:solidFill>
                  <a:srgbClr val="142633"/>
                </a:solidFill>
                <a:latin typeface="Arial"/>
                <a:ea typeface="Arial"/>
                <a:cs typeface="Arial"/>
              </a:defRPr>
            </a:lvl8pPr>
            <a:lvl9pPr>
              <a:defRPr sz="1725" b="1">
                <a:solidFill>
                  <a:srgbClr val="142633"/>
                </a:solidFill>
                <a:latin typeface="Arial"/>
                <a:ea typeface="Arial"/>
                <a:cs typeface="Arial"/>
              </a:defRPr>
            </a:lvl9pPr>
          </a:lstStyle>
          <a:p xmlns:a="http://schemas.openxmlformats.org/drawingml/2006/main">
            <a:pPr>
              <a:defRPr sz="1725" b="1">
                <a:solidFill>
                  <a:srgbClr val="142633"/>
                </a:solidFill>
                <a:latin typeface="Arial"/>
                <a:ea typeface="Arial"/>
                <a:cs typeface="Arial"/>
              </a:defRPr>
            </a:pPr>
            <a:r>
              <a:rPr sz="1725" b="1">
                <a:solidFill>
                  <a:srgbClr val="142633"/>
                </a:solidFill>
                <a:latin typeface="Arial"/>
                <a:ea typeface="Arial"/>
                <a:cs typeface="Arial"/>
              </a:rPr>
              <a:t>Only 9 reliable isophotes; inspect profile. Reliable ellipses overall: 9.</a:t>
            </a:r>
          </a:p>
        </p:txBody>
      </p:sp>
      <p:sp>
        <p:nvSpPr>
          <p:cNvPr id="10" name="">
            <a:extLst xmlns:a="http://schemas.openxmlformats.org/drawingml/2006/main">
              <a:ext uri="{FF2B5EF4-FFF2-40B4-BE49-F238E27FC236}">
                <a16:creationId xmlns:a16="http://schemas.microsoft.com/office/drawing/2014/main" id="{2AB692D5-1B92-40DE-9E1D-D58AA7AB4BF0}"/>
              </a:ext>
            </a:extLst>
          </p:cNvPr>
          <p:cNvSpPr>
            <a:spLocks xmlns:a="http://schemas.openxmlformats.org/drawingml/2006/main" noGrp="1"/>
          </p:cNvSpPr>
          <p:nvPr/>
        </p:nvSpPr>
        <p:spPr>
          <a:xfrm xmlns:a="http://schemas.openxmlformats.org/drawingml/2006/main">
            <a:off x="609600" y="58578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Fewer than ten ellipses pass the reliability checks overall. The fit stops before adopting bar/disc geometry. Grey samples were rejected.</a:t>
            </a:r>
          </a:p>
        </p:txBody>
      </p:sp>
    </p:spTree>
    <p:extLst>
      <p:ext uri="{BB962C8B-B14F-4D97-AF65-F5344CB8AC3E}">
        <p14:creationId xmlns:p14="http://schemas.microsoft.com/office/powerpoint/2010/main" val="6559710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2026-10-20T13:12:20.1940000Z</dcterms:created>
  <dcterms:modified xsi:type="dcterms:W3CDTF">2026-10-20T13:12:20.1940000Z</dcterms:modified>
</coreProperties>
</file>