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b1b14dd18684269" /><Relationship Type="http://schemas.openxmlformats.org/officeDocument/2006/relationships/extended-properties" Target="/docProps/app.xml" Id="R77ff8ce1a6564fb7" /><Relationship Type="http://schemas.openxmlformats.org/officeDocument/2006/relationships/officeDocument" Target="/ppt/presentation.xml" Id="R7ef1e77c1f684694" /></Relationships>
</file>

<file path=ppt/presentation.xml><?xml version="1.0" encoding="utf-8"?>
<p:presentation xmlns:p="http://schemas.openxmlformats.org/presentationml/2006/main">
  <p:sldMasterIdLst>
    <p:sldMasterId xmlns:r="http://schemas.openxmlformats.org/officeDocument/2006/relationships" id="2147483648" r:id="R31799ab275a242e8"/>
  </p:sldMasterIdLst>
  <p:notesMasterIdLst>
    <p:notesMasterId xmlns:r="http://schemas.openxmlformats.org/officeDocument/2006/relationships" r:id="R9794e6d7566e4fd0"/>
  </p:notesMasterIdLst>
  <p:sldIdLst>
    <p:sldId xmlns:r="http://schemas.openxmlformats.org/officeDocument/2006/relationships" id="256" r:id="R0ac8f0504ecc4dec"/>
    <p:sldId xmlns:r="http://schemas.openxmlformats.org/officeDocument/2006/relationships" id="257" r:id="R50a61a1378c54494"/>
    <p:sldId xmlns:r="http://schemas.openxmlformats.org/officeDocument/2006/relationships" id="258" r:id="R719101608c034611"/>
    <p:sldId xmlns:r="http://schemas.openxmlformats.org/officeDocument/2006/relationships" id="259" r:id="Raf7e2b20bbc54af1"/>
    <p:sldId xmlns:r="http://schemas.openxmlformats.org/officeDocument/2006/relationships" id="260" r:id="R3beaccce5fb0490d"/>
    <p:sldId xmlns:r="http://schemas.openxmlformats.org/officeDocument/2006/relationships" id="261" r:id="R61767dc9ea294c44"/>
    <p:sldId xmlns:r="http://schemas.openxmlformats.org/officeDocument/2006/relationships" id="262" r:id="R3dd3111a6208444a"/>
    <p:sldId xmlns:r="http://schemas.openxmlformats.org/officeDocument/2006/relationships" id="263" r:id="R1cd7c060fc0d4668"/>
    <p:sldId xmlns:r="http://schemas.openxmlformats.org/officeDocument/2006/relationships" id="264" r:id="R0aadecc86592453e"/>
    <p:sldId xmlns:r="http://schemas.openxmlformats.org/officeDocument/2006/relationships" id="265" r:id="R97f4904394ae44c0"/>
    <p:sldId xmlns:r="http://schemas.openxmlformats.org/officeDocument/2006/relationships" id="266" r:id="R99f2178569e14f49"/>
    <p:sldId xmlns:r="http://schemas.openxmlformats.org/officeDocument/2006/relationships" id="267" r:id="R706bd189b99a4b23"/>
    <p:sldId xmlns:r="http://schemas.openxmlformats.org/officeDocument/2006/relationships" id="268" r:id="R4f6544e65d434a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51688a40a04bb6" /><Relationship Type="http://schemas.openxmlformats.org/officeDocument/2006/relationships/slideMaster" Target="/ppt/slideMasters/slideMaster1.xml" Id="R31799ab275a242e8" /><Relationship Type="http://schemas.openxmlformats.org/officeDocument/2006/relationships/notesMaster" Target="/ppt/notesMasters/notesMaster1.xml" Id="R9794e6d7566e4fd0" /><Relationship Type="http://schemas.openxmlformats.org/officeDocument/2006/relationships/presProps" Target="/ppt/presProps.xml" Id="R56f990284ed74aef" /><Relationship Type="http://schemas.openxmlformats.org/officeDocument/2006/relationships/tableStyles" Target="/ppt/tableStyles.xml" Id="R3589101932d04c64" /><Relationship Type="http://schemas.openxmlformats.org/officeDocument/2006/relationships/slide" Target="/ppt/slides/slide1.xml" Id="R0ac8f0504ecc4dec" /><Relationship Type="http://schemas.openxmlformats.org/officeDocument/2006/relationships/slide" Target="/ppt/slides/slide2.xml" Id="R50a61a1378c54494" /><Relationship Type="http://schemas.openxmlformats.org/officeDocument/2006/relationships/slide" Target="/ppt/slides/slide3.xml" Id="R719101608c034611" /><Relationship Type="http://schemas.openxmlformats.org/officeDocument/2006/relationships/slide" Target="/ppt/slides/slide4.xml" Id="Raf7e2b20bbc54af1" /><Relationship Type="http://schemas.openxmlformats.org/officeDocument/2006/relationships/slide" Target="/ppt/slides/slide5.xml" Id="R3beaccce5fb0490d" /><Relationship Type="http://schemas.openxmlformats.org/officeDocument/2006/relationships/slide" Target="/ppt/slides/slide6.xml" Id="R61767dc9ea294c44" /><Relationship Type="http://schemas.openxmlformats.org/officeDocument/2006/relationships/slide" Target="/ppt/slides/slide7.xml" Id="R3dd3111a6208444a" /><Relationship Type="http://schemas.openxmlformats.org/officeDocument/2006/relationships/slide" Target="/ppt/slides/slide8.xml" Id="R1cd7c060fc0d4668" /><Relationship Type="http://schemas.openxmlformats.org/officeDocument/2006/relationships/slide" Target="/ppt/slides/slide9.xml" Id="R0aadecc86592453e" /><Relationship Type="http://schemas.openxmlformats.org/officeDocument/2006/relationships/slide" Target="/ppt/slides/slide10.xml" Id="R97f4904394ae44c0" /><Relationship Type="http://schemas.openxmlformats.org/officeDocument/2006/relationships/slide" Target="/ppt/slides/slide11.xml" Id="R99f2178569e14f49" /><Relationship Type="http://schemas.openxmlformats.org/officeDocument/2006/relationships/slide" Target="/ppt/slides/slide12.xml" Id="R706bd189b99a4b23" /><Relationship Type="http://schemas.openxmlformats.org/officeDocument/2006/relationships/slide" Target="/ppt/slides/slide13.xml" Id="R4f6544e65d434a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2c77aacc1445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9c879af25f4862" /><Relationship Type="http://schemas.openxmlformats.org/officeDocument/2006/relationships/notesMaster" Target="/ppt/notesMasters/notesMaster1.xml" Id="R28ef252f9fbc44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f03e6c80e445a9" /><Relationship Type="http://schemas.openxmlformats.org/officeDocument/2006/relationships/notesMaster" Target="/ppt/notesMasters/notesMaster1.xml" Id="Rc2cf51261d6543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d8bf1f27cc4f77" /><Relationship Type="http://schemas.openxmlformats.org/officeDocument/2006/relationships/notesMaster" Target="/ppt/notesMasters/notesMaster1.xml" Id="Rb39dd99679c143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04b2131a164ee2" /><Relationship Type="http://schemas.openxmlformats.org/officeDocument/2006/relationships/notesMaster" Target="/ppt/notesMasters/notesMaster1.xml" Id="R1e476e979de449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e73bc1ab284178" /><Relationship Type="http://schemas.openxmlformats.org/officeDocument/2006/relationships/notesMaster" Target="/ppt/notesMasters/notesMaster1.xml" Id="R234b0afd405b49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a7e0d7165f4ab1" /><Relationship Type="http://schemas.openxmlformats.org/officeDocument/2006/relationships/notesMaster" Target="/ppt/notesMasters/notesMaster1.xml" Id="Rddbfa364ed7b4a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f820a03f1a4327" /><Relationship Type="http://schemas.openxmlformats.org/officeDocument/2006/relationships/notesMaster" Target="/ppt/notesMasters/notesMaster1.xml" Id="R4d91609f9c2949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3a9c89b6f3455d" /><Relationship Type="http://schemas.openxmlformats.org/officeDocument/2006/relationships/notesMaster" Target="/ppt/notesMasters/notesMaster1.xml" Id="R9ec9e5a4a94949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3c3b3cdfa34d69" /><Relationship Type="http://schemas.openxmlformats.org/officeDocument/2006/relationships/notesMaster" Target="/ppt/notesMasters/notesMaster1.xml" Id="R72a954ecf60840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1bd2c067514b94" /><Relationship Type="http://schemas.openxmlformats.org/officeDocument/2006/relationships/notesMaster" Target="/ppt/notesMasters/notesMaster1.xml" Id="R925b1f2d44274a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12be7d7cf14dde" /><Relationship Type="http://schemas.openxmlformats.org/officeDocument/2006/relationships/notesMaster" Target="/ppt/notesMasters/notesMaster1.xml" Id="Rd62a29b694f842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dc09516db14fc7" /><Relationship Type="http://schemas.openxmlformats.org/officeDocument/2006/relationships/notesMaster" Target="/ppt/notesMasters/notesMaster1.xml" Id="R7db48d669e9441f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cae9799641d46a5" /><Relationship Type="http://schemas.openxmlformats.org/officeDocument/2006/relationships/notesMaster" Target="/ppt/notesMasters/notesMaster1.xml" Id="Rb551efbe0e6446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chart policy: remove nearly_face_on_PA_uncertain from all counts, and discard disc_PA_unstable for the 200 nearly-face-on fits. Counts now 0=601,1=963,2=466,3=176,4=1;flagged1606. Original source flags and QI/NoQI review groups remain unchanged. Previous calculation for provenance: Flag multiplicity computed directly from non-empty semicolon-separated codex_quality_flags for provisional_fit rows: 0=546,1=850,2=497,3=291,4=23. Flagged subtotal1661. All stacked segments use denominator2777. Failed fits are separate and not classified by flag count. Partial coverage is not counted as a geometry flag.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flag display: remove face-on category. Exclude 200 face-on fits from the disc PA eligible population, including 182 with disc_PA_unstable. Remaining disc PA instability609/2007=30.3%. Other flag percentages retain denominator2207. Failure chart unchanged. Previous counts retained here for provenance only. Failure counts are grouped directly from codex_error for codex_fit_status=fit_failed. 431 entries say ValueError: Insufficient bar/disc isophotes in selected radial ranges, triggered when either selected interval has fewer than three reliable isophotes. 138 say Only N reliable isophotes; inspect profile, with N&lt;10. One says Catalogue centre is not on a detected galaxy. These are recorded failure stages, not an independent diagnosis of physical cause. Left chart denominator2207, overlapping flags. Right chart denominator570, exclusive failures. Quality flag counts1210,791,573,200,28,7. 62 partial requested cutouts separately trigger QI.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For North-up East-left images, sky PA = (CCW image angle from +x +90) modulo180. This reference change is ALREADY included in the original WCS conversion. The adopted ADDITIONAL +90 follows that conversion and cannot be explained by counting the same reference change again. The observed offset is consistent with POSITION_ANGLE being referenced to the detection image y-axis rather than the documented x-axis, assuming the same rotation sense and major-axis definition. Interpreting a y-referenced value as x-referenced introduces a quarter-turn, cancelled by the additional 90-degree adjustment modulo180. This is a plausible explanation, not a confirmed documentation or pipeline error. The 2777 local North offsets have median absolute 0.141 degrees and maximum 0.604 degrees. No additional thumbnail rotation is applied.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-520196615291310590: Bar interval upper bound: 1.15 arcsec (threshold &lt;1.5). Original flag: small_bar_sensitive_to_resolution. Source: D:\Dropbox\Public Documents\UCLAN\MSc Research\Euclid\MER_VIS_galaxy_reports\all_2777\png_QI\0001_Euclid_-520196615291310590_MER_VIS_geometry_report_QI.png Galaxy -519465826287599179: Bar interval upper bound: 1.48 arcsec (threshold &lt;1.5). Original flag: small_bar_sensitive_to_resolution. Source: D:\Dropbox\Public Documents\UCLAN\MSc Research\Euclid\MER_VIS_galaxy_reports\all_2777\png_QI\0002_Euclid_-519465826287599179_MER_VIS_geometry_report_QI.png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-591287408514481131: Disc PA radial scatter: 11.2° (threshold &gt;10°). Original flag: disc_PA_unstable. Source: D:\Dropbox\Public Documents\UCLAN\MSc Research\Euclid\MER_VIS_galaxy_reports\all_2777\png_QI\0034_Euclid_-591287408514481131_MER_VIS_geometry_report_QI.png Galaxy -591265046503894332: Disc PA radial scatter: 12.4° (threshold &gt;10°). Original flag: disc_PA_unstable. Source: D:\Dropbox\Public Documents\UCLAN\MSc Research\Euclid\MER_VIS_galaxy_reports\all_2777\png_QI\0109_Euclid_-591265046503894332_MER_VIS_geometry_report_QI.png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-548398753282885623: Disc ellipticity span: 0.168 (threshold &gt;0.15). Original flag: disc_axis_ratio_unstable. Source: D:\Dropbox\Public Documents\UCLAN\MSc Research\Euclid\MER_VIS_galaxy_reports\all_2777\png_QI\0020_Euclid_-548398753282885623_MER_VIS_geometry_report_QI.png Galaxy 2694485455649440299: Disc ellipticity span: 0.196 (threshold &gt;0.15). Original flag: disc_axis_ratio_unstable. Source: D:\Dropbox\Public Documents\UCLAN\MSc Research\Euclid\MER_VIS_galaxy_reports\all_2777\png_QI\0031_Euclid_2694485455649440299_MER_VIS_geometry_report_QI.png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-560500769490472523: Bar PA radial scatter: 10.8° (threshold &gt;10°). Original flag: bar_PA_unstable. Source: D:\Dropbox\Public Documents\UCLAN\MSc Research\Euclid\MER_VIS_galaxy_reports\all_2777\png_QI\0401_Euclid_-560500769490472523_MER_VIS_geometry_report_QI.png Galaxy -630490045487791289: Bar PA radial scatter: 11.6° (threshold &gt;10°). Original flag: bar_PA_unstable. Source: D:\Dropbox\Public Documents\UCLAN\MSc Research\Euclid\MER_VIS_galaxy_reports\all_2777\png_QI\0514_Euclid_-630490045487791289_MER_VIS_geometry_report_QI.png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2654979879662853093: Median bar ellipticity: 0.180 (threshold &lt;0.25). Original flag: weak_ellipse_bar_signature. Source: D:\Dropbox\Public Documents\UCLAN\MSc Research\Euclid\MER_VIS_galaxy_reports\all_2777\png_QI\2423_Euclid_2654979879662853093_MER_VIS_geometry_report_QI.png Galaxy 2719973573665957979: Median bar ellipticity: 0.222 (threshold &lt;0.25). Original flag: weak_ellipse_bar_signature. Source: D:\Dropbox\Public Documents\UCLAN\MSc Research\Euclid\MER_VIS_galaxy_reports\all_2777\png_QI\2469_Euclid_2719973573665957979_MER_VIS_geometry_report_QI.png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-519246610291156594: Insufficient bar/disc isophotes in selected radial ranges. Reliable ellipses overall: 20. Original flag: none; failed fit. Source: D:\Dropbox\Public Documents\UCLAN\MSc Research\Euclid\MER_VIS_galaxy_reports\all_2777\png_QI\0003_Euclid_-519246610291156594_MER_VIS_geometry_report_QI.png Galaxy -517222724292083077: Insufficient bar/disc isophotes in selected radial ranges. Reliable ellipses overall: 16. Original flag: none; failed fit. Source: D:\Dropbox\Public Documents\UCLAN\MSc Research\Euclid\MER_VIS_galaxy_reports\all_2777\png_QI\0008_Euclid_-517222724292083077_MER_VIS_geometry_report_QI.png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-550147948285020121: Only 8 reliable isophotes; inspect profile. Reliable ellipses overall: 8. Original flag: none; failed fit. Source: D:\Dropbox\Public Documents\UCLAN\MSc Research\Euclid\MER_VIS_galaxy_reports\all_2777\png_QI\0016_Euclid_-550147948285020121_MER_VIS_geometry_report_QI.png Galaxy -560894756493198556: Only 9 reliable isophotes; inspect profile. Reliable ellipses overall: 9. Original flag: none; failed fit. Source: D:\Dropbox\Public Documents\UCLAN\MSc Research\Euclid\MER_VIS_galaxy_reports\all_2777\png_QI\0281_Euclid_-560894756493198556_MER_VIS_geometry_report_QI.png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c7e35454234c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d084e42c06407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9d507677e1f4b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7b16590904465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a02485f4264f4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8d44dff8e945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847F46-F411-4291-AF23-1787FA9DC59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4FCFF02-0C44-4B0D-A843-9F3BE7AC7C4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5E491D4-DB32-4DA6-A331-831B02794C5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C35018-8414-48E2-A1C5-41B7ED0388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4D0247E-8A76-47FA-8126-85010A048C7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0AF04F-4E85-41FC-92F8-56192D4634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0C5725B-62EA-4B0A-8264-E4D9B775E7F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05D2A95-7722-4D23-8366-5E32D48A308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DFD4D8-C429-4ED0-B28A-EF105E92CE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7A0366-C390-4FD3-AD5B-9DEB644857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1e544782fd4c6b" /><Relationship Type="http://schemas.openxmlformats.org/officeDocument/2006/relationships/slideLayout" Target="/ppt/slideLayouts/slideLayout1.xml" Id="R0b3e3ac33b6c41e6" /><Relationship Type="http://schemas.openxmlformats.org/officeDocument/2006/relationships/slideLayout" Target="/ppt/slideLayouts/slideLayout2.xml" Id="R0938021aa0db465c" /><Relationship Type="http://schemas.openxmlformats.org/officeDocument/2006/relationships/slideLayout" Target="/ppt/slideLayouts/slideLayout3.xml" Id="R3ffcc19710214ee7" /><Relationship Type="http://schemas.openxmlformats.org/officeDocument/2006/relationships/slideLayout" Target="/ppt/slideLayouts/slideLayout4.xml" Id="Rd0235cafd2b143b9" /><Relationship Type="http://schemas.openxmlformats.org/officeDocument/2006/relationships/slideLayout" Target="/ppt/slideLayouts/slideLayout5.xml" Id="Ra91495aafc0b4df7" /><Relationship Type="http://schemas.openxmlformats.org/officeDocument/2006/relationships/slideLayout" Target="/ppt/slideLayouts/slideLayout6.xml" Id="R47b901eeb8b44f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3e3ac33b6c41e6"/>
    <p:sldLayoutId xmlns:r="http://schemas.openxmlformats.org/officeDocument/2006/relationships" id="2147483650" r:id="R0938021aa0db465c"/>
    <p:sldLayoutId xmlns:r="http://schemas.openxmlformats.org/officeDocument/2006/relationships" id="2147483651" r:id="R3ffcc19710214ee7"/>
    <p:sldLayoutId xmlns:r="http://schemas.openxmlformats.org/officeDocument/2006/relationships" id="2147483652" r:id="Rd0235cafd2b143b9"/>
    <p:sldLayoutId xmlns:r="http://schemas.openxmlformats.org/officeDocument/2006/relationships" id="2147483653" r:id="Ra91495aafc0b4df7"/>
    <p:sldLayoutId xmlns:r="http://schemas.openxmlformats.org/officeDocument/2006/relationships" id="2147483654" r:id="R47b901eeb8b44f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cbdc26775e7472e" /><Relationship Type="http://schemas.openxmlformats.org/officeDocument/2006/relationships/notesSlide" Target="/ppt/notesSlides/notesSlide1.xml" Id="R8807a29f17ee49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ae461088733487b" /><Relationship Type="http://schemas.openxmlformats.org/officeDocument/2006/relationships/chart" Target="/ppt/slides/charts/chart1.xml" Id="R1670b52d6dcb4e35" /><Relationship Type="http://schemas.openxmlformats.org/officeDocument/2006/relationships/notesSlide" Target="/ppt/notesSlides/notesSlide2.xml" Id="Rb809239cfaac45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8d84b583634a5e" /><Relationship Type="http://schemas.openxmlformats.org/officeDocument/2006/relationships/chart" Target="/ppt/slides/charts/chart2.xml" Id="R5c7a82c3e20d4cf5" /><Relationship Type="http://schemas.openxmlformats.org/officeDocument/2006/relationships/chart" Target="/ppt/slides/charts/chart3.xml" Id="R8342a7cb01b945ac" /><Relationship Type="http://schemas.openxmlformats.org/officeDocument/2006/relationships/notesSlide" Target="/ppt/notesSlides/notesSlide3.xml" Id="R2d3b85619c7445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36bbfcc33da4126" /><Relationship Type="http://schemas.openxmlformats.org/officeDocument/2006/relationships/notesSlide" Target="/ppt/notesSlides/notesSlide4.xml" Id="R4b278520689e4c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050862962524c9f" /><Relationship Type="http://schemas.openxmlformats.org/officeDocument/2006/relationships/image" Target="/ppt/media/image.png" Id="R76d9f735b17e47df" /><Relationship Type="http://schemas.openxmlformats.org/officeDocument/2006/relationships/notesSlide" Target="/ppt/notesSlides/notesSlide5.xml" Id="Rc5790ffaa7334c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4fe2d8598ab4750" /><Relationship Type="http://schemas.openxmlformats.org/officeDocument/2006/relationships/notesSlide" Target="/ppt/notesSlides/notesSlide6.xml" Id="R250b74c834af43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4575297f2774810" /><Relationship Type="http://schemas.openxmlformats.org/officeDocument/2006/relationships/image" Target="/ppt/media/image2.png" Id="R7accee212aed48c5" /><Relationship Type="http://schemas.openxmlformats.org/officeDocument/2006/relationships/image" Target="/ppt/media/image3.png" Id="Read3be8937c84359" /><Relationship Type="http://schemas.openxmlformats.org/officeDocument/2006/relationships/notesSlide" Target="/ppt/notesSlides/notesSlide7.xml" Id="R76dddbb3e9c643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efc74a24be4a7e" /><Relationship Type="http://schemas.openxmlformats.org/officeDocument/2006/relationships/image" Target="/ppt/media/image4.png" Id="R86e244dc8bd5401a" /><Relationship Type="http://schemas.openxmlformats.org/officeDocument/2006/relationships/image" Target="/ppt/media/image5.png" Id="R7b25017f46f34fa7" /><Relationship Type="http://schemas.openxmlformats.org/officeDocument/2006/relationships/notesSlide" Target="/ppt/notesSlides/notesSlide8.xml" Id="R9b34d1a682c94e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de7e5a672134ca8" /><Relationship Type="http://schemas.openxmlformats.org/officeDocument/2006/relationships/image" Target="/ppt/media/image6.png" Id="R5782069ccf28417c" /><Relationship Type="http://schemas.openxmlformats.org/officeDocument/2006/relationships/image" Target="/ppt/media/image7.png" Id="Rf8834408ec5f4691" /><Relationship Type="http://schemas.openxmlformats.org/officeDocument/2006/relationships/notesSlide" Target="/ppt/notesSlides/notesSlide9.xml" Id="R92fed91cef6741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33a4d78ae584dc8" /><Relationship Type="http://schemas.openxmlformats.org/officeDocument/2006/relationships/image" Target="/ppt/media/image8.png" Id="R984460342b394496" /><Relationship Type="http://schemas.openxmlformats.org/officeDocument/2006/relationships/image" Target="/ppt/media/image9.png" Id="R5ac64125889049f1" /><Relationship Type="http://schemas.openxmlformats.org/officeDocument/2006/relationships/notesSlide" Target="/ppt/notesSlides/notesSlide10.xml" Id="R2114a8c15baa43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97514a98d1e494f" /><Relationship Type="http://schemas.openxmlformats.org/officeDocument/2006/relationships/image" Target="/ppt/media/image10.png" Id="Rb8fc6f28bb044b7b" /><Relationship Type="http://schemas.openxmlformats.org/officeDocument/2006/relationships/image" Target="/ppt/media/image11.png" Id="R5b4ee453a2ce4b08" /><Relationship Type="http://schemas.openxmlformats.org/officeDocument/2006/relationships/notesSlide" Target="/ppt/notesSlides/notesSlide11.xml" Id="R00f98ebc00834c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c38cb9e17304349" /><Relationship Type="http://schemas.openxmlformats.org/officeDocument/2006/relationships/image" Target="/ppt/media/image12.png" Id="Rad5b4a12240a47ae" /><Relationship Type="http://schemas.openxmlformats.org/officeDocument/2006/relationships/image" Target="/ppt/media/image13.png" Id="R496211f32fc7403d" /><Relationship Type="http://schemas.openxmlformats.org/officeDocument/2006/relationships/notesSlide" Target="/ppt/notesSlides/notesSlide12.xml" Id="Rab94f4c2d7134f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d718bf03eb34fa8" /><Relationship Type="http://schemas.openxmlformats.org/officeDocument/2006/relationships/image" Target="/ppt/media/image14.png" Id="Re68ea05cd7a742ab" /><Relationship Type="http://schemas.openxmlformats.org/officeDocument/2006/relationships/image" Target="/ppt/media/image15.png" Id="R1bb41d2b2d154b18" /><Relationship Type="http://schemas.openxmlformats.org/officeDocument/2006/relationships/notesSlide" Target="/ppt/notesSlides/notesSlide13.xml" Id="R55d7506117b4404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No counted flags</c:v>
          </c:tx>
          <c:spPr>
            <a:solidFill xmlns:a="http://schemas.openxmlformats.org/drawingml/2006/main">
              <a:srgbClr val="367A8C"/>
            </a:solidFill>
          </c:spPr>
          <c:invertIfNegative val="0"/>
          <c:cat>
            <c:strRef>
              <c:f>'Chart Data'!$A$2:$A$4</c:f>
              <c:strCache>
                <c:ptCount val="3"/>
                <c:pt idx="0">
                  <c:v>No counted flags</c:v>
                </c:pt>
                <c:pt idx="1">
                  <c:v>Flagged fit</c:v>
                </c:pt>
                <c:pt idx="2">
                  <c:v>Failed fit</c:v>
                </c:pt>
              </c:strCache>
            </c:strRef>
          </c:cat>
          <c:val>
            <c:numRef>
              <c:f>'Chart Data'!$B$2:$B$4</c:f>
              <c:numCache>
                <c:formatCode>0.0%</c:formatCode>
                <c:ptCount val="3"/>
                <c:pt idx="0">
                  <c:v>0.216421</c:v>
                </c:pt>
                <c:pt idx="1">
                  <c:v>0</c:v>
                </c:pt>
                <c:pt idx="2">
                  <c:v>0</c:v>
                </c:pt>
              </c:numCache>
            </c:numRef>
          </c:val>
        </c:ser>
        <c:ser>
          <c:idx val="1"/>
          <c:order val="1"/>
          <c:tx>
            <c:v>1 flag</c:v>
          </c:tx>
          <c:spPr>
            <a:solidFill xmlns:a="http://schemas.openxmlformats.org/drawingml/2006/main">
              <a:srgbClr val="E5BB66"/>
            </a:solidFill>
          </c:spPr>
          <c:invertIfNegative val="0"/>
          <c:cat>
            <c:strRef>
              <c:f>'Chart Data'!$C$2:$C$4</c:f>
              <c:strCache>
                <c:ptCount val="3"/>
                <c:pt idx="0">
                  <c:v>No counted flags</c:v>
                </c:pt>
                <c:pt idx="1">
                  <c:v>Flagged fit</c:v>
                </c:pt>
                <c:pt idx="2">
                  <c:v>Failed fit</c:v>
                </c:pt>
              </c:strCache>
            </c:strRef>
          </c:cat>
          <c:val>
            <c:numRef>
              <c:f>'Chart Data'!$D$2:$D$4</c:f>
              <c:numCache>
                <c:formatCode>0.0%</c:formatCode>
                <c:ptCount val="3"/>
                <c:pt idx="0">
                  <c:v>0</c:v>
                </c:pt>
                <c:pt idx="1">
                  <c:v>0.346777</c:v>
                </c:pt>
                <c:pt idx="2">
                  <c:v>0</c:v>
                </c:pt>
              </c:numCache>
            </c:numRef>
          </c:val>
        </c:ser>
        <c:ser>
          <c:idx val="2"/>
          <c:order val="2"/>
          <c:tx>
            <c:v>2 flags</c:v>
          </c:tx>
          <c:spPr>
            <a:solidFill xmlns:a="http://schemas.openxmlformats.org/drawingml/2006/main">
              <a:srgbClr val="CC9637"/>
            </a:solidFill>
          </c:spPr>
          <c:invertIfNegative val="0"/>
          <c:cat>
            <c:strRef>
              <c:f>'Chart Data'!$E$2:$E$4</c:f>
              <c:strCache>
                <c:ptCount val="3"/>
                <c:pt idx="0">
                  <c:v>No counted flags</c:v>
                </c:pt>
                <c:pt idx="1">
                  <c:v>Flagged fit</c:v>
                </c:pt>
                <c:pt idx="2">
                  <c:v>Failed fit</c:v>
                </c:pt>
              </c:strCache>
            </c:strRef>
          </c:cat>
          <c:val>
            <c:numRef>
              <c:f>'Chart Data'!$F$2:$F$4</c:f>
              <c:numCache>
                <c:formatCode>0.0%</c:formatCode>
                <c:ptCount val="3"/>
                <c:pt idx="0">
                  <c:v>0</c:v>
                </c:pt>
                <c:pt idx="1">
                  <c:v>0.167807</c:v>
                </c:pt>
                <c:pt idx="2">
                  <c:v>0</c:v>
                </c:pt>
              </c:numCache>
            </c:numRef>
          </c:val>
        </c:ser>
        <c:ser>
          <c:idx val="3"/>
          <c:order val="3"/>
          <c:tx>
            <c:v>3 flags</c:v>
          </c:tx>
          <c:spPr>
            <a:solidFill xmlns:a="http://schemas.openxmlformats.org/drawingml/2006/main">
              <a:srgbClr val="A66B24"/>
            </a:solidFill>
          </c:spPr>
          <c:invertIfNegative val="0"/>
          <c:cat>
            <c:strRef>
              <c:f>'Chart Data'!$G$2:$G$4</c:f>
              <c:strCache>
                <c:ptCount val="3"/>
                <c:pt idx="0">
                  <c:v>No counted flags</c:v>
                </c:pt>
                <c:pt idx="1">
                  <c:v>Flagged fit</c:v>
                </c:pt>
                <c:pt idx="2">
                  <c:v>Failed fit</c:v>
                </c:pt>
              </c:strCache>
            </c:strRef>
          </c:cat>
          <c:val>
            <c:numRef>
              <c:f>'Chart Data'!$H$2:$H$4</c:f>
              <c:numCache>
                <c:formatCode>0.0%</c:formatCode>
                <c:ptCount val="3"/>
                <c:pt idx="0">
                  <c:v>0</c:v>
                </c:pt>
                <c:pt idx="1">
                  <c:v>0.063378</c:v>
                </c:pt>
                <c:pt idx="2">
                  <c:v>0</c:v>
                </c:pt>
              </c:numCache>
            </c:numRef>
          </c:val>
        </c:ser>
        <c:ser>
          <c:idx val="4"/>
          <c:order val="4"/>
          <c:tx>
            <c:v>4 flags</c:v>
          </c:tx>
          <c:spPr>
            <a:solidFill xmlns:a="http://schemas.openxmlformats.org/drawingml/2006/main">
              <a:srgbClr val="72441C"/>
            </a:solidFill>
          </c:spPr>
          <c:invertIfNegative val="0"/>
          <c:cat>
            <c:strRef>
              <c:f>'Chart Data'!$I$2:$I$4</c:f>
              <c:strCache>
                <c:ptCount val="3"/>
                <c:pt idx="0">
                  <c:v>No counted flags</c:v>
                </c:pt>
                <c:pt idx="1">
                  <c:v>Flagged fit</c:v>
                </c:pt>
                <c:pt idx="2">
                  <c:v>Failed fit</c:v>
                </c:pt>
              </c:strCache>
            </c:strRef>
          </c:cat>
          <c:val>
            <c:numRef>
              <c:f>'Chart Data'!$J$2:$J$4</c:f>
              <c:numCache>
                <c:formatCode>0.0%</c:formatCode>
                <c:ptCount val="3"/>
                <c:pt idx="0">
                  <c:v>0</c:v>
                </c:pt>
                <c:pt idx="1">
                  <c:v>0.00036</c:v>
                </c:pt>
                <c:pt idx="2">
                  <c:v>0</c:v>
                </c:pt>
              </c:numCache>
            </c:numRef>
          </c:val>
        </c:ser>
        <c:ser>
          <c:idx val="5"/>
          <c:order val="5"/>
          <c:tx>
            <c:v>Failed</c:v>
          </c:tx>
          <c:spPr>
            <a:solidFill xmlns:a="http://schemas.openxmlformats.org/drawingml/2006/main">
              <a:srgbClr val="AC4B47"/>
            </a:solidFill>
          </c:spPr>
          <c:invertIfNegative val="0"/>
          <c:cat>
            <c:strRef>
              <c:f>'Chart Data'!$K$2:$K$4</c:f>
              <c:strCache>
                <c:ptCount val="3"/>
                <c:pt idx="0">
                  <c:v>No counted flags</c:v>
                </c:pt>
                <c:pt idx="1">
                  <c:v>Flagged fit</c:v>
                </c:pt>
                <c:pt idx="2">
                  <c:v>Failed fit</c:v>
                </c:pt>
              </c:strCache>
            </c:strRef>
          </c:cat>
          <c:val>
            <c:numRef>
              <c:f>'Chart Data'!$L$2:$L$4</c:f>
              <c:numCache>
                <c:formatCode>0.0%</c:formatCode>
                <c:ptCount val="3"/>
                <c:pt idx="0">
                  <c:v>0</c:v>
                </c:pt>
                <c:pt idx="1">
                  <c:v>0</c:v>
                </c:pt>
                <c:pt idx="2">
                  <c:v>0.205258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Share of fitted galaxies</c:v>
          </c:tx>
          <c:spPr>
            <a:solidFill xmlns:a="http://schemas.openxmlformats.org/drawingml/2006/main">
              <a:srgbClr val="C18B28"/>
            </a:solidFill>
          </c:spPr>
          <c:invertIfNegative val="0"/>
          <c:cat>
            <c:strRef>
              <c:f>'Chart Data'!$A$2:$A$6</c:f>
              <c:strCache>
                <c:ptCount val="5"/>
                <c:pt idx="0">
                  <c:v>Small bar interval</c:v>
                </c:pt>
                <c:pt idx="1">
                  <c:v>Unstable disc PA*</c:v>
                </c:pt>
                <c:pt idx="2">
                  <c:v>Changing disc shape</c:v>
                </c:pt>
                <c:pt idx="3">
                  <c:v>Unstable bar PA</c:v>
                </c:pt>
                <c:pt idx="4">
                  <c:v>Weak bar signature</c:v>
                </c:pt>
              </c:strCache>
            </c:strRef>
          </c:cat>
          <c:val>
            <c:numRef>
              <c:f>'Chart Data'!$B$2:$B$6</c:f>
              <c:numCache>
                <c:formatCode>0.0%</c:formatCode>
                <c:ptCount val="5"/>
                <c:pt idx="0">
                  <c:v>0.548256</c:v>
                </c:pt>
                <c:pt idx="1">
                  <c:v>0.303438</c:v>
                </c:pt>
                <c:pt idx="2">
                  <c:v>0.259628</c:v>
                </c:pt>
                <c:pt idx="3">
                  <c:v>0.012687</c:v>
                </c:pt>
                <c:pt idx="4">
                  <c:v>0.003172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of failures</c:v>
          </c:tx>
          <c:spPr>
            <a:solidFill xmlns:a="http://schemas.openxmlformats.org/drawingml/2006/main">
              <a:srgbClr val="AC4B47"/>
            </a:solidFill>
          </c:spPr>
          <c:invertIfNegative val="0"/>
          <c:cat>
            <c:strRef>
              <c:f>'Chart Data'!$A$2:$A$4</c:f>
              <c:strCache>
                <c:ptCount val="3"/>
                <c:pt idx="0">
                  <c:v>Interval</c:v>
                </c:pt>
                <c:pt idx="1">
                  <c:v>Short profile</c:v>
                </c:pt>
                <c:pt idx="2">
                  <c:v>Centre</c:v>
                </c:pt>
              </c:strCache>
            </c:strRef>
          </c:cat>
          <c:val>
            <c:numRef>
              <c:f>'Chart Data'!$B$2:$B$4</c:f>
              <c:numCache>
                <c:formatCode>0.0%</c:formatCode>
                <c:ptCount val="3"/>
                <c:pt idx="0">
                  <c:v>0.75614</c:v>
                </c:pt>
                <c:pt idx="1">
                  <c:v>0.242105</c:v>
                </c:pt>
                <c:pt idx="2">
                  <c:v>0.001754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B90F99-BC35-4E3F-AD99-FA34FB51689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36B4E59A-4E7D-4916-99F9-8B690F8071C1}"/>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13</a:t>
            </a:r>
          </a:p>
        </p:txBody>
      </p:sp>
      <p:sp>
        <p:nvSpPr>
          <p:cNvPr id="3" name="">
            <a:extLst xmlns:a="http://schemas.openxmlformats.org/drawingml/2006/main">
              <a:ext uri="{FF2B5EF4-FFF2-40B4-BE49-F238E27FC236}">
                <a16:creationId xmlns:a16="http://schemas.microsoft.com/office/drawing/2014/main" id="{6B5721B1-DA82-4C81-911B-3315E2A67418}"/>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BEA92F58-E2BA-44BA-BB48-FA4410FF47EE}"/>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AF408113-4D4F-47CB-896C-514C0440BBF7}"/>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CCBFF805-E899-4395-9AF5-DD7F22FBCF22}"/>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10870686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40F54B1-9D95-4DF6-85ED-B69CA45AC43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 by number of flags</a:t>
            </a:r>
          </a:p>
        </p:txBody>
      </p:sp>
      <p:sp>
        <p:nvSpPr>
          <p:cNvPr id="2" name="">
            <a:extLst xmlns:a="http://schemas.openxmlformats.org/drawingml/2006/main">
              <a:ext uri="{FF2B5EF4-FFF2-40B4-BE49-F238E27FC236}">
                <a16:creationId xmlns:a16="http://schemas.microsoft.com/office/drawing/2014/main" id="{B4ED334F-0661-46EB-80E5-4EB4969A6891}"/>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13</a:t>
            </a:r>
          </a:p>
        </p:txBody>
      </p:sp>
      <p:sp>
        <p:nvSpPr>
          <p:cNvPr id="3" name="">
            <a:extLst xmlns:a="http://schemas.openxmlformats.org/drawingml/2006/main">
              <a:ext uri="{FF2B5EF4-FFF2-40B4-BE49-F238E27FC236}">
                <a16:creationId xmlns:a16="http://schemas.microsoft.com/office/drawing/2014/main" id="{B3116386-B610-44DD-952F-749FBD7C92CF}"/>
              </a:ext>
            </a:extLst>
          </p:cNvPr>
          <p:cNvSpPr>
            <a:spLocks xmlns:a="http://schemas.openxmlformats.org/drawingml/2006/main" noGrp="1"/>
          </p:cNvSpPr>
          <p:nvPr/>
        </p:nvSpPr>
        <p:spPr>
          <a:xfrm xmlns:a="http://schemas.openxmlformats.org/drawingml/2006/main">
            <a:off x="609600" y="129540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3"/>
                </a:solidFill>
                <a:latin typeface="Arial"/>
                <a:ea typeface="Arial"/>
                <a:cs typeface="Arial"/>
              </a:defRPr>
            </a:defPPr>
            <a:lvl1pPr>
              <a:defRPr sz="1875" b="0">
                <a:solidFill>
                  <a:srgbClr val="526673"/>
                </a:solidFill>
                <a:latin typeface="Arial"/>
                <a:ea typeface="Arial"/>
                <a:cs typeface="Arial"/>
              </a:defRPr>
            </a:lvl1pPr>
            <a:lvl2pPr>
              <a:defRPr sz="1875" b="0">
                <a:solidFill>
                  <a:srgbClr val="526673"/>
                </a:solidFill>
                <a:latin typeface="Arial"/>
                <a:ea typeface="Arial"/>
                <a:cs typeface="Arial"/>
              </a:defRPr>
            </a:lvl2pPr>
            <a:lvl3pPr>
              <a:defRPr sz="1875" b="0">
                <a:solidFill>
                  <a:srgbClr val="526673"/>
                </a:solidFill>
                <a:latin typeface="Arial"/>
                <a:ea typeface="Arial"/>
                <a:cs typeface="Arial"/>
              </a:defRPr>
            </a:lvl3pPr>
            <a:lvl4pPr>
              <a:defRPr sz="1875" b="0">
                <a:solidFill>
                  <a:srgbClr val="526673"/>
                </a:solidFill>
                <a:latin typeface="Arial"/>
                <a:ea typeface="Arial"/>
                <a:cs typeface="Arial"/>
              </a:defRPr>
            </a:lvl4pPr>
            <a:lvl5pPr>
              <a:defRPr sz="1875" b="0">
                <a:solidFill>
                  <a:srgbClr val="526673"/>
                </a:solidFill>
                <a:latin typeface="Arial"/>
                <a:ea typeface="Arial"/>
                <a:cs typeface="Arial"/>
              </a:defRPr>
            </a:lvl5pPr>
            <a:lvl6pPr>
              <a:defRPr sz="1875" b="0">
                <a:solidFill>
                  <a:srgbClr val="526673"/>
                </a:solidFill>
                <a:latin typeface="Arial"/>
                <a:ea typeface="Arial"/>
                <a:cs typeface="Arial"/>
              </a:defRPr>
            </a:lvl6pPr>
            <a:lvl7pPr>
              <a:defRPr sz="1875" b="0">
                <a:solidFill>
                  <a:srgbClr val="526673"/>
                </a:solidFill>
                <a:latin typeface="Arial"/>
                <a:ea typeface="Arial"/>
                <a:cs typeface="Arial"/>
              </a:defRPr>
            </a:lvl7pPr>
            <a:lvl8pPr>
              <a:defRPr sz="1875" b="0">
                <a:solidFill>
                  <a:srgbClr val="526673"/>
                </a:solidFill>
                <a:latin typeface="Arial"/>
                <a:ea typeface="Arial"/>
                <a:cs typeface="Arial"/>
              </a:defRPr>
            </a:lvl8pPr>
            <a:lvl9pPr>
              <a:defRPr sz="1875" b="0">
                <a:solidFill>
                  <a:srgbClr val="526673"/>
                </a:solidFill>
                <a:latin typeface="Arial"/>
                <a:ea typeface="Arial"/>
                <a:cs typeface="Arial"/>
              </a:defRPr>
            </a:lvl9pPr>
          </a:lstStyle>
          <a:p xmlns:a="http://schemas.openxmlformats.org/drawingml/2006/main">
            <a:pPr>
              <a:defRPr sz="1875" b="0">
                <a:solidFill>
                  <a:srgbClr val="526673"/>
                </a:solidFill>
                <a:latin typeface="Arial"/>
                <a:ea typeface="Arial"/>
                <a:cs typeface="Arial"/>
              </a:defRPr>
            </a:pPr>
            <a:r>
              <a:rPr sz="1875" b="0">
                <a:solidFill>
                  <a:srgbClr val="526673"/>
                </a:solidFill>
                <a:latin typeface="Arial"/>
                <a:ea typeface="Arial"/>
                <a:cs typeface="Arial"/>
              </a:rPr>
              <a:t>Percentage of all 2,777 galaxies</a:t>
            </a:r>
          </a:p>
        </p:txBody>
      </p:sp>
      <p:graphicFrame>
        <p:nvGraphicFramePr>
          <p:cNvPr id="4" name="Chart">
            <a:extLst xmlns:a="http://schemas.openxmlformats.org/drawingml/2006/main">
              <a:ext uri="{FF2B5EF4-FFF2-40B4-BE49-F238E27FC236}">
                <a16:creationId xmlns:a16="http://schemas.microsoft.com/office/drawing/2014/main" id="{BA1EE520-46CC-4413-B869-539001876F93}"/>
              </a:ext>
            </a:extLst>
          </p:cNvPr>
          <p:cNvGraphicFramePr/>
          <p:nvPr/>
        </p:nvGraphicFramePr>
        <p:xfrm>
          <a:off xmlns:a="http://schemas.openxmlformats.org/drawingml/2006/main" x="609600" y="176212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1670b52d6dcb4e35"/>
          </a:graphicData>
        </a:graphic>
      </p:graphicFrame>
      <p:sp>
        <p:nvSpPr>
          <p:cNvPr id="5" name="">
            <a:extLst xmlns:a="http://schemas.openxmlformats.org/drawingml/2006/main">
              <a:ext uri="{FF2B5EF4-FFF2-40B4-BE49-F238E27FC236}">
                <a16:creationId xmlns:a16="http://schemas.microsoft.com/office/drawing/2014/main" id="{B1077E54-2380-4DEC-9E9F-DAD100A1F0AE}"/>
              </a:ext>
            </a:extLst>
          </p:cNvPr>
          <p:cNvSpPr>
            <a:spLocks xmlns:a="http://schemas.openxmlformats.org/drawingml/2006/main" noGrp="1"/>
          </p:cNvSpPr>
          <p:nvPr/>
        </p:nvSpPr>
        <p:spPr>
          <a:xfrm xmlns:a="http://schemas.openxmlformats.org/drawingml/2006/main">
            <a:off x="8286750" y="171450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Flagged fit: 57.8% total</a:t>
            </a:r>
          </a:p>
        </p:txBody>
      </p:sp>
      <p:sp>
        <p:nvSpPr>
          <p:cNvPr id="6" name="">
            <a:extLst xmlns:a="http://schemas.openxmlformats.org/drawingml/2006/main">
              <a:ext uri="{FF2B5EF4-FFF2-40B4-BE49-F238E27FC236}">
                <a16:creationId xmlns:a16="http://schemas.microsoft.com/office/drawing/2014/main" id="{D2B775B4-0E03-4755-850B-E3D1C84B5E54}"/>
              </a:ext>
            </a:extLst>
          </p:cNvPr>
          <p:cNvSpPr>
            <a:spLocks xmlns:a="http://schemas.openxmlformats.org/drawingml/2006/main" noGrp="1"/>
          </p:cNvSpPr>
          <p:nvPr/>
        </p:nvSpPr>
        <p:spPr>
          <a:xfrm xmlns:a="http://schemas.openxmlformats.org/drawingml/2006/main">
            <a:off x="8286750" y="23336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E5BB66"/>
                </a:solidFill>
                <a:latin typeface="Arial"/>
                <a:ea typeface="Arial"/>
                <a:cs typeface="Arial"/>
              </a:defRPr>
            </a:defPPr>
            <a:lvl1pPr>
              <a:defRPr sz="1875" b="1">
                <a:solidFill>
                  <a:srgbClr val="E5BB66"/>
                </a:solidFill>
                <a:latin typeface="Arial"/>
                <a:ea typeface="Arial"/>
                <a:cs typeface="Arial"/>
              </a:defRPr>
            </a:lvl1pPr>
            <a:lvl2pPr>
              <a:defRPr sz="1875" b="1">
                <a:solidFill>
                  <a:srgbClr val="E5BB66"/>
                </a:solidFill>
                <a:latin typeface="Arial"/>
                <a:ea typeface="Arial"/>
                <a:cs typeface="Arial"/>
              </a:defRPr>
            </a:lvl2pPr>
            <a:lvl3pPr>
              <a:defRPr sz="1875" b="1">
                <a:solidFill>
                  <a:srgbClr val="E5BB66"/>
                </a:solidFill>
                <a:latin typeface="Arial"/>
                <a:ea typeface="Arial"/>
                <a:cs typeface="Arial"/>
              </a:defRPr>
            </a:lvl3pPr>
            <a:lvl4pPr>
              <a:defRPr sz="1875" b="1">
                <a:solidFill>
                  <a:srgbClr val="E5BB66"/>
                </a:solidFill>
                <a:latin typeface="Arial"/>
                <a:ea typeface="Arial"/>
                <a:cs typeface="Arial"/>
              </a:defRPr>
            </a:lvl4pPr>
            <a:lvl5pPr>
              <a:defRPr sz="1875" b="1">
                <a:solidFill>
                  <a:srgbClr val="E5BB66"/>
                </a:solidFill>
                <a:latin typeface="Arial"/>
                <a:ea typeface="Arial"/>
                <a:cs typeface="Arial"/>
              </a:defRPr>
            </a:lvl5pPr>
            <a:lvl6pPr>
              <a:defRPr sz="1875" b="1">
                <a:solidFill>
                  <a:srgbClr val="E5BB66"/>
                </a:solidFill>
                <a:latin typeface="Arial"/>
                <a:ea typeface="Arial"/>
                <a:cs typeface="Arial"/>
              </a:defRPr>
            </a:lvl6pPr>
            <a:lvl7pPr>
              <a:defRPr sz="1875" b="1">
                <a:solidFill>
                  <a:srgbClr val="E5BB66"/>
                </a:solidFill>
                <a:latin typeface="Arial"/>
                <a:ea typeface="Arial"/>
                <a:cs typeface="Arial"/>
              </a:defRPr>
            </a:lvl7pPr>
            <a:lvl8pPr>
              <a:defRPr sz="1875" b="1">
                <a:solidFill>
                  <a:srgbClr val="E5BB66"/>
                </a:solidFill>
                <a:latin typeface="Arial"/>
                <a:ea typeface="Arial"/>
                <a:cs typeface="Arial"/>
              </a:defRPr>
            </a:lvl8pPr>
            <a:lvl9pPr>
              <a:defRPr sz="1875" b="1">
                <a:solidFill>
                  <a:srgbClr val="E5BB66"/>
                </a:solidFill>
                <a:latin typeface="Arial"/>
                <a:ea typeface="Arial"/>
                <a:cs typeface="Arial"/>
              </a:defRPr>
            </a:lvl9pPr>
          </a:lstStyle>
          <a:p xmlns:a="http://schemas.openxmlformats.org/drawingml/2006/main">
            <a:pPr>
              <a:defRPr sz="1875" b="1">
                <a:solidFill>
                  <a:srgbClr val="E5BB66"/>
                </a:solidFill>
                <a:latin typeface="Arial"/>
                <a:ea typeface="Arial"/>
                <a:cs typeface="Arial"/>
              </a:defRPr>
            </a:pPr>
            <a:r>
              <a:rPr sz="1875" b="1">
                <a:solidFill>
                  <a:srgbClr val="E5BB66"/>
                </a:solidFill>
                <a:latin typeface="Arial"/>
                <a:ea typeface="Arial"/>
                <a:cs typeface="Arial"/>
              </a:rPr>
              <a:t>1 flag: 963 (34.7%)</a:t>
            </a:r>
          </a:p>
        </p:txBody>
      </p:sp>
      <p:sp>
        <p:nvSpPr>
          <p:cNvPr id="7" name="">
            <a:extLst xmlns:a="http://schemas.openxmlformats.org/drawingml/2006/main">
              <a:ext uri="{FF2B5EF4-FFF2-40B4-BE49-F238E27FC236}">
                <a16:creationId xmlns:a16="http://schemas.microsoft.com/office/drawing/2014/main" id="{D663D3FB-3F54-488D-A967-44BD64FF23FD}"/>
              </a:ext>
            </a:extLst>
          </p:cNvPr>
          <p:cNvSpPr>
            <a:spLocks xmlns:a="http://schemas.openxmlformats.org/drawingml/2006/main" noGrp="1"/>
          </p:cNvSpPr>
          <p:nvPr/>
        </p:nvSpPr>
        <p:spPr>
          <a:xfrm xmlns:a="http://schemas.openxmlformats.org/drawingml/2006/main">
            <a:off x="8286750" y="28575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C9637"/>
                </a:solidFill>
                <a:latin typeface="Arial"/>
                <a:ea typeface="Arial"/>
                <a:cs typeface="Arial"/>
              </a:defRPr>
            </a:defPPr>
            <a:lvl1pPr>
              <a:defRPr sz="1875" b="1">
                <a:solidFill>
                  <a:srgbClr val="CC9637"/>
                </a:solidFill>
                <a:latin typeface="Arial"/>
                <a:ea typeface="Arial"/>
                <a:cs typeface="Arial"/>
              </a:defRPr>
            </a:lvl1pPr>
            <a:lvl2pPr>
              <a:defRPr sz="1875" b="1">
                <a:solidFill>
                  <a:srgbClr val="CC9637"/>
                </a:solidFill>
                <a:latin typeface="Arial"/>
                <a:ea typeface="Arial"/>
                <a:cs typeface="Arial"/>
              </a:defRPr>
            </a:lvl2pPr>
            <a:lvl3pPr>
              <a:defRPr sz="1875" b="1">
                <a:solidFill>
                  <a:srgbClr val="CC9637"/>
                </a:solidFill>
                <a:latin typeface="Arial"/>
                <a:ea typeface="Arial"/>
                <a:cs typeface="Arial"/>
              </a:defRPr>
            </a:lvl3pPr>
            <a:lvl4pPr>
              <a:defRPr sz="1875" b="1">
                <a:solidFill>
                  <a:srgbClr val="CC9637"/>
                </a:solidFill>
                <a:latin typeface="Arial"/>
                <a:ea typeface="Arial"/>
                <a:cs typeface="Arial"/>
              </a:defRPr>
            </a:lvl4pPr>
            <a:lvl5pPr>
              <a:defRPr sz="1875" b="1">
                <a:solidFill>
                  <a:srgbClr val="CC9637"/>
                </a:solidFill>
                <a:latin typeface="Arial"/>
                <a:ea typeface="Arial"/>
                <a:cs typeface="Arial"/>
              </a:defRPr>
            </a:lvl5pPr>
            <a:lvl6pPr>
              <a:defRPr sz="1875" b="1">
                <a:solidFill>
                  <a:srgbClr val="CC9637"/>
                </a:solidFill>
                <a:latin typeface="Arial"/>
                <a:ea typeface="Arial"/>
                <a:cs typeface="Arial"/>
              </a:defRPr>
            </a:lvl6pPr>
            <a:lvl7pPr>
              <a:defRPr sz="1875" b="1">
                <a:solidFill>
                  <a:srgbClr val="CC9637"/>
                </a:solidFill>
                <a:latin typeface="Arial"/>
                <a:ea typeface="Arial"/>
                <a:cs typeface="Arial"/>
              </a:defRPr>
            </a:lvl7pPr>
            <a:lvl8pPr>
              <a:defRPr sz="1875" b="1">
                <a:solidFill>
                  <a:srgbClr val="CC9637"/>
                </a:solidFill>
                <a:latin typeface="Arial"/>
                <a:ea typeface="Arial"/>
                <a:cs typeface="Arial"/>
              </a:defRPr>
            </a:lvl8pPr>
            <a:lvl9pPr>
              <a:defRPr sz="1875" b="1">
                <a:solidFill>
                  <a:srgbClr val="CC9637"/>
                </a:solidFill>
                <a:latin typeface="Arial"/>
                <a:ea typeface="Arial"/>
                <a:cs typeface="Arial"/>
              </a:defRPr>
            </a:lvl9pPr>
          </a:lstStyle>
          <a:p xmlns:a="http://schemas.openxmlformats.org/drawingml/2006/main">
            <a:pPr>
              <a:defRPr sz="1875" b="1">
                <a:solidFill>
                  <a:srgbClr val="CC9637"/>
                </a:solidFill>
                <a:latin typeface="Arial"/>
                <a:ea typeface="Arial"/>
                <a:cs typeface="Arial"/>
              </a:defRPr>
            </a:pPr>
            <a:r>
              <a:rPr sz="1875" b="1">
                <a:solidFill>
                  <a:srgbClr val="CC9637"/>
                </a:solidFill>
                <a:latin typeface="Arial"/>
                <a:ea typeface="Arial"/>
                <a:cs typeface="Arial"/>
              </a:rPr>
              <a:t>2 flags: 466 (16.8%)</a:t>
            </a:r>
          </a:p>
        </p:txBody>
      </p:sp>
      <p:sp>
        <p:nvSpPr>
          <p:cNvPr id="8" name="">
            <a:extLst xmlns:a="http://schemas.openxmlformats.org/drawingml/2006/main">
              <a:ext uri="{FF2B5EF4-FFF2-40B4-BE49-F238E27FC236}">
                <a16:creationId xmlns:a16="http://schemas.microsoft.com/office/drawing/2014/main" id="{7B0C5E65-CDC6-4247-8784-21B1FD8D4207}"/>
              </a:ext>
            </a:extLst>
          </p:cNvPr>
          <p:cNvSpPr>
            <a:spLocks xmlns:a="http://schemas.openxmlformats.org/drawingml/2006/main" noGrp="1"/>
          </p:cNvSpPr>
          <p:nvPr/>
        </p:nvSpPr>
        <p:spPr>
          <a:xfrm xmlns:a="http://schemas.openxmlformats.org/drawingml/2006/main">
            <a:off x="8286750" y="338137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66B24"/>
                </a:solidFill>
                <a:latin typeface="Arial"/>
                <a:ea typeface="Arial"/>
                <a:cs typeface="Arial"/>
              </a:defRPr>
            </a:defPPr>
            <a:lvl1pPr>
              <a:defRPr sz="1875" b="1">
                <a:solidFill>
                  <a:srgbClr val="A66B24"/>
                </a:solidFill>
                <a:latin typeface="Arial"/>
                <a:ea typeface="Arial"/>
                <a:cs typeface="Arial"/>
              </a:defRPr>
            </a:lvl1pPr>
            <a:lvl2pPr>
              <a:defRPr sz="1875" b="1">
                <a:solidFill>
                  <a:srgbClr val="A66B24"/>
                </a:solidFill>
                <a:latin typeface="Arial"/>
                <a:ea typeface="Arial"/>
                <a:cs typeface="Arial"/>
              </a:defRPr>
            </a:lvl2pPr>
            <a:lvl3pPr>
              <a:defRPr sz="1875" b="1">
                <a:solidFill>
                  <a:srgbClr val="A66B24"/>
                </a:solidFill>
                <a:latin typeface="Arial"/>
                <a:ea typeface="Arial"/>
                <a:cs typeface="Arial"/>
              </a:defRPr>
            </a:lvl3pPr>
            <a:lvl4pPr>
              <a:defRPr sz="1875" b="1">
                <a:solidFill>
                  <a:srgbClr val="A66B24"/>
                </a:solidFill>
                <a:latin typeface="Arial"/>
                <a:ea typeface="Arial"/>
                <a:cs typeface="Arial"/>
              </a:defRPr>
            </a:lvl4pPr>
            <a:lvl5pPr>
              <a:defRPr sz="1875" b="1">
                <a:solidFill>
                  <a:srgbClr val="A66B24"/>
                </a:solidFill>
                <a:latin typeface="Arial"/>
                <a:ea typeface="Arial"/>
                <a:cs typeface="Arial"/>
              </a:defRPr>
            </a:lvl5pPr>
            <a:lvl6pPr>
              <a:defRPr sz="1875" b="1">
                <a:solidFill>
                  <a:srgbClr val="A66B24"/>
                </a:solidFill>
                <a:latin typeface="Arial"/>
                <a:ea typeface="Arial"/>
                <a:cs typeface="Arial"/>
              </a:defRPr>
            </a:lvl6pPr>
            <a:lvl7pPr>
              <a:defRPr sz="1875" b="1">
                <a:solidFill>
                  <a:srgbClr val="A66B24"/>
                </a:solidFill>
                <a:latin typeface="Arial"/>
                <a:ea typeface="Arial"/>
                <a:cs typeface="Arial"/>
              </a:defRPr>
            </a:lvl7pPr>
            <a:lvl8pPr>
              <a:defRPr sz="1875" b="1">
                <a:solidFill>
                  <a:srgbClr val="A66B24"/>
                </a:solidFill>
                <a:latin typeface="Arial"/>
                <a:ea typeface="Arial"/>
                <a:cs typeface="Arial"/>
              </a:defRPr>
            </a:lvl8pPr>
            <a:lvl9pPr>
              <a:defRPr sz="1875" b="1">
                <a:solidFill>
                  <a:srgbClr val="A66B24"/>
                </a:solidFill>
                <a:latin typeface="Arial"/>
                <a:ea typeface="Arial"/>
                <a:cs typeface="Arial"/>
              </a:defRPr>
            </a:lvl9pPr>
          </a:lstStyle>
          <a:p xmlns:a="http://schemas.openxmlformats.org/drawingml/2006/main">
            <a:pPr>
              <a:defRPr sz="1875" b="1">
                <a:solidFill>
                  <a:srgbClr val="A66B24"/>
                </a:solidFill>
                <a:latin typeface="Arial"/>
                <a:ea typeface="Arial"/>
                <a:cs typeface="Arial"/>
              </a:defRPr>
            </a:pPr>
            <a:r>
              <a:rPr sz="1875" b="1">
                <a:solidFill>
                  <a:srgbClr val="A66B24"/>
                </a:solidFill>
                <a:latin typeface="Arial"/>
                <a:ea typeface="Arial"/>
                <a:cs typeface="Arial"/>
              </a:rPr>
              <a:t>3 flags: 176 (6.3%)</a:t>
            </a:r>
          </a:p>
        </p:txBody>
      </p:sp>
      <p:sp>
        <p:nvSpPr>
          <p:cNvPr id="9" name="">
            <a:extLst xmlns:a="http://schemas.openxmlformats.org/drawingml/2006/main">
              <a:ext uri="{FF2B5EF4-FFF2-40B4-BE49-F238E27FC236}">
                <a16:creationId xmlns:a16="http://schemas.microsoft.com/office/drawing/2014/main" id="{31F00A3A-B874-45D3-9CA3-DC05851D54CF}"/>
              </a:ext>
            </a:extLst>
          </p:cNvPr>
          <p:cNvSpPr>
            <a:spLocks xmlns:a="http://schemas.openxmlformats.org/drawingml/2006/main" noGrp="1"/>
          </p:cNvSpPr>
          <p:nvPr/>
        </p:nvSpPr>
        <p:spPr>
          <a:xfrm xmlns:a="http://schemas.openxmlformats.org/drawingml/2006/main">
            <a:off x="8286750" y="390525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2441C"/>
                </a:solidFill>
                <a:latin typeface="Arial"/>
                <a:ea typeface="Arial"/>
                <a:cs typeface="Arial"/>
              </a:defRPr>
            </a:defPPr>
            <a:lvl1pPr>
              <a:defRPr sz="1875" b="1">
                <a:solidFill>
                  <a:srgbClr val="72441C"/>
                </a:solidFill>
                <a:latin typeface="Arial"/>
                <a:ea typeface="Arial"/>
                <a:cs typeface="Arial"/>
              </a:defRPr>
            </a:lvl1pPr>
            <a:lvl2pPr>
              <a:defRPr sz="1875" b="1">
                <a:solidFill>
                  <a:srgbClr val="72441C"/>
                </a:solidFill>
                <a:latin typeface="Arial"/>
                <a:ea typeface="Arial"/>
                <a:cs typeface="Arial"/>
              </a:defRPr>
            </a:lvl2pPr>
            <a:lvl3pPr>
              <a:defRPr sz="1875" b="1">
                <a:solidFill>
                  <a:srgbClr val="72441C"/>
                </a:solidFill>
                <a:latin typeface="Arial"/>
                <a:ea typeface="Arial"/>
                <a:cs typeface="Arial"/>
              </a:defRPr>
            </a:lvl3pPr>
            <a:lvl4pPr>
              <a:defRPr sz="1875" b="1">
                <a:solidFill>
                  <a:srgbClr val="72441C"/>
                </a:solidFill>
                <a:latin typeface="Arial"/>
                <a:ea typeface="Arial"/>
                <a:cs typeface="Arial"/>
              </a:defRPr>
            </a:lvl4pPr>
            <a:lvl5pPr>
              <a:defRPr sz="1875" b="1">
                <a:solidFill>
                  <a:srgbClr val="72441C"/>
                </a:solidFill>
                <a:latin typeface="Arial"/>
                <a:ea typeface="Arial"/>
                <a:cs typeface="Arial"/>
              </a:defRPr>
            </a:lvl5pPr>
            <a:lvl6pPr>
              <a:defRPr sz="1875" b="1">
                <a:solidFill>
                  <a:srgbClr val="72441C"/>
                </a:solidFill>
                <a:latin typeface="Arial"/>
                <a:ea typeface="Arial"/>
                <a:cs typeface="Arial"/>
              </a:defRPr>
            </a:lvl6pPr>
            <a:lvl7pPr>
              <a:defRPr sz="1875" b="1">
                <a:solidFill>
                  <a:srgbClr val="72441C"/>
                </a:solidFill>
                <a:latin typeface="Arial"/>
                <a:ea typeface="Arial"/>
                <a:cs typeface="Arial"/>
              </a:defRPr>
            </a:lvl7pPr>
            <a:lvl8pPr>
              <a:defRPr sz="1875" b="1">
                <a:solidFill>
                  <a:srgbClr val="72441C"/>
                </a:solidFill>
                <a:latin typeface="Arial"/>
                <a:ea typeface="Arial"/>
                <a:cs typeface="Arial"/>
              </a:defRPr>
            </a:lvl8pPr>
            <a:lvl9pPr>
              <a:defRPr sz="1875" b="1">
                <a:solidFill>
                  <a:srgbClr val="72441C"/>
                </a:solidFill>
                <a:latin typeface="Arial"/>
                <a:ea typeface="Arial"/>
                <a:cs typeface="Arial"/>
              </a:defRPr>
            </a:lvl9pPr>
          </a:lstStyle>
          <a:p xmlns:a="http://schemas.openxmlformats.org/drawingml/2006/main">
            <a:pPr>
              <a:defRPr sz="1875" b="1">
                <a:solidFill>
                  <a:srgbClr val="72441C"/>
                </a:solidFill>
                <a:latin typeface="Arial"/>
                <a:ea typeface="Arial"/>
                <a:cs typeface="Arial"/>
              </a:defRPr>
            </a:pPr>
            <a:r>
              <a:rPr sz="1875" b="1">
                <a:solidFill>
                  <a:srgbClr val="72441C"/>
                </a:solidFill>
                <a:latin typeface="Arial"/>
                <a:ea typeface="Arial"/>
                <a:cs typeface="Arial"/>
              </a:rPr>
              <a:t>4 flags: 1 (&lt;0.1%)</a:t>
            </a:r>
          </a:p>
        </p:txBody>
      </p:sp>
      <p:sp>
        <p:nvSpPr>
          <p:cNvPr id="10" name="">
            <a:extLst xmlns:a="http://schemas.openxmlformats.org/drawingml/2006/main">
              <a:ext uri="{FF2B5EF4-FFF2-40B4-BE49-F238E27FC236}">
                <a16:creationId xmlns:a16="http://schemas.microsoft.com/office/drawing/2014/main" id="{355B75C3-98E8-496E-8712-9978C293BAE2}"/>
              </a:ext>
            </a:extLst>
          </p:cNvPr>
          <p:cNvSpPr>
            <a:spLocks xmlns:a="http://schemas.openxmlformats.org/drawingml/2006/main" noGrp="1"/>
          </p:cNvSpPr>
          <p:nvPr/>
        </p:nvSpPr>
        <p:spPr>
          <a:xfrm xmlns:a="http://schemas.openxmlformats.org/drawingml/2006/main">
            <a:off x="8286750" y="4667250"/>
            <a:ext cx="328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No counted flags: 21.6% (601)</a:t>
            </a:r>
          </a:p>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Failed: 20.5% (570)</a:t>
            </a:r>
          </a:p>
        </p:txBody>
      </p:sp>
      <p:sp>
        <p:nvSpPr>
          <p:cNvPr id="11" name="">
            <a:extLst xmlns:a="http://schemas.openxmlformats.org/drawingml/2006/main">
              <a:ext uri="{FF2B5EF4-FFF2-40B4-BE49-F238E27FC236}">
                <a16:creationId xmlns:a16="http://schemas.microsoft.com/office/drawing/2014/main" id="{58AC3378-BEA0-47C8-8EA4-CB5782855A58}"/>
              </a:ext>
            </a:extLst>
          </p:cNvPr>
          <p:cNvSpPr>
            <a:spLocks xmlns:a="http://schemas.openxmlformats.org/drawingml/2006/main" noGrp="1"/>
          </p:cNvSpPr>
          <p:nvPr/>
        </p:nvSpPr>
        <p:spPr>
          <a:xfrm xmlns:a="http://schemas.openxmlformats.org/drawingml/2006/main">
            <a:off x="609600" y="579120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Chart excludes face-on flag and disc PA instability for face-on galaxies. Source QI labels unchanged.</a:t>
            </a:r>
          </a:p>
        </p:txBody>
      </p:sp>
    </p:spTree>
    <p:extLst>
      <p:ext uri="{BB962C8B-B14F-4D97-AF65-F5344CB8AC3E}">
        <p14:creationId xmlns:p14="http://schemas.microsoft.com/office/powerpoint/2010/main" val="10698484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0450135-8A2B-4A76-A756-790C66253C8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reasons for failure</a:t>
            </a:r>
          </a:p>
        </p:txBody>
      </p:sp>
      <p:sp>
        <p:nvSpPr>
          <p:cNvPr id="2" name="">
            <a:extLst xmlns:a="http://schemas.openxmlformats.org/drawingml/2006/main">
              <a:ext uri="{FF2B5EF4-FFF2-40B4-BE49-F238E27FC236}">
                <a16:creationId xmlns:a16="http://schemas.microsoft.com/office/drawing/2014/main" id="{CF19C623-5082-4D09-96B9-5CDA534528B1}"/>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13</a:t>
            </a:r>
          </a:p>
        </p:txBody>
      </p:sp>
      <p:sp>
        <p:nvSpPr>
          <p:cNvPr id="3" name="">
            <a:extLst xmlns:a="http://schemas.openxmlformats.org/drawingml/2006/main">
              <a:ext uri="{FF2B5EF4-FFF2-40B4-BE49-F238E27FC236}">
                <a16:creationId xmlns:a16="http://schemas.microsoft.com/office/drawing/2014/main" id="{30D070BD-B4B5-4CFB-B2EE-27CE852C5604}"/>
              </a:ext>
            </a:extLst>
          </p:cNvPr>
          <p:cNvSpPr>
            <a:spLocks xmlns:a="http://schemas.openxmlformats.org/drawingml/2006/main" noGrp="1"/>
          </p:cNvSpPr>
          <p:nvPr/>
        </p:nvSpPr>
        <p:spPr>
          <a:xfrm xmlns:a="http://schemas.openxmlformats.org/drawingml/2006/main">
            <a:off x="609600" y="1314450"/>
            <a:ext cx="633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Counted flags among completed fits</a:t>
            </a:r>
          </a:p>
        </p:txBody>
      </p:sp>
      <p:graphicFrame>
        <p:nvGraphicFramePr>
          <p:cNvPr id="4" name="Chart">
            <a:extLst xmlns:a="http://schemas.openxmlformats.org/drawingml/2006/main">
              <a:ext uri="{FF2B5EF4-FFF2-40B4-BE49-F238E27FC236}">
                <a16:creationId xmlns:a16="http://schemas.microsoft.com/office/drawing/2014/main" id="{887BC620-08D4-4894-BD07-5F412957AA34}"/>
              </a:ext>
            </a:extLst>
          </p:cNvPr>
          <p:cNvGraphicFramePr/>
          <p:nvPr/>
        </p:nvGraphicFramePr>
        <p:xfrm>
          <a:off xmlns:a="http://schemas.openxmlformats.org/drawingml/2006/main" x="495300" y="1876425"/>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5c7a82c3e20d4cf5"/>
          </a:graphicData>
        </a:graphic>
      </p:graphicFrame>
      <p:sp>
        <p:nvSpPr>
          <p:cNvPr id="5" name="">
            <a:extLst xmlns:a="http://schemas.openxmlformats.org/drawingml/2006/main">
              <a:ext uri="{FF2B5EF4-FFF2-40B4-BE49-F238E27FC236}">
                <a16:creationId xmlns:a16="http://schemas.microsoft.com/office/drawing/2014/main" id="{EF1D5277-6C91-4C38-A2E4-9FC3EE5B7E55}"/>
              </a:ext>
            </a:extLst>
          </p:cNvPr>
          <p:cNvSpPr>
            <a:spLocks xmlns:a="http://schemas.openxmlformats.org/drawingml/2006/main" noGrp="1"/>
          </p:cNvSpPr>
          <p:nvPr/>
        </p:nvSpPr>
        <p:spPr>
          <a:xfrm xmlns:a="http://schemas.openxmlformats.org/drawingml/2006/main">
            <a:off x="609600" y="5429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*Disc PA: 609 / 2,007 non-face-on fits (30.3%).</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Other bars: denominator 2,207. Flags overlap.</a:t>
            </a:r>
          </a:p>
        </p:txBody>
      </p:sp>
      <p:sp>
        <p:nvSpPr>
          <p:cNvPr id="6" name="">
            <a:extLst xmlns:a="http://schemas.openxmlformats.org/drawingml/2006/main">
              <a:ext uri="{FF2B5EF4-FFF2-40B4-BE49-F238E27FC236}">
                <a16:creationId xmlns:a16="http://schemas.microsoft.com/office/drawing/2014/main" id="{96C4D53A-1BB1-40F6-8FFE-153F5740452B}"/>
              </a:ext>
            </a:extLst>
          </p:cNvPr>
          <p:cNvSpPr>
            <a:spLocks xmlns:a="http://schemas.openxmlformats.org/drawingml/2006/main" noGrp="1"/>
          </p:cNvSpPr>
          <p:nvPr/>
        </p:nvSpPr>
        <p:spPr>
          <a:xfrm xmlns:a="http://schemas.openxmlformats.org/drawingml/2006/main">
            <a:off x="7334250" y="1314450"/>
            <a:ext cx="433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05F7A"/>
                </a:solidFill>
                <a:latin typeface="Arial"/>
                <a:ea typeface="Arial"/>
                <a:cs typeface="Arial"/>
              </a:defRPr>
            </a:defPPr>
            <a:lvl1pPr>
              <a:defRPr sz="1950" b="1">
                <a:solidFill>
                  <a:srgbClr val="205F7A"/>
                </a:solidFill>
                <a:latin typeface="Arial"/>
                <a:ea typeface="Arial"/>
                <a:cs typeface="Arial"/>
              </a:defRPr>
            </a:lvl1pPr>
            <a:lvl2pPr>
              <a:defRPr sz="1950" b="1">
                <a:solidFill>
                  <a:srgbClr val="205F7A"/>
                </a:solidFill>
                <a:latin typeface="Arial"/>
                <a:ea typeface="Arial"/>
                <a:cs typeface="Arial"/>
              </a:defRPr>
            </a:lvl2pPr>
            <a:lvl3pPr>
              <a:defRPr sz="1950" b="1">
                <a:solidFill>
                  <a:srgbClr val="205F7A"/>
                </a:solidFill>
                <a:latin typeface="Arial"/>
                <a:ea typeface="Arial"/>
                <a:cs typeface="Arial"/>
              </a:defRPr>
            </a:lvl3pPr>
            <a:lvl4pPr>
              <a:defRPr sz="1950" b="1">
                <a:solidFill>
                  <a:srgbClr val="205F7A"/>
                </a:solidFill>
                <a:latin typeface="Arial"/>
                <a:ea typeface="Arial"/>
                <a:cs typeface="Arial"/>
              </a:defRPr>
            </a:lvl4pPr>
            <a:lvl5pPr>
              <a:defRPr sz="1950" b="1">
                <a:solidFill>
                  <a:srgbClr val="205F7A"/>
                </a:solidFill>
                <a:latin typeface="Arial"/>
                <a:ea typeface="Arial"/>
                <a:cs typeface="Arial"/>
              </a:defRPr>
            </a:lvl5pPr>
            <a:lvl6pPr>
              <a:defRPr sz="1950" b="1">
                <a:solidFill>
                  <a:srgbClr val="205F7A"/>
                </a:solidFill>
                <a:latin typeface="Arial"/>
                <a:ea typeface="Arial"/>
                <a:cs typeface="Arial"/>
              </a:defRPr>
            </a:lvl6pPr>
            <a:lvl7pPr>
              <a:defRPr sz="1950" b="1">
                <a:solidFill>
                  <a:srgbClr val="205F7A"/>
                </a:solidFill>
                <a:latin typeface="Arial"/>
                <a:ea typeface="Arial"/>
                <a:cs typeface="Arial"/>
              </a:defRPr>
            </a:lvl7pPr>
            <a:lvl8pPr>
              <a:defRPr sz="1950" b="1">
                <a:solidFill>
                  <a:srgbClr val="205F7A"/>
                </a:solidFill>
                <a:latin typeface="Arial"/>
                <a:ea typeface="Arial"/>
                <a:cs typeface="Arial"/>
              </a:defRPr>
            </a:lvl8pPr>
            <a:lvl9pPr>
              <a:defRPr sz="1950" b="1">
                <a:solidFill>
                  <a:srgbClr val="205F7A"/>
                </a:solidFill>
                <a:latin typeface="Arial"/>
                <a:ea typeface="Arial"/>
                <a:cs typeface="Arial"/>
              </a:defRPr>
            </a:lvl9pPr>
          </a:lstStyle>
          <a:p xmlns:a="http://schemas.openxmlformats.org/drawingml/2006/main">
            <a:pPr>
              <a:defRPr sz="1950" b="1">
                <a:solidFill>
                  <a:srgbClr val="205F7A"/>
                </a:solidFill>
                <a:latin typeface="Arial"/>
                <a:ea typeface="Arial"/>
                <a:cs typeface="Arial"/>
              </a:defRPr>
            </a:pPr>
            <a:r>
              <a:rPr sz="1950" b="1">
                <a:solidFill>
                  <a:srgbClr val="205F7A"/>
                </a:solidFill>
                <a:latin typeface="Arial"/>
                <a:ea typeface="Arial"/>
                <a:cs typeface="Arial"/>
              </a:rPr>
              <a:t>570 failed fits: recorded reasons</a:t>
            </a:r>
          </a:p>
        </p:txBody>
      </p:sp>
      <p:graphicFrame>
        <p:nvGraphicFramePr>
          <p:cNvPr id="7" name="Chart">
            <a:extLst xmlns:a="http://schemas.openxmlformats.org/drawingml/2006/main">
              <a:ext uri="{FF2B5EF4-FFF2-40B4-BE49-F238E27FC236}">
                <a16:creationId xmlns:a16="http://schemas.microsoft.com/office/drawing/2014/main" id="{65CF82E3-60DB-41B6-9038-610FD373942F}"/>
              </a:ext>
            </a:extLst>
          </p:cNvPr>
          <p:cNvGraphicFramePr/>
          <p:nvPr/>
        </p:nvGraphicFramePr>
        <p:xfrm>
          <a:off xmlns:a="http://schemas.openxmlformats.org/drawingml/2006/main" x="7286625" y="2000250"/>
          <a:ext xmlns:a="http://schemas.openxmlformats.org/drawingml/2006/main" cx="4333875" cy="2524125"/>
        </p:xfrm>
        <a:graphic xmlns:a="http://schemas.openxmlformats.org/drawingml/2006/main">
          <a:graphicData uri="http://schemas.openxmlformats.org/drawingml/2006/chart">
            <c:chart xmlns:r="http://schemas.openxmlformats.org/officeDocument/2006/relationships" xmlns:c="http://schemas.openxmlformats.org/drawingml/2006/chart" r:id="R8342a7cb01b945ac"/>
          </a:graphicData>
        </a:graphic>
      </p:graphicFrame>
      <p:sp>
        <p:nvSpPr>
          <p:cNvPr id="8" name="">
            <a:extLst xmlns:a="http://schemas.openxmlformats.org/drawingml/2006/main">
              <a:ext uri="{FF2B5EF4-FFF2-40B4-BE49-F238E27FC236}">
                <a16:creationId xmlns:a16="http://schemas.microsoft.com/office/drawing/2014/main" id="{18DAA87A-4BD7-42D2-9820-0ED67C90281E}"/>
              </a:ext>
            </a:extLst>
          </p:cNvPr>
          <p:cNvSpPr>
            <a:spLocks xmlns:a="http://schemas.openxmlformats.org/drawingml/2006/main" noGrp="1"/>
          </p:cNvSpPr>
          <p:nvPr/>
        </p:nvSpPr>
        <p:spPr>
          <a:xfrm xmlns:a="http://schemas.openxmlformats.org/drawingml/2006/main">
            <a:off x="7334250" y="4629150"/>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633"/>
                </a:solidFill>
                <a:latin typeface="Arial"/>
                <a:ea typeface="Arial"/>
                <a:cs typeface="Arial"/>
              </a:defRPr>
            </a:defPPr>
            <a:lvl1pPr>
              <a:defRPr sz="1575" b="0">
                <a:solidFill>
                  <a:srgbClr val="142633"/>
                </a:solidFill>
                <a:latin typeface="Arial"/>
                <a:ea typeface="Arial"/>
                <a:cs typeface="Arial"/>
              </a:defRPr>
            </a:lvl1pPr>
            <a:lvl2pPr>
              <a:defRPr sz="1575" b="0">
                <a:solidFill>
                  <a:srgbClr val="142633"/>
                </a:solidFill>
                <a:latin typeface="Arial"/>
                <a:ea typeface="Arial"/>
                <a:cs typeface="Arial"/>
              </a:defRPr>
            </a:lvl2pPr>
            <a:lvl3pPr>
              <a:defRPr sz="1575" b="0">
                <a:solidFill>
                  <a:srgbClr val="142633"/>
                </a:solidFill>
                <a:latin typeface="Arial"/>
                <a:ea typeface="Arial"/>
                <a:cs typeface="Arial"/>
              </a:defRPr>
            </a:lvl3pPr>
            <a:lvl4pPr>
              <a:defRPr sz="1575" b="0">
                <a:solidFill>
                  <a:srgbClr val="142633"/>
                </a:solidFill>
                <a:latin typeface="Arial"/>
                <a:ea typeface="Arial"/>
                <a:cs typeface="Arial"/>
              </a:defRPr>
            </a:lvl4pPr>
            <a:lvl5pPr>
              <a:defRPr sz="1575" b="0">
                <a:solidFill>
                  <a:srgbClr val="142633"/>
                </a:solidFill>
                <a:latin typeface="Arial"/>
                <a:ea typeface="Arial"/>
                <a:cs typeface="Arial"/>
              </a:defRPr>
            </a:lvl5pPr>
            <a:lvl6pPr>
              <a:defRPr sz="1575" b="0">
                <a:solidFill>
                  <a:srgbClr val="142633"/>
                </a:solidFill>
                <a:latin typeface="Arial"/>
                <a:ea typeface="Arial"/>
                <a:cs typeface="Arial"/>
              </a:defRPr>
            </a:lvl6pPr>
            <a:lvl7pPr>
              <a:defRPr sz="1575" b="0">
                <a:solidFill>
                  <a:srgbClr val="142633"/>
                </a:solidFill>
                <a:latin typeface="Arial"/>
                <a:ea typeface="Arial"/>
                <a:cs typeface="Arial"/>
              </a:defRPr>
            </a:lvl7pPr>
            <a:lvl8pPr>
              <a:defRPr sz="1575" b="0">
                <a:solidFill>
                  <a:srgbClr val="142633"/>
                </a:solidFill>
                <a:latin typeface="Arial"/>
                <a:ea typeface="Arial"/>
                <a:cs typeface="Arial"/>
              </a:defRPr>
            </a:lvl8pPr>
            <a:lvl9pPr>
              <a:defRPr sz="1575" b="0">
                <a:solidFill>
                  <a:srgbClr val="142633"/>
                </a:solidFill>
                <a:latin typeface="Arial"/>
                <a:ea typeface="Arial"/>
                <a:cs typeface="Arial"/>
              </a:defRPr>
            </a:lvl9pPr>
          </a:lstStyle>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431: fewer than 3 reliable ellipses in the selected bar or disc interval.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138: fewer than 10 reliable ellipses overall.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 centre outside a detected galaxy.</a:t>
            </a:r>
          </a:p>
        </p:txBody>
      </p:sp>
      <p:sp>
        <p:nvSpPr>
          <p:cNvPr id="9" name="">
            <a:extLst xmlns:a="http://schemas.openxmlformats.org/drawingml/2006/main">
              <a:ext uri="{FF2B5EF4-FFF2-40B4-BE49-F238E27FC236}">
                <a16:creationId xmlns:a16="http://schemas.microsoft.com/office/drawing/2014/main" id="{6FC0DFAF-39BC-4559-B2E4-7D7CCB6338F6}"/>
              </a:ext>
            </a:extLst>
          </p:cNvPr>
          <p:cNvSpPr>
            <a:spLocks xmlns:a="http://schemas.openxmlformats.org/drawingml/2006/main" noGrp="1"/>
          </p:cNvSpPr>
          <p:nvPr/>
        </p:nvSpPr>
        <p:spPr>
          <a:xfrm xmlns:a="http://schemas.openxmlformats.org/drawingml/2006/main">
            <a:off x="609600" y="61912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673"/>
                </a:solidFill>
                <a:latin typeface="Arial"/>
                <a:ea typeface="Arial"/>
                <a:cs typeface="Arial"/>
              </a:defRPr>
            </a:defPPr>
            <a:lvl1pPr>
              <a:defRPr sz="1575" b="0">
                <a:solidFill>
                  <a:srgbClr val="526673"/>
                </a:solidFill>
                <a:latin typeface="Arial"/>
                <a:ea typeface="Arial"/>
                <a:cs typeface="Arial"/>
              </a:defRPr>
            </a:lvl1pPr>
            <a:lvl2pPr>
              <a:defRPr sz="1575" b="0">
                <a:solidFill>
                  <a:srgbClr val="526673"/>
                </a:solidFill>
                <a:latin typeface="Arial"/>
                <a:ea typeface="Arial"/>
                <a:cs typeface="Arial"/>
              </a:defRPr>
            </a:lvl2pPr>
            <a:lvl3pPr>
              <a:defRPr sz="1575" b="0">
                <a:solidFill>
                  <a:srgbClr val="526673"/>
                </a:solidFill>
                <a:latin typeface="Arial"/>
                <a:ea typeface="Arial"/>
                <a:cs typeface="Arial"/>
              </a:defRPr>
            </a:lvl3pPr>
            <a:lvl4pPr>
              <a:defRPr sz="1575" b="0">
                <a:solidFill>
                  <a:srgbClr val="526673"/>
                </a:solidFill>
                <a:latin typeface="Arial"/>
                <a:ea typeface="Arial"/>
                <a:cs typeface="Arial"/>
              </a:defRPr>
            </a:lvl4pPr>
            <a:lvl5pPr>
              <a:defRPr sz="1575" b="0">
                <a:solidFill>
                  <a:srgbClr val="526673"/>
                </a:solidFill>
                <a:latin typeface="Arial"/>
                <a:ea typeface="Arial"/>
                <a:cs typeface="Arial"/>
              </a:defRPr>
            </a:lvl5pPr>
            <a:lvl6pPr>
              <a:defRPr sz="1575" b="0">
                <a:solidFill>
                  <a:srgbClr val="526673"/>
                </a:solidFill>
                <a:latin typeface="Arial"/>
                <a:ea typeface="Arial"/>
                <a:cs typeface="Arial"/>
              </a:defRPr>
            </a:lvl6pPr>
            <a:lvl7pPr>
              <a:defRPr sz="1575" b="0">
                <a:solidFill>
                  <a:srgbClr val="526673"/>
                </a:solidFill>
                <a:latin typeface="Arial"/>
                <a:ea typeface="Arial"/>
                <a:cs typeface="Arial"/>
              </a:defRPr>
            </a:lvl7pPr>
            <a:lvl8pPr>
              <a:defRPr sz="1575" b="0">
                <a:solidFill>
                  <a:srgbClr val="526673"/>
                </a:solidFill>
                <a:latin typeface="Arial"/>
                <a:ea typeface="Arial"/>
                <a:cs typeface="Arial"/>
              </a:defRPr>
            </a:lvl8pPr>
            <a:lvl9pPr>
              <a:defRPr sz="1575" b="0">
                <a:solidFill>
                  <a:srgbClr val="526673"/>
                </a:solidFill>
                <a:latin typeface="Arial"/>
                <a:ea typeface="Arial"/>
                <a:cs typeface="Arial"/>
              </a:defRPr>
            </a:lvl9pPr>
          </a:lstStyle>
          <a:p xmlns:a="http://schemas.openxmlformats.org/drawingml/2006/main">
            <a:pPr>
              <a:defRPr sz="1575" b="0">
                <a:solidFill>
                  <a:srgbClr val="526673"/>
                </a:solidFill>
                <a:latin typeface="Arial"/>
                <a:ea typeface="Arial"/>
                <a:cs typeface="Arial"/>
              </a:defRPr>
            </a:pPr>
            <a:r>
              <a:rPr sz="1575" b="0">
                <a:solidFill>
                  <a:srgbClr val="526673"/>
                </a:solidFill>
                <a:latin typeface="Arial"/>
                <a:ea typeface="Arial"/>
                <a:cs typeface="Arial"/>
              </a:rPr>
              <a:t>Failure categories are mutually exclusive: 431 + 138 + 1 = 570.</a:t>
            </a:r>
          </a:p>
        </p:txBody>
      </p:sp>
    </p:spTree>
    <p:extLst>
      <p:ext uri="{BB962C8B-B14F-4D97-AF65-F5344CB8AC3E}">
        <p14:creationId xmlns:p14="http://schemas.microsoft.com/office/powerpoint/2010/main" val="12814805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2FBBE0-84E6-48F6-A3AE-5284261424C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ACE44C82-BC5A-4E62-BC94-62271DB73F43}"/>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13</a:t>
            </a:r>
          </a:p>
        </p:txBody>
      </p:sp>
      <p:sp>
        <p:nvSpPr>
          <p:cNvPr id="3" name="">
            <a:extLst xmlns:a="http://schemas.openxmlformats.org/drawingml/2006/main">
              <a:ext uri="{FF2B5EF4-FFF2-40B4-BE49-F238E27FC236}">
                <a16:creationId xmlns:a16="http://schemas.microsoft.com/office/drawing/2014/main" id="{5F069F54-1E1B-4DF3-9A54-F032EF443999}"/>
              </a:ext>
            </a:extLst>
          </p:cNvPr>
          <p:cNvSpPr>
            <a:spLocks xmlns:a="http://schemas.openxmlformats.org/drawingml/2006/main" noGrp="1"/>
          </p:cNvSpPr>
          <p:nvPr/>
        </p:nvSpPr>
        <p:spPr>
          <a:xfrm xmlns:a="http://schemas.openxmlformats.org/drawingml/2006/main">
            <a:off x="609600" y="13335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Adopted rule: adjusted Euclid sky PA = (WCS-converted PA + 90°) mod 180°</a:t>
            </a:r>
          </a:p>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Possible explanation: catalogue angle from detection-image y rather than documented x (unconfirmed).</a:t>
            </a:r>
          </a:p>
        </p:txBody>
      </p:sp>
      <p:graphicFrame>
        <p:nvGraphicFramePr>
          <p:cNvPr id="4" name="">
            <a:extLst xmlns:a="http://schemas.openxmlformats.org/drawingml/2006/main">
              <a:ext uri="{FF2B5EF4-FFF2-40B4-BE49-F238E27FC236}">
                <a16:creationId xmlns:a16="http://schemas.microsoft.com/office/drawing/2014/main" id="{C56F81E8-6F1E-42A5-8A58-790E80863641}"/>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EDB36BA-A975-4CB5-BE3E-914511D960A3}"/>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4CA04753-DDC1-4309-ADAD-33AC99E4F4C8}"/>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156006537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974062-A73A-407C-AD22-E2354593770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3C4EB1D7-7C62-4AD5-87ED-04DE75E00BB9}"/>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13</a:t>
            </a:r>
          </a:p>
        </p:txBody>
      </p:sp>
      <p:pic>
        <p:nvPicPr>
          <p:cNvPr id="3" name="">
            <a:extLst xmlns:a="http://schemas.openxmlformats.org/drawingml/2006/main">
              <a:ext uri="{FF2B5EF4-FFF2-40B4-BE49-F238E27FC236}">
                <a16:creationId xmlns:a16="http://schemas.microsoft.com/office/drawing/2014/main" id="{BE1810D9-8519-4193-9A79-967F16DB510F}"/>
              </a:ext>
            </a:extLst>
          </p:cNvPr>
          <p:cNvPicPr>
            <a:picLocks xmlns:a="http://schemas.openxmlformats.org/drawingml/2006/main" noChangeAspect="1"/>
          </p:cNvPicPr>
          <p:nvPr/>
        </p:nvPicPr>
        <p:blipFill>
          <a:blip xmlns:r="http://schemas.openxmlformats.org/officeDocument/2006/relationships" xmlns:a="http://schemas.openxmlformats.org/drawingml/2006/main" r:embed="R76d9f735b17e47df"/>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6B9D504-12C5-4D43-BBD2-FA07E89D8649}"/>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113CFEC0-2BD4-4CBB-8390-1E728DC71B67}"/>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B0AA2B46-D9B7-42D4-ACAC-E9516DA921A9}"/>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81AE09BE-D4F0-483F-9767-3B9EB4625016}"/>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CA06BBA6-6B0A-4D21-AAA1-4B8C4BF56946}"/>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9243561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D98103-A664-4BAD-BF87-C88D39EF8A8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885E215D-D226-4627-B8F2-2614E733D4A4}"/>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13</a:t>
            </a:r>
          </a:p>
        </p:txBody>
      </p:sp>
      <p:graphicFrame>
        <p:nvGraphicFramePr>
          <p:cNvPr id="3" name="">
            <a:extLst xmlns:a="http://schemas.openxmlformats.org/drawingml/2006/main">
              <a:ext uri="{FF2B5EF4-FFF2-40B4-BE49-F238E27FC236}">
                <a16:creationId xmlns:a16="http://schemas.microsoft.com/office/drawing/2014/main" id="{8ECC12E3-2B58-41CB-B305-D862C67BD687}"/>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B36CD20-C650-4E4B-B195-5FFB9069B211}"/>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A89EFF70-4C49-4493-915B-703701C4F53C}"/>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3A37DA2A-3CD7-486E-A0DF-87D473F4AF2B}"/>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4339417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A529C1-332E-42D6-91DC-FED36D48F28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Small bar interval</a:t>
            </a:r>
          </a:p>
        </p:txBody>
      </p:sp>
      <p:sp>
        <p:nvSpPr>
          <p:cNvPr id="2" name="">
            <a:extLst xmlns:a="http://schemas.openxmlformats.org/drawingml/2006/main">
              <a:ext uri="{FF2B5EF4-FFF2-40B4-BE49-F238E27FC236}">
                <a16:creationId xmlns:a16="http://schemas.microsoft.com/office/drawing/2014/main" id="{DC5AC6E2-D849-44E9-B789-5E7CEFF8C7A6}"/>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7 / 13</a:t>
            </a:r>
          </a:p>
        </p:txBody>
      </p:sp>
      <p:sp>
        <p:nvSpPr>
          <p:cNvPr id="3" name="">
            <a:extLst xmlns:a="http://schemas.openxmlformats.org/drawingml/2006/main">
              <a:ext uri="{FF2B5EF4-FFF2-40B4-BE49-F238E27FC236}">
                <a16:creationId xmlns:a16="http://schemas.microsoft.com/office/drawing/2014/main" id="{D7964E29-3B45-4109-A418-67132E8E258D}"/>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103D9A9D-BB22-4A94-B4C6-D7D059652B84}"/>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-520196615291310590</a:t>
            </a:r>
          </a:p>
        </p:txBody>
      </p:sp>
      <p:pic>
        <p:nvPicPr>
          <p:cNvPr id="5" name="">
            <a:extLst xmlns:a="http://schemas.openxmlformats.org/drawingml/2006/main">
              <a:ext uri="{FF2B5EF4-FFF2-40B4-BE49-F238E27FC236}">
                <a16:creationId xmlns:a16="http://schemas.microsoft.com/office/drawing/2014/main" id="{AC5DB843-5B52-4835-8310-A1B64D565EDF}"/>
              </a:ext>
            </a:extLst>
          </p:cNvPr>
          <p:cNvPicPr>
            <a:picLocks xmlns:a="http://schemas.openxmlformats.org/drawingml/2006/main" noChangeAspect="1"/>
          </p:cNvPicPr>
          <p:nvPr/>
        </p:nvPicPr>
        <p:blipFill>
          <a:blip xmlns:r="http://schemas.openxmlformats.org/officeDocument/2006/relationships" xmlns:a="http://schemas.openxmlformats.org/drawingml/2006/main" r:embed="R7accee212aed48c5"/>
          <a:stretch xmlns:a="http://schemas.openxmlformats.org/drawingml/2006/main"/>
        </p:blipFill>
        <p:spPr>
          <a:xfrm xmlns:a="http://schemas.openxmlformats.org/drawingml/2006/main">
            <a:off x="609600" y="2255420"/>
            <a:ext cx="5334000" cy="244241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9D7083E-33E9-4A4F-93C3-C7531E94A18B}"/>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interval upper bound: 1.15 arcsec (threshold &lt;1.5).</a:t>
            </a:r>
          </a:p>
        </p:txBody>
      </p:sp>
      <p:sp>
        <p:nvSpPr>
          <p:cNvPr id="7" name="">
            <a:extLst xmlns:a="http://schemas.openxmlformats.org/drawingml/2006/main">
              <a:ext uri="{FF2B5EF4-FFF2-40B4-BE49-F238E27FC236}">
                <a16:creationId xmlns:a16="http://schemas.microsoft.com/office/drawing/2014/main" id="{78843286-EE53-4D29-B1C3-8274D01FFFA9}"/>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-519465826287599179</a:t>
            </a:r>
          </a:p>
        </p:txBody>
      </p:sp>
      <p:pic>
        <p:nvPicPr>
          <p:cNvPr id="8" name="">
            <a:extLst xmlns:a="http://schemas.openxmlformats.org/drawingml/2006/main">
              <a:ext uri="{FF2B5EF4-FFF2-40B4-BE49-F238E27FC236}">
                <a16:creationId xmlns:a16="http://schemas.microsoft.com/office/drawing/2014/main" id="{B2B5284C-CB1B-45FE-B777-924C7A9F60B7}"/>
              </a:ext>
            </a:extLst>
          </p:cNvPr>
          <p:cNvPicPr>
            <a:picLocks xmlns:a="http://schemas.openxmlformats.org/drawingml/2006/main" noChangeAspect="1"/>
          </p:cNvPicPr>
          <p:nvPr/>
        </p:nvPicPr>
        <p:blipFill>
          <a:blip xmlns:r="http://schemas.openxmlformats.org/officeDocument/2006/relationships" xmlns:a="http://schemas.openxmlformats.org/drawingml/2006/main" r:embed="Read3be8937c84359"/>
          <a:stretch xmlns:a="http://schemas.openxmlformats.org/drawingml/2006/main"/>
        </p:blipFill>
        <p:spPr>
          <a:xfrm xmlns:a="http://schemas.openxmlformats.org/drawingml/2006/main">
            <a:off x="6172200" y="2255420"/>
            <a:ext cx="5334000" cy="244241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C7BC468-214F-4F51-8016-BE344C7E4E64}"/>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interval upper bound: 1.48 arcsec (threshold &lt;1.5).</a:t>
            </a:r>
          </a:p>
        </p:txBody>
      </p:sp>
      <p:sp>
        <p:nvSpPr>
          <p:cNvPr id="10" name="">
            <a:extLst xmlns:a="http://schemas.openxmlformats.org/drawingml/2006/main">
              <a:ext uri="{FF2B5EF4-FFF2-40B4-BE49-F238E27FC236}">
                <a16:creationId xmlns:a16="http://schemas.microsoft.com/office/drawing/2014/main" id="{7154B1AF-4FA9-4986-8FB4-F6462747BADA}"/>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selected bar interval ends below 1.5 arcsec. This warns about resolution and range selection, not a measured physical bar length.</a:t>
            </a:r>
          </a:p>
        </p:txBody>
      </p:sp>
    </p:spTree>
    <p:extLst>
      <p:ext uri="{BB962C8B-B14F-4D97-AF65-F5344CB8AC3E}">
        <p14:creationId xmlns:p14="http://schemas.microsoft.com/office/powerpoint/2010/main" val="18054137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04318D2-6A32-434B-B522-2D51AF35CAF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Unstable disc PA</a:t>
            </a:r>
          </a:p>
        </p:txBody>
      </p:sp>
      <p:sp>
        <p:nvSpPr>
          <p:cNvPr id="2" name="">
            <a:extLst xmlns:a="http://schemas.openxmlformats.org/drawingml/2006/main">
              <a:ext uri="{FF2B5EF4-FFF2-40B4-BE49-F238E27FC236}">
                <a16:creationId xmlns:a16="http://schemas.microsoft.com/office/drawing/2014/main" id="{4FCE5B1E-C6B0-4734-A8CF-6EC3F6AFDF81}"/>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8 / 13</a:t>
            </a:r>
          </a:p>
        </p:txBody>
      </p:sp>
      <p:sp>
        <p:nvSpPr>
          <p:cNvPr id="3" name="">
            <a:extLst xmlns:a="http://schemas.openxmlformats.org/drawingml/2006/main">
              <a:ext uri="{FF2B5EF4-FFF2-40B4-BE49-F238E27FC236}">
                <a16:creationId xmlns:a16="http://schemas.microsoft.com/office/drawing/2014/main" id="{D91E651F-9DD8-4940-AEE7-427F1BD41771}"/>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B145FE1A-80DB-4F4E-A0DE-D89B01A0C8AE}"/>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-591287408514481131</a:t>
            </a:r>
          </a:p>
        </p:txBody>
      </p:sp>
      <p:pic>
        <p:nvPicPr>
          <p:cNvPr id="5" name="">
            <a:extLst xmlns:a="http://schemas.openxmlformats.org/drawingml/2006/main">
              <a:ext uri="{FF2B5EF4-FFF2-40B4-BE49-F238E27FC236}">
                <a16:creationId xmlns:a16="http://schemas.microsoft.com/office/drawing/2014/main" id="{DEAD886A-BA44-4876-B8C4-8CF7D032719B}"/>
              </a:ext>
            </a:extLst>
          </p:cNvPr>
          <p:cNvPicPr>
            <a:picLocks xmlns:a="http://schemas.openxmlformats.org/drawingml/2006/main" noChangeAspect="1"/>
          </p:cNvPicPr>
          <p:nvPr/>
        </p:nvPicPr>
        <p:blipFill>
          <a:blip xmlns:r="http://schemas.openxmlformats.org/officeDocument/2006/relationships" xmlns:a="http://schemas.openxmlformats.org/drawingml/2006/main" r:embed="R86e244dc8bd5401a"/>
          <a:stretch xmlns:a="http://schemas.openxmlformats.org/drawingml/2006/main"/>
        </p:blipFill>
        <p:spPr>
          <a:xfrm xmlns:a="http://schemas.openxmlformats.org/drawingml/2006/main">
            <a:off x="609600" y="2255420"/>
            <a:ext cx="5334000" cy="244241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AFA9EE6-0EE3-48C3-B4DB-B4986ACADE3D}"/>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PA radial scatter: 11.2° (threshold &gt;10°).</a:t>
            </a:r>
          </a:p>
        </p:txBody>
      </p:sp>
      <p:sp>
        <p:nvSpPr>
          <p:cNvPr id="7" name="">
            <a:extLst xmlns:a="http://schemas.openxmlformats.org/drawingml/2006/main">
              <a:ext uri="{FF2B5EF4-FFF2-40B4-BE49-F238E27FC236}">
                <a16:creationId xmlns:a16="http://schemas.microsoft.com/office/drawing/2014/main" id="{1301CE50-5D91-42A9-9735-A3CD77D481B6}"/>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-591265046503894332</a:t>
            </a:r>
          </a:p>
        </p:txBody>
      </p:sp>
      <p:pic>
        <p:nvPicPr>
          <p:cNvPr id="8" name="">
            <a:extLst xmlns:a="http://schemas.openxmlformats.org/drawingml/2006/main">
              <a:ext uri="{FF2B5EF4-FFF2-40B4-BE49-F238E27FC236}">
                <a16:creationId xmlns:a16="http://schemas.microsoft.com/office/drawing/2014/main" id="{D46251BD-1F02-455B-B1FC-69709F41379B}"/>
              </a:ext>
            </a:extLst>
          </p:cNvPr>
          <p:cNvPicPr>
            <a:picLocks xmlns:a="http://schemas.openxmlformats.org/drawingml/2006/main" noChangeAspect="1"/>
          </p:cNvPicPr>
          <p:nvPr/>
        </p:nvPicPr>
        <p:blipFill>
          <a:blip xmlns:r="http://schemas.openxmlformats.org/officeDocument/2006/relationships" xmlns:a="http://schemas.openxmlformats.org/drawingml/2006/main" r:embed="R7b25017f46f34fa7"/>
          <a:stretch xmlns:a="http://schemas.openxmlformats.org/drawingml/2006/main"/>
        </p:blipFill>
        <p:spPr>
          <a:xfrm xmlns:a="http://schemas.openxmlformats.org/drawingml/2006/main">
            <a:off x="6172200" y="2255420"/>
            <a:ext cx="5334000" cy="244241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67E4A4C-D936-4544-AF60-51EF166676C7}"/>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PA radial scatter: 12.4° (threshold &gt;10°).</a:t>
            </a:r>
          </a:p>
        </p:txBody>
      </p:sp>
      <p:sp>
        <p:nvSpPr>
          <p:cNvPr id="10" name="">
            <a:extLst xmlns:a="http://schemas.openxmlformats.org/drawingml/2006/main">
              <a:ext uri="{FF2B5EF4-FFF2-40B4-BE49-F238E27FC236}">
                <a16:creationId xmlns:a16="http://schemas.microsoft.com/office/drawing/2014/main" id="{EBA880D0-0317-423F-BCDA-D0E6B49160E8}"/>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sky PA changes across the green disc interval. The outer contours do not give one stable disc direction.</a:t>
            </a:r>
          </a:p>
        </p:txBody>
      </p:sp>
    </p:spTree>
    <p:extLst>
      <p:ext uri="{BB962C8B-B14F-4D97-AF65-F5344CB8AC3E}">
        <p14:creationId xmlns:p14="http://schemas.microsoft.com/office/powerpoint/2010/main" val="8101546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AC15CAB-990B-4BC9-830E-318FE6EF065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Changing disc ellipticity</a:t>
            </a:r>
          </a:p>
        </p:txBody>
      </p:sp>
      <p:sp>
        <p:nvSpPr>
          <p:cNvPr id="2" name="">
            <a:extLst xmlns:a="http://schemas.openxmlformats.org/drawingml/2006/main">
              <a:ext uri="{FF2B5EF4-FFF2-40B4-BE49-F238E27FC236}">
                <a16:creationId xmlns:a16="http://schemas.microsoft.com/office/drawing/2014/main" id="{80884D92-B7C9-4107-9F9A-7899C9CA7A73}"/>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9 / 13</a:t>
            </a:r>
          </a:p>
        </p:txBody>
      </p:sp>
      <p:sp>
        <p:nvSpPr>
          <p:cNvPr id="3" name="">
            <a:extLst xmlns:a="http://schemas.openxmlformats.org/drawingml/2006/main">
              <a:ext uri="{FF2B5EF4-FFF2-40B4-BE49-F238E27FC236}">
                <a16:creationId xmlns:a16="http://schemas.microsoft.com/office/drawing/2014/main" id="{1748E416-9ABB-4119-96FF-4EF9D6F005F0}"/>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942E8172-04BE-4A5D-8F15-B7B558B3A88B}"/>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-548398753282885623</a:t>
            </a:r>
          </a:p>
        </p:txBody>
      </p:sp>
      <p:pic>
        <p:nvPicPr>
          <p:cNvPr id="5" name="">
            <a:extLst xmlns:a="http://schemas.openxmlformats.org/drawingml/2006/main">
              <a:ext uri="{FF2B5EF4-FFF2-40B4-BE49-F238E27FC236}">
                <a16:creationId xmlns:a16="http://schemas.microsoft.com/office/drawing/2014/main" id="{F4F3A51C-E022-4B48-8426-7FA8A32B7AAB}"/>
              </a:ext>
            </a:extLst>
          </p:cNvPr>
          <p:cNvPicPr>
            <a:picLocks xmlns:a="http://schemas.openxmlformats.org/drawingml/2006/main" noChangeAspect="1"/>
          </p:cNvPicPr>
          <p:nvPr/>
        </p:nvPicPr>
        <p:blipFill>
          <a:blip xmlns:r="http://schemas.openxmlformats.org/officeDocument/2006/relationships" xmlns:a="http://schemas.openxmlformats.org/drawingml/2006/main" r:embed="R5782069ccf28417c"/>
          <a:stretch xmlns:a="http://schemas.openxmlformats.org/drawingml/2006/main"/>
        </p:blipFill>
        <p:spPr>
          <a:xfrm xmlns:a="http://schemas.openxmlformats.org/drawingml/2006/main">
            <a:off x="609600" y="2255420"/>
            <a:ext cx="5334000" cy="244241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E3C4F0C-01A0-4BD6-BC5F-5F360692CAD4}"/>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ellipticity span: 0.168 (threshold &gt;0.15).</a:t>
            </a:r>
          </a:p>
        </p:txBody>
      </p:sp>
      <p:sp>
        <p:nvSpPr>
          <p:cNvPr id="7" name="">
            <a:extLst xmlns:a="http://schemas.openxmlformats.org/drawingml/2006/main">
              <a:ext uri="{FF2B5EF4-FFF2-40B4-BE49-F238E27FC236}">
                <a16:creationId xmlns:a16="http://schemas.microsoft.com/office/drawing/2014/main" id="{716135CF-969C-4B75-B573-B3AA55C84CD7}"/>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2694485455649440299</a:t>
            </a:r>
          </a:p>
        </p:txBody>
      </p:sp>
      <p:pic>
        <p:nvPicPr>
          <p:cNvPr id="8" name="">
            <a:extLst xmlns:a="http://schemas.openxmlformats.org/drawingml/2006/main">
              <a:ext uri="{FF2B5EF4-FFF2-40B4-BE49-F238E27FC236}">
                <a16:creationId xmlns:a16="http://schemas.microsoft.com/office/drawing/2014/main" id="{CC4C5598-7FBC-4475-8CA6-55036360B662}"/>
              </a:ext>
            </a:extLst>
          </p:cNvPr>
          <p:cNvPicPr>
            <a:picLocks xmlns:a="http://schemas.openxmlformats.org/drawingml/2006/main" noChangeAspect="1"/>
          </p:cNvPicPr>
          <p:nvPr/>
        </p:nvPicPr>
        <p:blipFill>
          <a:blip xmlns:r="http://schemas.openxmlformats.org/officeDocument/2006/relationships" xmlns:a="http://schemas.openxmlformats.org/drawingml/2006/main" r:embed="Rf8834408ec5f4691"/>
          <a:stretch xmlns:a="http://schemas.openxmlformats.org/drawingml/2006/main"/>
        </p:blipFill>
        <p:spPr>
          <a:xfrm xmlns:a="http://schemas.openxmlformats.org/drawingml/2006/main">
            <a:off x="6172200" y="2255420"/>
            <a:ext cx="5334000" cy="244241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C45321E-7F61-4784-8E9C-F5FD270F5F0E}"/>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ellipticity span: 0.196 (threshold &gt;0.15).</a:t>
            </a:r>
          </a:p>
        </p:txBody>
      </p:sp>
      <p:sp>
        <p:nvSpPr>
          <p:cNvPr id="10" name="">
            <a:extLst xmlns:a="http://schemas.openxmlformats.org/drawingml/2006/main">
              <a:ext uri="{FF2B5EF4-FFF2-40B4-BE49-F238E27FC236}">
                <a16:creationId xmlns:a16="http://schemas.microsoft.com/office/drawing/2014/main" id="{4D827F13-F92C-43D8-9F7B-ECF6D3AD2710}"/>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Ellipticity changes across the green disc interval. Inclination depends on which outer contours are used.</a:t>
            </a:r>
          </a:p>
        </p:txBody>
      </p:sp>
    </p:spTree>
    <p:extLst>
      <p:ext uri="{BB962C8B-B14F-4D97-AF65-F5344CB8AC3E}">
        <p14:creationId xmlns:p14="http://schemas.microsoft.com/office/powerpoint/2010/main" val="10886771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F502025-A3E1-4261-B0F4-B39B3AE58B1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Unstable bar PA</a:t>
            </a:r>
          </a:p>
        </p:txBody>
      </p:sp>
      <p:sp>
        <p:nvSpPr>
          <p:cNvPr id="2" name="">
            <a:extLst xmlns:a="http://schemas.openxmlformats.org/drawingml/2006/main">
              <a:ext uri="{FF2B5EF4-FFF2-40B4-BE49-F238E27FC236}">
                <a16:creationId xmlns:a16="http://schemas.microsoft.com/office/drawing/2014/main" id="{D9B85328-DEF1-49EA-AD6B-A231043CA6D6}"/>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10 / 13</a:t>
            </a:r>
          </a:p>
        </p:txBody>
      </p:sp>
      <p:sp>
        <p:nvSpPr>
          <p:cNvPr id="3" name="">
            <a:extLst xmlns:a="http://schemas.openxmlformats.org/drawingml/2006/main">
              <a:ext uri="{FF2B5EF4-FFF2-40B4-BE49-F238E27FC236}">
                <a16:creationId xmlns:a16="http://schemas.microsoft.com/office/drawing/2014/main" id="{2CD0C35F-1F16-4CB2-B938-EF731340D644}"/>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050DF6A0-98B7-4611-8FBF-318F69830EEC}"/>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-560500769490472523</a:t>
            </a:r>
          </a:p>
        </p:txBody>
      </p:sp>
      <p:pic>
        <p:nvPicPr>
          <p:cNvPr id="5" name="">
            <a:extLst xmlns:a="http://schemas.openxmlformats.org/drawingml/2006/main">
              <a:ext uri="{FF2B5EF4-FFF2-40B4-BE49-F238E27FC236}">
                <a16:creationId xmlns:a16="http://schemas.microsoft.com/office/drawing/2014/main" id="{632C8BF9-BFB8-4CE7-A84C-FC987C0C8CDA}"/>
              </a:ext>
            </a:extLst>
          </p:cNvPr>
          <p:cNvPicPr>
            <a:picLocks xmlns:a="http://schemas.openxmlformats.org/drawingml/2006/main" noChangeAspect="1"/>
          </p:cNvPicPr>
          <p:nvPr/>
        </p:nvPicPr>
        <p:blipFill>
          <a:blip xmlns:r="http://schemas.openxmlformats.org/officeDocument/2006/relationships" xmlns:a="http://schemas.openxmlformats.org/drawingml/2006/main" r:embed="R984460342b394496"/>
          <a:stretch xmlns:a="http://schemas.openxmlformats.org/drawingml/2006/main"/>
        </p:blipFill>
        <p:spPr>
          <a:xfrm xmlns:a="http://schemas.openxmlformats.org/drawingml/2006/main">
            <a:off x="609600" y="2255420"/>
            <a:ext cx="5334000" cy="244241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0B06F35-7EFA-419C-813F-D3619E581FC1}"/>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PA radial scatter: 10.8° (threshold &gt;10°).</a:t>
            </a:r>
          </a:p>
        </p:txBody>
      </p:sp>
      <p:sp>
        <p:nvSpPr>
          <p:cNvPr id="7" name="">
            <a:extLst xmlns:a="http://schemas.openxmlformats.org/drawingml/2006/main">
              <a:ext uri="{FF2B5EF4-FFF2-40B4-BE49-F238E27FC236}">
                <a16:creationId xmlns:a16="http://schemas.microsoft.com/office/drawing/2014/main" id="{A3817200-AE08-42CF-B9F1-389EC4DE8BA5}"/>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-630490045487791289</a:t>
            </a:r>
          </a:p>
        </p:txBody>
      </p:sp>
      <p:pic>
        <p:nvPicPr>
          <p:cNvPr id="8" name="">
            <a:extLst xmlns:a="http://schemas.openxmlformats.org/drawingml/2006/main">
              <a:ext uri="{FF2B5EF4-FFF2-40B4-BE49-F238E27FC236}">
                <a16:creationId xmlns:a16="http://schemas.microsoft.com/office/drawing/2014/main" id="{95227FD9-633E-4326-BCE5-02EA40DD5A71}"/>
              </a:ext>
            </a:extLst>
          </p:cNvPr>
          <p:cNvPicPr>
            <a:picLocks xmlns:a="http://schemas.openxmlformats.org/drawingml/2006/main" noChangeAspect="1"/>
          </p:cNvPicPr>
          <p:nvPr/>
        </p:nvPicPr>
        <p:blipFill>
          <a:blip xmlns:r="http://schemas.openxmlformats.org/officeDocument/2006/relationships" xmlns:a="http://schemas.openxmlformats.org/drawingml/2006/main" r:embed="R5ac64125889049f1"/>
          <a:stretch xmlns:a="http://schemas.openxmlformats.org/drawingml/2006/main"/>
        </p:blipFill>
        <p:spPr>
          <a:xfrm xmlns:a="http://schemas.openxmlformats.org/drawingml/2006/main">
            <a:off x="6172200" y="2255420"/>
            <a:ext cx="5334000" cy="244241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1AF9C55-D597-4274-B6EA-6196CFE1407F}"/>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PA radial scatter: 11.6° (threshold &gt;10°).</a:t>
            </a:r>
          </a:p>
        </p:txBody>
      </p:sp>
      <p:sp>
        <p:nvSpPr>
          <p:cNvPr id="10" name="">
            <a:extLst xmlns:a="http://schemas.openxmlformats.org/drawingml/2006/main">
              <a:ext uri="{FF2B5EF4-FFF2-40B4-BE49-F238E27FC236}">
                <a16:creationId xmlns:a16="http://schemas.microsoft.com/office/drawing/2014/main" id="{152A079F-460F-4202-B348-EE1CD1066F88}"/>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PA changes across the orange bar interval. A single adopted bar direction is uncertain.</a:t>
            </a:r>
          </a:p>
        </p:txBody>
      </p:sp>
    </p:spTree>
    <p:extLst>
      <p:ext uri="{BB962C8B-B14F-4D97-AF65-F5344CB8AC3E}">
        <p14:creationId xmlns:p14="http://schemas.microsoft.com/office/powerpoint/2010/main" val="9053049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A9B3BE8-9B1C-40B9-9CD8-52BAA7D5550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Weak ellipse bar signature</a:t>
            </a:r>
          </a:p>
        </p:txBody>
      </p:sp>
      <p:sp>
        <p:nvSpPr>
          <p:cNvPr id="2" name="">
            <a:extLst xmlns:a="http://schemas.openxmlformats.org/drawingml/2006/main">
              <a:ext uri="{FF2B5EF4-FFF2-40B4-BE49-F238E27FC236}">
                <a16:creationId xmlns:a16="http://schemas.microsoft.com/office/drawing/2014/main" id="{2FD995A4-E697-4848-BB8F-9EE251FB2679}"/>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11 / 13</a:t>
            </a:r>
          </a:p>
        </p:txBody>
      </p:sp>
      <p:sp>
        <p:nvSpPr>
          <p:cNvPr id="3" name="">
            <a:extLst xmlns:a="http://schemas.openxmlformats.org/drawingml/2006/main">
              <a:ext uri="{FF2B5EF4-FFF2-40B4-BE49-F238E27FC236}">
                <a16:creationId xmlns:a16="http://schemas.microsoft.com/office/drawing/2014/main" id="{7AE44541-594D-473A-A76E-C909493C839B}"/>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29DC762D-6A73-4DD5-9343-063ED96BFEFE}"/>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2654979879662853093</a:t>
            </a:r>
          </a:p>
        </p:txBody>
      </p:sp>
      <p:pic>
        <p:nvPicPr>
          <p:cNvPr id="5" name="">
            <a:extLst xmlns:a="http://schemas.openxmlformats.org/drawingml/2006/main">
              <a:ext uri="{FF2B5EF4-FFF2-40B4-BE49-F238E27FC236}">
                <a16:creationId xmlns:a16="http://schemas.microsoft.com/office/drawing/2014/main" id="{61607024-ED9A-4DEB-B2B9-AAA8CE15D0A3}"/>
              </a:ext>
            </a:extLst>
          </p:cNvPr>
          <p:cNvPicPr>
            <a:picLocks xmlns:a="http://schemas.openxmlformats.org/drawingml/2006/main" noChangeAspect="1"/>
          </p:cNvPicPr>
          <p:nvPr/>
        </p:nvPicPr>
        <p:blipFill>
          <a:blip xmlns:r="http://schemas.openxmlformats.org/officeDocument/2006/relationships" xmlns:a="http://schemas.openxmlformats.org/drawingml/2006/main" r:embed="Rb8fc6f28bb044b7b"/>
          <a:stretch xmlns:a="http://schemas.openxmlformats.org/drawingml/2006/main"/>
        </p:blipFill>
        <p:spPr>
          <a:xfrm xmlns:a="http://schemas.openxmlformats.org/drawingml/2006/main">
            <a:off x="609600" y="2255420"/>
            <a:ext cx="5334000" cy="244241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5125E5F-F4A9-407D-91C5-223C7E5587F2}"/>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Median bar ellipticity: 0.180 (threshold &lt;0.25).</a:t>
            </a:r>
          </a:p>
        </p:txBody>
      </p:sp>
      <p:sp>
        <p:nvSpPr>
          <p:cNvPr id="7" name="">
            <a:extLst xmlns:a="http://schemas.openxmlformats.org/drawingml/2006/main">
              <a:ext uri="{FF2B5EF4-FFF2-40B4-BE49-F238E27FC236}">
                <a16:creationId xmlns:a16="http://schemas.microsoft.com/office/drawing/2014/main" id="{716E1F64-277C-40DC-9B87-90C6F105D584}"/>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2719973573665957979</a:t>
            </a:r>
          </a:p>
        </p:txBody>
      </p:sp>
      <p:pic>
        <p:nvPicPr>
          <p:cNvPr id="8" name="">
            <a:extLst xmlns:a="http://schemas.openxmlformats.org/drawingml/2006/main">
              <a:ext uri="{FF2B5EF4-FFF2-40B4-BE49-F238E27FC236}">
                <a16:creationId xmlns:a16="http://schemas.microsoft.com/office/drawing/2014/main" id="{0015EC33-382B-4032-83A7-F239A38D9C7D}"/>
              </a:ext>
            </a:extLst>
          </p:cNvPr>
          <p:cNvPicPr>
            <a:picLocks xmlns:a="http://schemas.openxmlformats.org/drawingml/2006/main" noChangeAspect="1"/>
          </p:cNvPicPr>
          <p:nvPr/>
        </p:nvPicPr>
        <p:blipFill>
          <a:blip xmlns:r="http://schemas.openxmlformats.org/officeDocument/2006/relationships" xmlns:a="http://schemas.openxmlformats.org/drawingml/2006/main" r:embed="R5b4ee453a2ce4b08"/>
          <a:stretch xmlns:a="http://schemas.openxmlformats.org/drawingml/2006/main"/>
        </p:blipFill>
        <p:spPr>
          <a:xfrm xmlns:a="http://schemas.openxmlformats.org/drawingml/2006/main">
            <a:off x="6172200" y="2255420"/>
            <a:ext cx="5334000" cy="244241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A3F1EE7-6C0F-4C90-9E78-8E757A462444}"/>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Median bar ellipticity: 0.222 (threshold &lt;0.25).</a:t>
            </a:r>
          </a:p>
        </p:txBody>
      </p:sp>
      <p:sp>
        <p:nvSpPr>
          <p:cNvPr id="10" name="">
            <a:extLst xmlns:a="http://schemas.openxmlformats.org/drawingml/2006/main">
              <a:ext uri="{FF2B5EF4-FFF2-40B4-BE49-F238E27FC236}">
                <a16:creationId xmlns:a16="http://schemas.microsoft.com/office/drawing/2014/main" id="{F8A068E4-0EAA-4ED5-B299-C60970119D8C}"/>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Ellipses in the orange interval are relatively round. This weakens the ellipse-based bar signature, rather than proving there is no bar.</a:t>
            </a:r>
          </a:p>
        </p:txBody>
      </p:sp>
    </p:spTree>
    <p:extLst>
      <p:ext uri="{BB962C8B-B14F-4D97-AF65-F5344CB8AC3E}">
        <p14:creationId xmlns:p14="http://schemas.microsoft.com/office/powerpoint/2010/main" val="141938336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E7A9354-3F95-411D-A07B-F614DCDF87D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Failed fit: selected interval</a:t>
            </a:r>
          </a:p>
        </p:txBody>
      </p:sp>
      <p:sp>
        <p:nvSpPr>
          <p:cNvPr id="2" name="">
            <a:extLst xmlns:a="http://schemas.openxmlformats.org/drawingml/2006/main">
              <a:ext uri="{FF2B5EF4-FFF2-40B4-BE49-F238E27FC236}">
                <a16:creationId xmlns:a16="http://schemas.microsoft.com/office/drawing/2014/main" id="{7BFF9308-7032-4FEB-9978-801072F44908}"/>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12 / 13</a:t>
            </a:r>
          </a:p>
        </p:txBody>
      </p:sp>
      <p:sp>
        <p:nvSpPr>
          <p:cNvPr id="3" name="">
            <a:extLst xmlns:a="http://schemas.openxmlformats.org/drawingml/2006/main">
              <a:ext uri="{FF2B5EF4-FFF2-40B4-BE49-F238E27FC236}">
                <a16:creationId xmlns:a16="http://schemas.microsoft.com/office/drawing/2014/main" id="{AB676842-6C37-4692-8178-462F4F688226}"/>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Two examples of this recorded failure type; neither cutout is partial.</a:t>
            </a:r>
          </a:p>
        </p:txBody>
      </p:sp>
      <p:sp>
        <p:nvSpPr>
          <p:cNvPr id="4" name="">
            <a:extLst xmlns:a="http://schemas.openxmlformats.org/drawingml/2006/main">
              <a:ext uri="{FF2B5EF4-FFF2-40B4-BE49-F238E27FC236}">
                <a16:creationId xmlns:a16="http://schemas.microsoft.com/office/drawing/2014/main" id="{FD92FF40-244C-4B20-BCD8-C15C2B632DA4}"/>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-519246610291156594</a:t>
            </a:r>
          </a:p>
        </p:txBody>
      </p:sp>
      <p:pic>
        <p:nvPicPr>
          <p:cNvPr id="5" name="">
            <a:extLst xmlns:a="http://schemas.openxmlformats.org/drawingml/2006/main">
              <a:ext uri="{FF2B5EF4-FFF2-40B4-BE49-F238E27FC236}">
                <a16:creationId xmlns:a16="http://schemas.microsoft.com/office/drawing/2014/main" id="{2DE01FF9-A6ED-4F5F-AF4B-2527CE856E20}"/>
              </a:ext>
            </a:extLst>
          </p:cNvPr>
          <p:cNvPicPr>
            <a:picLocks xmlns:a="http://schemas.openxmlformats.org/drawingml/2006/main" noChangeAspect="1"/>
          </p:cNvPicPr>
          <p:nvPr/>
        </p:nvPicPr>
        <p:blipFill>
          <a:blip xmlns:r="http://schemas.openxmlformats.org/officeDocument/2006/relationships" xmlns:a="http://schemas.openxmlformats.org/drawingml/2006/main" r:embed="Rad5b4a12240a47ae"/>
          <a:stretch xmlns:a="http://schemas.openxmlformats.org/drawingml/2006/main"/>
        </p:blipFill>
        <p:spPr>
          <a:xfrm xmlns:a="http://schemas.openxmlformats.org/drawingml/2006/main">
            <a:off x="609600" y="2255420"/>
            <a:ext cx="5334000" cy="244241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A4313F7-A47C-4DC3-9667-D8FED086049C}"/>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Insufficient bar/disc isophotes in selected radial ranges. Reliable ellipses overall: 20.</a:t>
            </a:r>
          </a:p>
        </p:txBody>
      </p:sp>
      <p:sp>
        <p:nvSpPr>
          <p:cNvPr id="7" name="">
            <a:extLst xmlns:a="http://schemas.openxmlformats.org/drawingml/2006/main">
              <a:ext uri="{FF2B5EF4-FFF2-40B4-BE49-F238E27FC236}">
                <a16:creationId xmlns:a16="http://schemas.microsoft.com/office/drawing/2014/main" id="{D9D21CAC-A8F2-4CDB-BA63-54A7AA055EB5}"/>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-517222724292083077</a:t>
            </a:r>
          </a:p>
        </p:txBody>
      </p:sp>
      <p:pic>
        <p:nvPicPr>
          <p:cNvPr id="8" name="">
            <a:extLst xmlns:a="http://schemas.openxmlformats.org/drawingml/2006/main">
              <a:ext uri="{FF2B5EF4-FFF2-40B4-BE49-F238E27FC236}">
                <a16:creationId xmlns:a16="http://schemas.microsoft.com/office/drawing/2014/main" id="{0A642EF4-D83B-40EF-B3AC-7D97D41A9499}"/>
              </a:ext>
            </a:extLst>
          </p:cNvPr>
          <p:cNvPicPr>
            <a:picLocks xmlns:a="http://schemas.openxmlformats.org/drawingml/2006/main" noChangeAspect="1"/>
          </p:cNvPicPr>
          <p:nvPr/>
        </p:nvPicPr>
        <p:blipFill>
          <a:blip xmlns:r="http://schemas.openxmlformats.org/officeDocument/2006/relationships" xmlns:a="http://schemas.openxmlformats.org/drawingml/2006/main" r:embed="R496211f32fc7403d"/>
          <a:stretch xmlns:a="http://schemas.openxmlformats.org/drawingml/2006/main"/>
        </p:blipFill>
        <p:spPr>
          <a:xfrm xmlns:a="http://schemas.openxmlformats.org/drawingml/2006/main">
            <a:off x="6172200" y="2255420"/>
            <a:ext cx="5334000" cy="244241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9E48735-4F35-45A5-8FE3-DCD0CFD279EF}"/>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Insufficient bar/disc isophotes in selected radial ranges. Reliable ellipses overall: 16.</a:t>
            </a:r>
          </a:p>
        </p:txBody>
      </p:sp>
      <p:sp>
        <p:nvSpPr>
          <p:cNvPr id="10" name="">
            <a:extLst xmlns:a="http://schemas.openxmlformats.org/drawingml/2006/main">
              <a:ext uri="{FF2B5EF4-FFF2-40B4-BE49-F238E27FC236}">
                <a16:creationId xmlns:a16="http://schemas.microsoft.com/office/drawing/2014/main" id="{BAE4E07B-4AF2-4B0D-936C-F34BA0546E88}"/>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There are at least ten reliable ellipses overall, but fewer than three in at least one selected bar/disc interval. Candidate ranges are not accepted geometry.</a:t>
            </a:r>
          </a:p>
        </p:txBody>
      </p:sp>
    </p:spTree>
    <p:extLst>
      <p:ext uri="{BB962C8B-B14F-4D97-AF65-F5344CB8AC3E}">
        <p14:creationId xmlns:p14="http://schemas.microsoft.com/office/powerpoint/2010/main" val="4940625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60C1041-07A5-436C-8A20-69EC7134DF3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Failed fit: short reliable profile</a:t>
            </a:r>
          </a:p>
        </p:txBody>
      </p:sp>
      <p:sp>
        <p:nvSpPr>
          <p:cNvPr id="2" name="">
            <a:extLst xmlns:a="http://schemas.openxmlformats.org/drawingml/2006/main">
              <a:ext uri="{FF2B5EF4-FFF2-40B4-BE49-F238E27FC236}">
                <a16:creationId xmlns:a16="http://schemas.microsoft.com/office/drawing/2014/main" id="{155C4E26-0BAF-4FAD-9C1D-1101FE18874B}"/>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13 / 13</a:t>
            </a:r>
          </a:p>
        </p:txBody>
      </p:sp>
      <p:sp>
        <p:nvSpPr>
          <p:cNvPr id="3" name="">
            <a:extLst xmlns:a="http://schemas.openxmlformats.org/drawingml/2006/main">
              <a:ext uri="{FF2B5EF4-FFF2-40B4-BE49-F238E27FC236}">
                <a16:creationId xmlns:a16="http://schemas.microsoft.com/office/drawing/2014/main" id="{8ECB2EFD-382B-4D4E-9167-6128E386D7DC}"/>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Two examples of this recorded failure type; neither cutout is partial.</a:t>
            </a:r>
          </a:p>
        </p:txBody>
      </p:sp>
      <p:sp>
        <p:nvSpPr>
          <p:cNvPr id="4" name="">
            <a:extLst xmlns:a="http://schemas.openxmlformats.org/drawingml/2006/main">
              <a:ext uri="{FF2B5EF4-FFF2-40B4-BE49-F238E27FC236}">
                <a16:creationId xmlns:a16="http://schemas.microsoft.com/office/drawing/2014/main" id="{E70157B7-3C34-4D1D-9D02-844874860D3D}"/>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-550147948285020121</a:t>
            </a:r>
          </a:p>
        </p:txBody>
      </p:sp>
      <p:pic>
        <p:nvPicPr>
          <p:cNvPr id="5" name="">
            <a:extLst xmlns:a="http://schemas.openxmlformats.org/drawingml/2006/main">
              <a:ext uri="{FF2B5EF4-FFF2-40B4-BE49-F238E27FC236}">
                <a16:creationId xmlns:a16="http://schemas.microsoft.com/office/drawing/2014/main" id="{572D6298-4FF1-4CD2-8DAC-77287BF0FE46}"/>
              </a:ext>
            </a:extLst>
          </p:cNvPr>
          <p:cNvPicPr>
            <a:picLocks xmlns:a="http://schemas.openxmlformats.org/drawingml/2006/main" noChangeAspect="1"/>
          </p:cNvPicPr>
          <p:nvPr/>
        </p:nvPicPr>
        <p:blipFill>
          <a:blip xmlns:r="http://schemas.openxmlformats.org/officeDocument/2006/relationships" xmlns:a="http://schemas.openxmlformats.org/drawingml/2006/main" r:embed="Re68ea05cd7a742ab"/>
          <a:stretch xmlns:a="http://schemas.openxmlformats.org/drawingml/2006/main"/>
        </p:blipFill>
        <p:spPr>
          <a:xfrm xmlns:a="http://schemas.openxmlformats.org/drawingml/2006/main">
            <a:off x="609600" y="2255420"/>
            <a:ext cx="5334000" cy="244241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DFE7643-926A-4888-B3A1-BD28B760CB8E}"/>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Only 8 reliable isophotes; inspect profile. Reliable ellipses overall: 8.</a:t>
            </a:r>
          </a:p>
        </p:txBody>
      </p:sp>
      <p:sp>
        <p:nvSpPr>
          <p:cNvPr id="7" name="">
            <a:extLst xmlns:a="http://schemas.openxmlformats.org/drawingml/2006/main">
              <a:ext uri="{FF2B5EF4-FFF2-40B4-BE49-F238E27FC236}">
                <a16:creationId xmlns:a16="http://schemas.microsoft.com/office/drawing/2014/main" id="{30AD8F92-14D7-431A-9EE0-8DDC601B5BEB}"/>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-560894756493198556</a:t>
            </a:r>
          </a:p>
        </p:txBody>
      </p:sp>
      <p:pic>
        <p:nvPicPr>
          <p:cNvPr id="8" name="">
            <a:extLst xmlns:a="http://schemas.openxmlformats.org/drawingml/2006/main">
              <a:ext uri="{FF2B5EF4-FFF2-40B4-BE49-F238E27FC236}">
                <a16:creationId xmlns:a16="http://schemas.microsoft.com/office/drawing/2014/main" id="{4384038D-4E66-4983-808B-13C3D38045A2}"/>
              </a:ext>
            </a:extLst>
          </p:cNvPr>
          <p:cNvPicPr>
            <a:picLocks xmlns:a="http://schemas.openxmlformats.org/drawingml/2006/main" noChangeAspect="1"/>
          </p:cNvPicPr>
          <p:nvPr/>
        </p:nvPicPr>
        <p:blipFill>
          <a:blip xmlns:r="http://schemas.openxmlformats.org/officeDocument/2006/relationships" xmlns:a="http://schemas.openxmlformats.org/drawingml/2006/main" r:embed="R1bb41d2b2d154b18"/>
          <a:stretch xmlns:a="http://schemas.openxmlformats.org/drawingml/2006/main"/>
        </p:blipFill>
        <p:spPr>
          <a:xfrm xmlns:a="http://schemas.openxmlformats.org/drawingml/2006/main">
            <a:off x="6172200" y="2255420"/>
            <a:ext cx="5334000" cy="244241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1F61383-EE24-4C83-9C74-65216275128E}"/>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Only 9 reliable isophotes; inspect profile. Reliable ellipses overall: 9.</a:t>
            </a:r>
          </a:p>
        </p:txBody>
      </p:sp>
      <p:sp>
        <p:nvSpPr>
          <p:cNvPr id="10" name="">
            <a:extLst xmlns:a="http://schemas.openxmlformats.org/drawingml/2006/main">
              <a:ext uri="{FF2B5EF4-FFF2-40B4-BE49-F238E27FC236}">
                <a16:creationId xmlns:a16="http://schemas.microsoft.com/office/drawing/2014/main" id="{2AB692D5-1B92-40DE-9E1D-D58AA7AB4BF0}"/>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Fewer than ten ellipses pass the reliability checks overall. The fit stops before adopting bar/disc geometry. Grey samples were rejected.</a:t>
            </a:r>
          </a:p>
        </p:txBody>
      </p:sp>
    </p:spTree>
    <p:extLst>
      <p:ext uri="{BB962C8B-B14F-4D97-AF65-F5344CB8AC3E}">
        <p14:creationId xmlns:p14="http://schemas.microsoft.com/office/powerpoint/2010/main" val="6559710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2026-10-20T13:12:20.1940000Z</dcterms:created>
  <dcterms:modified xsi:type="dcterms:W3CDTF">2026-10-20T13:12:20.1940000Z</dcterms:modified>
</coreProperties>
</file>