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7" d="100"/>
          <a:sy n="137" d="100"/>
        </p:scale>
        <p:origin x="133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D0C6A-B9C8-5F77-B377-D064291AF2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7D3D6D-C447-5B8F-1685-6004333681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8BA0F-A25B-507D-4195-06757C2A9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3628-A420-4147-A18E-E7140FF0268A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C53B3-3AC0-45C5-C2C1-EF84A4D86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8EA18-CFA1-AB6B-2435-14413FBAB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701A6-18ED-43EF-8E54-6096E226A8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7128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26D35-2757-ADF1-1A46-8D058AC94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F098F-3387-5506-3651-A07F80FF8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1FD48-C0BB-3B01-0797-B84FC20A5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3628-A420-4147-A18E-E7140FF0268A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6BB2C-4436-CA1E-FFF9-9DE680D0D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D7D0E-2743-BD03-6B0D-B7D20A113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701A6-18ED-43EF-8E54-6096E226A8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3341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3776F-3DA6-8225-AB79-3E7148D30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4D34F-A827-AA55-F944-4316706B4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09FD9-B3C2-1996-458A-F4E536836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3628-A420-4147-A18E-E7140FF0268A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EC216-C459-25A4-3144-0F1B8EE5D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E64B0-272F-FB0B-FCE3-0F343A150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701A6-18ED-43EF-8E54-6096E226A8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9377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95F0-3096-F07D-0E75-5A9D14AB4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94673-B4E7-5CB6-7157-7A6656AEBC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8CE468-9AAB-086B-3CEE-E30D9A7F4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B80CC5-7E72-1E8C-902E-16202C2CC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3628-A420-4147-A18E-E7140FF0268A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75BF8-DC3E-5FA2-8D0F-55EBBDCC5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AFFC96-1554-1286-AB44-98917C57E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701A6-18ED-43EF-8E54-6096E226A8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7781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59AA1-8FA7-F91A-2722-AC6F65EFD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99140-522B-2605-4325-9B2F55558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332778-97D0-DE35-2209-BEF49C197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675D99-9A7D-319B-CC97-05407D0D7A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A9F482-A601-FC21-4A44-F51F52D8C7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03F9A3-17E8-A3F2-D1EC-E4D296146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3628-A420-4147-A18E-E7140FF0268A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137EE3-0C21-F9D2-CB69-5EBED63E5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85CA24-DDD4-4ED9-EF46-BE25E8F31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701A6-18ED-43EF-8E54-6096E226A8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281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3685E-D2D6-2899-B215-083F9CCAB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1E0B8B-18ED-7F68-5E40-7D8F3DDE1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3628-A420-4147-A18E-E7140FF0268A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45CA2E-71D5-FC7C-B862-CD5FD93E2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131FA-A154-8B1A-3D21-2DD1C3DF1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701A6-18ED-43EF-8E54-6096E226A8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8321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EC7055-C817-A063-291D-CB21C8D77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3628-A420-4147-A18E-E7140FF0268A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D9BD86-8C04-9EBB-E38F-E4271A728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A4F3E-47CC-C3F7-2ED3-4DE115A5C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701A6-18ED-43EF-8E54-6096E226A8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009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39FB5-1DBF-F33F-E7C2-F40269C89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873E2-C84F-61A4-DE47-2031043BD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7D4F2C-85AC-EAA5-DA88-2C29B97314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3D1A4-1191-FCDA-2E6A-F712F46EB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3628-A420-4147-A18E-E7140FF0268A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58767-95C1-D484-6D0E-1C84C899D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1E551C-EBA5-D2F9-C8A8-29125B2B0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701A6-18ED-43EF-8E54-6096E226A8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3950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9A714-8991-56A6-6D52-FA1E1D35F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AF6B24-48DB-8DD4-1FC3-494FA5BC1C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CFFEE9-85C1-3A0C-B683-4DB899589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3049A-D592-F182-CE3E-ED8B740E3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3628-A420-4147-A18E-E7140FF0268A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475D2-20B8-D6AB-8B13-6AB53FA2B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EBCF1-627B-F5F9-CC27-36BB2F610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701A6-18ED-43EF-8E54-6096E226A8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008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3E0E1-2D05-AAA9-9A0E-D3A2B7596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646A2-422C-F34E-FA57-AAAAF079C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92A64-1642-0AA6-47EE-6A05E0500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3628-A420-4147-A18E-E7140FF0268A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B8410-21DC-6E8F-480B-CCDF9935E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D3E05-63DE-FE75-9331-78E3768F3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701A6-18ED-43EF-8E54-6096E226A8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6104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F3A1D0-9577-DE74-E4C1-368E98821E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7AE888-EB82-AC1C-AD1E-257DE495A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D34C4-DEB6-C185-3A7E-B23F97F33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3628-A420-4147-A18E-E7140FF0268A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169C1-7AD3-38F4-CEAD-2EA1579A9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BAEB2-0911-B0DD-CCEA-1C7B4D3C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701A6-18ED-43EF-8E54-6096E226A8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8597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D7F7F1-5051-E3FF-4619-AE0DDA367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707C9-244A-BF64-037C-9C586C256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D0B31-09A2-16CA-4363-7C0E3DDEB0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793628-A420-4147-A18E-E7140FF0268A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ABB31-5DD3-C75D-2A6E-E62348A1E9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954B9-1689-45D0-558B-652EDEA92C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B701A6-18ED-43EF-8E54-6096E226A8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175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70349A-FF56-7C25-905D-D8E4C5339E5A}"/>
              </a:ext>
            </a:extLst>
          </p:cNvPr>
          <p:cNvSpPr txBox="1"/>
          <p:nvPr/>
        </p:nvSpPr>
        <p:spPr>
          <a:xfrm>
            <a:off x="762000" y="889000"/>
            <a:ext cx="10668000" cy="312906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1700" b="1">
                <a:solidFill>
                  <a:srgbClr val="9A6A00"/>
                </a:solidFill>
                <a:latin typeface="Aptos" panose="020B0004020202020204" pitchFamily="34" charset="0"/>
              </a:rPr>
              <a:t>FOREGROUND MASKING RESEARCH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46D094-459E-4CC7-CBFE-D0A61CDFDCF3}"/>
              </a:ext>
            </a:extLst>
          </p:cNvPr>
          <p:cNvSpPr txBox="1"/>
          <p:nvPr/>
        </p:nvSpPr>
        <p:spPr>
          <a:xfrm>
            <a:off x="762000" y="1905000"/>
            <a:ext cx="10668000" cy="789960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4800" b="1">
                <a:solidFill>
                  <a:srgbClr val="0B2545"/>
                </a:solidFill>
                <a:latin typeface="Aptos" panose="020B0004020202020204" pitchFamily="34" charset="0"/>
              </a:rPr>
              <a:t>Spike Gate Phase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D7BFC-095C-C6D7-B4E3-9B1F31E02578}"/>
              </a:ext>
            </a:extLst>
          </p:cNvPr>
          <p:cNvSpPr txBox="1"/>
          <p:nvPr/>
        </p:nvSpPr>
        <p:spPr>
          <a:xfrm>
            <a:off x="1397000" y="2946400"/>
            <a:ext cx="9398000" cy="789960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sz="2400">
                <a:solidFill>
                  <a:srgbClr val="4B4B4B"/>
                </a:solidFill>
                <a:latin typeface="Aptos" panose="020B0004020202020204" pitchFamily="34" charset="0"/>
              </a:rPr>
              <a:t>Conservative foreground masking with connected-component gate support</a:t>
            </a:r>
            <a:endParaRPr lang="en-GB" sz="2400">
              <a:solidFill>
                <a:srgbClr val="4B4B4B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0F49F1-7035-B7D0-D8FE-EFACCFE592C3}"/>
              </a:ext>
            </a:extLst>
          </p:cNvPr>
          <p:cNvSpPr txBox="1"/>
          <p:nvPr/>
        </p:nvSpPr>
        <p:spPr>
          <a:xfrm>
            <a:off x="2032000" y="4318000"/>
            <a:ext cx="8128000" cy="328295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b="1">
                <a:solidFill>
                  <a:srgbClr val="2E74B5"/>
                </a:solidFill>
                <a:latin typeface="Aptos" panose="020B0004020202020204" pitchFamily="34" charset="0"/>
              </a:rPr>
              <a:t>SEP audit | MTObjects audit | 182-galaxy diagnostic run</a:t>
            </a:r>
            <a:endParaRPr lang="en-GB" b="1">
              <a:solidFill>
                <a:srgbClr val="2E74B5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A9865A-FBF6-FEA1-143E-F3381C1398AC}"/>
              </a:ext>
            </a:extLst>
          </p:cNvPr>
          <p:cNvSpPr txBox="1"/>
          <p:nvPr/>
        </p:nvSpPr>
        <p:spPr>
          <a:xfrm>
            <a:off x="4572000" y="5588000"/>
            <a:ext cx="3048000" cy="282129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1500">
                <a:solidFill>
                  <a:srgbClr val="777777"/>
                </a:solidFill>
                <a:latin typeface="Aptos" panose="020B0004020202020204" pitchFamily="34" charset="0"/>
              </a:rPr>
              <a:t>20 August 2026</a:t>
            </a:r>
          </a:p>
        </p:txBody>
      </p:sp>
    </p:spTree>
    <p:extLst>
      <p:ext uri="{BB962C8B-B14F-4D97-AF65-F5344CB8AC3E}">
        <p14:creationId xmlns:p14="http://schemas.microsoft.com/office/powerpoint/2010/main" val="546223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5D14C4-717D-FDBE-E3BA-DBB4B14EA7A9}"/>
              </a:ext>
            </a:extLst>
          </p:cNvPr>
          <p:cNvSpPr txBox="1"/>
          <p:nvPr/>
        </p:nvSpPr>
        <p:spPr>
          <a:xfrm>
            <a:off x="609600" y="381000"/>
            <a:ext cx="10668000" cy="589905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US" sz="3500" b="1">
                <a:solidFill>
                  <a:srgbClr val="0B2545"/>
                </a:solidFill>
                <a:latin typeface="Aptos" panose="020B0004020202020204" pitchFamily="34" charset="0"/>
              </a:rPr>
              <a:t>Why Phase 2 was necessary</a:t>
            </a:r>
            <a:endParaRPr lang="en-GB" sz="3500" b="1">
              <a:solidFill>
                <a:srgbClr val="0B2545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F9E746-A95C-AB46-3F29-6BF784E853A7}"/>
              </a:ext>
            </a:extLst>
          </p:cNvPr>
          <p:cNvSpPr txBox="1"/>
          <p:nvPr/>
        </p:nvSpPr>
        <p:spPr>
          <a:xfrm>
            <a:off x="11430000" y="431800"/>
            <a:ext cx="444500" cy="25135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r"/>
            <a:r>
              <a:rPr lang="en-GB" sz="1300" b="1">
                <a:solidFill>
                  <a:srgbClr val="2E74B5"/>
                </a:solidFill>
                <a:latin typeface="Aptos" panose="020B0004020202020204" pitchFamily="34" charset="0"/>
              </a:rPr>
              <a:t>02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F785E3F-8E83-19BD-328C-536BC05F700C}"/>
              </a:ext>
            </a:extLst>
          </p:cNvPr>
          <p:cNvCxnSpPr/>
          <p:nvPr/>
        </p:nvCxnSpPr>
        <p:spPr>
          <a:xfrm>
            <a:off x="609600" y="1168400"/>
            <a:ext cx="1097280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94A968E-9A83-F1C8-7362-356F8223045A}"/>
              </a:ext>
            </a:extLst>
          </p:cNvPr>
          <p:cNvSpPr txBox="1"/>
          <p:nvPr/>
        </p:nvSpPr>
        <p:spPr>
          <a:xfrm>
            <a:off x="889000" y="1651000"/>
            <a:ext cx="10414000" cy="882293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sz="2700" b="1">
                <a:solidFill>
                  <a:srgbClr val="0B2545"/>
                </a:solidFill>
                <a:latin typeface="Aptos" panose="020B0004020202020204" pitchFamily="34" charset="0"/>
              </a:rPr>
              <a:t>Objective-only agreement could reward a galaxy-scale mask simply because it overlapped a Spike Gate target.</a:t>
            </a:r>
            <a:endParaRPr lang="en-GB" sz="2700" b="1">
              <a:solidFill>
                <a:srgbClr val="0B2545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64213C-8777-F9D7-4051-299CC30FA3D4}"/>
              </a:ext>
            </a:extLst>
          </p:cNvPr>
          <p:cNvSpPr txBox="1"/>
          <p:nvPr/>
        </p:nvSpPr>
        <p:spPr>
          <a:xfrm>
            <a:off x="1143000" y="3302000"/>
            <a:ext cx="2794000" cy="37446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2100" b="1">
                <a:solidFill>
                  <a:srgbClr val="9B1C1C"/>
                </a:solidFill>
                <a:latin typeface="Aptos" panose="020B0004020202020204" pitchFamily="34" charset="0"/>
              </a:rPr>
              <a:t>The consequence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469EDB-1961-C0C9-90C7-B51655414B14}"/>
              </a:ext>
            </a:extLst>
          </p:cNvPr>
          <p:cNvSpPr txBox="1"/>
          <p:nvPr/>
        </p:nvSpPr>
        <p:spPr>
          <a:xfrm>
            <a:off x="889000" y="3873500"/>
            <a:ext cx="3302000" cy="928459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sz="1900">
                <a:solidFill>
                  <a:srgbClr val="4B4B4B"/>
                </a:solidFill>
                <a:latin typeface="Aptos" panose="020B0004020202020204" pitchFamily="34" charset="0"/>
              </a:rPr>
              <a:t>High apparent recovery
without scientifically safe masking</a:t>
            </a:r>
            <a:endParaRPr lang="en-GB" sz="1900">
              <a:solidFill>
                <a:srgbClr val="4B4B4B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8905C-B241-9286-75CC-7CA2F9A16759}"/>
              </a:ext>
            </a:extLst>
          </p:cNvPr>
          <p:cNvSpPr txBox="1"/>
          <p:nvPr/>
        </p:nvSpPr>
        <p:spPr>
          <a:xfrm>
            <a:off x="4699000" y="3302000"/>
            <a:ext cx="2794000" cy="37446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2100" b="1">
                <a:solidFill>
                  <a:srgbClr val="2D7D4F"/>
                </a:solidFill>
                <a:latin typeface="Aptos" panose="020B0004020202020204" pitchFamily="34" charset="0"/>
              </a:rPr>
              <a:t>Phase 2 correction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37EF39-79DB-94D8-3B74-F6EB14D93879}"/>
              </a:ext>
            </a:extLst>
          </p:cNvPr>
          <p:cNvSpPr txBox="1"/>
          <p:nvPr/>
        </p:nvSpPr>
        <p:spPr>
          <a:xfrm>
            <a:off x="4445000" y="3873500"/>
            <a:ext cx="3302000" cy="1261884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sz="1900">
                <a:solidFill>
                  <a:srgbClr val="4B4B4B"/>
                </a:solidFill>
                <a:latin typeface="Aptos" panose="020B0004020202020204" pitchFamily="34" charset="0"/>
              </a:rPr>
              <a:t>Recovery credit only for compact,
gate-supported connected components</a:t>
            </a:r>
            <a:endParaRPr lang="en-GB" sz="1900">
              <a:solidFill>
                <a:srgbClr val="4B4B4B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D0BDFD-A7C1-E6B2-CD8B-84E6089B6AFA}"/>
              </a:ext>
            </a:extLst>
          </p:cNvPr>
          <p:cNvSpPr txBox="1"/>
          <p:nvPr/>
        </p:nvSpPr>
        <p:spPr>
          <a:xfrm>
            <a:off x="8255000" y="3302000"/>
            <a:ext cx="2794000" cy="37446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2100" b="1">
                <a:solidFill>
                  <a:srgbClr val="2E74B5"/>
                </a:solidFill>
                <a:latin typeface="Aptos" panose="020B0004020202020204" pitchFamily="34" charset="0"/>
              </a:rPr>
              <a:t>Release gate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F97CD1-5D22-E45D-A75E-0C0F82335BD0}"/>
              </a:ext>
            </a:extLst>
          </p:cNvPr>
          <p:cNvSpPr txBox="1"/>
          <p:nvPr/>
        </p:nvSpPr>
        <p:spPr>
          <a:xfrm>
            <a:off x="8001000" y="3873500"/>
            <a:ext cx="3302000" cy="1261884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sz="1900">
                <a:solidFill>
                  <a:srgbClr val="4B4B4B"/>
                </a:solidFill>
                <a:latin typeface="Aptos" panose="020B0004020202020204" pitchFamily="34" charset="0"/>
              </a:rPr>
              <a:t>Audit first; run 182 galaxies only
when component behaviour is credible</a:t>
            </a:r>
            <a:endParaRPr lang="en-GB" sz="1900">
              <a:solidFill>
                <a:srgbClr val="4B4B4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571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17F06C-B50B-DD0A-C2C7-7F934C509D7A}"/>
              </a:ext>
            </a:extLst>
          </p:cNvPr>
          <p:cNvSpPr txBox="1"/>
          <p:nvPr/>
        </p:nvSpPr>
        <p:spPr>
          <a:xfrm>
            <a:off x="609600" y="381000"/>
            <a:ext cx="10668000" cy="589905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GB" sz="3500" b="1">
                <a:solidFill>
                  <a:srgbClr val="0B2545"/>
                </a:solidFill>
                <a:latin typeface="Aptos" panose="020B0004020202020204" pitchFamily="34" charset="0"/>
              </a:rPr>
              <a:t>Residual evidence; science-image segmentation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1F3E12-C7B1-CDB6-6160-5E662BC8B116}"/>
              </a:ext>
            </a:extLst>
          </p:cNvPr>
          <p:cNvSpPr txBox="1"/>
          <p:nvPr/>
        </p:nvSpPr>
        <p:spPr>
          <a:xfrm>
            <a:off x="11430000" y="431800"/>
            <a:ext cx="444500" cy="25135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r"/>
            <a:r>
              <a:rPr lang="en-GB" sz="1300" b="1">
                <a:solidFill>
                  <a:srgbClr val="2E74B5"/>
                </a:solidFill>
                <a:latin typeface="Aptos" panose="020B0004020202020204" pitchFamily="34" charset="0"/>
              </a:rPr>
              <a:t>03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CAEEDF5-0992-F159-727E-ABE00146E983}"/>
              </a:ext>
            </a:extLst>
          </p:cNvPr>
          <p:cNvCxnSpPr/>
          <p:nvPr/>
        </p:nvCxnSpPr>
        <p:spPr>
          <a:xfrm>
            <a:off x="609600" y="1168400"/>
            <a:ext cx="1097280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146707D-D471-2F42-6E2D-16619776B962}"/>
              </a:ext>
            </a:extLst>
          </p:cNvPr>
          <p:cNvSpPr txBox="1"/>
          <p:nvPr/>
        </p:nvSpPr>
        <p:spPr>
          <a:xfrm>
            <a:off x="660400" y="1841500"/>
            <a:ext cx="635000" cy="482183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2800" b="1">
                <a:solidFill>
                  <a:srgbClr val="2E74B5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FFC08B-081A-23BB-947C-E60C27B21852}"/>
              </a:ext>
            </a:extLst>
          </p:cNvPr>
          <p:cNvSpPr txBox="1"/>
          <p:nvPr/>
        </p:nvSpPr>
        <p:spPr>
          <a:xfrm>
            <a:off x="1231900" y="1752600"/>
            <a:ext cx="1905000" cy="69762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GB" sz="2100" b="1">
                <a:solidFill>
                  <a:srgbClr val="0B2545"/>
                </a:solidFill>
                <a:latin typeface="Aptos" panose="020B0004020202020204" pitchFamily="34" charset="0"/>
              </a:rPr>
              <a:t>Residual image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CA9B40-8635-EE58-F1A7-5627A009902B}"/>
              </a:ext>
            </a:extLst>
          </p:cNvPr>
          <p:cNvSpPr txBox="1"/>
          <p:nvPr/>
        </p:nvSpPr>
        <p:spPr>
          <a:xfrm>
            <a:off x="1231900" y="2286000"/>
            <a:ext cx="1905000" cy="574516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GB" sz="1700">
                <a:solidFill>
                  <a:srgbClr val="4B4B4B"/>
                </a:solidFill>
                <a:latin typeface="Aptos" panose="020B0004020202020204" pitchFamily="34" charset="0"/>
              </a:rPr>
              <a:t>Spike Gate candidates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437E9B-C190-11EC-8C81-B9C4D300175C}"/>
              </a:ext>
            </a:extLst>
          </p:cNvPr>
          <p:cNvSpPr txBox="1"/>
          <p:nvPr/>
        </p:nvSpPr>
        <p:spPr>
          <a:xfrm>
            <a:off x="3136900" y="2032000"/>
            <a:ext cx="317500" cy="43601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2500" b="1">
                <a:solidFill>
                  <a:srgbClr val="9A6A00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06398D-2A0E-2160-1568-F504C0B4F000}"/>
              </a:ext>
            </a:extLst>
          </p:cNvPr>
          <p:cNvSpPr txBox="1"/>
          <p:nvPr/>
        </p:nvSpPr>
        <p:spPr>
          <a:xfrm>
            <a:off x="3517900" y="1841500"/>
            <a:ext cx="635000" cy="482183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2800" b="1">
                <a:solidFill>
                  <a:srgbClr val="2E74B5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D3FF79-832A-2F34-28EB-CA79FF6135E2}"/>
              </a:ext>
            </a:extLst>
          </p:cNvPr>
          <p:cNvSpPr txBox="1"/>
          <p:nvPr/>
        </p:nvSpPr>
        <p:spPr>
          <a:xfrm>
            <a:off x="4089400" y="1752600"/>
            <a:ext cx="1905000" cy="37446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GB" sz="2100" b="1">
                <a:solidFill>
                  <a:srgbClr val="0B2545"/>
                </a:solidFill>
                <a:latin typeface="Aptos" panose="020B0004020202020204" pitchFamily="34" charset="0"/>
              </a:rPr>
              <a:t>Science image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14E114-9177-C599-B9C4-F286AD0EA7CD}"/>
              </a:ext>
            </a:extLst>
          </p:cNvPr>
          <p:cNvSpPr txBox="1"/>
          <p:nvPr/>
        </p:nvSpPr>
        <p:spPr>
          <a:xfrm>
            <a:off x="4089400" y="2286000"/>
            <a:ext cx="1905000" cy="312906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GB" sz="1700">
                <a:solidFill>
                  <a:srgbClr val="4B4B4B"/>
                </a:solidFill>
                <a:latin typeface="Aptos" panose="020B0004020202020204" pitchFamily="34" charset="0"/>
              </a:rPr>
              <a:t>SEP or MTObjects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85AB4E-EAE4-598A-F027-836F3E2863E3}"/>
              </a:ext>
            </a:extLst>
          </p:cNvPr>
          <p:cNvSpPr txBox="1"/>
          <p:nvPr/>
        </p:nvSpPr>
        <p:spPr>
          <a:xfrm>
            <a:off x="5994400" y="2032000"/>
            <a:ext cx="317500" cy="43601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2500" b="1">
                <a:solidFill>
                  <a:srgbClr val="9A6A00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D106C1-39CE-24D6-CA27-A49BDC452292}"/>
              </a:ext>
            </a:extLst>
          </p:cNvPr>
          <p:cNvSpPr txBox="1"/>
          <p:nvPr/>
        </p:nvSpPr>
        <p:spPr>
          <a:xfrm>
            <a:off x="6375400" y="1841500"/>
            <a:ext cx="635000" cy="482183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2800" b="1">
                <a:solidFill>
                  <a:srgbClr val="2E74B5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E6348C-E82D-828E-0609-1404D53E2C46}"/>
              </a:ext>
            </a:extLst>
          </p:cNvPr>
          <p:cNvSpPr txBox="1"/>
          <p:nvPr/>
        </p:nvSpPr>
        <p:spPr>
          <a:xfrm>
            <a:off x="6946900" y="1752600"/>
            <a:ext cx="1905000" cy="69762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GB" sz="2100" b="1">
                <a:solidFill>
                  <a:srgbClr val="0B2545"/>
                </a:solidFill>
                <a:latin typeface="Aptos" panose="020B0004020202020204" pitchFamily="34" charset="0"/>
              </a:rPr>
              <a:t>Native components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D0D4C6-913D-D9BF-C2B0-BD899C245279}"/>
              </a:ext>
            </a:extLst>
          </p:cNvPr>
          <p:cNvSpPr txBox="1"/>
          <p:nvPr/>
        </p:nvSpPr>
        <p:spPr>
          <a:xfrm>
            <a:off x="6946900" y="2286000"/>
            <a:ext cx="1905000" cy="574516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GB" sz="1700">
                <a:solidFill>
                  <a:srgbClr val="4B4B4B"/>
                </a:solidFill>
                <a:latin typeface="Aptos" panose="020B0004020202020204" pitchFamily="34" charset="0"/>
              </a:rPr>
              <a:t>Target + support + size rules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FDDAF9-6468-6546-19E2-7F3CD24B617B}"/>
              </a:ext>
            </a:extLst>
          </p:cNvPr>
          <p:cNvSpPr txBox="1"/>
          <p:nvPr/>
        </p:nvSpPr>
        <p:spPr>
          <a:xfrm>
            <a:off x="8851900" y="2032000"/>
            <a:ext cx="317500" cy="43601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2500" b="1">
                <a:solidFill>
                  <a:srgbClr val="9A6A00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0C47A1-59C1-4B71-9F14-C98EB9CC4BDF}"/>
              </a:ext>
            </a:extLst>
          </p:cNvPr>
          <p:cNvSpPr txBox="1"/>
          <p:nvPr/>
        </p:nvSpPr>
        <p:spPr>
          <a:xfrm>
            <a:off x="9232900" y="1841500"/>
            <a:ext cx="635000" cy="482183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2800" b="1">
                <a:solidFill>
                  <a:srgbClr val="2E74B5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5BEBB7-BFE1-195B-D31C-CB8EC96CE751}"/>
              </a:ext>
            </a:extLst>
          </p:cNvPr>
          <p:cNvSpPr txBox="1"/>
          <p:nvPr/>
        </p:nvSpPr>
        <p:spPr>
          <a:xfrm>
            <a:off x="9804400" y="1752600"/>
            <a:ext cx="1905000" cy="37446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GB" sz="2100" b="1">
                <a:solidFill>
                  <a:srgbClr val="0B2545"/>
                </a:solidFill>
                <a:latin typeface="Aptos" panose="020B0004020202020204" pitchFamily="34" charset="0"/>
              </a:rPr>
              <a:t>Final mask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094F00-3C64-B2B1-6E46-B1CBF430181A}"/>
              </a:ext>
            </a:extLst>
          </p:cNvPr>
          <p:cNvSpPr txBox="1"/>
          <p:nvPr/>
        </p:nvSpPr>
        <p:spPr>
          <a:xfrm>
            <a:off x="9804400" y="2286000"/>
            <a:ext cx="1905000" cy="574516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GB" sz="1700">
                <a:solidFill>
                  <a:srgbClr val="4B4B4B"/>
                </a:solidFill>
                <a:latin typeface="Aptos" panose="020B0004020202020204" pitchFamily="34" charset="0"/>
              </a:rPr>
              <a:t>Log-linear profile bridge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70157A-F891-40FA-CDCD-66EBE68D1AF7}"/>
              </a:ext>
            </a:extLst>
          </p:cNvPr>
          <p:cNvSpPr txBox="1"/>
          <p:nvPr/>
        </p:nvSpPr>
        <p:spPr>
          <a:xfrm>
            <a:off x="1016000" y="3810000"/>
            <a:ext cx="2286000" cy="405239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GB" sz="2300" b="1">
                <a:solidFill>
                  <a:srgbClr val="0B2545"/>
                </a:solidFill>
                <a:latin typeface="Aptos" panose="020B0004020202020204" pitchFamily="34" charset="0"/>
              </a:rPr>
              <a:t>Retention rules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42F67B-9D7E-66C2-A08A-969F2F9463DF}"/>
              </a:ext>
            </a:extLst>
          </p:cNvPr>
          <p:cNvSpPr txBox="1"/>
          <p:nvPr/>
        </p:nvSpPr>
        <p:spPr>
          <a:xfrm>
            <a:off x="1016000" y="4381500"/>
            <a:ext cx="3810000" cy="928459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US" sz="1900">
                <a:solidFill>
                  <a:srgbClr val="4B4B4B"/>
                </a:solidFill>
                <a:latin typeface="Aptos" panose="020B0004020202020204" pitchFamily="34" charset="0"/>
              </a:rPr>
              <a:t>Intersects compact target
&gt;=20% inside permitted support
&lt;=8% of diagnostic view</a:t>
            </a:r>
            <a:endParaRPr lang="en-GB" sz="1900">
              <a:solidFill>
                <a:srgbClr val="4B4B4B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BC257F-979E-D1E4-D9E6-A6A66EF5F885}"/>
              </a:ext>
            </a:extLst>
          </p:cNvPr>
          <p:cNvSpPr txBox="1"/>
          <p:nvPr/>
        </p:nvSpPr>
        <p:spPr>
          <a:xfrm>
            <a:off x="6731000" y="3810000"/>
            <a:ext cx="2286000" cy="759182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GB" sz="2300" b="1">
                <a:solidFill>
                  <a:srgbClr val="0B2545"/>
                </a:solidFill>
                <a:latin typeface="Aptos" panose="020B0004020202020204" pitchFamily="34" charset="0"/>
              </a:rPr>
              <a:t>Protection terms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E0558E-1DC0-89D4-0ACC-5E4241957C1E}"/>
              </a:ext>
            </a:extLst>
          </p:cNvPr>
          <p:cNvSpPr txBox="1"/>
          <p:nvPr/>
        </p:nvSpPr>
        <p:spPr>
          <a:xfrm>
            <a:off x="6731000" y="4381500"/>
            <a:ext cx="4318000" cy="928459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US" sz="1900">
                <a:solidFill>
                  <a:srgbClr val="4B4B4B"/>
                </a:solidFill>
                <a:latin typeface="Aptos" panose="020B0004020202020204" pitchFamily="34" charset="0"/>
              </a:rPr>
              <a:t>Excess-area penalty
Protected galaxy loss
Zero-detection penalty for credible gates</a:t>
            </a:r>
            <a:endParaRPr lang="en-GB" sz="1900">
              <a:solidFill>
                <a:srgbClr val="4B4B4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395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787A96-5C06-9D92-C14B-60262A2A5B2D}"/>
              </a:ext>
            </a:extLst>
          </p:cNvPr>
          <p:cNvSpPr txBox="1"/>
          <p:nvPr/>
        </p:nvSpPr>
        <p:spPr>
          <a:xfrm>
            <a:off x="609600" y="381000"/>
            <a:ext cx="10668000" cy="589905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US" sz="3500" b="1">
                <a:solidFill>
                  <a:srgbClr val="0B2545"/>
                </a:solidFill>
                <a:latin typeface="Aptos" panose="020B0004020202020204" pitchFamily="34" charset="0"/>
              </a:rPr>
              <a:t>MTObjects outperforms SEP in the stress test</a:t>
            </a:r>
            <a:endParaRPr lang="en-GB" sz="3500" b="1">
              <a:solidFill>
                <a:srgbClr val="0B2545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FE277C-45C8-3100-DBCF-A62B066E908E}"/>
              </a:ext>
            </a:extLst>
          </p:cNvPr>
          <p:cNvSpPr txBox="1"/>
          <p:nvPr/>
        </p:nvSpPr>
        <p:spPr>
          <a:xfrm>
            <a:off x="11430000" y="431800"/>
            <a:ext cx="444500" cy="25135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r"/>
            <a:r>
              <a:rPr lang="en-GB" sz="1300" b="1">
                <a:solidFill>
                  <a:srgbClr val="2E74B5"/>
                </a:solidFill>
                <a:latin typeface="Aptos" panose="020B0004020202020204" pitchFamily="34" charset="0"/>
              </a:rPr>
              <a:t>04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2FD9E90-F26A-50A8-8344-E6F4B0C835CA}"/>
              </a:ext>
            </a:extLst>
          </p:cNvPr>
          <p:cNvCxnSpPr/>
          <p:nvPr/>
        </p:nvCxnSpPr>
        <p:spPr>
          <a:xfrm>
            <a:off x="609600" y="1168400"/>
            <a:ext cx="1097280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8975DD2-D67B-CE74-2678-FDDD04DE00A3}"/>
              </a:ext>
            </a:extLst>
          </p:cNvPr>
          <p:cNvSpPr txBox="1"/>
          <p:nvPr/>
        </p:nvSpPr>
        <p:spPr>
          <a:xfrm>
            <a:off x="825500" y="1714500"/>
            <a:ext cx="2413000" cy="528350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3100" b="1">
                <a:solidFill>
                  <a:srgbClr val="2E74B5"/>
                </a:solidFill>
                <a:latin typeface="Aptos" panose="020B0004020202020204" pitchFamily="34" charset="0"/>
              </a:rPr>
              <a:t>11.1%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083FE3-B815-37CE-701A-4AB715375877}"/>
              </a:ext>
            </a:extLst>
          </p:cNvPr>
          <p:cNvSpPr txBox="1"/>
          <p:nvPr/>
        </p:nvSpPr>
        <p:spPr>
          <a:xfrm>
            <a:off x="825500" y="2400300"/>
            <a:ext cx="2413000" cy="312906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1700">
                <a:solidFill>
                  <a:srgbClr val="4B4B4B"/>
                </a:solidFill>
                <a:latin typeface="Aptos" panose="020B0004020202020204" pitchFamily="34" charset="0"/>
              </a:rPr>
              <a:t>SEP mean gate recovery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323FA4-A013-EBDB-E471-5626D963FECF}"/>
              </a:ext>
            </a:extLst>
          </p:cNvPr>
          <p:cNvSpPr txBox="1"/>
          <p:nvPr/>
        </p:nvSpPr>
        <p:spPr>
          <a:xfrm>
            <a:off x="3619500" y="1714500"/>
            <a:ext cx="2413000" cy="528350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3100" b="1">
                <a:solidFill>
                  <a:srgbClr val="2E74B5"/>
                </a:solidFill>
                <a:latin typeface="Aptos" panose="020B0004020202020204" pitchFamily="34" charset="0"/>
              </a:rPr>
              <a:t>49.3%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DE3709-BD02-B5E4-0520-03F5012CA94E}"/>
              </a:ext>
            </a:extLst>
          </p:cNvPr>
          <p:cNvSpPr txBox="1"/>
          <p:nvPr/>
        </p:nvSpPr>
        <p:spPr>
          <a:xfrm>
            <a:off x="3619500" y="2400300"/>
            <a:ext cx="2413000" cy="312906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1700">
                <a:solidFill>
                  <a:srgbClr val="4B4B4B"/>
                </a:solidFill>
                <a:latin typeface="Aptos" panose="020B0004020202020204" pitchFamily="34" charset="0"/>
              </a:rPr>
              <a:t>MTO mean gate recovery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8F9FFD-589C-6966-D04A-8CFD604C96DC}"/>
              </a:ext>
            </a:extLst>
          </p:cNvPr>
          <p:cNvSpPr txBox="1"/>
          <p:nvPr/>
        </p:nvSpPr>
        <p:spPr>
          <a:xfrm>
            <a:off x="6413500" y="1714500"/>
            <a:ext cx="2413000" cy="528350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3100" b="1">
                <a:solidFill>
                  <a:srgbClr val="2E74B5"/>
                </a:solidFill>
                <a:latin typeface="Aptos" panose="020B0004020202020204" pitchFamily="34" charset="0"/>
              </a:rPr>
              <a:t>11/15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9CA02D-BFDB-6390-F926-4676AE238EE6}"/>
              </a:ext>
            </a:extLst>
          </p:cNvPr>
          <p:cNvSpPr txBox="1"/>
          <p:nvPr/>
        </p:nvSpPr>
        <p:spPr>
          <a:xfrm>
            <a:off x="6413500" y="2400300"/>
            <a:ext cx="2413000" cy="312906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1700">
                <a:solidFill>
                  <a:srgbClr val="4B4B4B"/>
                </a:solidFill>
                <a:latin typeface="Aptos" panose="020B0004020202020204" pitchFamily="34" charset="0"/>
              </a:rPr>
              <a:t>SEP zero detections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E90950-D881-439A-DE54-AF925637A553}"/>
              </a:ext>
            </a:extLst>
          </p:cNvPr>
          <p:cNvSpPr txBox="1"/>
          <p:nvPr/>
        </p:nvSpPr>
        <p:spPr>
          <a:xfrm>
            <a:off x="9207500" y="1714500"/>
            <a:ext cx="2159000" cy="528350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3100" b="1">
                <a:solidFill>
                  <a:srgbClr val="2E74B5"/>
                </a:solidFill>
                <a:latin typeface="Aptos" panose="020B0004020202020204" pitchFamily="34" charset="0"/>
              </a:rPr>
              <a:t>2/15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9080E7-5D9F-8036-1963-013097284C4D}"/>
              </a:ext>
            </a:extLst>
          </p:cNvPr>
          <p:cNvSpPr txBox="1"/>
          <p:nvPr/>
        </p:nvSpPr>
        <p:spPr>
          <a:xfrm>
            <a:off x="9207500" y="2400300"/>
            <a:ext cx="2159000" cy="312906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1700">
                <a:solidFill>
                  <a:srgbClr val="4B4B4B"/>
                </a:solidFill>
                <a:latin typeface="Aptos" panose="020B0004020202020204" pitchFamily="34" charset="0"/>
              </a:rPr>
              <a:t>MTO zero detections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A27C14-4264-4346-9170-5717ABB5DBBE}"/>
              </a:ext>
            </a:extLst>
          </p:cNvPr>
          <p:cNvSpPr txBox="1"/>
          <p:nvPr/>
        </p:nvSpPr>
        <p:spPr>
          <a:xfrm>
            <a:off x="1143000" y="3810000"/>
            <a:ext cx="1524000" cy="43601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2500" b="1">
                <a:solidFill>
                  <a:srgbClr val="9B1C1C"/>
                </a:solidFill>
                <a:latin typeface="Aptos" panose="020B0004020202020204" pitchFamily="34" charset="0"/>
              </a:rPr>
              <a:t>SEP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A0D162-EE5A-9A4C-D0B6-FB67B1F49D24}"/>
              </a:ext>
            </a:extLst>
          </p:cNvPr>
          <p:cNvSpPr txBox="1"/>
          <p:nvPr/>
        </p:nvSpPr>
        <p:spPr>
          <a:xfrm>
            <a:off x="762000" y="4381500"/>
            <a:ext cx="4572000" cy="928459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sz="1900">
                <a:solidFill>
                  <a:srgbClr val="4B4B4B"/>
                </a:solidFill>
                <a:latin typeface="Aptos" panose="020B0004020202020204" pitchFamily="34" charset="0"/>
              </a:rPr>
              <a:t>Infeasible; earlier apparent recovery was largely driven by galaxy-scale components. Do not proceed.</a:t>
            </a:r>
            <a:endParaRPr lang="en-GB" sz="1900">
              <a:solidFill>
                <a:srgbClr val="4B4B4B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6466BB-D07D-E5CB-1E04-1E1111501BC2}"/>
              </a:ext>
            </a:extLst>
          </p:cNvPr>
          <p:cNvSpPr txBox="1"/>
          <p:nvPr/>
        </p:nvSpPr>
        <p:spPr>
          <a:xfrm>
            <a:off x="7620000" y="3810000"/>
            <a:ext cx="2286000" cy="43601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2500" b="1">
                <a:solidFill>
                  <a:srgbClr val="2D7D4F"/>
                </a:solidFill>
                <a:latin typeface="Aptos" panose="020B0004020202020204" pitchFamily="34" charset="0"/>
              </a:rPr>
              <a:t>MTObjects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C79F4A-A5D8-1542-DCAA-61E85F787C69}"/>
              </a:ext>
            </a:extLst>
          </p:cNvPr>
          <p:cNvSpPr txBox="1"/>
          <p:nvPr/>
        </p:nvSpPr>
        <p:spPr>
          <a:xfrm>
            <a:off x="6858000" y="4381500"/>
            <a:ext cx="4572000" cy="928459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sz="1900">
                <a:solidFill>
                  <a:srgbClr val="4B4B4B"/>
                </a:solidFill>
                <a:latin typeface="Aptos" panose="020B0004020202020204" pitchFamily="34" charset="0"/>
              </a:rPr>
              <a:t>Narrowly infeasible, but compact component behaviour justified a conservative diagnostic batch.</a:t>
            </a:r>
            <a:endParaRPr lang="en-GB" sz="1900">
              <a:solidFill>
                <a:srgbClr val="4B4B4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645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858A7E-8AE6-B583-F5B9-CF273034552E}"/>
              </a:ext>
            </a:extLst>
          </p:cNvPr>
          <p:cNvSpPr txBox="1"/>
          <p:nvPr/>
        </p:nvSpPr>
        <p:spPr>
          <a:xfrm>
            <a:off x="609600" y="381000"/>
            <a:ext cx="10668000" cy="589905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GB" sz="3500" b="1">
                <a:solidFill>
                  <a:srgbClr val="0B2545"/>
                </a:solidFill>
                <a:latin typeface="Aptos" panose="020B0004020202020204" pitchFamily="34" charset="0"/>
              </a:rPr>
              <a:t>NGC3627: compact masks preserve structure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EBE23D-0F70-4DB9-717D-AAEF6F75CE77}"/>
              </a:ext>
            </a:extLst>
          </p:cNvPr>
          <p:cNvSpPr txBox="1"/>
          <p:nvPr/>
        </p:nvSpPr>
        <p:spPr>
          <a:xfrm>
            <a:off x="11430000" y="431800"/>
            <a:ext cx="444500" cy="25135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r"/>
            <a:r>
              <a:rPr lang="en-GB" sz="1300" b="1">
                <a:solidFill>
                  <a:srgbClr val="2E74B5"/>
                </a:solidFill>
                <a:latin typeface="Aptos" panose="020B0004020202020204" pitchFamily="34" charset="0"/>
              </a:rPr>
              <a:t>05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3D85FE-DC02-CD40-A4F9-EE691FF7A592}"/>
              </a:ext>
            </a:extLst>
          </p:cNvPr>
          <p:cNvCxnSpPr/>
          <p:nvPr/>
        </p:nvCxnSpPr>
        <p:spPr>
          <a:xfrm>
            <a:off x="609600" y="1168400"/>
            <a:ext cx="1097280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0353D1C-68DD-A093-C11F-F940BDA674D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422400"/>
            <a:ext cx="7112000" cy="5054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C129A3-8DEA-A0D6-715F-818E16209193}"/>
              </a:ext>
            </a:extLst>
          </p:cNvPr>
          <p:cNvSpPr txBox="1"/>
          <p:nvPr/>
        </p:nvSpPr>
        <p:spPr>
          <a:xfrm>
            <a:off x="8255000" y="1841500"/>
            <a:ext cx="3048000" cy="43601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2500" b="1">
                <a:solidFill>
                  <a:srgbClr val="2D7D4F"/>
                </a:solidFill>
                <a:latin typeface="Aptos" panose="020B0004020202020204" pitchFamily="34" charset="0"/>
              </a:rPr>
              <a:t>MTO Phase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4C0AFD-E043-DA22-0721-04E7CCE7788D}"/>
              </a:ext>
            </a:extLst>
          </p:cNvPr>
          <p:cNvSpPr txBox="1"/>
          <p:nvPr/>
        </p:nvSpPr>
        <p:spPr>
          <a:xfrm>
            <a:off x="8255000" y="2603500"/>
            <a:ext cx="3048000" cy="2123658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sz="2200">
                <a:solidFill>
                  <a:srgbClr val="4B4B4B"/>
                </a:solidFill>
                <a:latin typeface="Aptos" panose="020B0004020202020204" pitchFamily="34" charset="0"/>
              </a:rPr>
              <a:t>3 gate-supported components
100% gate recovery
100% candidate detection
0.0146% masked area</a:t>
            </a:r>
            <a:endParaRPr lang="en-GB" sz="2200">
              <a:solidFill>
                <a:srgbClr val="4B4B4B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1CE24B-3597-5ADD-5866-AFE9C22C4E5D}"/>
              </a:ext>
            </a:extLst>
          </p:cNvPr>
          <p:cNvSpPr txBox="1"/>
          <p:nvPr/>
        </p:nvSpPr>
        <p:spPr>
          <a:xfrm>
            <a:off x="8128000" y="4889500"/>
            <a:ext cx="3302000" cy="974626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sz="2000" b="1">
                <a:solidFill>
                  <a:srgbClr val="0B2545"/>
                </a:solidFill>
                <a:latin typeface="Aptos" panose="020B0004020202020204" pitchFamily="34" charset="0"/>
              </a:rPr>
              <a:t>Spiral structure and isophotal alignment are preserved.</a:t>
            </a:r>
            <a:endParaRPr lang="en-GB" sz="2000" b="1">
              <a:solidFill>
                <a:srgbClr val="0B254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042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B83703-CDF1-C8D6-7F46-377056057736}"/>
              </a:ext>
            </a:extLst>
          </p:cNvPr>
          <p:cNvSpPr txBox="1"/>
          <p:nvPr/>
        </p:nvSpPr>
        <p:spPr>
          <a:xfrm>
            <a:off x="609600" y="381000"/>
            <a:ext cx="10668000" cy="589905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GB" sz="3500" b="1">
                <a:solidFill>
                  <a:srgbClr val="0B2545"/>
                </a:solidFill>
                <a:latin typeface="Aptos" panose="020B0004020202020204" pitchFamily="34" charset="0"/>
              </a:rPr>
              <a:t>182-galaxy MTO diagnostic run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0B41BC-C853-4E91-3559-D8F106DA0317}"/>
              </a:ext>
            </a:extLst>
          </p:cNvPr>
          <p:cNvSpPr txBox="1"/>
          <p:nvPr/>
        </p:nvSpPr>
        <p:spPr>
          <a:xfrm>
            <a:off x="11430000" y="431800"/>
            <a:ext cx="444500" cy="25135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r"/>
            <a:r>
              <a:rPr lang="en-GB" sz="1300" b="1">
                <a:solidFill>
                  <a:srgbClr val="2E74B5"/>
                </a:solidFill>
                <a:latin typeface="Aptos" panose="020B0004020202020204" pitchFamily="34" charset="0"/>
              </a:rPr>
              <a:t>06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3B187C6-CDA0-87E0-E0EF-97FFA188470E}"/>
              </a:ext>
            </a:extLst>
          </p:cNvPr>
          <p:cNvCxnSpPr/>
          <p:nvPr/>
        </p:nvCxnSpPr>
        <p:spPr>
          <a:xfrm>
            <a:off x="609600" y="1168400"/>
            <a:ext cx="1097280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EA53031-8ECD-EC2F-CA7F-D4258130B130}"/>
              </a:ext>
            </a:extLst>
          </p:cNvPr>
          <p:cNvSpPr txBox="1"/>
          <p:nvPr/>
        </p:nvSpPr>
        <p:spPr>
          <a:xfrm>
            <a:off x="889000" y="1651000"/>
            <a:ext cx="2540000" cy="528350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3100" b="1">
                <a:solidFill>
                  <a:srgbClr val="2E74B5"/>
                </a:solidFill>
                <a:latin typeface="Aptos" panose="020B0004020202020204" pitchFamily="34" charset="0"/>
              </a:rPr>
              <a:t>182/182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FF049B-3C1B-6AF4-9193-C710BDE8C0A9}"/>
              </a:ext>
            </a:extLst>
          </p:cNvPr>
          <p:cNvSpPr txBox="1"/>
          <p:nvPr/>
        </p:nvSpPr>
        <p:spPr>
          <a:xfrm>
            <a:off x="889000" y="2336800"/>
            <a:ext cx="2540000" cy="312906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1700">
                <a:solidFill>
                  <a:srgbClr val="4B4B4B"/>
                </a:solidFill>
                <a:latin typeface="Aptos" panose="020B0004020202020204" pitchFamily="34" charset="0"/>
              </a:rPr>
              <a:t>successful; zero failures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12905A-ACCD-8234-3284-D0B90C81FAD1}"/>
              </a:ext>
            </a:extLst>
          </p:cNvPr>
          <p:cNvSpPr txBox="1"/>
          <p:nvPr/>
        </p:nvSpPr>
        <p:spPr>
          <a:xfrm>
            <a:off x="3683000" y="1651000"/>
            <a:ext cx="2286000" cy="528350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3100" b="1">
                <a:solidFill>
                  <a:srgbClr val="2E74B5"/>
                </a:solidFill>
                <a:latin typeface="Aptos" panose="020B0004020202020204" pitchFamily="34" charset="0"/>
              </a:rPr>
              <a:t>127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FCF017-98E6-57E7-7FAC-3D1DF2745FBC}"/>
              </a:ext>
            </a:extLst>
          </p:cNvPr>
          <p:cNvSpPr txBox="1"/>
          <p:nvPr/>
        </p:nvSpPr>
        <p:spPr>
          <a:xfrm>
            <a:off x="3683000" y="2336800"/>
            <a:ext cx="2286000" cy="312906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1700">
                <a:solidFill>
                  <a:srgbClr val="4B4B4B"/>
                </a:solidFill>
                <a:latin typeface="Aptos" panose="020B0004020202020204" pitchFamily="34" charset="0"/>
              </a:rPr>
              <a:t>gate-positive galaxies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B0A5DB-7E66-C055-F7A0-08114FFAEEB2}"/>
              </a:ext>
            </a:extLst>
          </p:cNvPr>
          <p:cNvSpPr txBox="1"/>
          <p:nvPr/>
        </p:nvSpPr>
        <p:spPr>
          <a:xfrm>
            <a:off x="6350000" y="1651000"/>
            <a:ext cx="2286000" cy="528350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3100" b="1">
                <a:solidFill>
                  <a:srgbClr val="2E74B5"/>
                </a:solidFill>
                <a:latin typeface="Aptos" panose="020B0004020202020204" pitchFamily="34" charset="0"/>
              </a:rPr>
              <a:t>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1ADA75-81C7-7A8B-5623-B7E2A53DAEF9}"/>
              </a:ext>
            </a:extLst>
          </p:cNvPr>
          <p:cNvSpPr txBox="1"/>
          <p:nvPr/>
        </p:nvSpPr>
        <p:spPr>
          <a:xfrm>
            <a:off x="6350000" y="2336800"/>
            <a:ext cx="2286000" cy="574516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1700">
                <a:solidFill>
                  <a:srgbClr val="4B4B4B"/>
                </a:solidFill>
                <a:latin typeface="Aptos" panose="020B0004020202020204" pitchFamily="34" charset="0"/>
              </a:rPr>
              <a:t>accepted non-zero masks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38C0ED-DC8F-4684-365F-E1180583277E}"/>
              </a:ext>
            </a:extLst>
          </p:cNvPr>
          <p:cNvSpPr txBox="1"/>
          <p:nvPr/>
        </p:nvSpPr>
        <p:spPr>
          <a:xfrm>
            <a:off x="9017000" y="1651000"/>
            <a:ext cx="2413000" cy="528350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3100" b="1">
                <a:solidFill>
                  <a:srgbClr val="2E74B5"/>
                </a:solidFill>
                <a:latin typeface="Aptos" panose="020B0004020202020204" pitchFamily="34" charset="0"/>
              </a:rPr>
              <a:t>55/55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27EACB-F572-F1DC-2516-C8E9D126EDFF}"/>
              </a:ext>
            </a:extLst>
          </p:cNvPr>
          <p:cNvSpPr txBox="1"/>
          <p:nvPr/>
        </p:nvSpPr>
        <p:spPr>
          <a:xfrm>
            <a:off x="9017000" y="2336800"/>
            <a:ext cx="2413000" cy="574516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1700">
                <a:solidFill>
                  <a:srgbClr val="4B4B4B"/>
                </a:solidFill>
                <a:latin typeface="Aptos" panose="020B0004020202020204" pitchFamily="34" charset="0"/>
              </a:rPr>
              <a:t>gate-negative left unmasked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B1D19A-AE97-37FD-01A7-6033A29BC2E0}"/>
              </a:ext>
            </a:extLst>
          </p:cNvPr>
          <p:cNvSpPr txBox="1"/>
          <p:nvPr/>
        </p:nvSpPr>
        <p:spPr>
          <a:xfrm>
            <a:off x="1016000" y="3810000"/>
            <a:ext cx="3810000" cy="405239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GB" sz="2300" b="1">
                <a:solidFill>
                  <a:srgbClr val="0B2545"/>
                </a:solidFill>
                <a:latin typeface="Aptos" panose="020B0004020202020204" pitchFamily="34" charset="0"/>
              </a:rPr>
              <a:t>Masked-area distribution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C149CF-73C5-B418-318E-B3EDAE5491C2}"/>
              </a:ext>
            </a:extLst>
          </p:cNvPr>
          <p:cNvSpPr txBox="1"/>
          <p:nvPr/>
        </p:nvSpPr>
        <p:spPr>
          <a:xfrm>
            <a:off x="1016000" y="4381500"/>
            <a:ext cx="4191000" cy="1261884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US" sz="1900">
                <a:solidFill>
                  <a:srgbClr val="4B4B4B"/>
                </a:solidFill>
                <a:latin typeface="Aptos" panose="020B0004020202020204" pitchFamily="34" charset="0"/>
              </a:rPr>
              <a:t>Mean 0.002778%
Median 0.000685%
95th percentile 0.013278%
Maximum 0.021179% (NGC6412)</a:t>
            </a:r>
            <a:endParaRPr lang="en-GB" sz="1900">
              <a:solidFill>
                <a:srgbClr val="4B4B4B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9AF3A8-7D8B-CD75-F5AA-D35AFD3FBA57}"/>
              </a:ext>
            </a:extLst>
          </p:cNvPr>
          <p:cNvSpPr txBox="1"/>
          <p:nvPr/>
        </p:nvSpPr>
        <p:spPr>
          <a:xfrm>
            <a:off x="7112000" y="3810000"/>
            <a:ext cx="2794000" cy="405239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GB" sz="2300" b="1">
                <a:solidFill>
                  <a:srgbClr val="0B2545"/>
                </a:solidFill>
                <a:latin typeface="Aptos" panose="020B0004020202020204" pitchFamily="34" charset="0"/>
              </a:rPr>
              <a:t>Interpretation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354DCC-8E95-08F5-15E9-E2C9F917B04D}"/>
              </a:ext>
            </a:extLst>
          </p:cNvPr>
          <p:cNvSpPr txBox="1"/>
          <p:nvPr/>
        </p:nvSpPr>
        <p:spPr>
          <a:xfrm>
            <a:off x="6604000" y="4381500"/>
            <a:ext cx="4445000" cy="1384995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sz="2100" b="1">
                <a:solidFill>
                  <a:srgbClr val="2E74B5"/>
                </a:solidFill>
                <a:latin typeface="Aptos" panose="020B0004020202020204" pitchFamily="34" charset="0"/>
              </a:rPr>
              <a:t>Very low mask area confirms conservatism.
It does not, by itself, prove correct recovery.</a:t>
            </a:r>
            <a:endParaRPr lang="en-GB" sz="2100" b="1">
              <a:solidFill>
                <a:srgbClr val="2E74B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024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A5F5DC-BAA4-F83E-0FEC-373C92072A22}"/>
              </a:ext>
            </a:extLst>
          </p:cNvPr>
          <p:cNvSpPr txBox="1"/>
          <p:nvPr/>
        </p:nvSpPr>
        <p:spPr>
          <a:xfrm>
            <a:off x="609600" y="381000"/>
            <a:ext cx="10668000" cy="589905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GB" sz="3500" b="1">
                <a:solidFill>
                  <a:srgbClr val="0B2545"/>
                </a:solidFill>
                <a:latin typeface="Aptos" panose="020B0004020202020204" pitchFamily="34" charset="0"/>
              </a:rPr>
              <a:t>Limitations that still matter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81F482-516D-278E-BC88-12DD7B8B234F}"/>
              </a:ext>
            </a:extLst>
          </p:cNvPr>
          <p:cNvSpPr txBox="1"/>
          <p:nvPr/>
        </p:nvSpPr>
        <p:spPr>
          <a:xfrm>
            <a:off x="11430000" y="431800"/>
            <a:ext cx="444500" cy="25135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r"/>
            <a:r>
              <a:rPr lang="en-GB" sz="1300" b="1">
                <a:solidFill>
                  <a:srgbClr val="2E74B5"/>
                </a:solidFill>
                <a:latin typeface="Aptos" panose="020B0004020202020204" pitchFamily="34" charset="0"/>
              </a:rPr>
              <a:t>07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F8BFC71-5AC6-C52C-9081-DAE4349938A2}"/>
              </a:ext>
            </a:extLst>
          </p:cNvPr>
          <p:cNvCxnSpPr/>
          <p:nvPr/>
        </p:nvCxnSpPr>
        <p:spPr>
          <a:xfrm>
            <a:off x="609600" y="1168400"/>
            <a:ext cx="1097280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8CF3AC8-C186-7A7C-E7DC-20B275B3495C}"/>
              </a:ext>
            </a:extLst>
          </p:cNvPr>
          <p:cNvSpPr txBox="1"/>
          <p:nvPr/>
        </p:nvSpPr>
        <p:spPr>
          <a:xfrm>
            <a:off x="889000" y="1841500"/>
            <a:ext cx="2667000" cy="620683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3700" b="1">
                <a:solidFill>
                  <a:srgbClr val="9B1C1C"/>
                </a:solidFill>
                <a:latin typeface="Aptos" panose="020B0004020202020204" pitchFamily="34" charset="0"/>
              </a:rPr>
              <a:t>30/127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C5380F-F1D0-C5ED-813D-D20CB47D37BF}"/>
              </a:ext>
            </a:extLst>
          </p:cNvPr>
          <p:cNvSpPr txBox="1"/>
          <p:nvPr/>
        </p:nvSpPr>
        <p:spPr>
          <a:xfrm>
            <a:off x="698500" y="2667000"/>
            <a:ext cx="3048000" cy="636072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sz="1900">
                <a:solidFill>
                  <a:srgbClr val="4B4B4B"/>
                </a:solidFill>
                <a:latin typeface="Aptos" panose="020B0004020202020204" pitchFamily="34" charset="0"/>
              </a:rPr>
              <a:t>gate-positive galaxies had no accepted component</a:t>
            </a:r>
            <a:endParaRPr lang="en-GB" sz="1900">
              <a:solidFill>
                <a:srgbClr val="4B4B4B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0A4307-F662-339B-7F0B-2F110873F9D8}"/>
              </a:ext>
            </a:extLst>
          </p:cNvPr>
          <p:cNvSpPr txBox="1"/>
          <p:nvPr/>
        </p:nvSpPr>
        <p:spPr>
          <a:xfrm>
            <a:off x="4699000" y="1841500"/>
            <a:ext cx="2794000" cy="497572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2900" b="1">
                <a:solidFill>
                  <a:srgbClr val="9A6A00"/>
                </a:solidFill>
                <a:latin typeface="Aptos" panose="020B0004020202020204" pitchFamily="34" charset="0"/>
              </a:rPr>
              <a:t>NGC5236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AEBC5D-4884-7AB7-6CB8-D3B2459ECC60}"/>
              </a:ext>
            </a:extLst>
          </p:cNvPr>
          <p:cNvSpPr txBox="1"/>
          <p:nvPr/>
        </p:nvSpPr>
        <p:spPr>
          <a:xfrm>
            <a:off x="4572000" y="2667000"/>
            <a:ext cx="3048000" cy="1261884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sz="1900">
                <a:solidFill>
                  <a:srgbClr val="4B4B4B"/>
                </a:solidFill>
                <a:latin typeface="Aptos" panose="020B0004020202020204" pitchFamily="34" charset="0"/>
              </a:rPr>
              <a:t>11,537 raw segments
4m17s runtime
manual and performance flag</a:t>
            </a:r>
            <a:endParaRPr lang="en-GB" sz="1900">
              <a:solidFill>
                <a:srgbClr val="4B4B4B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5AFDC5-6FDE-1742-E8E2-DA7D7FDF70DD}"/>
              </a:ext>
            </a:extLst>
          </p:cNvPr>
          <p:cNvSpPr txBox="1"/>
          <p:nvPr/>
        </p:nvSpPr>
        <p:spPr>
          <a:xfrm>
            <a:off x="8636000" y="1841500"/>
            <a:ext cx="2794000" cy="497572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2900" b="1">
                <a:solidFill>
                  <a:srgbClr val="0B2545"/>
                </a:solidFill>
                <a:latin typeface="Aptos" panose="020B0004020202020204" pitchFamily="34" charset="0"/>
              </a:rPr>
              <a:t>Not a catalogue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09CCEE-1C41-7167-3F83-8026AD4B386A}"/>
              </a:ext>
            </a:extLst>
          </p:cNvPr>
          <p:cNvSpPr txBox="1"/>
          <p:nvPr/>
        </p:nvSpPr>
        <p:spPr>
          <a:xfrm>
            <a:off x="8382000" y="2667000"/>
            <a:ext cx="3175000" cy="1261884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sz="1900">
                <a:solidFill>
                  <a:srgbClr val="4B4B4B"/>
                </a:solidFill>
                <a:latin typeface="Aptos" panose="020B0004020202020204" pitchFamily="34" charset="0"/>
              </a:rPr>
              <a:t>Phase 2 protects bar-profile analysis; it is not yet a complete foreground-object inventory.</a:t>
            </a:r>
            <a:endParaRPr lang="en-GB" sz="1900">
              <a:solidFill>
                <a:srgbClr val="4B4B4B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3A80DF-B753-B034-9616-C4216A508650}"/>
              </a:ext>
            </a:extLst>
          </p:cNvPr>
          <p:cNvSpPr txBox="1"/>
          <p:nvPr/>
        </p:nvSpPr>
        <p:spPr>
          <a:xfrm>
            <a:off x="1524000" y="4889500"/>
            <a:ext cx="9144000" cy="820738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sz="2500" b="1">
                <a:solidFill>
                  <a:srgbClr val="2E74B5"/>
                </a:solidFill>
                <a:latin typeface="Aptos" panose="020B0004020202020204" pitchFamily="34" charset="0"/>
              </a:rPr>
              <a:t>Low area is a safety signal. Candidate-level validation is the missing correctness signal.</a:t>
            </a:r>
            <a:endParaRPr lang="en-GB" sz="2500" b="1">
              <a:solidFill>
                <a:srgbClr val="2E74B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492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4289B6-2DDF-3BEC-7397-8942660CDF4E}"/>
              </a:ext>
            </a:extLst>
          </p:cNvPr>
          <p:cNvSpPr txBox="1"/>
          <p:nvPr/>
        </p:nvSpPr>
        <p:spPr>
          <a:xfrm>
            <a:off x="609600" y="381000"/>
            <a:ext cx="10668000" cy="589905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US" sz="3500" b="1">
                <a:solidFill>
                  <a:srgbClr val="0B2545"/>
                </a:solidFill>
                <a:latin typeface="Aptos" panose="020B0004020202020204" pitchFamily="34" charset="0"/>
              </a:rPr>
              <a:t>Improve recall locally, not globally</a:t>
            </a:r>
            <a:endParaRPr lang="en-GB" sz="3500" b="1">
              <a:solidFill>
                <a:srgbClr val="0B2545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65EF54-3AB2-85FF-1ED2-4B24778DC4B0}"/>
              </a:ext>
            </a:extLst>
          </p:cNvPr>
          <p:cNvSpPr txBox="1"/>
          <p:nvPr/>
        </p:nvSpPr>
        <p:spPr>
          <a:xfrm>
            <a:off x="11430000" y="431800"/>
            <a:ext cx="444500" cy="25135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r"/>
            <a:r>
              <a:rPr lang="en-GB" sz="1300" b="1">
                <a:solidFill>
                  <a:srgbClr val="2E74B5"/>
                </a:solidFill>
                <a:latin typeface="Aptos" panose="020B0004020202020204" pitchFamily="34" charset="0"/>
              </a:rPr>
              <a:t>08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1A2F0D-9019-B851-58E9-42C58F4869C1}"/>
              </a:ext>
            </a:extLst>
          </p:cNvPr>
          <p:cNvCxnSpPr/>
          <p:nvPr/>
        </p:nvCxnSpPr>
        <p:spPr>
          <a:xfrm>
            <a:off x="609600" y="1168400"/>
            <a:ext cx="1097280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74968C8-795C-2933-8770-96775673F951}"/>
              </a:ext>
            </a:extLst>
          </p:cNvPr>
          <p:cNvSpPr txBox="1"/>
          <p:nvPr/>
        </p:nvSpPr>
        <p:spPr>
          <a:xfrm>
            <a:off x="889000" y="1587500"/>
            <a:ext cx="10414000" cy="482183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sz="2800" b="1">
                <a:solidFill>
                  <a:srgbClr val="0B2545"/>
                </a:solidFill>
                <a:latin typeface="Aptos" panose="020B0004020202020204" pitchFamily="34" charset="0"/>
              </a:rPr>
              <a:t>Retain MTO Phase 2 as the conservative diagnostic baseline.</a:t>
            </a:r>
            <a:endParaRPr lang="en-GB" sz="2800" b="1">
              <a:solidFill>
                <a:srgbClr val="0B2545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EB9A51-605D-C81A-A464-4370FCDCD398}"/>
              </a:ext>
            </a:extLst>
          </p:cNvPr>
          <p:cNvSpPr txBox="1"/>
          <p:nvPr/>
        </p:nvSpPr>
        <p:spPr>
          <a:xfrm>
            <a:off x="1143000" y="2857500"/>
            <a:ext cx="571500" cy="451406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2600" b="1">
                <a:solidFill>
                  <a:srgbClr val="2E74B5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5C4B9B-6C39-1AA5-5CE3-711E0D424C42}"/>
              </a:ext>
            </a:extLst>
          </p:cNvPr>
          <p:cNvSpPr txBox="1"/>
          <p:nvPr/>
        </p:nvSpPr>
        <p:spPr>
          <a:xfrm>
            <a:off x="1841500" y="2794000"/>
            <a:ext cx="8890000" cy="37446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US" sz="2100" b="1">
                <a:solidFill>
                  <a:srgbClr val="4B4B4B"/>
                </a:solidFill>
                <a:latin typeface="Aptos" panose="020B0004020202020204" pitchFamily="34" charset="0"/>
              </a:rPr>
              <a:t>Score gate credibility and match candidates explicitly</a:t>
            </a:r>
            <a:endParaRPr lang="en-GB" sz="2100" b="1">
              <a:solidFill>
                <a:srgbClr val="4B4B4B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D7AC91-9466-071B-FBFD-FC39EB4259D5}"/>
              </a:ext>
            </a:extLst>
          </p:cNvPr>
          <p:cNvSpPr txBox="1"/>
          <p:nvPr/>
        </p:nvSpPr>
        <p:spPr>
          <a:xfrm>
            <a:off x="1143000" y="3683000"/>
            <a:ext cx="571500" cy="451406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2600" b="1">
                <a:solidFill>
                  <a:srgbClr val="2E74B5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179224-AEA1-BDC1-582F-E82D97218693}"/>
              </a:ext>
            </a:extLst>
          </p:cNvPr>
          <p:cNvSpPr txBox="1"/>
          <p:nvPr/>
        </p:nvSpPr>
        <p:spPr>
          <a:xfrm>
            <a:off x="1841500" y="3619500"/>
            <a:ext cx="8890000" cy="37446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US" sz="2100" b="1">
                <a:solidFill>
                  <a:srgbClr val="4B4B4B"/>
                </a:solidFill>
                <a:latin typeface="Aptos" panose="020B0004020202020204" pitchFamily="34" charset="0"/>
              </a:rPr>
              <a:t>Add native-coordinate accounting and morphology protection</a:t>
            </a:r>
            <a:endParaRPr lang="en-GB" sz="2100" b="1">
              <a:solidFill>
                <a:srgbClr val="4B4B4B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67D2C2-4442-7BD3-FAF2-1B452BAAF64D}"/>
              </a:ext>
            </a:extLst>
          </p:cNvPr>
          <p:cNvSpPr txBox="1"/>
          <p:nvPr/>
        </p:nvSpPr>
        <p:spPr>
          <a:xfrm>
            <a:off x="1143000" y="4508500"/>
            <a:ext cx="571500" cy="451406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GB" sz="2600" b="1">
                <a:solidFill>
                  <a:srgbClr val="2E74B5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45C486-5321-9431-8975-2AAD508E232F}"/>
              </a:ext>
            </a:extLst>
          </p:cNvPr>
          <p:cNvSpPr txBox="1"/>
          <p:nvPr/>
        </p:nvSpPr>
        <p:spPr>
          <a:xfrm>
            <a:off x="1841500" y="4445000"/>
            <a:ext cx="8890000" cy="37446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US" sz="2100" b="1">
                <a:solidFill>
                  <a:srgbClr val="4B4B4B"/>
                </a:solidFill>
                <a:latin typeface="Aptos" panose="020B0004020202020204" pitchFamily="34" charset="0"/>
              </a:rPr>
              <a:t>Recover only credible misses with a tightly constrained local search</a:t>
            </a:r>
            <a:endParaRPr lang="en-GB" sz="2100" b="1">
              <a:solidFill>
                <a:srgbClr val="4B4B4B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A617A0-424A-E144-B2BD-A729E4EEA10C}"/>
              </a:ext>
            </a:extLst>
          </p:cNvPr>
          <p:cNvSpPr txBox="1"/>
          <p:nvPr/>
        </p:nvSpPr>
        <p:spPr>
          <a:xfrm>
            <a:off x="1270000" y="5651500"/>
            <a:ext cx="9652000" cy="666849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sz="2000" b="1">
                <a:solidFill>
                  <a:srgbClr val="2D7D4F"/>
                </a:solidFill>
                <a:latin typeface="Aptos" panose="020B0004020202020204" pitchFamily="34" charset="0"/>
              </a:rPr>
              <a:t>Release target: &gt;=70% credible-candidate recovery, &gt;=75% detection, no coherent galaxy-structure loss.</a:t>
            </a:r>
            <a:endParaRPr lang="en-GB" sz="2000" b="1">
              <a:solidFill>
                <a:srgbClr val="2D7D4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302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431</Words>
  <Application>Microsoft Office PowerPoint</Application>
  <PresentationFormat>Custom</PresentationFormat>
  <Paragraphs>87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Gordon Bowser (Student)</dc:creator>
  <cp:lastModifiedBy>Gordon Bowser (Student)</cp:lastModifiedBy>
  <cp:revision>1</cp:revision>
  <dcterms:created xsi:type="dcterms:W3CDTF">2026-08-20T14:56:57Z</dcterms:created>
  <dcterms:modified xsi:type="dcterms:W3CDTF">2026-08-20T14:56:57Z</dcterms:modified>
</cp:coreProperties>
</file>