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0FB69-FDEC-4F5B-AF45-C0EA070E00BB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4E601-84EF-41AC-991C-05C29B40E0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47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Project SEP and MTObjects optimisation outputs; comparison report dated 17 August 2026.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46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[Sources]</a:t>
            </a:r>
          </a:p>
          <a:p>
            <a:r>
              <a:rPr lang="en-GB"/>
              <a:t>Project comparison report, sections 4â€“5.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29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SEP science-image CV run 20260817_161404; MTObjects recovery run 20260816_063455.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931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Held-out means calculated from four-fold SEP and MTObjects result summaries.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665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SEP and MTObjects 182-galaxy apply-summary CSV files.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46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[Sources]</a:t>
            </a:r>
          </a:p>
          <a:p>
            <a:r>
              <a:rPr lang="en-GB"/>
              <a:t>User-generated PNG reports: D:\Dropbox\Public Documents\UCLAN\MSc Research\Remove foreground objects\SEP all galaxy batch\sep_toy_cv_20260817_161404\NGC1313_sep_thr2.0_area12_deb0.0010_dil4.png ; D:\Dropbox\Public Documents\UCLAN\MSc Research\Remove foreground objects\mtobjects all galaxy batch\mtobjects_toy_recovery_20260816_063455_eight_panel_aligned\NGC1313_mtobjects_optimised_report.png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25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Project comparison report, decision and operating recommendation.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585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Recommendations derived from observed cross-validation and production-tail behaviour.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299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Photutils SourceFinder: https://photutils.readthedocs.io/en/stable/api/photutils.segmentation.SourceFinder.html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4E601-84EF-41AC-991C-05C29B40E08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944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932E-C51E-D1B1-EA22-60F03E8EC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E5CC0-13BC-9111-EA90-7EC9A4B05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87FD-B1DB-2338-1D13-9DE05FFD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6B76D-D9C9-2EFE-70DA-B85691CA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29E4A-8D8D-E245-BFA8-827C1AAF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02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67DB-80D4-FFC3-8097-7C1221C8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70B5F-24E6-2249-0F3D-6CFEFDE0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0458E-1887-39D9-E0EB-DF79C0F8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1CC6-415E-A6F8-6DB8-D4964CBB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5B51-0B41-A215-53AB-A8470102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9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AEEA-74F8-2752-CB5B-AD5B8E45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07592-3CD2-994D-994A-F9E5F1314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C5DB0-A4B1-0CDF-FCFB-1950211A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BE705-1A57-81AE-447A-5C3BC8E2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516A3-BA36-8D03-0D28-DCF372A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42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A9D8-9CE5-1BFB-BC8B-D13EDE85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FFF-82B6-05FF-D2C4-CDEC41F33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562D1-89FA-9247-CEFE-E28D6D0D6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C6A17-7B09-AF7E-7C95-191C7220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FE5FC-EC15-8795-F6C7-02E4A703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379DF-904D-53E3-40F6-AC8ED164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27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1E598-3F17-BE17-A939-65754503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B851-8F0D-17F4-4764-851646B3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DFF8D-B6E0-561D-DFCB-2AF962C54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21D07-50EE-4C32-C3D0-D01A67023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A45B5-FFA7-B0D9-FF5D-DEFE1EBE7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40A3F2-3266-AA15-EA88-DA0E533E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DF231-3993-4EC4-13D7-628B4ADF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740A4-EABF-FBDB-D7B1-7973F767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83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35C4-D660-D0B5-DB83-AE51F4EE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C0627-0D09-1AE4-CE1E-6D2D64F5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B97F0-E910-A329-23E3-6E8C488A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771A1-1CD1-9526-056C-16559FC6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4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FE3EA-34AA-1116-F199-D5DF4859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B8557-55E6-D67F-C3F9-F9473E29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5E5B7-B3C5-165E-9552-3B9A6843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43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FD8D-EDBE-10A3-7C8C-E16731C0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EB51-F946-7601-8B0C-AB4BCBB79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F52A2-C4F9-9326-A82A-A4BA277E6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B322D-0997-08D0-FFC5-4F9A683D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390EB-831A-146C-3099-874F742C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37F72-E748-9A4D-DB81-380BCDD1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85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A759-304E-F871-1ED5-4F317500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B05CA-9818-6703-D58E-40DC604C2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A6B59-17CF-F9A7-5C4E-B63935EFC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6FED8-5F29-671D-48EC-3FA5C18D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79D3B-B0C4-4C65-E0DF-F4C0F62D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C1320-E236-EA6A-34BA-405D882D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79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2450-1614-8D36-61CE-3D4D3CD6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D8EFA-DA96-3C6E-D91D-B74023CCE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37AE-8E29-125C-73C6-00529A0C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EF35D-8619-FE75-B9EF-75093632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ABF19-9069-B0C9-AA32-39EFEFF2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92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1900B-96D8-C4DF-B0E0-B829B2CDD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2A9E5-64FE-40B0-484C-3D955CE08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02E07-5B6E-4F3A-A804-FB63C484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8583-C1B0-0255-2012-48203726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DA607-4125-4E52-9A80-049F23A9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0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350A8-A6B3-FA43-80F2-C42032C9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7701-F892-1075-5897-7C58FCE15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09D7-C3D9-4366-CE99-6EB46D841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8D119-7134-4728-8924-9D3C1DFD0C55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7F1EB-E9D6-16D3-E960-F33EF9D1A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2C18-D4F2-3D76-E51E-3C34007A6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475E-0015-4C8C-BB79-B946DCA6B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06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75EC3-2EF6-511D-5CF8-B35F8F528418}"/>
              </a:ext>
            </a:extLst>
          </p:cNvPr>
          <p:cNvSpPr txBox="1"/>
          <p:nvPr/>
        </p:nvSpPr>
        <p:spPr>
          <a:xfrm>
            <a:off x="914400" y="863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MASKING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33DA5-3D4E-4BFC-7247-8B761223D640}"/>
              </a:ext>
            </a:extLst>
          </p:cNvPr>
          <p:cNvSpPr txBox="1"/>
          <p:nvPr/>
        </p:nvSpPr>
        <p:spPr>
          <a:xfrm>
            <a:off x="914400" y="2413000"/>
            <a:ext cx="10414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5800" b="1">
                <a:solidFill>
                  <a:srgbClr val="000000"/>
                </a:solidFill>
                <a:latin typeface="Arial" panose="020B0604020202020204" pitchFamily="34" charset="0"/>
              </a:rPr>
              <a:t>SEP or MTObjects?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59C8D-12BF-1F7E-A5AF-E2A3215B5A1E}"/>
              </a:ext>
            </a:extLst>
          </p:cNvPr>
          <p:cNvSpPr txBox="1"/>
          <p:nvPr/>
        </p:nvSpPr>
        <p:spPr>
          <a:xfrm>
            <a:off x="914400" y="3632200"/>
            <a:ext cx="1092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>
                <a:solidFill>
                  <a:srgbClr val="666666"/>
                </a:solidFill>
                <a:latin typeface="Arial" panose="020B0604020202020204" pitchFamily="34" charset="0"/>
              </a:rPr>
              <a:t>Evidence from four-fold toy-object optimisation and 182-galaxy production runs</a:t>
            </a:r>
            <a:endParaRPr lang="en-GB" sz="27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12202-10F7-ED1B-C151-2E77A3116716}"/>
              </a:ext>
            </a:extLst>
          </p:cNvPr>
          <p:cNvSpPr/>
          <p:nvPr/>
        </p:nvSpPr>
        <p:spPr>
          <a:xfrm>
            <a:off x="914400" y="5207000"/>
            <a:ext cx="14427200" cy="508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0CC83-34B7-A571-BFBC-D10FC087F49F}"/>
              </a:ext>
            </a:extLst>
          </p:cNvPr>
          <p:cNvSpPr txBox="1"/>
          <p:nvPr/>
        </p:nvSpPr>
        <p:spPr>
          <a:xfrm>
            <a:off x="914400" y="5715000"/>
            <a:ext cx="1244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Recommendation: use MTObjects first, with SEP as a gated diagnostic.</a:t>
            </a:r>
            <a:endParaRPr lang="en-GB" sz="2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1167A-3CAF-93EE-3D9B-CEF43164AC48}"/>
              </a:ext>
            </a:extLst>
          </p:cNvPr>
          <p:cNvSpPr txBox="1"/>
          <p:nvPr/>
        </p:nvSpPr>
        <p:spPr>
          <a:xfrm>
            <a:off x="914400" y="79248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66666"/>
                </a:solidFill>
                <a:latin typeface="Arial" panose="020B0604020202020204" pitchFamily="34" charset="0"/>
              </a:rPr>
              <a:t>Decision briefing | 17 August 2026</a:t>
            </a:r>
            <a:endParaRPr lang="en-GB" sz="16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49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2FDE5-ED14-A665-FFF9-70C58F44C966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The evidence supports MTObjects-led gated processing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C1FE-A3DC-66FB-FBE8-DA37599CA66A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CBECDE-6FF3-C9F6-9CEF-71D390514FA6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DF4919-12C4-2AA4-AB88-079DF290405A}"/>
              </a:ext>
            </a:extLst>
          </p:cNvPr>
          <p:cNvSpPr txBox="1"/>
          <p:nvPr/>
        </p:nvSpPr>
        <p:spPr>
          <a:xfrm>
            <a:off x="812800" y="1905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PRIMARY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5A728-6428-1D13-45CC-FAFEDB9EFABA}"/>
              </a:ext>
            </a:extLst>
          </p:cNvPr>
          <p:cNvSpPr txBox="1"/>
          <p:nvPr/>
        </p:nvSpPr>
        <p:spPr>
          <a:xfrm>
            <a:off x="812800" y="2514600"/>
            <a:ext cx="6350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MTObjects recovers more toys.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D4611-DE41-8D4B-A576-19616EDD027B}"/>
              </a:ext>
            </a:extLst>
          </p:cNvPr>
          <p:cNvSpPr txBox="1"/>
          <p:nvPr/>
        </p:nvSpPr>
        <p:spPr>
          <a:xfrm>
            <a:off x="812800" y="3429000"/>
            <a:ext cx="635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>
                <a:solidFill>
                  <a:srgbClr val="666666"/>
                </a:solidFill>
                <a:latin typeface="Arial" panose="020B0604020202020204" pitchFamily="34" charset="0"/>
              </a:rPr>
              <a:t>It also has the safer upper masking tail.</a:t>
            </a:r>
            <a:endParaRPr lang="en-GB" sz="26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0EFAA-31DE-1482-498C-4D897A1493DE}"/>
              </a:ext>
            </a:extLst>
          </p:cNvPr>
          <p:cNvSpPr/>
          <p:nvPr/>
        </p:nvSpPr>
        <p:spPr>
          <a:xfrm>
            <a:off x="8001000" y="1930400"/>
            <a:ext cx="25400" cy="5334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FA3F2-6BDC-4D91-976C-E274258AD796}"/>
              </a:ext>
            </a:extLst>
          </p:cNvPr>
          <p:cNvSpPr txBox="1"/>
          <p:nvPr/>
        </p:nvSpPr>
        <p:spPr>
          <a:xfrm>
            <a:off x="8686800" y="1905000"/>
            <a:ext cx="558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0000"/>
                </a:solidFill>
                <a:latin typeface="Arial" panose="020B0604020202020204" pitchFamily="34" charset="0"/>
              </a:rPr>
              <a:t>Operating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79ED7-7636-2508-0401-A61EC129A928}"/>
              </a:ext>
            </a:extLst>
          </p:cNvPr>
          <p:cNvSpPr txBox="1"/>
          <p:nvPr/>
        </p:nvSpPr>
        <p:spPr>
          <a:xfrm>
            <a:off x="8686800" y="2590800"/>
            <a:ext cx="5969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Use MTObjects as the default mask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Use science-image SEP as an independent check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Review algorithm-only components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Quarantine masks above 15% or with profile damage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19B795-B917-2419-E21B-3FA5C0FF57D0}"/>
              </a:ext>
            </a:extLst>
          </p:cNvPr>
          <p:cNvSpPr/>
          <p:nvPr/>
        </p:nvSpPr>
        <p:spPr>
          <a:xfrm>
            <a:off x="8686800" y="6667500"/>
            <a:ext cx="5969000" cy="812800"/>
          </a:xfrm>
          <a:prstGeom prst="rect">
            <a:avLst/>
          </a:prstGeom>
          <a:solidFill>
            <a:srgbClr val="E8F3E1"/>
          </a:solidFill>
          <a:ln>
            <a:solidFill>
              <a:srgbClr val="E8F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091-1066-0FBC-DBB1-15629605D112}"/>
              </a:ext>
            </a:extLst>
          </p:cNvPr>
          <p:cNvSpPr txBox="1"/>
          <p:nvPr/>
        </p:nvSpPr>
        <p:spPr>
          <a:xfrm>
            <a:off x="8940800" y="6883400"/>
            <a:ext cx="546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0000"/>
                </a:solidFill>
                <a:latin typeface="Arial" panose="020B0604020202020204" pitchFamily="34" charset="0"/>
              </a:rPr>
              <a:t>One unattended method: MTObjects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7744A-0AA9-599A-344F-23AA547AFFD9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0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8511D7-0F01-4B82-2DC1-21A5590CE1A1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The comparison separates recovery from production risk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7CF4A-B202-1EED-8F8E-B97E49F72A07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4F1EF-FF1C-677D-E6C8-F24C840686C1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B3AD567-1ECF-A134-2AD4-858A3350A0A1}"/>
              </a:ext>
            </a:extLst>
          </p:cNvPr>
          <p:cNvSpPr/>
          <p:nvPr/>
        </p:nvSpPr>
        <p:spPr>
          <a:xfrm>
            <a:off x="9906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E92B3-DD68-310C-4A5C-7B5EE058CC00}"/>
              </a:ext>
            </a:extLst>
          </p:cNvPr>
          <p:cNvSpPr txBox="1"/>
          <p:nvPr/>
        </p:nvSpPr>
        <p:spPr>
          <a:xfrm>
            <a:off x="12446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76880-A2F2-DDD6-A23B-FB241761B4D6}"/>
              </a:ext>
            </a:extLst>
          </p:cNvPr>
          <p:cNvSpPr txBox="1"/>
          <p:nvPr/>
        </p:nvSpPr>
        <p:spPr>
          <a:xfrm>
            <a:off x="12446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AF30F-E8E8-C846-C6D2-EF5366A440AB}"/>
              </a:ext>
            </a:extLst>
          </p:cNvPr>
          <p:cNvSpPr txBox="1"/>
          <p:nvPr/>
        </p:nvSpPr>
        <p:spPr>
          <a:xfrm>
            <a:off x="12446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0DD77-7361-20FD-B173-F740245D8D39}"/>
              </a:ext>
            </a:extLst>
          </p:cNvPr>
          <p:cNvSpPr txBox="1"/>
          <p:nvPr/>
        </p:nvSpPr>
        <p:spPr>
          <a:xfrm>
            <a:off x="12446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43590F-51A7-38FC-6B38-6025A6DCD085}"/>
              </a:ext>
            </a:extLst>
          </p:cNvPr>
          <p:cNvSpPr/>
          <p:nvPr/>
        </p:nvSpPr>
        <p:spPr>
          <a:xfrm>
            <a:off x="46101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0B42F-9090-269B-9CF1-03589CC7AE4F}"/>
              </a:ext>
            </a:extLst>
          </p:cNvPr>
          <p:cNvSpPr txBox="1"/>
          <p:nvPr/>
        </p:nvSpPr>
        <p:spPr>
          <a:xfrm>
            <a:off x="48641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E13CA-D11A-1FCA-50A6-F03E710BD788}"/>
              </a:ext>
            </a:extLst>
          </p:cNvPr>
          <p:cNvSpPr txBox="1"/>
          <p:nvPr/>
        </p:nvSpPr>
        <p:spPr>
          <a:xfrm>
            <a:off x="48641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47758-3F47-7435-356D-553FA7DB3D84}"/>
              </a:ext>
            </a:extLst>
          </p:cNvPr>
          <p:cNvSpPr txBox="1"/>
          <p:nvPr/>
        </p:nvSpPr>
        <p:spPr>
          <a:xfrm>
            <a:off x="48641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2D15C-23B1-C956-04D7-9EB17DF62990}"/>
              </a:ext>
            </a:extLst>
          </p:cNvPr>
          <p:cNvSpPr txBox="1"/>
          <p:nvPr/>
        </p:nvSpPr>
        <p:spPr>
          <a:xfrm>
            <a:off x="48641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7B2AD8-03E2-AEC3-7CF6-2978BE84499C}"/>
              </a:ext>
            </a:extLst>
          </p:cNvPr>
          <p:cNvSpPr/>
          <p:nvPr/>
        </p:nvSpPr>
        <p:spPr>
          <a:xfrm>
            <a:off x="82296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61E37-BBC4-421D-0104-8518A886D716}"/>
              </a:ext>
            </a:extLst>
          </p:cNvPr>
          <p:cNvSpPr txBox="1"/>
          <p:nvPr/>
        </p:nvSpPr>
        <p:spPr>
          <a:xfrm>
            <a:off x="84836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8C512-48C1-3141-69CA-63DD42DB6140}"/>
              </a:ext>
            </a:extLst>
          </p:cNvPr>
          <p:cNvSpPr txBox="1"/>
          <p:nvPr/>
        </p:nvSpPr>
        <p:spPr>
          <a:xfrm>
            <a:off x="84836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D8D992-CE0A-5180-BB4C-208659A79579}"/>
              </a:ext>
            </a:extLst>
          </p:cNvPr>
          <p:cNvSpPr txBox="1"/>
          <p:nvPr/>
        </p:nvSpPr>
        <p:spPr>
          <a:xfrm>
            <a:off x="84836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816524-9864-9AB9-4D76-B2FD5294F9BE}"/>
              </a:ext>
            </a:extLst>
          </p:cNvPr>
          <p:cNvSpPr txBox="1"/>
          <p:nvPr/>
        </p:nvSpPr>
        <p:spPr>
          <a:xfrm>
            <a:off x="84836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11DB68-8E8A-4579-7934-5CD534BEC5C1}"/>
              </a:ext>
            </a:extLst>
          </p:cNvPr>
          <p:cNvSpPr/>
          <p:nvPr/>
        </p:nvSpPr>
        <p:spPr>
          <a:xfrm>
            <a:off x="11849100" y="2349500"/>
            <a:ext cx="3175000" cy="2667000"/>
          </a:xfrm>
          <a:prstGeom prst="rect">
            <a:avLst/>
          </a:prstGeom>
          <a:solidFill>
            <a:srgbClr val="FAEDD0"/>
          </a:solidFill>
          <a:ln>
            <a:solidFill>
              <a:srgbClr val="FAE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326118-19FA-E8AE-59E5-EFCC025B556C}"/>
              </a:ext>
            </a:extLst>
          </p:cNvPr>
          <p:cNvSpPr txBox="1"/>
          <p:nvPr/>
        </p:nvSpPr>
        <p:spPr>
          <a:xfrm>
            <a:off x="121031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EFD751-526E-02CC-31C1-F178C70ECE53}"/>
              </a:ext>
            </a:extLst>
          </p:cNvPr>
          <p:cNvSpPr txBox="1"/>
          <p:nvPr/>
        </p:nvSpPr>
        <p:spPr>
          <a:xfrm>
            <a:off x="121031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0A9ED-E5ED-6E97-A67A-1EA63F246A89}"/>
              </a:ext>
            </a:extLst>
          </p:cNvPr>
          <p:cNvSpPr txBox="1"/>
          <p:nvPr/>
        </p:nvSpPr>
        <p:spPr>
          <a:xfrm>
            <a:off x="121031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C0B50D-CE2E-7C2F-BF23-8F47D44AA3DF}"/>
              </a:ext>
            </a:extLst>
          </p:cNvPr>
          <p:cNvSpPr txBox="1"/>
          <p:nvPr/>
        </p:nvSpPr>
        <p:spPr>
          <a:xfrm>
            <a:off x="121031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ECEA41-2FC3-C558-1F8F-F1A9FF75886C}"/>
              </a:ext>
            </a:extLst>
          </p:cNvPr>
          <p:cNvSpPr txBox="1"/>
          <p:nvPr/>
        </p:nvSpPr>
        <p:spPr>
          <a:xfrm>
            <a:off x="990600" y="5664200"/>
            <a:ext cx="13589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Then: selected model to all 182 galaxies, producing aligned eight-panel PNG reports</a:t>
            </a:r>
            <a:endParaRPr lang="en-GB" sz="2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87A94E-70FD-2D99-B00B-3B9478518DE6}"/>
              </a:ext>
            </a:extLst>
          </p:cNvPr>
          <p:cNvSpPr txBox="1"/>
          <p:nvPr/>
        </p:nvSpPr>
        <p:spPr>
          <a:xfrm>
            <a:off x="990600" y="6654800"/>
            <a:ext cx="13716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666666"/>
                </a:solidFill>
                <a:latin typeface="Arial" panose="020B0604020202020204" pitchFamily="34" charset="0"/>
              </a:rPr>
              <a:t>Caveat: the SEP and MTObjects runs used different toy-injection seeds and different scalar objectives. Compare shared recovery and masking metrics, not raw objective scores.</a:t>
            </a:r>
            <a:endParaRPr lang="en-GB" sz="19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7EE4D-5ABB-BAC8-DBBE-4FE3C1C551AD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57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679D8-E843-F623-9E33-C23C53376873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MTObjects recovered more contaminants across held-out folds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41B0C-9107-A054-2DB0-732CF928FC03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C5A1C0-1F77-62F4-42FB-F839A64A4303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2262DF5-1909-54B5-49FF-2CB1C9B5D100}"/>
              </a:ext>
            </a:extLst>
          </p:cNvPr>
          <p:cNvSpPr txBox="1"/>
          <p:nvPr/>
        </p:nvSpPr>
        <p:spPr>
          <a:xfrm>
            <a:off x="965200" y="1778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000" b="1">
                <a:solidFill>
                  <a:srgbClr val="666666"/>
                </a:solidFill>
                <a:latin typeface="Arial" panose="020B0604020202020204" pitchFamily="34" charset="0"/>
              </a:rPr>
              <a:t>Four-fold held-out mean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662F8-47E7-F5AB-FC87-2658683FB2BD}"/>
              </a:ext>
            </a:extLst>
          </p:cNvPr>
          <p:cNvSpPr txBox="1"/>
          <p:nvPr/>
        </p:nvSpPr>
        <p:spPr>
          <a:xfrm>
            <a:off x="965200" y="2603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recall | SEP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3B01A-2D2D-AEF6-D30F-270B86343D0F}"/>
              </a:ext>
            </a:extLst>
          </p:cNvPr>
          <p:cNvSpPr/>
          <p:nvPr/>
        </p:nvSpPr>
        <p:spPr>
          <a:xfrm>
            <a:off x="3759200" y="2628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B6E83-6525-679E-6D85-0C8348EC7B37}"/>
              </a:ext>
            </a:extLst>
          </p:cNvPr>
          <p:cNvSpPr/>
          <p:nvPr/>
        </p:nvSpPr>
        <p:spPr>
          <a:xfrm>
            <a:off x="3759200" y="2628900"/>
            <a:ext cx="4019127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579B2-67A6-7A0E-9A92-2C98D5A27478}"/>
              </a:ext>
            </a:extLst>
          </p:cNvPr>
          <p:cNvSpPr txBox="1"/>
          <p:nvPr/>
        </p:nvSpPr>
        <p:spPr>
          <a:xfrm>
            <a:off x="9855200" y="2603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40.4%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23A50-3231-625F-125F-A62845BF56D4}"/>
              </a:ext>
            </a:extLst>
          </p:cNvPr>
          <p:cNvSpPr txBox="1"/>
          <p:nvPr/>
        </p:nvSpPr>
        <p:spPr>
          <a:xfrm>
            <a:off x="965200" y="3238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recall | MTO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C7876-3DBF-4629-B081-998AC642FFB3}"/>
              </a:ext>
            </a:extLst>
          </p:cNvPr>
          <p:cNvSpPr/>
          <p:nvPr/>
        </p:nvSpPr>
        <p:spPr>
          <a:xfrm>
            <a:off x="3759200" y="3263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776AC-E3BF-4485-1A0D-DAE24A0BEFA8}"/>
              </a:ext>
            </a:extLst>
          </p:cNvPr>
          <p:cNvSpPr/>
          <p:nvPr/>
        </p:nvSpPr>
        <p:spPr>
          <a:xfrm>
            <a:off x="3759200" y="3263900"/>
            <a:ext cx="4735407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FE0DF-D9E8-3929-3970-27F4A8505CC4}"/>
              </a:ext>
            </a:extLst>
          </p:cNvPr>
          <p:cNvSpPr txBox="1"/>
          <p:nvPr/>
        </p:nvSpPr>
        <p:spPr>
          <a:xfrm>
            <a:off x="9855200" y="3238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47.6%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D8E4F-7B06-43A2-58B5-6A42DF2B2813}"/>
              </a:ext>
            </a:extLst>
          </p:cNvPr>
          <p:cNvSpPr txBox="1"/>
          <p:nvPr/>
        </p:nvSpPr>
        <p:spPr>
          <a:xfrm>
            <a:off x="965200" y="425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detection | SEP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08393-1EF6-33F4-2194-83FF8EFFD69E}"/>
              </a:ext>
            </a:extLst>
          </p:cNvPr>
          <p:cNvSpPr/>
          <p:nvPr/>
        </p:nvSpPr>
        <p:spPr>
          <a:xfrm>
            <a:off x="3759200" y="4279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F1E79-BB03-3487-BF41-D51F86113D56}"/>
              </a:ext>
            </a:extLst>
          </p:cNvPr>
          <p:cNvSpPr/>
          <p:nvPr/>
        </p:nvSpPr>
        <p:spPr>
          <a:xfrm>
            <a:off x="3759200" y="4279900"/>
            <a:ext cx="4058920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D363D-14B3-4DD5-60EC-4292D5268793}"/>
              </a:ext>
            </a:extLst>
          </p:cNvPr>
          <p:cNvSpPr txBox="1"/>
          <p:nvPr/>
        </p:nvSpPr>
        <p:spPr>
          <a:xfrm>
            <a:off x="9855200" y="425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40.8%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7BDEAA-6EEC-47BF-F0F3-1C12D464F8E1}"/>
              </a:ext>
            </a:extLst>
          </p:cNvPr>
          <p:cNvSpPr txBox="1"/>
          <p:nvPr/>
        </p:nvSpPr>
        <p:spPr>
          <a:xfrm>
            <a:off x="965200" y="488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detection | MTO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648762-857C-DBE8-C3B2-38D6621F40A6}"/>
              </a:ext>
            </a:extLst>
          </p:cNvPr>
          <p:cNvSpPr/>
          <p:nvPr/>
        </p:nvSpPr>
        <p:spPr>
          <a:xfrm>
            <a:off x="3759200" y="4914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849421-7625-DD8D-4C39-3D07EE2C4643}"/>
              </a:ext>
            </a:extLst>
          </p:cNvPr>
          <p:cNvSpPr/>
          <p:nvPr/>
        </p:nvSpPr>
        <p:spPr>
          <a:xfrm>
            <a:off x="3759200" y="4914900"/>
            <a:ext cx="5013960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EFEE15-21D8-0EB5-70C2-22C769752E51}"/>
              </a:ext>
            </a:extLst>
          </p:cNvPr>
          <p:cNvSpPr txBox="1"/>
          <p:nvPr/>
        </p:nvSpPr>
        <p:spPr>
          <a:xfrm>
            <a:off x="9855200" y="488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50.4%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B79C4-0276-2917-A771-CF24CC4D4035}"/>
              </a:ext>
            </a:extLst>
          </p:cNvPr>
          <p:cNvSpPr txBox="1"/>
          <p:nvPr/>
        </p:nvSpPr>
        <p:spPr>
          <a:xfrm>
            <a:off x="965200" y="615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Masked area | SEP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EE7F78-C42D-8356-AED7-B92F7FDB8FF3}"/>
              </a:ext>
            </a:extLst>
          </p:cNvPr>
          <p:cNvSpPr/>
          <p:nvPr/>
        </p:nvSpPr>
        <p:spPr>
          <a:xfrm>
            <a:off x="3759200" y="6184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5E0E82-35FC-D7FA-E328-B6DA89506BF7}"/>
              </a:ext>
            </a:extLst>
          </p:cNvPr>
          <p:cNvSpPr/>
          <p:nvPr/>
        </p:nvSpPr>
        <p:spPr>
          <a:xfrm>
            <a:off x="3759200" y="6184900"/>
            <a:ext cx="1949873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7774C0-135A-9DAB-E934-47674B4BEFE9}"/>
              </a:ext>
            </a:extLst>
          </p:cNvPr>
          <p:cNvSpPr txBox="1"/>
          <p:nvPr/>
        </p:nvSpPr>
        <p:spPr>
          <a:xfrm>
            <a:off x="9855200" y="615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ADC5C3-A7D0-3EA2-E108-2B4D2EC4DC5C}"/>
              </a:ext>
            </a:extLst>
          </p:cNvPr>
          <p:cNvSpPr txBox="1"/>
          <p:nvPr/>
        </p:nvSpPr>
        <p:spPr>
          <a:xfrm>
            <a:off x="965200" y="679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Masked area | MTO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113B86-27D1-0652-769A-F189399C0AB3}"/>
              </a:ext>
            </a:extLst>
          </p:cNvPr>
          <p:cNvSpPr/>
          <p:nvPr/>
        </p:nvSpPr>
        <p:spPr>
          <a:xfrm>
            <a:off x="3759200" y="6819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09E256-1423-23B7-1C8F-9B21DFC3E072}"/>
              </a:ext>
            </a:extLst>
          </p:cNvPr>
          <p:cNvSpPr/>
          <p:nvPr/>
        </p:nvSpPr>
        <p:spPr>
          <a:xfrm>
            <a:off x="3759200" y="6819900"/>
            <a:ext cx="2984500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51A2E3-B4A5-85D3-7E21-1DFB5BC3D59B}"/>
              </a:ext>
            </a:extLst>
          </p:cNvPr>
          <p:cNvSpPr txBox="1"/>
          <p:nvPr/>
        </p:nvSpPr>
        <p:spPr>
          <a:xfrm>
            <a:off x="9855200" y="679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7.5%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872B58-50F7-F84D-7B9A-8C021CD0C625}"/>
              </a:ext>
            </a:extLst>
          </p:cNvPr>
          <p:cNvSpPr/>
          <p:nvPr/>
        </p:nvSpPr>
        <p:spPr>
          <a:xfrm>
            <a:off x="11366500" y="2349500"/>
            <a:ext cx="3619500" cy="36830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2631F6-3681-72D6-3DBD-8FF67BA6229B}"/>
              </a:ext>
            </a:extLst>
          </p:cNvPr>
          <p:cNvSpPr txBox="1"/>
          <p:nvPr/>
        </p:nvSpPr>
        <p:spPr>
          <a:xfrm>
            <a:off x="11747500" y="2819400"/>
            <a:ext cx="279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800" b="1">
                <a:solidFill>
                  <a:srgbClr val="00527A"/>
                </a:solidFill>
                <a:latin typeface="Arial" panose="020B0604020202020204" pitchFamily="34" charset="0"/>
              </a:rPr>
              <a:t>+7.1 pp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9E57DC-46F7-673B-263A-C1C7D3714BB0}"/>
              </a:ext>
            </a:extLst>
          </p:cNvPr>
          <p:cNvSpPr txBox="1"/>
          <p:nvPr/>
        </p:nvSpPr>
        <p:spPr>
          <a:xfrm>
            <a:off x="11747500" y="3556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MTO toy-recall advantage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3FE52A-E369-C74D-38AB-686972C69014}"/>
              </a:ext>
            </a:extLst>
          </p:cNvPr>
          <p:cNvSpPr txBox="1"/>
          <p:nvPr/>
        </p:nvSpPr>
        <p:spPr>
          <a:xfrm>
            <a:off x="11747500" y="4508500"/>
            <a:ext cx="279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800" b="1">
                <a:solidFill>
                  <a:srgbClr val="00527A"/>
                </a:solidFill>
                <a:latin typeface="Arial" panose="020B0604020202020204" pitchFamily="34" charset="0"/>
              </a:rPr>
              <a:t>+9.6 pp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5F4CDC-E55C-287B-CD70-77DB20B48996}"/>
              </a:ext>
            </a:extLst>
          </p:cNvPr>
          <p:cNvSpPr txBox="1"/>
          <p:nvPr/>
        </p:nvSpPr>
        <p:spPr>
          <a:xfrm>
            <a:off x="11747500" y="5245100"/>
            <a:ext cx="279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MTO toy-detection advantage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8A4A2C-6660-AE4F-6080-2BE889DFA3FB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64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9086E-578B-28C0-CB6D-4923A3577C43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Typical masking is similar, but SEP has the heavier tail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B5C5A-97E6-82C2-8860-8439050DFD4D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9B5FDF-2036-F3C3-5BDF-4457BFB6DA3A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432177-1A67-1F8D-1C33-E80A9A8E0DBA}"/>
              </a:ext>
            </a:extLst>
          </p:cNvPr>
          <p:cNvSpPr txBox="1"/>
          <p:nvPr/>
        </p:nvSpPr>
        <p:spPr>
          <a:xfrm>
            <a:off x="965200" y="17780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666666"/>
                </a:solidFill>
                <a:latin typeface="Arial" panose="020B0604020202020204" pitchFamily="34" charset="0"/>
              </a:rPr>
              <a:t>Masked image area across 182 galaxies</a:t>
            </a:r>
            <a:endParaRPr lang="en-GB" sz="2000" b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2DA23-78EF-DC53-A64F-6E040084FE07}"/>
              </a:ext>
            </a:extLst>
          </p:cNvPr>
          <p:cNvSpPr txBox="1"/>
          <p:nvPr/>
        </p:nvSpPr>
        <p:spPr>
          <a:xfrm>
            <a:off x="965200" y="2603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Mean | SEP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5E1D6-8A87-0AED-A4B5-2D6AE6666A5E}"/>
              </a:ext>
            </a:extLst>
          </p:cNvPr>
          <p:cNvSpPr/>
          <p:nvPr/>
        </p:nvSpPr>
        <p:spPr>
          <a:xfrm>
            <a:off x="3759200" y="2628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FB456-FB1A-B605-C835-5C66286E6F4F}"/>
              </a:ext>
            </a:extLst>
          </p:cNvPr>
          <p:cNvSpPr/>
          <p:nvPr/>
        </p:nvSpPr>
        <p:spPr>
          <a:xfrm>
            <a:off x="3759200" y="2628900"/>
            <a:ext cx="1660434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C50F7-A8D8-7FC4-4F7A-E6BF90C2A06B}"/>
              </a:ext>
            </a:extLst>
          </p:cNvPr>
          <p:cNvSpPr txBox="1"/>
          <p:nvPr/>
        </p:nvSpPr>
        <p:spPr>
          <a:xfrm>
            <a:off x="10490200" y="2603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8.8%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4CD7A-539C-FEEF-7CA9-AC5F001F9B5F}"/>
              </a:ext>
            </a:extLst>
          </p:cNvPr>
          <p:cNvSpPr txBox="1"/>
          <p:nvPr/>
        </p:nvSpPr>
        <p:spPr>
          <a:xfrm>
            <a:off x="965200" y="3238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Mean | MTO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E81408-29DD-859D-C5FF-D95DAA690691}"/>
              </a:ext>
            </a:extLst>
          </p:cNvPr>
          <p:cNvSpPr/>
          <p:nvPr/>
        </p:nvSpPr>
        <p:spPr>
          <a:xfrm>
            <a:off x="3759200" y="3263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15B6A-E905-D411-2377-222AC8310DED}"/>
              </a:ext>
            </a:extLst>
          </p:cNvPr>
          <p:cNvSpPr/>
          <p:nvPr/>
        </p:nvSpPr>
        <p:spPr>
          <a:xfrm>
            <a:off x="3759200" y="3263900"/>
            <a:ext cx="1679303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956D79-D865-D061-DC96-69DD4356DCA4}"/>
              </a:ext>
            </a:extLst>
          </p:cNvPr>
          <p:cNvSpPr txBox="1"/>
          <p:nvPr/>
        </p:nvSpPr>
        <p:spPr>
          <a:xfrm>
            <a:off x="10490200" y="3238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8.9%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91781D-D6EF-CDE9-C51B-FE9522747049}"/>
              </a:ext>
            </a:extLst>
          </p:cNvPr>
          <p:cNvSpPr txBox="1"/>
          <p:nvPr/>
        </p:nvSpPr>
        <p:spPr>
          <a:xfrm>
            <a:off x="965200" y="425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95th percentile | SEP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9CC1BD-8808-1AE7-697F-F71710F56DB4}"/>
              </a:ext>
            </a:extLst>
          </p:cNvPr>
          <p:cNvSpPr/>
          <p:nvPr/>
        </p:nvSpPr>
        <p:spPr>
          <a:xfrm>
            <a:off x="3759200" y="4279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A0804-E138-3F4C-2113-39EE00F19F54}"/>
              </a:ext>
            </a:extLst>
          </p:cNvPr>
          <p:cNvSpPr/>
          <p:nvPr/>
        </p:nvSpPr>
        <p:spPr>
          <a:xfrm>
            <a:off x="3759200" y="4279900"/>
            <a:ext cx="2868023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189ABC-996D-00CB-CA18-813C6DCA0BB8}"/>
              </a:ext>
            </a:extLst>
          </p:cNvPr>
          <p:cNvSpPr txBox="1"/>
          <p:nvPr/>
        </p:nvSpPr>
        <p:spPr>
          <a:xfrm>
            <a:off x="10490200" y="425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15.2%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B5203-3577-B7A7-B3A7-708349B9C4CE}"/>
              </a:ext>
            </a:extLst>
          </p:cNvPr>
          <p:cNvSpPr txBox="1"/>
          <p:nvPr/>
        </p:nvSpPr>
        <p:spPr>
          <a:xfrm>
            <a:off x="965200" y="488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95th percentile | MTO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EBFCF7-14AF-E5E4-0D29-A9BF2DB25AE7}"/>
              </a:ext>
            </a:extLst>
          </p:cNvPr>
          <p:cNvSpPr/>
          <p:nvPr/>
        </p:nvSpPr>
        <p:spPr>
          <a:xfrm>
            <a:off x="3759200" y="4914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0C5D3A-C339-1C03-E600-13CBB74B4536}"/>
              </a:ext>
            </a:extLst>
          </p:cNvPr>
          <p:cNvSpPr/>
          <p:nvPr/>
        </p:nvSpPr>
        <p:spPr>
          <a:xfrm>
            <a:off x="3759200" y="4914900"/>
            <a:ext cx="2396309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2FFC8-1094-6C7B-610C-F389C95D0B1F}"/>
              </a:ext>
            </a:extLst>
          </p:cNvPr>
          <p:cNvSpPr txBox="1"/>
          <p:nvPr/>
        </p:nvSpPr>
        <p:spPr>
          <a:xfrm>
            <a:off x="10490200" y="488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12.7%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BFE1C1-EE03-24D4-65B8-4AF8E67FEAB1}"/>
              </a:ext>
            </a:extLst>
          </p:cNvPr>
          <p:cNvSpPr txBox="1"/>
          <p:nvPr/>
        </p:nvSpPr>
        <p:spPr>
          <a:xfrm>
            <a:off x="965200" y="5905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Maximum | SEP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666B5-260E-DD31-4422-663C8684B41E}"/>
              </a:ext>
            </a:extLst>
          </p:cNvPr>
          <p:cNvSpPr/>
          <p:nvPr/>
        </p:nvSpPr>
        <p:spPr>
          <a:xfrm>
            <a:off x="3759200" y="5930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A111F5-C753-9AC8-BE18-1FFAB73EDE79}"/>
              </a:ext>
            </a:extLst>
          </p:cNvPr>
          <p:cNvSpPr/>
          <p:nvPr/>
        </p:nvSpPr>
        <p:spPr>
          <a:xfrm>
            <a:off x="3759200" y="5930900"/>
            <a:ext cx="6283234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74AFD1-696C-0F1B-A983-56F55B501EE7}"/>
              </a:ext>
            </a:extLst>
          </p:cNvPr>
          <p:cNvSpPr txBox="1"/>
          <p:nvPr/>
        </p:nvSpPr>
        <p:spPr>
          <a:xfrm>
            <a:off x="10490200" y="5905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33.3%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9C9E04-7BF9-F6A3-C4CF-4972B33EF1DD}"/>
              </a:ext>
            </a:extLst>
          </p:cNvPr>
          <p:cNvSpPr txBox="1"/>
          <p:nvPr/>
        </p:nvSpPr>
        <p:spPr>
          <a:xfrm>
            <a:off x="965200" y="6540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Maximum | MTO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8FFB4F-E73C-036A-EC3E-1730F39D9B6D}"/>
              </a:ext>
            </a:extLst>
          </p:cNvPr>
          <p:cNvSpPr/>
          <p:nvPr/>
        </p:nvSpPr>
        <p:spPr>
          <a:xfrm>
            <a:off x="3759200" y="6565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25EB1B-57D7-00D7-1DBE-53CD014C3CE6}"/>
              </a:ext>
            </a:extLst>
          </p:cNvPr>
          <p:cNvSpPr/>
          <p:nvPr/>
        </p:nvSpPr>
        <p:spPr>
          <a:xfrm>
            <a:off x="3759200" y="6565900"/>
            <a:ext cx="3585028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C84592-D52A-62F1-FF75-4F8EE532A6CD}"/>
              </a:ext>
            </a:extLst>
          </p:cNvPr>
          <p:cNvSpPr txBox="1"/>
          <p:nvPr/>
        </p:nvSpPr>
        <p:spPr>
          <a:xfrm>
            <a:off x="10490200" y="6540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19.0%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43CFBC-99E5-FEA2-58FE-54BE3137859C}"/>
              </a:ext>
            </a:extLst>
          </p:cNvPr>
          <p:cNvSpPr txBox="1"/>
          <p:nvPr/>
        </p:nvSpPr>
        <p:spPr>
          <a:xfrm>
            <a:off x="12446000" y="2667000"/>
            <a:ext cx="190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4000" b="1">
                <a:solidFill>
                  <a:srgbClr val="B8353B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CBA8CF-14B8-7048-1ED3-586936BDDBFA}"/>
              </a:ext>
            </a:extLst>
          </p:cNvPr>
          <p:cNvSpPr txBox="1"/>
          <p:nvPr/>
        </p:nvSpPr>
        <p:spPr>
          <a:xfrm>
            <a:off x="12446000" y="33401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SEP galaxies above 15%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17851C-05DC-AC8B-A962-ABC441D5CE79}"/>
              </a:ext>
            </a:extLst>
          </p:cNvPr>
          <p:cNvSpPr txBox="1"/>
          <p:nvPr/>
        </p:nvSpPr>
        <p:spPr>
          <a:xfrm>
            <a:off x="12446000" y="4902200"/>
            <a:ext cx="190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4000" b="1">
                <a:solidFill>
                  <a:srgbClr val="00527A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C0D880-AFAE-35E9-AF8A-79479FE0CD39}"/>
              </a:ext>
            </a:extLst>
          </p:cNvPr>
          <p:cNvSpPr txBox="1"/>
          <p:nvPr/>
        </p:nvSpPr>
        <p:spPr>
          <a:xfrm>
            <a:off x="12446000" y="55753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MTObjects galaxy above 15%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B7B1FC-800F-3C53-C684-A951BD59F789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1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8C0E45-1A7B-7CBD-3A06-441E1F04DAD0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NGC1313 illustrates why recovery needs a safety gate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7FCF2-0904-67E0-5459-A59083B1590F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0A7869-7D46-9963-EE7B-97169BCB7FD6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0825F-5B72-A962-1A6D-E3D1D88B1A8E}"/>
              </a:ext>
            </a:extLst>
          </p:cNvPr>
          <p:cNvSpPr txBox="1"/>
          <p:nvPr/>
        </p:nvSpPr>
        <p:spPr>
          <a:xfrm>
            <a:off x="863600" y="1676400"/>
            <a:ext cx="685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3D8DFF"/>
                </a:solidFill>
                <a:latin typeface="Arial" panose="020B0604020202020204" pitchFamily="34" charset="0"/>
              </a:rPr>
              <a:t>SEP | 33.3% masked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F7054-0B90-4FDE-C3D4-D3C6E24B847A}"/>
              </a:ext>
            </a:extLst>
          </p:cNvPr>
          <p:cNvSpPr txBox="1"/>
          <p:nvPr/>
        </p:nvSpPr>
        <p:spPr>
          <a:xfrm>
            <a:off x="8534400" y="1676400"/>
            <a:ext cx="685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527A"/>
                </a:solidFill>
                <a:latin typeface="Arial" panose="020B0604020202020204" pitchFamily="34" charset="0"/>
              </a:rPr>
              <a:t>MTObjects | 19.0% masked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53CBF4-C4AE-8626-D182-86EE19A6B3C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209800"/>
            <a:ext cx="68580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814871-FDBF-D067-4E3A-A34FB56ABF8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209800"/>
            <a:ext cx="6858000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8D6131-1982-7D4D-A792-9B1875BC6E30}"/>
              </a:ext>
            </a:extLst>
          </p:cNvPr>
          <p:cNvSpPr txBox="1"/>
          <p:nvPr/>
        </p:nvSpPr>
        <p:spPr>
          <a:xfrm>
            <a:off x="863600" y="7721600"/>
            <a:ext cx="142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Use the mask, recovered-image outlines, isophotes and bar-major profiles together, not masked fraction alone.</a:t>
            </a:r>
            <a:endParaRPr lang="en-GB" sz="2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0B139-7C93-6049-AF59-09ADCEE3D3CC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C2F80-B1E6-9E1D-507F-C23B976A54E1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Choose the operating mode before choosing the algorithm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4C425-F810-B280-1D72-97216931ED30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07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003CDE-F701-0D78-72A0-5F27BAE8053E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A44A8A-09DC-54D6-10D0-89FA91E4F44D}"/>
              </a:ext>
            </a:extLst>
          </p:cNvPr>
          <p:cNvSpPr txBox="1"/>
          <p:nvPr/>
        </p:nvSpPr>
        <p:spPr>
          <a:xfrm>
            <a:off x="914400" y="2032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527A"/>
                </a:solidFill>
                <a:latin typeface="Arial" panose="020B0604020202020204" pitchFamily="34" charset="0"/>
              </a:rPr>
              <a:t>UNATTENDED SCIENTIFIC BATCH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ED184-8938-FFE4-558A-E697F86C9B6B}"/>
              </a:ext>
            </a:extLst>
          </p:cNvPr>
          <p:cNvSpPr txBox="1"/>
          <p:nvPr/>
        </p:nvSpPr>
        <p:spPr>
          <a:xfrm>
            <a:off x="914400" y="26289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Use MTObjects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D448F-EAE9-D663-46D6-B31DF7F94BC8}"/>
              </a:ext>
            </a:extLst>
          </p:cNvPr>
          <p:cNvSpPr txBox="1"/>
          <p:nvPr/>
        </p:nvSpPr>
        <p:spPr>
          <a:xfrm>
            <a:off x="914400" y="3556000"/>
            <a:ext cx="6350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Higher held-out toy recovery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Only one result above the 15% review gate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Safer default for preserving galaxy structure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453CC-D51A-F815-77D6-E3373BEE6622}"/>
              </a:ext>
            </a:extLst>
          </p:cNvPr>
          <p:cNvSpPr/>
          <p:nvPr/>
        </p:nvSpPr>
        <p:spPr>
          <a:xfrm>
            <a:off x="8001000" y="2006600"/>
            <a:ext cx="25400" cy="5080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44D8C-83DD-98A3-8263-DC0CB016D6BF}"/>
              </a:ext>
            </a:extLst>
          </p:cNvPr>
          <p:cNvSpPr txBox="1"/>
          <p:nvPr/>
        </p:nvSpPr>
        <p:spPr>
          <a:xfrm>
            <a:off x="8712200" y="2032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SECONDARY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1D64B7-D57D-ECC2-7D8D-1BDCAAE2E6F5}"/>
              </a:ext>
            </a:extLst>
          </p:cNvPr>
          <p:cNvSpPr txBox="1"/>
          <p:nvPr/>
        </p:nvSpPr>
        <p:spPr>
          <a:xfrm>
            <a:off x="8712200" y="26289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Use science-image SEP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44D68-E41C-C0C2-3C44-3D03B6CE097C}"/>
              </a:ext>
            </a:extLst>
          </p:cNvPr>
          <p:cNvSpPr txBox="1"/>
          <p:nvPr/>
        </p:nvSpPr>
        <p:spPr>
          <a:xfrm>
            <a:off x="8712200" y="3556000"/>
            <a:ext cx="6350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Independent component comparison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Review every mask above 15%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Treat disagreement as a review signal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12723-ACEA-CBBD-8808-AC8AB1CFA8B6}"/>
              </a:ext>
            </a:extLst>
          </p:cNvPr>
          <p:cNvSpPr txBox="1"/>
          <p:nvPr/>
        </p:nvSpPr>
        <p:spPr>
          <a:xfrm>
            <a:off x="914400" y="7442200"/>
            <a:ext cx="1397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00000"/>
                </a:solidFill>
                <a:latin typeface="Arial" panose="020B0604020202020204" pitchFamily="34" charset="0"/>
              </a:rPr>
              <a:t>Best overall: MTObjects first; use SEP agreement as supporting evidence.</a:t>
            </a:r>
            <a:endParaRPr lang="en-GB" sz="25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FE05D-8884-5726-AEA6-16E9086A3B11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09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8D0E9-7D64-6017-9368-D7A977B518B6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Optimise recovery and scientific safety as separate goals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062B7-B0F0-AD38-BEF7-68687C4029CC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08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CA28F3-AE28-C327-AACA-BDE1AC1A9047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0D0240-5E3E-DC39-5E89-C0010800BA37}"/>
              </a:ext>
            </a:extLst>
          </p:cNvPr>
          <p:cNvSpPr txBox="1"/>
          <p:nvPr/>
        </p:nvSpPr>
        <p:spPr>
          <a:xfrm>
            <a:off x="914400" y="19050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Hard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8C294-9F71-EFD3-B71F-1657939C9EF6}"/>
              </a:ext>
            </a:extLst>
          </p:cNvPr>
          <p:cNvSpPr txBox="1"/>
          <p:nvPr/>
        </p:nvSpPr>
        <p:spPr>
          <a:xfrm>
            <a:off x="914400" y="2438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Reject &gt;15% masks, low detection, or profile-damage failures.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D2F9E-7DC2-2B85-4C22-26603C0DCB92}"/>
              </a:ext>
            </a:extLst>
          </p:cNvPr>
          <p:cNvSpPr txBox="1"/>
          <p:nvPr/>
        </p:nvSpPr>
        <p:spPr>
          <a:xfrm>
            <a:off x="8483600" y="19050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Tail-risk 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B0313-DBF6-7438-1877-B35ED2EE324D}"/>
              </a:ext>
            </a:extLst>
          </p:cNvPr>
          <p:cNvSpPr txBox="1"/>
          <p:nvPr/>
        </p:nvSpPr>
        <p:spPr>
          <a:xfrm>
            <a:off x="8483600" y="2438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Penalise the worst 10% of galaxies, not only the mean.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E7AEC-6657-968F-C46C-1A93D05FF005}"/>
              </a:ext>
            </a:extLst>
          </p:cNvPr>
          <p:cNvSpPr txBox="1"/>
          <p:nvPr/>
        </p:nvSpPr>
        <p:spPr>
          <a:xfrm>
            <a:off x="914400" y="39116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Component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134F-B4CB-9355-50B8-14B2A96352FB}"/>
              </a:ext>
            </a:extLst>
          </p:cNvPr>
          <p:cNvSpPr txBox="1"/>
          <p:nvPr/>
        </p:nvSpPr>
        <p:spPr>
          <a:xfrm>
            <a:off x="914400" y="44450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Reward per-toy recovery; penalise false components and area separately.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BEA8E-BE7A-53E7-1CDD-1577CAE0B03F}"/>
              </a:ext>
            </a:extLst>
          </p:cNvPr>
          <p:cNvSpPr txBox="1"/>
          <p:nvPr/>
        </p:nvSpPr>
        <p:spPr>
          <a:xfrm>
            <a:off x="8483600" y="39116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Profile preservation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BBDDB-FE03-83F0-0954-3B58AD3B10C4}"/>
              </a:ext>
            </a:extLst>
          </p:cNvPr>
          <p:cNvSpPr txBox="1"/>
          <p:nvPr/>
        </p:nvSpPr>
        <p:spPr>
          <a:xfrm>
            <a:off x="8483600" y="4445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Add isophote, centre-gradient and bar-major-profile distortion.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507F3-9C3A-EF46-7E19-E3AAADBF592D}"/>
              </a:ext>
            </a:extLst>
          </p:cNvPr>
          <p:cNvSpPr txBox="1"/>
          <p:nvPr/>
        </p:nvSpPr>
        <p:spPr>
          <a:xfrm>
            <a:off x="914400" y="59182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Repeated seeds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D110AD-FB10-4625-2234-865B564C6A8C}"/>
              </a:ext>
            </a:extLst>
          </p:cNvPr>
          <p:cNvSpPr txBox="1"/>
          <p:nvPr/>
        </p:nvSpPr>
        <p:spPr>
          <a:xfrm>
            <a:off x="914400" y="64516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Optimise median recovery plus lower-tail performance over several injections.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AE009-CA2F-D04F-A26E-75CD1FCE75D4}"/>
              </a:ext>
            </a:extLst>
          </p:cNvPr>
          <p:cNvSpPr txBox="1"/>
          <p:nvPr/>
        </p:nvSpPr>
        <p:spPr>
          <a:xfrm>
            <a:off x="8483600" y="59182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Pareto selection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583258-0FD5-3A65-4663-FE0EFABC656A}"/>
              </a:ext>
            </a:extLst>
          </p:cNvPr>
          <p:cNvSpPr txBox="1"/>
          <p:nvPr/>
        </p:nvSpPr>
        <p:spPr>
          <a:xfrm>
            <a:off x="8483600" y="64516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Keep recovery, false masking and profile damage as visible objectives.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541FDD-AA39-D5C2-A365-42673AF0FA68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78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DB872-55D7-21BB-2D35-AB2B56AA8F04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Build a robust masking pipeline in six steps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8402C-E8EC-2AAC-7D9E-6FAEFCCD4538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09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364102-F017-E67B-7F24-16433FCFA2D1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5DD3EE4-A0D7-231C-B3BA-77B9B3528D64}"/>
              </a:ext>
            </a:extLst>
          </p:cNvPr>
          <p:cNvSpPr txBox="1"/>
          <p:nvPr/>
        </p:nvSpPr>
        <p:spPr>
          <a:xfrm>
            <a:off x="990600" y="18288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8C887-2C9C-3AB0-C7A1-E18F4E39D590}"/>
              </a:ext>
            </a:extLst>
          </p:cNvPr>
          <p:cNvSpPr txBox="1"/>
          <p:nvPr/>
        </p:nvSpPr>
        <p:spPr>
          <a:xfrm>
            <a:off x="1854200" y="18542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000000"/>
                </a:solidFill>
                <a:latin typeface="Arial" panose="020B0604020202020204" pitchFamily="34" charset="0"/>
              </a:rPr>
              <a:t>Review the 10 SEP reports above 15%</a:t>
            </a:r>
            <a:endParaRPr lang="en-GB" sz="2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30CEA-6B81-20EA-94DA-5454482A1FBA}"/>
              </a:ext>
            </a:extLst>
          </p:cNvPr>
          <p:cNvSpPr txBox="1"/>
          <p:nvPr/>
        </p:nvSpPr>
        <p:spPr>
          <a:xfrm>
            <a:off x="990600" y="28194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1D916-1B4F-8514-DF3C-2D25188B90FF}"/>
              </a:ext>
            </a:extLst>
          </p:cNvPr>
          <p:cNvSpPr txBox="1"/>
          <p:nvPr/>
        </p:nvSpPr>
        <p:spPr>
          <a:xfrm>
            <a:off x="1854200" y="28448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Save labelled components from both algorithms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6A630-11DF-E410-53A9-13AC67C26E0E}"/>
              </a:ext>
            </a:extLst>
          </p:cNvPr>
          <p:cNvSpPr txBox="1"/>
          <p:nvPr/>
        </p:nvSpPr>
        <p:spPr>
          <a:xfrm>
            <a:off x="990600" y="38100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ADF9C-F2A2-1D85-27FC-C6042908D4AE}"/>
              </a:ext>
            </a:extLst>
          </p:cNvPr>
          <p:cNvSpPr txBox="1"/>
          <p:nvPr/>
        </p:nvSpPr>
        <p:spPr>
          <a:xfrm>
            <a:off x="1854200" y="38354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Implement agreement and disagreement-review rules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3282E-DF3B-0308-DBB2-B97A3164797C}"/>
              </a:ext>
            </a:extLst>
          </p:cNvPr>
          <p:cNvSpPr txBox="1"/>
          <p:nvPr/>
        </p:nvSpPr>
        <p:spPr>
          <a:xfrm>
            <a:off x="990600" y="48006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3309A-D905-B478-C5C7-D5DAF92B6093}"/>
              </a:ext>
            </a:extLst>
          </p:cNvPr>
          <p:cNvSpPr txBox="1"/>
          <p:nvPr/>
        </p:nvSpPr>
        <p:spPr>
          <a:xfrm>
            <a:off x="1854200" y="48260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Add masked-area and profile-damage release gates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5B91B-9D21-1657-A7F8-6730AA165B58}"/>
              </a:ext>
            </a:extLst>
          </p:cNvPr>
          <p:cNvSpPr txBox="1"/>
          <p:nvPr/>
        </p:nvSpPr>
        <p:spPr>
          <a:xfrm>
            <a:off x="990600" y="57912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EFF1D-93AD-7761-DB01-8E743314638F}"/>
              </a:ext>
            </a:extLst>
          </p:cNvPr>
          <p:cNvSpPr txBox="1"/>
          <p:nvPr/>
        </p:nvSpPr>
        <p:spPr>
          <a:xfrm>
            <a:off x="1854200" y="58166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Re-optimise with repeated seeds and tail-risk loss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CAE436-A9E2-DE4A-B769-3A8EA13B9DAB}"/>
              </a:ext>
            </a:extLst>
          </p:cNvPr>
          <p:cNvSpPr txBox="1"/>
          <p:nvPr/>
        </p:nvSpPr>
        <p:spPr>
          <a:xfrm>
            <a:off x="990600" y="67818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9555C2-FB4C-4A1F-9D84-8488E9E9F431}"/>
              </a:ext>
            </a:extLst>
          </p:cNvPr>
          <p:cNvSpPr txBox="1"/>
          <p:nvPr/>
        </p:nvSpPr>
        <p:spPr>
          <a:xfrm>
            <a:off x="1854200" y="68072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Benchmark Photutils as an independent third method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932F7-6253-819D-6381-07584BB61323}"/>
              </a:ext>
            </a:extLst>
          </p:cNvPr>
          <p:cNvSpPr/>
          <p:nvPr/>
        </p:nvSpPr>
        <p:spPr>
          <a:xfrm>
            <a:off x="14160500" y="1854200"/>
            <a:ext cx="63500" cy="5486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919B9E-2FEB-86F4-AE7B-EDCE67A0C952}"/>
              </a:ext>
            </a:extLst>
          </p:cNvPr>
          <p:cNvSpPr txBox="1"/>
          <p:nvPr/>
        </p:nvSpPr>
        <p:spPr>
          <a:xfrm>
            <a:off x="914400" y="7874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666666"/>
                </a:solidFill>
                <a:latin typeface="Arial" panose="020B0604020202020204" pitchFamily="34" charset="0"/>
              </a:rPr>
              <a:t>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E571F5-39EB-85FA-D242-5DC9D24D0316}"/>
              </a:ext>
            </a:extLst>
          </p:cNvPr>
          <p:cNvSpPr txBox="1"/>
          <p:nvPr/>
        </p:nvSpPr>
        <p:spPr>
          <a:xfrm>
            <a:off x="2692400" y="7810500"/>
            <a:ext cx="1244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</a:rPr>
              <a:t>Approve gated ensemble development; use MTObjects until the gates are validated.</a:t>
            </a:r>
            <a:endParaRPr lang="en-GB" sz="24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4A7449-3C76-7962-4880-1D4516B36E01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17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56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Custom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Bowser (Student)</dc:creator>
  <cp:lastModifiedBy>Gordon Bowser (Student)</cp:lastModifiedBy>
  <cp:revision>1</cp:revision>
  <dcterms:created xsi:type="dcterms:W3CDTF">2026-08-17T17:04:39Z</dcterms:created>
  <dcterms:modified xsi:type="dcterms:W3CDTF">2026-08-17T17:04:39Z</dcterms:modified>
</cp:coreProperties>
</file>