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35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A4EFD-B4DC-4137-AE10-B4BDC8907257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7D0B4-C625-45B6-8CC6-559FCBD91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693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Project SEP and MTObjects optimisation outputs; comparison report dated 16 August 2026.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7D0B4-C625-45B6-8CC6-559FCBD9154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527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[Sources]</a:t>
            </a:r>
          </a:p>
          <a:p>
            <a:r>
              <a:rPr lang="en-GB"/>
              <a:t>Project comparison report, sections 4â€“5.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7D0B4-C625-45B6-8CC6-559FCBD9154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627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SEP CV run 20260816_185737; MTObjects recovery run 20260816_063455.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7D0B4-C625-45B6-8CC6-559FCBD9154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531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Held-out means calculated from four-fold SEP and MTObjects result summaries.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7D0B4-C625-45B6-8CC6-559FCBD9154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148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SEP and MTObjects 182-galaxy apply-summary CSV files.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7D0B4-C625-45B6-8CC6-559FCBD9154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2169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[Sources]</a:t>
            </a:r>
          </a:p>
          <a:p>
            <a:r>
              <a:rPr lang="en-GB"/>
              <a:t>User-generated PNG reports: D:\Dropbox\Public Documents\UCLAN\MSc Research\Remove foreground objects\SEP all galaxy batch\sep_toy_cv_20260816_185737\NGC1313_sep_thr1.9_area14_deb0.0030_dil6.png ; D:\Dropbox\Public Documents\UCLAN\MSc Research\Remove foreground objects\mtobjects all galaxy batch\mtobjects_toy_recovery_20260816_063455_eight_panel_aligned\NGC1313_mtobjects_optimised_report.png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7D0B4-C625-45B6-8CC6-559FCBD9154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259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Project comparison report, decision and operating recommendation.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7D0B4-C625-45B6-8CC6-559FCBD9154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161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Recommendations derived from observed cross-validation and production-tail behaviour.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7D0B4-C625-45B6-8CC6-559FCBD9154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736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[Sources]</a:t>
            </a:r>
          </a:p>
          <a:p>
            <a:r>
              <a:rPr lang="fr-FR"/>
              <a:t>Photutils SourceFinder: https://photutils.readthedocs.io/en/stable/api/photutils.segmentation.SourceFinder.html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7D0B4-C625-45B6-8CC6-559FCBD9154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108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291FF-9343-1A11-AEE6-A31EEA9D1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ACD105-B80B-A9A6-E9FA-71E032410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243C5-DE3C-B5E6-99D2-8B59A4EB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1157-B121-4470-8215-34B4C2AE16F8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11B57-6AB0-8DDB-8A16-F946BC552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DF3A6-F50B-7192-2772-67C7D20D2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A6CA-2765-4D1E-BE40-CE92CAB67D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057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453E-5F3C-A852-A7CA-ABA5A69F6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DB98D-8374-4250-950F-EA99CA14C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3971B-C4BF-28B3-BBA6-F458B09D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1157-B121-4470-8215-34B4C2AE16F8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6BAAA-016B-FFCF-781A-108DCB9CC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E43D5-6828-0C65-2D56-10539BF0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A6CA-2765-4D1E-BE40-CE92CAB67D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12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29E7-EBCB-967B-93E0-5DC33E59C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D90EC-0F05-A69A-BED3-9F47FCE99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9C7C2-18D6-93EF-0B39-1DB971FD2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1157-B121-4470-8215-34B4C2AE16F8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C3D88-F058-86C8-C51D-2129609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A4020-8696-EFA5-52FF-2DBD686B3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A6CA-2765-4D1E-BE40-CE92CAB67D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56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F22E-AAC2-F29A-C803-7C7636FC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55CFF-302D-C7F9-D818-B2E5EC7E5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D1134-C2B4-F70A-F32C-70F0D2960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AB6DA-B8CD-1859-6E70-D66D93CD4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1157-B121-4470-8215-34B4C2AE16F8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3AD29-BE30-4474-0E68-B88C1F22D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0DF49-D653-07DE-810E-D9AAE37BD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A6CA-2765-4D1E-BE40-CE92CAB67D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688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67F5-3350-DCB1-2ACB-D54A2D1D5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18D0B-CF55-E86C-073C-8FE0F68CA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E42A9-F56C-3B19-00F9-4D332D5EC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49DBD-A840-380D-B69D-C28FB722F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F05325-E3A2-C7AE-ACA0-5BAD787FC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6D8EEA-2553-6D66-9999-C899A5F9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1157-B121-4470-8215-34B4C2AE16F8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02DFB-762E-3801-1C56-A98DCA8E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A34F27-EBA2-02D8-E9E9-E48C3DF8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A6CA-2765-4D1E-BE40-CE92CAB67D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951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E93DB-1C2B-A0C5-6FC5-E2BD50FF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3563A-825E-3913-3D0A-C899341A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1157-B121-4470-8215-34B4C2AE16F8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3F52E-B297-2FAD-33F8-62F6EA7DE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F27A7-18E2-79FA-CFAF-F5190366F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A6CA-2765-4D1E-BE40-CE92CAB67D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300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B78317-8F0E-38E4-2AB9-F34840BA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1157-B121-4470-8215-34B4C2AE16F8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E897F-FA74-2E0C-717E-5030F8487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A1A53-4518-30B8-9296-1A470C012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A6CA-2765-4D1E-BE40-CE92CAB67D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705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919E9-0ADA-D5CE-6236-002433727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C10AA-424C-56D8-9E22-A1B468902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96589-2802-5061-7A38-994E88AD8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06F14-1087-8DEF-38E3-4E86A319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1157-B121-4470-8215-34B4C2AE16F8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E6630-21B3-B53C-0544-65AE79FEC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3866C-FA5A-8A24-8E47-A21531010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A6CA-2765-4D1E-BE40-CE92CAB67D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95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8C838-F9B9-4A1E-A284-D0D7F7574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56BE81-C795-6189-A303-EF052C1D0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C97D4-B9D9-4980-D3CC-C44E0C1D6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01FF4-3352-3903-7692-CCA5FA297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1157-B121-4470-8215-34B4C2AE16F8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8960E-A6A5-FF60-0B50-DCDA1747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1F7C4-3FC5-FEA9-5E7A-DC84FE94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A6CA-2765-4D1E-BE40-CE92CAB67D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66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91E3A-9BC8-4FD8-959F-BADCEF923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2DBB2-7D61-199A-F4FC-B55F1CAB2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FED8B-6E09-0F58-335C-E20D7856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1157-B121-4470-8215-34B4C2AE16F8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A7EFC-A89B-4728-088E-E28FFDCFC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CFF02-3F5F-4E0E-027B-A63458648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A6CA-2765-4D1E-BE40-CE92CAB67D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820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65A763-3A4D-15C0-93EC-525A24F3C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59D01-6256-9052-1684-9B77F4F0C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48484-A76C-B5E3-22D0-201A7B418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1157-B121-4470-8215-34B4C2AE16F8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FBA8D-0F87-7088-D078-3B377947F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A7DE9-E187-577E-291E-1F8DFC5C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A6CA-2765-4D1E-BE40-CE92CAB67D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712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38E25-4131-15BC-C7B6-0033D454B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CD7FC-1263-7A10-141E-8A92C60FE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A9AA7-E481-424F-EB18-5EFDA04CB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D1157-B121-4470-8215-34B4C2AE16F8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AE215-E192-2180-39AB-F5047DAEA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E05AE-5832-6B38-0EEE-706FC752E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4A6CA-2765-4D1E-BE40-CE92CAB67D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407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44CD0B-2C96-6736-B3E2-F412DB8E901A}"/>
              </a:ext>
            </a:extLst>
          </p:cNvPr>
          <p:cNvSpPr txBox="1"/>
          <p:nvPr/>
        </p:nvSpPr>
        <p:spPr>
          <a:xfrm>
            <a:off x="914400" y="8636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3D8DFF"/>
                </a:solidFill>
                <a:latin typeface="Arial" panose="020B0604020202020204" pitchFamily="34" charset="0"/>
              </a:rPr>
              <a:t>MASKING DECISION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B954C3-2584-7869-FFE7-486B66B9570D}"/>
              </a:ext>
            </a:extLst>
          </p:cNvPr>
          <p:cNvSpPr txBox="1"/>
          <p:nvPr/>
        </p:nvSpPr>
        <p:spPr>
          <a:xfrm>
            <a:off x="914400" y="2413000"/>
            <a:ext cx="1041400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5800" b="1">
                <a:solidFill>
                  <a:srgbClr val="000000"/>
                </a:solidFill>
                <a:latin typeface="Arial" panose="020B0604020202020204" pitchFamily="34" charset="0"/>
              </a:rPr>
              <a:t>SEP or MTObjects?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0D357-01B9-27ED-BBDE-A56980440749}"/>
              </a:ext>
            </a:extLst>
          </p:cNvPr>
          <p:cNvSpPr txBox="1"/>
          <p:nvPr/>
        </p:nvSpPr>
        <p:spPr>
          <a:xfrm>
            <a:off x="914400" y="3632200"/>
            <a:ext cx="10922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>
                <a:solidFill>
                  <a:srgbClr val="666666"/>
                </a:solidFill>
                <a:latin typeface="Arial" panose="020B0604020202020204" pitchFamily="34" charset="0"/>
              </a:rPr>
              <a:t>Evidence from four-fold toy-object optimisation and 182-galaxy production runs</a:t>
            </a:r>
            <a:endParaRPr lang="en-GB" sz="27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BE25B8-4F73-816D-E3ED-3EEAE927C3BC}"/>
              </a:ext>
            </a:extLst>
          </p:cNvPr>
          <p:cNvSpPr/>
          <p:nvPr/>
        </p:nvSpPr>
        <p:spPr>
          <a:xfrm>
            <a:off x="914400" y="5207000"/>
            <a:ext cx="14427200" cy="50800"/>
          </a:xfrm>
          <a:prstGeom prst="rect">
            <a:avLst/>
          </a:prstGeom>
          <a:solidFill>
            <a:srgbClr val="3D8DFF"/>
          </a:solidFill>
          <a:ln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59961F-BA7B-2774-87BB-BCE7A7D015D3}"/>
              </a:ext>
            </a:extLst>
          </p:cNvPr>
          <p:cNvSpPr txBox="1"/>
          <p:nvPr/>
        </p:nvSpPr>
        <p:spPr>
          <a:xfrm>
            <a:off x="914400" y="5715000"/>
            <a:ext cx="12446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Recommendation: combine both methods with explicit scientific safety gates.</a:t>
            </a:r>
            <a:endParaRPr lang="en-GB" sz="2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438CA-48A8-1742-C2E0-FCF151339278}"/>
              </a:ext>
            </a:extLst>
          </p:cNvPr>
          <p:cNvSpPr txBox="1"/>
          <p:nvPr/>
        </p:nvSpPr>
        <p:spPr>
          <a:xfrm>
            <a:off x="914400" y="7924800"/>
            <a:ext cx="762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666666"/>
                </a:solidFill>
                <a:latin typeface="Arial" panose="020B0604020202020204" pitchFamily="34" charset="0"/>
              </a:rPr>
              <a:t>Decision briefing | 16 August 2026</a:t>
            </a:r>
            <a:endParaRPr lang="en-GB" sz="16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65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882C40-9A42-EE31-9BFF-6DBEF74C5621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The evidence supports a gated two-algorithm workflow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9E133-54F9-F4B2-9835-E3FCF5272F93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2FAA53-01EB-B1BC-8BAD-0FBD200DF4C1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268AA4B-C90F-0825-252A-194E42971663}"/>
              </a:ext>
            </a:extLst>
          </p:cNvPr>
          <p:cNvSpPr txBox="1"/>
          <p:nvPr/>
        </p:nvSpPr>
        <p:spPr>
          <a:xfrm>
            <a:off x="812800" y="1905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3D8DFF"/>
                </a:solidFill>
                <a:latin typeface="Arial" panose="020B0604020202020204" pitchFamily="34" charset="0"/>
              </a:rPr>
              <a:t>USE TOGETHER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11AB4-6F0E-A208-5551-5EE1AA4B1136}"/>
              </a:ext>
            </a:extLst>
          </p:cNvPr>
          <p:cNvSpPr txBox="1"/>
          <p:nvPr/>
        </p:nvSpPr>
        <p:spPr>
          <a:xfrm>
            <a:off x="812800" y="2514600"/>
            <a:ext cx="635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3400" b="1">
                <a:solidFill>
                  <a:srgbClr val="000000"/>
                </a:solidFill>
                <a:latin typeface="Arial" panose="020B0604020202020204" pitchFamily="34" charset="0"/>
              </a:rPr>
              <a:t>SEP finds more toys.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D7E931-C2FF-65D4-7149-1BD405C5989C}"/>
              </a:ext>
            </a:extLst>
          </p:cNvPr>
          <p:cNvSpPr txBox="1"/>
          <p:nvPr/>
        </p:nvSpPr>
        <p:spPr>
          <a:xfrm>
            <a:off x="812800" y="3429000"/>
            <a:ext cx="63500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>
                <a:solidFill>
                  <a:srgbClr val="666666"/>
                </a:solidFill>
                <a:latin typeface="Arial" panose="020B0604020202020204" pitchFamily="34" charset="0"/>
              </a:rPr>
              <a:t>MTObjects is less likely to over-mask galaxy structure.</a:t>
            </a:r>
            <a:endParaRPr lang="en-GB" sz="26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73BEB8-F2C7-7F22-97BD-2E8123ED3EE5}"/>
              </a:ext>
            </a:extLst>
          </p:cNvPr>
          <p:cNvSpPr/>
          <p:nvPr/>
        </p:nvSpPr>
        <p:spPr>
          <a:xfrm>
            <a:off x="8001000" y="1930400"/>
            <a:ext cx="25400" cy="53340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22A938-7C92-1B45-650B-59D73C50C9F1}"/>
              </a:ext>
            </a:extLst>
          </p:cNvPr>
          <p:cNvSpPr txBox="1"/>
          <p:nvPr/>
        </p:nvSpPr>
        <p:spPr>
          <a:xfrm>
            <a:off x="8686800" y="1905000"/>
            <a:ext cx="558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200" b="1">
                <a:solidFill>
                  <a:srgbClr val="000000"/>
                </a:solidFill>
                <a:latin typeface="Arial" panose="020B0604020202020204" pitchFamily="34" charset="0"/>
              </a:rPr>
              <a:t>Operating rule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E031D-56FA-A875-0831-4EA4899F5028}"/>
              </a:ext>
            </a:extLst>
          </p:cNvPr>
          <p:cNvSpPr txBox="1"/>
          <p:nvPr/>
        </p:nvSpPr>
        <p:spPr>
          <a:xfrm>
            <a:off x="8686800" y="2590800"/>
            <a:ext cx="5969000" cy="28315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Accept components found by both methods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Screen SEP-only components by size, shape and position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Quarantine masks above 15% or with profile damage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Fall back to MTObjects or a conservative SEP rerun</a:t>
            </a:r>
            <a:endParaRPr lang="en-GB" sz="2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498D57-23F5-3A40-211E-01D688AD302F}"/>
              </a:ext>
            </a:extLst>
          </p:cNvPr>
          <p:cNvSpPr/>
          <p:nvPr/>
        </p:nvSpPr>
        <p:spPr>
          <a:xfrm>
            <a:off x="8686800" y="6667500"/>
            <a:ext cx="5969000" cy="812800"/>
          </a:xfrm>
          <a:prstGeom prst="rect">
            <a:avLst/>
          </a:prstGeom>
          <a:solidFill>
            <a:srgbClr val="E8F3E1"/>
          </a:solidFill>
          <a:ln>
            <a:solidFill>
              <a:srgbClr val="E8F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613154-CF9C-5760-4FDA-8AE36699CBC1}"/>
              </a:ext>
            </a:extLst>
          </p:cNvPr>
          <p:cNvSpPr txBox="1"/>
          <p:nvPr/>
        </p:nvSpPr>
        <p:spPr>
          <a:xfrm>
            <a:off x="8940800" y="6883400"/>
            <a:ext cx="546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200" b="1">
                <a:solidFill>
                  <a:srgbClr val="000000"/>
                </a:solidFill>
                <a:latin typeface="Arial" panose="020B0604020202020204" pitchFamily="34" charset="0"/>
              </a:rPr>
              <a:t>One unattended method: MTObjects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BE7615-CA8A-9833-FAD3-0F1FF6FD7FCA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16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65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D64083-3064-5499-5C75-C8DC82982129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The comparison separates recovery from production risk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AE4DF-4D44-456C-0A93-1940705FE3CB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087BD4-2A51-AE2E-C6D6-28E7F0C8DABF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0542D44-D369-B1E1-B592-082A04D55D45}"/>
              </a:ext>
            </a:extLst>
          </p:cNvPr>
          <p:cNvSpPr/>
          <p:nvPr/>
        </p:nvSpPr>
        <p:spPr>
          <a:xfrm>
            <a:off x="990600" y="2349500"/>
            <a:ext cx="3175000" cy="26670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6ADAF-CAE3-CA93-8D9B-3203C6CC84A6}"/>
              </a:ext>
            </a:extLst>
          </p:cNvPr>
          <p:cNvSpPr txBox="1"/>
          <p:nvPr/>
        </p:nvSpPr>
        <p:spPr>
          <a:xfrm>
            <a:off x="1244600" y="2603500"/>
            <a:ext cx="215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 b="1">
                <a:solidFill>
                  <a:srgbClr val="3D8DFF"/>
                </a:solidFill>
                <a:latin typeface="Arial" panose="020B0604020202020204" pitchFamily="34" charset="0"/>
              </a:rPr>
              <a:t>FOLD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767F5-E5BD-E3A9-2B50-67EE524B5B9B}"/>
              </a:ext>
            </a:extLst>
          </p:cNvPr>
          <p:cNvSpPr txBox="1"/>
          <p:nvPr/>
        </p:nvSpPr>
        <p:spPr>
          <a:xfrm>
            <a:off x="1244600" y="3302000"/>
            <a:ext cx="2413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900" b="1">
                <a:solidFill>
                  <a:srgbClr val="000000"/>
                </a:solidFill>
                <a:latin typeface="Arial" panose="020B0604020202020204" pitchFamily="34" charset="0"/>
              </a:rPr>
              <a:t>30 train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AF5C08-6EB1-7CC7-9753-5B8A8C1C84B6}"/>
              </a:ext>
            </a:extLst>
          </p:cNvPr>
          <p:cNvSpPr txBox="1"/>
          <p:nvPr/>
        </p:nvSpPr>
        <p:spPr>
          <a:xfrm>
            <a:off x="1244600" y="3898900"/>
            <a:ext cx="2413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>
                <a:solidFill>
                  <a:srgbClr val="666666"/>
                </a:solidFill>
                <a:latin typeface="Arial" panose="020B0604020202020204" pitchFamily="34" charset="0"/>
              </a:rPr>
              <a:t>10 held 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1C6B25-7D66-8EB1-5E8A-7693E59058AD}"/>
              </a:ext>
            </a:extLst>
          </p:cNvPr>
          <p:cNvSpPr txBox="1"/>
          <p:nvPr/>
        </p:nvSpPr>
        <p:spPr>
          <a:xfrm>
            <a:off x="1244600" y="44450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>
                <a:solidFill>
                  <a:srgbClr val="666666"/>
                </a:solidFill>
                <a:latin typeface="Arial" panose="020B0604020202020204" pitchFamily="34" charset="0"/>
              </a:rPr>
              <a:t>40 common-set check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B1E921-39DD-BF59-FD21-EEA8D1CE78B1}"/>
              </a:ext>
            </a:extLst>
          </p:cNvPr>
          <p:cNvSpPr/>
          <p:nvPr/>
        </p:nvSpPr>
        <p:spPr>
          <a:xfrm>
            <a:off x="4610100" y="2349500"/>
            <a:ext cx="3175000" cy="26670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0D34A3-E458-8AC1-4047-16A64163A728}"/>
              </a:ext>
            </a:extLst>
          </p:cNvPr>
          <p:cNvSpPr txBox="1"/>
          <p:nvPr/>
        </p:nvSpPr>
        <p:spPr>
          <a:xfrm>
            <a:off x="4864100" y="2603500"/>
            <a:ext cx="215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 b="1">
                <a:solidFill>
                  <a:srgbClr val="3D8DFF"/>
                </a:solidFill>
                <a:latin typeface="Arial" panose="020B0604020202020204" pitchFamily="34" charset="0"/>
              </a:rPr>
              <a:t>FOLD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6C6B17-9691-C7F5-8944-CFAAE36C4842}"/>
              </a:ext>
            </a:extLst>
          </p:cNvPr>
          <p:cNvSpPr txBox="1"/>
          <p:nvPr/>
        </p:nvSpPr>
        <p:spPr>
          <a:xfrm>
            <a:off x="4864100" y="3302000"/>
            <a:ext cx="2413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900" b="1">
                <a:solidFill>
                  <a:srgbClr val="000000"/>
                </a:solidFill>
                <a:latin typeface="Arial" panose="020B0604020202020204" pitchFamily="34" charset="0"/>
              </a:rPr>
              <a:t>30 train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D56352-C0ED-84DD-BC7B-47D54A7C900F}"/>
              </a:ext>
            </a:extLst>
          </p:cNvPr>
          <p:cNvSpPr txBox="1"/>
          <p:nvPr/>
        </p:nvSpPr>
        <p:spPr>
          <a:xfrm>
            <a:off x="4864100" y="3898900"/>
            <a:ext cx="2413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>
                <a:solidFill>
                  <a:srgbClr val="666666"/>
                </a:solidFill>
                <a:latin typeface="Arial" panose="020B0604020202020204" pitchFamily="34" charset="0"/>
              </a:rPr>
              <a:t>10 held out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6C3057-E41E-C711-BFA4-02E5E572CEC8}"/>
              </a:ext>
            </a:extLst>
          </p:cNvPr>
          <p:cNvSpPr txBox="1"/>
          <p:nvPr/>
        </p:nvSpPr>
        <p:spPr>
          <a:xfrm>
            <a:off x="4864100" y="44450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>
                <a:solidFill>
                  <a:srgbClr val="666666"/>
                </a:solidFill>
                <a:latin typeface="Arial" panose="020B0604020202020204" pitchFamily="34" charset="0"/>
              </a:rPr>
              <a:t>40 common-set check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E70B37-5CAA-A5B6-0939-4402490A2BB6}"/>
              </a:ext>
            </a:extLst>
          </p:cNvPr>
          <p:cNvSpPr/>
          <p:nvPr/>
        </p:nvSpPr>
        <p:spPr>
          <a:xfrm>
            <a:off x="8229600" y="2349500"/>
            <a:ext cx="3175000" cy="26670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AD4894-51A7-EE14-A36C-4D3AF721119F}"/>
              </a:ext>
            </a:extLst>
          </p:cNvPr>
          <p:cNvSpPr txBox="1"/>
          <p:nvPr/>
        </p:nvSpPr>
        <p:spPr>
          <a:xfrm>
            <a:off x="8483600" y="2603500"/>
            <a:ext cx="215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 b="1">
                <a:solidFill>
                  <a:srgbClr val="3D8DFF"/>
                </a:solidFill>
                <a:latin typeface="Arial" panose="020B0604020202020204" pitchFamily="34" charset="0"/>
              </a:rPr>
              <a:t>FOLD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7712C8-C88B-174E-58D6-3C6229468F68}"/>
              </a:ext>
            </a:extLst>
          </p:cNvPr>
          <p:cNvSpPr txBox="1"/>
          <p:nvPr/>
        </p:nvSpPr>
        <p:spPr>
          <a:xfrm>
            <a:off x="8483600" y="3302000"/>
            <a:ext cx="2413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900" b="1">
                <a:solidFill>
                  <a:srgbClr val="000000"/>
                </a:solidFill>
                <a:latin typeface="Arial" panose="020B0604020202020204" pitchFamily="34" charset="0"/>
              </a:rPr>
              <a:t>30 train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5CFFE7-EF8D-DDF5-4664-5491BDBCE491}"/>
              </a:ext>
            </a:extLst>
          </p:cNvPr>
          <p:cNvSpPr txBox="1"/>
          <p:nvPr/>
        </p:nvSpPr>
        <p:spPr>
          <a:xfrm>
            <a:off x="8483600" y="3898900"/>
            <a:ext cx="2413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>
                <a:solidFill>
                  <a:srgbClr val="666666"/>
                </a:solidFill>
                <a:latin typeface="Arial" panose="020B0604020202020204" pitchFamily="34" charset="0"/>
              </a:rPr>
              <a:t>10 held out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D2AA16-56FC-3D03-D8E6-6881AD0221A7}"/>
              </a:ext>
            </a:extLst>
          </p:cNvPr>
          <p:cNvSpPr txBox="1"/>
          <p:nvPr/>
        </p:nvSpPr>
        <p:spPr>
          <a:xfrm>
            <a:off x="8483600" y="44450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>
                <a:solidFill>
                  <a:srgbClr val="666666"/>
                </a:solidFill>
                <a:latin typeface="Arial" panose="020B0604020202020204" pitchFamily="34" charset="0"/>
              </a:rPr>
              <a:t>40 common-set check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0EAAD4-8F83-845E-2C22-831908327484}"/>
              </a:ext>
            </a:extLst>
          </p:cNvPr>
          <p:cNvSpPr/>
          <p:nvPr/>
        </p:nvSpPr>
        <p:spPr>
          <a:xfrm>
            <a:off x="11849100" y="2349500"/>
            <a:ext cx="3175000" cy="2667000"/>
          </a:xfrm>
          <a:prstGeom prst="rect">
            <a:avLst/>
          </a:prstGeom>
          <a:solidFill>
            <a:srgbClr val="FAEDD0"/>
          </a:solidFill>
          <a:ln>
            <a:solidFill>
              <a:srgbClr val="FAE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BD26E4-6D89-90D0-7A86-D23178BE2C17}"/>
              </a:ext>
            </a:extLst>
          </p:cNvPr>
          <p:cNvSpPr txBox="1"/>
          <p:nvPr/>
        </p:nvSpPr>
        <p:spPr>
          <a:xfrm>
            <a:off x="12103100" y="2603500"/>
            <a:ext cx="215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 b="1">
                <a:solidFill>
                  <a:srgbClr val="3D8DFF"/>
                </a:solidFill>
                <a:latin typeface="Arial" panose="020B0604020202020204" pitchFamily="34" charset="0"/>
              </a:rPr>
              <a:t>FOLD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913DC6-5F7C-DE23-299A-8DCC34DF086F}"/>
              </a:ext>
            </a:extLst>
          </p:cNvPr>
          <p:cNvSpPr txBox="1"/>
          <p:nvPr/>
        </p:nvSpPr>
        <p:spPr>
          <a:xfrm>
            <a:off x="12103100" y="3302000"/>
            <a:ext cx="2413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900" b="1">
                <a:solidFill>
                  <a:srgbClr val="000000"/>
                </a:solidFill>
                <a:latin typeface="Arial" panose="020B0604020202020204" pitchFamily="34" charset="0"/>
              </a:rPr>
              <a:t>30 train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B8F1EF-028C-C529-AC5F-BA585CF425A6}"/>
              </a:ext>
            </a:extLst>
          </p:cNvPr>
          <p:cNvSpPr txBox="1"/>
          <p:nvPr/>
        </p:nvSpPr>
        <p:spPr>
          <a:xfrm>
            <a:off x="12103100" y="3898900"/>
            <a:ext cx="2413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>
                <a:solidFill>
                  <a:srgbClr val="666666"/>
                </a:solidFill>
                <a:latin typeface="Arial" panose="020B0604020202020204" pitchFamily="34" charset="0"/>
              </a:rPr>
              <a:t>10 held out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AA9519-2D28-1A69-8A59-A5C45BEFF681}"/>
              </a:ext>
            </a:extLst>
          </p:cNvPr>
          <p:cNvSpPr txBox="1"/>
          <p:nvPr/>
        </p:nvSpPr>
        <p:spPr>
          <a:xfrm>
            <a:off x="12103100" y="44450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>
                <a:solidFill>
                  <a:srgbClr val="666666"/>
                </a:solidFill>
                <a:latin typeface="Arial" panose="020B0604020202020204" pitchFamily="34" charset="0"/>
              </a:rPr>
              <a:t>40 common-set check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FAD101-1780-DB11-5219-1739629B69E0}"/>
              </a:ext>
            </a:extLst>
          </p:cNvPr>
          <p:cNvSpPr txBox="1"/>
          <p:nvPr/>
        </p:nvSpPr>
        <p:spPr>
          <a:xfrm>
            <a:off x="990600" y="5664200"/>
            <a:ext cx="13589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Then: selected model to all 182 galaxies, producing aligned eight-panel PNG reports</a:t>
            </a:r>
            <a:endParaRPr lang="en-GB" sz="2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DF08CB-74AE-AADB-05AA-E26EBCB16898}"/>
              </a:ext>
            </a:extLst>
          </p:cNvPr>
          <p:cNvSpPr txBox="1"/>
          <p:nvPr/>
        </p:nvSpPr>
        <p:spPr>
          <a:xfrm>
            <a:off x="990600" y="6654800"/>
            <a:ext cx="13716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666666"/>
                </a:solidFill>
                <a:latin typeface="Arial" panose="020B0604020202020204" pitchFamily="34" charset="0"/>
              </a:rPr>
              <a:t>Caveat: the SEP and MTObjects runs used different toy-injection seeds and different scalar objectives. Compare shared recovery and masking metrics, not raw objective scores.</a:t>
            </a:r>
            <a:endParaRPr lang="en-GB" sz="19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C7C15E-613B-396F-F4DF-8641616FD9DF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16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435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1E056C-F14F-445E-998A-3FE557C04973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SEP recovered more injected contaminants across held-out folds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19035-911C-13D9-D548-4C1A62E2049A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AD24CA-5598-ED1F-5C87-0A74F1FEF22C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D1F0824-6E3C-0AEF-4371-CBEAA47FCE2E}"/>
              </a:ext>
            </a:extLst>
          </p:cNvPr>
          <p:cNvSpPr txBox="1"/>
          <p:nvPr/>
        </p:nvSpPr>
        <p:spPr>
          <a:xfrm>
            <a:off x="965200" y="177800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000" b="1">
                <a:solidFill>
                  <a:srgbClr val="666666"/>
                </a:solidFill>
                <a:latin typeface="Arial" panose="020B0604020202020204" pitchFamily="34" charset="0"/>
              </a:rPr>
              <a:t>Four-fold held-out mean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A0D3D-40C3-7D80-13CD-8E0BE9976913}"/>
              </a:ext>
            </a:extLst>
          </p:cNvPr>
          <p:cNvSpPr txBox="1"/>
          <p:nvPr/>
        </p:nvSpPr>
        <p:spPr>
          <a:xfrm>
            <a:off x="965200" y="2603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Toy recall | SEP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6198D0-89BB-6BAC-4C9E-49E6B4F07777}"/>
              </a:ext>
            </a:extLst>
          </p:cNvPr>
          <p:cNvSpPr/>
          <p:nvPr/>
        </p:nvSpPr>
        <p:spPr>
          <a:xfrm>
            <a:off x="3759200" y="2628900"/>
            <a:ext cx="5969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F7E154-AE63-8E95-252F-B36B3FC5F868}"/>
              </a:ext>
            </a:extLst>
          </p:cNvPr>
          <p:cNvSpPr/>
          <p:nvPr/>
        </p:nvSpPr>
        <p:spPr>
          <a:xfrm>
            <a:off x="3759200" y="2628900"/>
            <a:ext cx="5261904" cy="279400"/>
          </a:xfrm>
          <a:prstGeom prst="rect">
            <a:avLst/>
          </a:prstGeom>
          <a:solidFill>
            <a:srgbClr val="3D8DFF"/>
          </a:solidFill>
          <a:ln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2FD2C1-2F63-1A6D-1EE5-F5DBFAB63E8F}"/>
              </a:ext>
            </a:extLst>
          </p:cNvPr>
          <p:cNvSpPr txBox="1"/>
          <p:nvPr/>
        </p:nvSpPr>
        <p:spPr>
          <a:xfrm>
            <a:off x="9855200" y="2603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57.3%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99A21-F2AC-0158-F59A-586DDAB3DCCF}"/>
              </a:ext>
            </a:extLst>
          </p:cNvPr>
          <p:cNvSpPr txBox="1"/>
          <p:nvPr/>
        </p:nvSpPr>
        <p:spPr>
          <a:xfrm>
            <a:off x="965200" y="3238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Toy recall | MTO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1E7FEC-B8B5-9BC4-DD97-1A20205EEAE7}"/>
              </a:ext>
            </a:extLst>
          </p:cNvPr>
          <p:cNvSpPr/>
          <p:nvPr/>
        </p:nvSpPr>
        <p:spPr>
          <a:xfrm>
            <a:off x="3759200" y="3263900"/>
            <a:ext cx="5969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E0E331-B2F7-7F10-AA01-5829B9649584}"/>
              </a:ext>
            </a:extLst>
          </p:cNvPr>
          <p:cNvSpPr/>
          <p:nvPr/>
        </p:nvSpPr>
        <p:spPr>
          <a:xfrm>
            <a:off x="3759200" y="3263900"/>
            <a:ext cx="4371144" cy="279400"/>
          </a:xfrm>
          <a:prstGeom prst="rect">
            <a:avLst/>
          </a:prstGeom>
          <a:solidFill>
            <a:srgbClr val="00527A"/>
          </a:solidFill>
          <a:ln>
            <a:solidFill>
              <a:srgbClr val="0052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17C8F2-8C0E-C142-73B0-E96D23C0662D}"/>
              </a:ext>
            </a:extLst>
          </p:cNvPr>
          <p:cNvSpPr txBox="1"/>
          <p:nvPr/>
        </p:nvSpPr>
        <p:spPr>
          <a:xfrm>
            <a:off x="9855200" y="3238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47.6%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5792A4-3FE5-6BB2-4FA4-E08CDAA1A1EE}"/>
              </a:ext>
            </a:extLst>
          </p:cNvPr>
          <p:cNvSpPr txBox="1"/>
          <p:nvPr/>
        </p:nvSpPr>
        <p:spPr>
          <a:xfrm>
            <a:off x="965200" y="4254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Toy detection | SEP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E4A911-6EC6-7293-887B-BC3E1865881D}"/>
              </a:ext>
            </a:extLst>
          </p:cNvPr>
          <p:cNvSpPr/>
          <p:nvPr/>
        </p:nvSpPr>
        <p:spPr>
          <a:xfrm>
            <a:off x="3759200" y="4279900"/>
            <a:ext cx="5969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1FC016-E4FC-9C5F-4159-7F633CF83D79}"/>
              </a:ext>
            </a:extLst>
          </p:cNvPr>
          <p:cNvSpPr/>
          <p:nvPr/>
        </p:nvSpPr>
        <p:spPr>
          <a:xfrm>
            <a:off x="3759200" y="4279900"/>
            <a:ext cx="5317001" cy="279400"/>
          </a:xfrm>
          <a:prstGeom prst="rect">
            <a:avLst/>
          </a:prstGeom>
          <a:solidFill>
            <a:srgbClr val="3D8DFF"/>
          </a:solidFill>
          <a:ln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650893-ABD9-3F22-430C-15A307EB35A2}"/>
              </a:ext>
            </a:extLst>
          </p:cNvPr>
          <p:cNvSpPr txBox="1"/>
          <p:nvPr/>
        </p:nvSpPr>
        <p:spPr>
          <a:xfrm>
            <a:off x="9855200" y="4254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57.9%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A64B50-5693-0310-C257-C99370D920F7}"/>
              </a:ext>
            </a:extLst>
          </p:cNvPr>
          <p:cNvSpPr txBox="1"/>
          <p:nvPr/>
        </p:nvSpPr>
        <p:spPr>
          <a:xfrm>
            <a:off x="965200" y="4889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Toy detection | MTO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462E6D-D089-9168-4ACB-3F834A98EE07}"/>
              </a:ext>
            </a:extLst>
          </p:cNvPr>
          <p:cNvSpPr/>
          <p:nvPr/>
        </p:nvSpPr>
        <p:spPr>
          <a:xfrm>
            <a:off x="3759200" y="4914900"/>
            <a:ext cx="5969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887175-C28F-474E-5DEF-2BAE8E91452A}"/>
              </a:ext>
            </a:extLst>
          </p:cNvPr>
          <p:cNvSpPr/>
          <p:nvPr/>
        </p:nvSpPr>
        <p:spPr>
          <a:xfrm>
            <a:off x="3759200" y="4914900"/>
            <a:ext cx="4628271" cy="279400"/>
          </a:xfrm>
          <a:prstGeom prst="rect">
            <a:avLst/>
          </a:prstGeom>
          <a:solidFill>
            <a:srgbClr val="00527A"/>
          </a:solidFill>
          <a:ln>
            <a:solidFill>
              <a:srgbClr val="0052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78F10D-0CC1-9EAA-11A0-471F2D1CE5A1}"/>
              </a:ext>
            </a:extLst>
          </p:cNvPr>
          <p:cNvSpPr txBox="1"/>
          <p:nvPr/>
        </p:nvSpPr>
        <p:spPr>
          <a:xfrm>
            <a:off x="9855200" y="4889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50.4%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EFF683-61CE-95F0-AEB5-8982B22B6B2A}"/>
              </a:ext>
            </a:extLst>
          </p:cNvPr>
          <p:cNvSpPr txBox="1"/>
          <p:nvPr/>
        </p:nvSpPr>
        <p:spPr>
          <a:xfrm>
            <a:off x="965200" y="6159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Masked area | SEP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DD74CD-3B5C-38B4-DCBC-E2A6589EE12A}"/>
              </a:ext>
            </a:extLst>
          </p:cNvPr>
          <p:cNvSpPr/>
          <p:nvPr/>
        </p:nvSpPr>
        <p:spPr>
          <a:xfrm>
            <a:off x="3759200" y="6184900"/>
            <a:ext cx="5969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E896ED-C249-6B56-48F8-FEB9803748B3}"/>
              </a:ext>
            </a:extLst>
          </p:cNvPr>
          <p:cNvSpPr/>
          <p:nvPr/>
        </p:nvSpPr>
        <p:spPr>
          <a:xfrm>
            <a:off x="3759200" y="6184900"/>
            <a:ext cx="2626360" cy="279400"/>
          </a:xfrm>
          <a:prstGeom prst="rect">
            <a:avLst/>
          </a:prstGeom>
          <a:solidFill>
            <a:srgbClr val="3D8DFF"/>
          </a:solidFill>
          <a:ln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8D9DD1-D976-3D53-2D0A-262B16F5E240}"/>
              </a:ext>
            </a:extLst>
          </p:cNvPr>
          <p:cNvSpPr txBox="1"/>
          <p:nvPr/>
        </p:nvSpPr>
        <p:spPr>
          <a:xfrm>
            <a:off x="9855200" y="6159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6.6%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F5CCB9-79C7-84B7-BDD3-EFA35070C5FF}"/>
              </a:ext>
            </a:extLst>
          </p:cNvPr>
          <p:cNvSpPr txBox="1"/>
          <p:nvPr/>
        </p:nvSpPr>
        <p:spPr>
          <a:xfrm>
            <a:off x="965200" y="6794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Masked area | MTO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73CBA6-D55C-C41E-1078-CEFAA8EBC81B}"/>
              </a:ext>
            </a:extLst>
          </p:cNvPr>
          <p:cNvSpPr/>
          <p:nvPr/>
        </p:nvSpPr>
        <p:spPr>
          <a:xfrm>
            <a:off x="3759200" y="6819900"/>
            <a:ext cx="5969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926F01-2440-4E16-FA90-EC5809E504B4}"/>
              </a:ext>
            </a:extLst>
          </p:cNvPr>
          <p:cNvSpPr/>
          <p:nvPr/>
        </p:nvSpPr>
        <p:spPr>
          <a:xfrm>
            <a:off x="3759200" y="6819900"/>
            <a:ext cx="2984500" cy="279400"/>
          </a:xfrm>
          <a:prstGeom prst="rect">
            <a:avLst/>
          </a:prstGeom>
          <a:solidFill>
            <a:srgbClr val="00527A"/>
          </a:solidFill>
          <a:ln>
            <a:solidFill>
              <a:srgbClr val="0052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949921-5900-ED65-4268-E9EA1F1CE20C}"/>
              </a:ext>
            </a:extLst>
          </p:cNvPr>
          <p:cNvSpPr txBox="1"/>
          <p:nvPr/>
        </p:nvSpPr>
        <p:spPr>
          <a:xfrm>
            <a:off x="9855200" y="6794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7.5%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CCB963-BA86-23C5-A34A-F91E59E36972}"/>
              </a:ext>
            </a:extLst>
          </p:cNvPr>
          <p:cNvSpPr/>
          <p:nvPr/>
        </p:nvSpPr>
        <p:spPr>
          <a:xfrm>
            <a:off x="11366500" y="2349500"/>
            <a:ext cx="3619500" cy="368300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C2EAD1-E11C-8BD9-9954-5599394C4231}"/>
              </a:ext>
            </a:extLst>
          </p:cNvPr>
          <p:cNvSpPr txBox="1"/>
          <p:nvPr/>
        </p:nvSpPr>
        <p:spPr>
          <a:xfrm>
            <a:off x="11747500" y="2819400"/>
            <a:ext cx="2794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3800" b="1">
                <a:solidFill>
                  <a:srgbClr val="3D8DFF"/>
                </a:solidFill>
                <a:latin typeface="Arial" panose="020B0604020202020204" pitchFamily="34" charset="0"/>
              </a:rPr>
              <a:t>+9.7 pp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AAFFC3-FADB-4593-772E-0727D8A945E9}"/>
              </a:ext>
            </a:extLst>
          </p:cNvPr>
          <p:cNvSpPr txBox="1"/>
          <p:nvPr/>
        </p:nvSpPr>
        <p:spPr>
          <a:xfrm>
            <a:off x="11747500" y="3556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>
                <a:solidFill>
                  <a:srgbClr val="666666"/>
                </a:solidFill>
                <a:latin typeface="Arial" panose="020B0604020202020204" pitchFamily="34" charset="0"/>
              </a:rPr>
              <a:t>SEP toy-recall advantage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BF9B2F-CCF7-1F7F-BB41-0CCB068B4E9B}"/>
              </a:ext>
            </a:extLst>
          </p:cNvPr>
          <p:cNvSpPr txBox="1"/>
          <p:nvPr/>
        </p:nvSpPr>
        <p:spPr>
          <a:xfrm>
            <a:off x="11747500" y="4508500"/>
            <a:ext cx="2794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3800" b="1">
                <a:solidFill>
                  <a:srgbClr val="3D8DFF"/>
                </a:solidFill>
                <a:latin typeface="Arial" panose="020B0604020202020204" pitchFamily="34" charset="0"/>
              </a:rPr>
              <a:t>+7.5 pp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CE5A08-FFDD-7C7C-71F1-838756C54C0D}"/>
              </a:ext>
            </a:extLst>
          </p:cNvPr>
          <p:cNvSpPr txBox="1"/>
          <p:nvPr/>
        </p:nvSpPr>
        <p:spPr>
          <a:xfrm>
            <a:off x="11747500" y="5245100"/>
            <a:ext cx="279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>
                <a:solidFill>
                  <a:srgbClr val="666666"/>
                </a:solidFill>
                <a:latin typeface="Arial" panose="020B0604020202020204" pitchFamily="34" charset="0"/>
              </a:rPr>
              <a:t>SEP toy-detection advantage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71F765-B5CF-704D-96CE-2B8A18354F30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16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92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3B3682-2A3F-5558-96B6-DC45F52D5C23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Production behaviour reverses the safety ranking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61643-B4E0-854C-2A9E-08484B85E8A3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140B9C-4716-B63A-C1A3-165992893D99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F1ED4F9-F521-89BC-1810-DF65F8564E0B}"/>
              </a:ext>
            </a:extLst>
          </p:cNvPr>
          <p:cNvSpPr txBox="1"/>
          <p:nvPr/>
        </p:nvSpPr>
        <p:spPr>
          <a:xfrm>
            <a:off x="965200" y="1778000"/>
            <a:ext cx="635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666666"/>
                </a:solidFill>
                <a:latin typeface="Arial" panose="020B0604020202020204" pitchFamily="34" charset="0"/>
              </a:rPr>
              <a:t>Masked image area across 182 galaxies</a:t>
            </a:r>
            <a:endParaRPr lang="en-GB" sz="2000" b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5D5CDA-997F-A672-EEB7-E5C99E871FF2}"/>
              </a:ext>
            </a:extLst>
          </p:cNvPr>
          <p:cNvSpPr txBox="1"/>
          <p:nvPr/>
        </p:nvSpPr>
        <p:spPr>
          <a:xfrm>
            <a:off x="965200" y="2603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Mean | SEP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9DDF58-6A27-4F92-3AE8-89C890BAC201}"/>
              </a:ext>
            </a:extLst>
          </p:cNvPr>
          <p:cNvSpPr/>
          <p:nvPr/>
        </p:nvSpPr>
        <p:spPr>
          <a:xfrm>
            <a:off x="3759200" y="2628900"/>
            <a:ext cx="6604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8A6C35-5F9E-08AE-EEAB-C9E603070764}"/>
              </a:ext>
            </a:extLst>
          </p:cNvPr>
          <p:cNvSpPr/>
          <p:nvPr/>
        </p:nvSpPr>
        <p:spPr>
          <a:xfrm>
            <a:off x="3759200" y="2628900"/>
            <a:ext cx="1717040" cy="279400"/>
          </a:xfrm>
          <a:prstGeom prst="rect">
            <a:avLst/>
          </a:prstGeom>
          <a:solidFill>
            <a:srgbClr val="3D8DFF"/>
          </a:solidFill>
          <a:ln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F963A9-8FD6-6D0C-EF05-3CB40F01CF6C}"/>
              </a:ext>
            </a:extLst>
          </p:cNvPr>
          <p:cNvSpPr txBox="1"/>
          <p:nvPr/>
        </p:nvSpPr>
        <p:spPr>
          <a:xfrm>
            <a:off x="10490200" y="2603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11.7%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9C60D0-B89A-65DD-E2A5-EC59F8F4BF0D}"/>
              </a:ext>
            </a:extLst>
          </p:cNvPr>
          <p:cNvSpPr txBox="1"/>
          <p:nvPr/>
        </p:nvSpPr>
        <p:spPr>
          <a:xfrm>
            <a:off x="965200" y="3238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Mean | MTO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FD3992-F82D-D1AA-DD8B-8A051D288A67}"/>
              </a:ext>
            </a:extLst>
          </p:cNvPr>
          <p:cNvSpPr/>
          <p:nvPr/>
        </p:nvSpPr>
        <p:spPr>
          <a:xfrm>
            <a:off x="3759200" y="3263900"/>
            <a:ext cx="6604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8092BA-4921-4E69-5AE7-A5292D20AF70}"/>
              </a:ext>
            </a:extLst>
          </p:cNvPr>
          <p:cNvSpPr/>
          <p:nvPr/>
        </p:nvSpPr>
        <p:spPr>
          <a:xfrm>
            <a:off x="3759200" y="3263900"/>
            <a:ext cx="1306125" cy="279400"/>
          </a:xfrm>
          <a:prstGeom prst="rect">
            <a:avLst/>
          </a:prstGeom>
          <a:solidFill>
            <a:srgbClr val="00527A"/>
          </a:solidFill>
          <a:ln>
            <a:solidFill>
              <a:srgbClr val="0052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50A90E-FA94-CC5B-30A1-FC2A641EA21C}"/>
              </a:ext>
            </a:extLst>
          </p:cNvPr>
          <p:cNvSpPr txBox="1"/>
          <p:nvPr/>
        </p:nvSpPr>
        <p:spPr>
          <a:xfrm>
            <a:off x="10490200" y="3238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8.9%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90796-5957-A35E-FA2D-EF3F2F85FCD9}"/>
              </a:ext>
            </a:extLst>
          </p:cNvPr>
          <p:cNvSpPr txBox="1"/>
          <p:nvPr/>
        </p:nvSpPr>
        <p:spPr>
          <a:xfrm>
            <a:off x="965200" y="4254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95th percentile | SEP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9E12F3-B8C0-E19B-BE8C-B7ABBEDF8886}"/>
              </a:ext>
            </a:extLst>
          </p:cNvPr>
          <p:cNvSpPr/>
          <p:nvPr/>
        </p:nvSpPr>
        <p:spPr>
          <a:xfrm>
            <a:off x="3759200" y="4279900"/>
            <a:ext cx="6604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083AA9-F723-6E32-710F-E93DC472F011}"/>
              </a:ext>
            </a:extLst>
          </p:cNvPr>
          <p:cNvSpPr/>
          <p:nvPr/>
        </p:nvSpPr>
        <p:spPr>
          <a:xfrm>
            <a:off x="3759200" y="4279900"/>
            <a:ext cx="2935111" cy="279400"/>
          </a:xfrm>
          <a:prstGeom prst="rect">
            <a:avLst/>
          </a:prstGeom>
          <a:solidFill>
            <a:srgbClr val="3D8DFF"/>
          </a:solidFill>
          <a:ln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C979A5-1A6D-8E87-A5B1-CB3A5B1DA1DE}"/>
              </a:ext>
            </a:extLst>
          </p:cNvPr>
          <p:cNvSpPr txBox="1"/>
          <p:nvPr/>
        </p:nvSpPr>
        <p:spPr>
          <a:xfrm>
            <a:off x="10490200" y="4254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20.0%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74634F-6784-47CF-AC3E-6B9D520A11B3}"/>
              </a:ext>
            </a:extLst>
          </p:cNvPr>
          <p:cNvSpPr txBox="1"/>
          <p:nvPr/>
        </p:nvSpPr>
        <p:spPr>
          <a:xfrm>
            <a:off x="965200" y="4889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95th percentile | MTO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4C019E-B705-2892-D5D3-ACEDFAD028D2}"/>
              </a:ext>
            </a:extLst>
          </p:cNvPr>
          <p:cNvSpPr/>
          <p:nvPr/>
        </p:nvSpPr>
        <p:spPr>
          <a:xfrm>
            <a:off x="3759200" y="4914900"/>
            <a:ext cx="6604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567AE1-8088-81C2-BC32-D6C709841722}"/>
              </a:ext>
            </a:extLst>
          </p:cNvPr>
          <p:cNvSpPr/>
          <p:nvPr/>
        </p:nvSpPr>
        <p:spPr>
          <a:xfrm>
            <a:off x="3759200" y="4914900"/>
            <a:ext cx="1863796" cy="279400"/>
          </a:xfrm>
          <a:prstGeom prst="rect">
            <a:avLst/>
          </a:prstGeom>
          <a:solidFill>
            <a:srgbClr val="00527A"/>
          </a:solidFill>
          <a:ln>
            <a:solidFill>
              <a:srgbClr val="0052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071239-CE86-4284-D8B7-8685EDE74436}"/>
              </a:ext>
            </a:extLst>
          </p:cNvPr>
          <p:cNvSpPr txBox="1"/>
          <p:nvPr/>
        </p:nvSpPr>
        <p:spPr>
          <a:xfrm>
            <a:off x="10490200" y="4889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12.7%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5862AD-08D4-990D-118A-F6DB47258973}"/>
              </a:ext>
            </a:extLst>
          </p:cNvPr>
          <p:cNvSpPr txBox="1"/>
          <p:nvPr/>
        </p:nvSpPr>
        <p:spPr>
          <a:xfrm>
            <a:off x="965200" y="5905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Maximum | SEP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5409EF-D5AA-986C-1721-B9960CD7F594}"/>
              </a:ext>
            </a:extLst>
          </p:cNvPr>
          <p:cNvSpPr/>
          <p:nvPr/>
        </p:nvSpPr>
        <p:spPr>
          <a:xfrm>
            <a:off x="3759200" y="5930900"/>
            <a:ext cx="6604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FCC0DA-E2E1-21B8-E8FD-AC08C50D9239}"/>
              </a:ext>
            </a:extLst>
          </p:cNvPr>
          <p:cNvSpPr/>
          <p:nvPr/>
        </p:nvSpPr>
        <p:spPr>
          <a:xfrm>
            <a:off x="3759200" y="5930900"/>
            <a:ext cx="6163734" cy="279400"/>
          </a:xfrm>
          <a:prstGeom prst="rect">
            <a:avLst/>
          </a:prstGeom>
          <a:solidFill>
            <a:srgbClr val="3D8DFF"/>
          </a:solidFill>
          <a:ln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D017D8-D9AC-A62A-A195-A5DDE82E9BC2}"/>
              </a:ext>
            </a:extLst>
          </p:cNvPr>
          <p:cNvSpPr txBox="1"/>
          <p:nvPr/>
        </p:nvSpPr>
        <p:spPr>
          <a:xfrm>
            <a:off x="10490200" y="5905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42.0%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D57AF4-24CF-F2E9-0757-5FB8C2E05639}"/>
              </a:ext>
            </a:extLst>
          </p:cNvPr>
          <p:cNvSpPr txBox="1"/>
          <p:nvPr/>
        </p:nvSpPr>
        <p:spPr>
          <a:xfrm>
            <a:off x="965200" y="6540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Maximum | MTO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8BB800-85A5-7FB2-229F-520C76D80524}"/>
              </a:ext>
            </a:extLst>
          </p:cNvPr>
          <p:cNvSpPr/>
          <p:nvPr/>
        </p:nvSpPr>
        <p:spPr>
          <a:xfrm>
            <a:off x="3759200" y="6565900"/>
            <a:ext cx="6604000" cy="279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651D9B-3038-7220-DD2A-4D336F7ED13F}"/>
              </a:ext>
            </a:extLst>
          </p:cNvPr>
          <p:cNvSpPr/>
          <p:nvPr/>
        </p:nvSpPr>
        <p:spPr>
          <a:xfrm>
            <a:off x="3759200" y="6565900"/>
            <a:ext cx="2788355" cy="279400"/>
          </a:xfrm>
          <a:prstGeom prst="rect">
            <a:avLst/>
          </a:prstGeom>
          <a:solidFill>
            <a:srgbClr val="00527A"/>
          </a:solidFill>
          <a:ln>
            <a:solidFill>
              <a:srgbClr val="0052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02FD08-2AB3-FF0E-35D8-F8AAAEC1F047}"/>
              </a:ext>
            </a:extLst>
          </p:cNvPr>
          <p:cNvSpPr txBox="1"/>
          <p:nvPr/>
        </p:nvSpPr>
        <p:spPr>
          <a:xfrm>
            <a:off x="10490200" y="65405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0000"/>
                </a:solidFill>
                <a:latin typeface="Arial" panose="020B0604020202020204" pitchFamily="34" charset="0"/>
              </a:rPr>
              <a:t>19.0%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B3997D-62FA-B886-B514-28F779282C87}"/>
              </a:ext>
            </a:extLst>
          </p:cNvPr>
          <p:cNvSpPr txBox="1"/>
          <p:nvPr/>
        </p:nvSpPr>
        <p:spPr>
          <a:xfrm>
            <a:off x="12446000" y="2667000"/>
            <a:ext cx="1905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4000" b="1">
                <a:solidFill>
                  <a:srgbClr val="B8353B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2BC0DA-034B-2565-2785-A32004D8C418}"/>
              </a:ext>
            </a:extLst>
          </p:cNvPr>
          <p:cNvSpPr txBox="1"/>
          <p:nvPr/>
        </p:nvSpPr>
        <p:spPr>
          <a:xfrm>
            <a:off x="12446000" y="3340100"/>
            <a:ext cx="2413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>
                <a:solidFill>
                  <a:srgbClr val="666666"/>
                </a:solidFill>
                <a:latin typeface="Arial" panose="020B0604020202020204" pitchFamily="34" charset="0"/>
              </a:rPr>
              <a:t>SEP galaxies above 15%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81860F-6A6B-875A-AA28-38D540BF0246}"/>
              </a:ext>
            </a:extLst>
          </p:cNvPr>
          <p:cNvSpPr txBox="1"/>
          <p:nvPr/>
        </p:nvSpPr>
        <p:spPr>
          <a:xfrm>
            <a:off x="12446000" y="4902200"/>
            <a:ext cx="1905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4000" b="1">
                <a:solidFill>
                  <a:srgbClr val="00527A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0FF996-7981-7D5B-F00A-3AA22FA54909}"/>
              </a:ext>
            </a:extLst>
          </p:cNvPr>
          <p:cNvSpPr txBox="1"/>
          <p:nvPr/>
        </p:nvSpPr>
        <p:spPr>
          <a:xfrm>
            <a:off x="12446000" y="5575300"/>
            <a:ext cx="2413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>
                <a:solidFill>
                  <a:srgbClr val="666666"/>
                </a:solidFill>
                <a:latin typeface="Arial" panose="020B0604020202020204" pitchFamily="34" charset="0"/>
              </a:rPr>
              <a:t>MTObjects galaxy above 15%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ECB653-BB9E-ED75-940F-51AB1326F151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16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813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AF4B7C-98FD-0119-DA1F-2EE73BDEC400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NGC1313 illustrates why recovery needs a safety gate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5AA6E4-9D41-FA73-1B74-974AF17FBEB4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3B2F53-5EEC-8C05-63F5-FB2D564BEF53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7484C37-1218-5258-6BCC-057E875FA690}"/>
              </a:ext>
            </a:extLst>
          </p:cNvPr>
          <p:cNvSpPr txBox="1"/>
          <p:nvPr/>
        </p:nvSpPr>
        <p:spPr>
          <a:xfrm>
            <a:off x="863600" y="1676400"/>
            <a:ext cx="685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200" b="1">
                <a:solidFill>
                  <a:srgbClr val="3D8DFF"/>
                </a:solidFill>
                <a:latin typeface="Arial" panose="020B0604020202020204" pitchFamily="34" charset="0"/>
              </a:rPr>
              <a:t>SEP | 42.0% masked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BBB11-1C75-713A-0F96-D0ACA72CB17D}"/>
              </a:ext>
            </a:extLst>
          </p:cNvPr>
          <p:cNvSpPr txBox="1"/>
          <p:nvPr/>
        </p:nvSpPr>
        <p:spPr>
          <a:xfrm>
            <a:off x="8534400" y="1676400"/>
            <a:ext cx="685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200" b="1">
                <a:solidFill>
                  <a:srgbClr val="00527A"/>
                </a:solidFill>
                <a:latin typeface="Arial" panose="020B0604020202020204" pitchFamily="34" charset="0"/>
              </a:rPr>
              <a:t>MTObjects | 19.0% masked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01605F-DD2F-E666-04FF-9383D1A3D53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2209800"/>
            <a:ext cx="6858000" cy="514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5D7B11-AB5B-B577-9CED-A20C452E129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2209800"/>
            <a:ext cx="6858000" cy="5143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12AFF3-8124-A616-E14B-D01B8EE33233}"/>
              </a:ext>
            </a:extLst>
          </p:cNvPr>
          <p:cNvSpPr txBox="1"/>
          <p:nvPr/>
        </p:nvSpPr>
        <p:spPr>
          <a:xfrm>
            <a:off x="863600" y="7721600"/>
            <a:ext cx="1422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Arial" panose="020B0604020202020204" pitchFamily="34" charset="0"/>
              </a:rPr>
              <a:t>Use the mask, recovered-image outlines, isophotes and bar-major profiles together, not masked fraction alone.</a:t>
            </a:r>
            <a:endParaRPr lang="en-GB" sz="2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79A251-DC51-91A1-B10C-60363FA37F3C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16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640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73F360-31D8-E8A0-1D9D-6DF1CA9107C8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Choose the operating mode before choosing the algorithm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E1BD55-76AD-B549-908C-97C4F41A6A8E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07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137F5A-0160-827A-0A31-70B374752466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3A96641-1330-A6E2-4A7F-7FB0E41641B1}"/>
              </a:ext>
            </a:extLst>
          </p:cNvPr>
          <p:cNvSpPr txBox="1"/>
          <p:nvPr/>
        </p:nvSpPr>
        <p:spPr>
          <a:xfrm>
            <a:off x="914400" y="20320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00527A"/>
                </a:solidFill>
                <a:latin typeface="Arial" panose="020B0604020202020204" pitchFamily="34" charset="0"/>
              </a:rPr>
              <a:t>UNATTENDED SCIENTIFIC BATCH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0A2F7-CE90-B4FF-E4F2-C44A4D2C24BF}"/>
              </a:ext>
            </a:extLst>
          </p:cNvPr>
          <p:cNvSpPr txBox="1"/>
          <p:nvPr/>
        </p:nvSpPr>
        <p:spPr>
          <a:xfrm>
            <a:off x="914400" y="2628900"/>
            <a:ext cx="635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3400" b="1">
                <a:solidFill>
                  <a:srgbClr val="000000"/>
                </a:solidFill>
                <a:latin typeface="Arial" panose="020B0604020202020204" pitchFamily="34" charset="0"/>
              </a:rPr>
              <a:t>Use MTObjects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CB21CD-8871-4B2A-D94C-22DADA51663C}"/>
              </a:ext>
            </a:extLst>
          </p:cNvPr>
          <p:cNvSpPr txBox="1"/>
          <p:nvPr/>
        </p:nvSpPr>
        <p:spPr>
          <a:xfrm>
            <a:off x="914400" y="3556000"/>
            <a:ext cx="6350000" cy="13234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Lower mean and tail masking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Only one result above the 15% review gate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Safer default for preserving galaxy structure</a:t>
            </a:r>
            <a:endParaRPr lang="en-GB" sz="2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66EE3B-97F7-896A-E02A-5BC52C9CFF70}"/>
              </a:ext>
            </a:extLst>
          </p:cNvPr>
          <p:cNvSpPr/>
          <p:nvPr/>
        </p:nvSpPr>
        <p:spPr>
          <a:xfrm>
            <a:off x="8001000" y="2006600"/>
            <a:ext cx="25400" cy="50800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925DDC-1E83-3B86-DEF9-BDE72F842CD6}"/>
              </a:ext>
            </a:extLst>
          </p:cNvPr>
          <p:cNvSpPr txBox="1"/>
          <p:nvPr/>
        </p:nvSpPr>
        <p:spPr>
          <a:xfrm>
            <a:off x="8712200" y="20320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3D8DFF"/>
                </a:solidFill>
                <a:latin typeface="Arial" panose="020B0604020202020204" pitchFamily="34" charset="0"/>
              </a:rPr>
              <a:t>RECOVERY-FIRST + HUMAN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2391E5-9D8A-C6C7-CCC9-8BB8E3693AC6}"/>
              </a:ext>
            </a:extLst>
          </p:cNvPr>
          <p:cNvSpPr txBox="1"/>
          <p:nvPr/>
        </p:nvSpPr>
        <p:spPr>
          <a:xfrm>
            <a:off x="8712200" y="2628900"/>
            <a:ext cx="635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3400" b="1">
                <a:solidFill>
                  <a:srgbClr val="000000"/>
                </a:solidFill>
                <a:latin typeface="Arial" panose="020B0604020202020204" pitchFamily="34" charset="0"/>
              </a:rPr>
              <a:t>Use gated SEP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FAB39-8E0D-AC74-61B2-CA22327028AB}"/>
              </a:ext>
            </a:extLst>
          </p:cNvPr>
          <p:cNvSpPr txBox="1"/>
          <p:nvPr/>
        </p:nvSpPr>
        <p:spPr>
          <a:xfrm>
            <a:off x="8712200" y="3556000"/>
            <a:ext cx="6350000" cy="13234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Higher toy recall and detection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Review every mask above 15%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200">
                <a:solidFill>
                  <a:srgbClr val="000000"/>
                </a:solidFill>
                <a:latin typeface="Arial" panose="020B0604020202020204" pitchFamily="34" charset="0"/>
              </a:rPr>
              <a:t>Reject obvious isophote or bar-profile damage</a:t>
            </a:r>
            <a:endParaRPr lang="en-GB" sz="2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339922-62F4-91A7-F000-48879B9C93E7}"/>
              </a:ext>
            </a:extLst>
          </p:cNvPr>
          <p:cNvSpPr txBox="1"/>
          <p:nvPr/>
        </p:nvSpPr>
        <p:spPr>
          <a:xfrm>
            <a:off x="914400" y="7442200"/>
            <a:ext cx="1397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000000"/>
                </a:solidFill>
                <a:latin typeface="Arial" panose="020B0604020202020204" pitchFamily="34" charset="0"/>
              </a:rPr>
              <a:t>Best overall: retain both component maps and accept agreement automatically.</a:t>
            </a:r>
            <a:endParaRPr lang="en-GB" sz="25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AB68C3-F01C-3F05-9B24-58D9C0DEE0EB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16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64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56EF16-45A2-461F-3C83-447224EF846D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Optimise recovery and scientific safety as separate goals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FA542D-0002-C8FA-222C-4E0D9D832284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08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F14950-906C-88C5-87C1-1AC408FD8AF7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A9F1E04-87CE-CE7A-0BDF-CFFD5A007509}"/>
              </a:ext>
            </a:extLst>
          </p:cNvPr>
          <p:cNvSpPr txBox="1"/>
          <p:nvPr/>
        </p:nvSpPr>
        <p:spPr>
          <a:xfrm>
            <a:off x="914400" y="1905000"/>
            <a:ext cx="647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 b="1">
                <a:solidFill>
                  <a:srgbClr val="3D8DFF"/>
                </a:solidFill>
                <a:latin typeface="Arial" panose="020B0604020202020204" pitchFamily="34" charset="0"/>
              </a:rPr>
              <a:t>Hard constraints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FA16E0-F6F1-36F0-E17D-1878E81AAF1C}"/>
              </a:ext>
            </a:extLst>
          </p:cNvPr>
          <p:cNvSpPr txBox="1"/>
          <p:nvPr/>
        </p:nvSpPr>
        <p:spPr>
          <a:xfrm>
            <a:off x="914400" y="2438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Reject &gt;15% masks, low detection, or profile-damage failures.</a:t>
            </a:r>
            <a:endParaRPr lang="en-GB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087EF4-3A79-53B6-4881-5193F948AA2D}"/>
              </a:ext>
            </a:extLst>
          </p:cNvPr>
          <p:cNvSpPr txBox="1"/>
          <p:nvPr/>
        </p:nvSpPr>
        <p:spPr>
          <a:xfrm>
            <a:off x="8483600" y="1905000"/>
            <a:ext cx="647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 b="1">
                <a:solidFill>
                  <a:srgbClr val="00527A"/>
                </a:solidFill>
                <a:latin typeface="Arial" panose="020B0604020202020204" pitchFamily="34" charset="0"/>
              </a:rPr>
              <a:t>Tail-risk loss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6FC977-923B-CFD9-B7CF-184AB5DF5BEF}"/>
              </a:ext>
            </a:extLst>
          </p:cNvPr>
          <p:cNvSpPr txBox="1"/>
          <p:nvPr/>
        </p:nvSpPr>
        <p:spPr>
          <a:xfrm>
            <a:off x="8483600" y="24384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Penalise the worst 10% of galaxies, not only the mean.</a:t>
            </a:r>
            <a:endParaRPr lang="en-GB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CB47ED-2279-27A1-7868-23EE2E4F03ED}"/>
              </a:ext>
            </a:extLst>
          </p:cNvPr>
          <p:cNvSpPr txBox="1"/>
          <p:nvPr/>
        </p:nvSpPr>
        <p:spPr>
          <a:xfrm>
            <a:off x="914400" y="3911600"/>
            <a:ext cx="647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 b="1">
                <a:solidFill>
                  <a:srgbClr val="3D8DFF"/>
                </a:solidFill>
                <a:latin typeface="Arial" panose="020B0604020202020204" pitchFamily="34" charset="0"/>
              </a:rPr>
              <a:t>Component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69AC63-CC18-89CC-0D82-0D78E7A23252}"/>
              </a:ext>
            </a:extLst>
          </p:cNvPr>
          <p:cNvSpPr txBox="1"/>
          <p:nvPr/>
        </p:nvSpPr>
        <p:spPr>
          <a:xfrm>
            <a:off x="914400" y="4445000"/>
            <a:ext cx="635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Reward per-toy recovery; penalise false components and area separately.</a:t>
            </a:r>
            <a:endParaRPr lang="en-GB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65FAA9-7BE8-B85E-137B-3F29009A8ED7}"/>
              </a:ext>
            </a:extLst>
          </p:cNvPr>
          <p:cNvSpPr txBox="1"/>
          <p:nvPr/>
        </p:nvSpPr>
        <p:spPr>
          <a:xfrm>
            <a:off x="8483600" y="3911600"/>
            <a:ext cx="647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 b="1">
                <a:solidFill>
                  <a:srgbClr val="00527A"/>
                </a:solidFill>
                <a:latin typeface="Arial" panose="020B0604020202020204" pitchFamily="34" charset="0"/>
              </a:rPr>
              <a:t>Profile preservation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7AED7A-1C62-7109-049A-56EA57826EEA}"/>
              </a:ext>
            </a:extLst>
          </p:cNvPr>
          <p:cNvSpPr txBox="1"/>
          <p:nvPr/>
        </p:nvSpPr>
        <p:spPr>
          <a:xfrm>
            <a:off x="8483600" y="44450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Add isophote, centre-gradient and bar-major-profile distortion.</a:t>
            </a:r>
            <a:endParaRPr lang="en-GB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E970B2-0A0A-B10D-1CAB-63761B10EF10}"/>
              </a:ext>
            </a:extLst>
          </p:cNvPr>
          <p:cNvSpPr txBox="1"/>
          <p:nvPr/>
        </p:nvSpPr>
        <p:spPr>
          <a:xfrm>
            <a:off x="914400" y="5918200"/>
            <a:ext cx="647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 b="1">
                <a:solidFill>
                  <a:srgbClr val="3D8DFF"/>
                </a:solidFill>
                <a:latin typeface="Arial" panose="020B0604020202020204" pitchFamily="34" charset="0"/>
              </a:rPr>
              <a:t>Repeated seeds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5767F6-92B9-D533-6AC2-F6401B5A7483}"/>
              </a:ext>
            </a:extLst>
          </p:cNvPr>
          <p:cNvSpPr txBox="1"/>
          <p:nvPr/>
        </p:nvSpPr>
        <p:spPr>
          <a:xfrm>
            <a:off x="914400" y="6451600"/>
            <a:ext cx="635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Optimise median recovery plus lower-tail performance over several injections.</a:t>
            </a:r>
            <a:endParaRPr lang="en-GB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7617BA-E6F4-6283-4083-C15A07A822E9}"/>
              </a:ext>
            </a:extLst>
          </p:cNvPr>
          <p:cNvSpPr txBox="1"/>
          <p:nvPr/>
        </p:nvSpPr>
        <p:spPr>
          <a:xfrm>
            <a:off x="8483600" y="5918200"/>
            <a:ext cx="647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300" b="1">
                <a:solidFill>
                  <a:srgbClr val="00527A"/>
                </a:solidFill>
                <a:latin typeface="Arial" panose="020B0604020202020204" pitchFamily="34" charset="0"/>
              </a:rPr>
              <a:t>Pareto selection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902AC8-472B-9EC0-C740-E40DAD43E79D}"/>
              </a:ext>
            </a:extLst>
          </p:cNvPr>
          <p:cNvSpPr txBox="1"/>
          <p:nvPr/>
        </p:nvSpPr>
        <p:spPr>
          <a:xfrm>
            <a:off x="8483600" y="6451600"/>
            <a:ext cx="635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Keep recovery, false masking and profile damage as visible objectives.</a:t>
            </a:r>
            <a:endParaRPr lang="en-GB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59032E-460F-25D4-1B17-BFEBA61F8A76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16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8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2B45B2-B67C-1AF4-A1BE-5754D54104E2}"/>
              </a:ext>
            </a:extLst>
          </p:cNvPr>
          <p:cNvSpPr txBox="1"/>
          <p:nvPr/>
        </p:nvSpPr>
        <p:spPr>
          <a:xfrm>
            <a:off x="812800" y="584200"/>
            <a:ext cx="142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Build a robust masking pipeline in six steps</a:t>
            </a:r>
            <a:endParaRPr lang="en-GB" sz="36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00570-4670-7AC7-BB4D-0FCBB2676957}"/>
              </a:ext>
            </a:extLst>
          </p:cNvPr>
          <p:cNvSpPr txBox="1"/>
          <p:nvPr/>
        </p:nvSpPr>
        <p:spPr>
          <a:xfrm>
            <a:off x="15087600" y="660400"/>
            <a:ext cx="50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66666"/>
                </a:solidFill>
                <a:latin typeface="Arial" panose="020B0604020202020204" pitchFamily="34" charset="0"/>
              </a:rPr>
              <a:t>09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A686ED-3573-6038-101E-EF92BAEDD687}"/>
              </a:ext>
            </a:extLst>
          </p:cNvPr>
          <p:cNvCxnSpPr/>
          <p:nvPr/>
        </p:nvCxnSpPr>
        <p:spPr>
          <a:xfrm>
            <a:off x="812800" y="1422400"/>
            <a:ext cx="14630400" cy="0"/>
          </a:xfrm>
          <a:prstGeom prst="line">
            <a:avLst/>
          </a:prstGeom>
          <a:ln w="12700">
            <a:solidFill>
              <a:srgbClr val="B4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56D11BF-186F-8C18-8196-A8BA43A74BB0}"/>
              </a:ext>
            </a:extLst>
          </p:cNvPr>
          <p:cNvSpPr txBox="1"/>
          <p:nvPr/>
        </p:nvSpPr>
        <p:spPr>
          <a:xfrm>
            <a:off x="990600" y="1828800"/>
            <a:ext cx="55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3D8D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9D595-C27B-C902-F0EA-8E9D6308F639}"/>
              </a:ext>
            </a:extLst>
          </p:cNvPr>
          <p:cNvSpPr txBox="1"/>
          <p:nvPr/>
        </p:nvSpPr>
        <p:spPr>
          <a:xfrm>
            <a:off x="1854200" y="1854200"/>
            <a:ext cx="1219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000000"/>
                </a:solidFill>
                <a:latin typeface="Arial" panose="020B0604020202020204" pitchFamily="34" charset="0"/>
              </a:rPr>
              <a:t>Review the 30 SEP reports above 15%</a:t>
            </a:r>
            <a:endParaRPr lang="en-GB" sz="23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0076CB-8C91-3F80-EF11-2EAC9A1FB7E4}"/>
              </a:ext>
            </a:extLst>
          </p:cNvPr>
          <p:cNvSpPr txBox="1"/>
          <p:nvPr/>
        </p:nvSpPr>
        <p:spPr>
          <a:xfrm>
            <a:off x="990600" y="2819400"/>
            <a:ext cx="55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3D8D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8833E3-5291-2C25-BAFD-2E672B16B4D3}"/>
              </a:ext>
            </a:extLst>
          </p:cNvPr>
          <p:cNvSpPr txBox="1"/>
          <p:nvPr/>
        </p:nvSpPr>
        <p:spPr>
          <a:xfrm>
            <a:off x="1854200" y="2844800"/>
            <a:ext cx="1219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>
                <a:solidFill>
                  <a:srgbClr val="000000"/>
                </a:solidFill>
                <a:latin typeface="Arial" panose="020B0604020202020204" pitchFamily="34" charset="0"/>
              </a:rPr>
              <a:t>Save labelled components from both algorithms</a:t>
            </a:r>
            <a:endParaRPr lang="en-GB" sz="23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EB2114-4AFC-5AC1-2DA7-C246ECC673C3}"/>
              </a:ext>
            </a:extLst>
          </p:cNvPr>
          <p:cNvSpPr txBox="1"/>
          <p:nvPr/>
        </p:nvSpPr>
        <p:spPr>
          <a:xfrm>
            <a:off x="990600" y="3810000"/>
            <a:ext cx="55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3D8D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BAEB90-EEFD-DD01-0BD5-76BAF7FB4421}"/>
              </a:ext>
            </a:extLst>
          </p:cNvPr>
          <p:cNvSpPr txBox="1"/>
          <p:nvPr/>
        </p:nvSpPr>
        <p:spPr>
          <a:xfrm>
            <a:off x="1854200" y="3835400"/>
            <a:ext cx="1219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>
                <a:solidFill>
                  <a:srgbClr val="000000"/>
                </a:solidFill>
                <a:latin typeface="Arial" panose="020B0604020202020204" pitchFamily="34" charset="0"/>
              </a:rPr>
              <a:t>Implement agreement and SEP-only screening rules</a:t>
            </a:r>
            <a:endParaRPr lang="en-GB" sz="23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B736C8-A09A-A9A4-BF18-343771B4649F}"/>
              </a:ext>
            </a:extLst>
          </p:cNvPr>
          <p:cNvSpPr txBox="1"/>
          <p:nvPr/>
        </p:nvSpPr>
        <p:spPr>
          <a:xfrm>
            <a:off x="990600" y="4800600"/>
            <a:ext cx="55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00527A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06217E-8FAC-F3C9-1768-30D28903C819}"/>
              </a:ext>
            </a:extLst>
          </p:cNvPr>
          <p:cNvSpPr txBox="1"/>
          <p:nvPr/>
        </p:nvSpPr>
        <p:spPr>
          <a:xfrm>
            <a:off x="1854200" y="4826000"/>
            <a:ext cx="1219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>
                <a:solidFill>
                  <a:srgbClr val="000000"/>
                </a:solidFill>
                <a:latin typeface="Arial" panose="020B0604020202020204" pitchFamily="34" charset="0"/>
              </a:rPr>
              <a:t>Add masked-area and profile-damage release gates</a:t>
            </a:r>
            <a:endParaRPr lang="en-GB" sz="23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50037-962A-0465-0F17-CA7E58D3E0EE}"/>
              </a:ext>
            </a:extLst>
          </p:cNvPr>
          <p:cNvSpPr txBox="1"/>
          <p:nvPr/>
        </p:nvSpPr>
        <p:spPr>
          <a:xfrm>
            <a:off x="990600" y="5791200"/>
            <a:ext cx="55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00527A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B930D-B646-C30B-3C34-1AC1AC256BBA}"/>
              </a:ext>
            </a:extLst>
          </p:cNvPr>
          <p:cNvSpPr txBox="1"/>
          <p:nvPr/>
        </p:nvSpPr>
        <p:spPr>
          <a:xfrm>
            <a:off x="1854200" y="5816600"/>
            <a:ext cx="1219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>
                <a:solidFill>
                  <a:srgbClr val="000000"/>
                </a:solidFill>
                <a:latin typeface="Arial" panose="020B0604020202020204" pitchFamily="34" charset="0"/>
              </a:rPr>
              <a:t>Re-optimise with repeated seeds and tail-risk loss</a:t>
            </a:r>
            <a:endParaRPr lang="en-GB" sz="23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86E8EF-779C-05A8-D7FF-C78A23024D48}"/>
              </a:ext>
            </a:extLst>
          </p:cNvPr>
          <p:cNvSpPr txBox="1"/>
          <p:nvPr/>
        </p:nvSpPr>
        <p:spPr>
          <a:xfrm>
            <a:off x="990600" y="6781800"/>
            <a:ext cx="55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00527A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9A0423-2A0E-1EEB-EF38-8CB1B36F7A65}"/>
              </a:ext>
            </a:extLst>
          </p:cNvPr>
          <p:cNvSpPr txBox="1"/>
          <p:nvPr/>
        </p:nvSpPr>
        <p:spPr>
          <a:xfrm>
            <a:off x="1854200" y="6807200"/>
            <a:ext cx="1219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>
                <a:solidFill>
                  <a:srgbClr val="000000"/>
                </a:solidFill>
                <a:latin typeface="Arial" panose="020B0604020202020204" pitchFamily="34" charset="0"/>
              </a:rPr>
              <a:t>Benchmark Photutils as an independent third method</a:t>
            </a:r>
            <a:endParaRPr lang="en-GB" sz="23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400F81-202D-25F6-F87E-39F36F995D39}"/>
              </a:ext>
            </a:extLst>
          </p:cNvPr>
          <p:cNvSpPr/>
          <p:nvPr/>
        </p:nvSpPr>
        <p:spPr>
          <a:xfrm>
            <a:off x="14160500" y="1854200"/>
            <a:ext cx="63500" cy="5486400"/>
          </a:xfrm>
          <a:prstGeom prst="rect">
            <a:avLst/>
          </a:prstGeom>
          <a:solidFill>
            <a:srgbClr val="EDEDED"/>
          </a:solidFill>
          <a:ln>
            <a:solidFill>
              <a:srgbClr val="EDED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394FA4-2065-0895-5978-A4D487F153EC}"/>
              </a:ext>
            </a:extLst>
          </p:cNvPr>
          <p:cNvSpPr txBox="1"/>
          <p:nvPr/>
        </p:nvSpPr>
        <p:spPr>
          <a:xfrm>
            <a:off x="914400" y="78740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666666"/>
                </a:solidFill>
                <a:latin typeface="Arial" panose="020B0604020202020204" pitchFamily="34" charset="0"/>
              </a:rPr>
              <a:t>Decision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0B937C-D338-5E5B-4781-60DAAD17507C}"/>
              </a:ext>
            </a:extLst>
          </p:cNvPr>
          <p:cNvSpPr txBox="1"/>
          <p:nvPr/>
        </p:nvSpPr>
        <p:spPr>
          <a:xfrm>
            <a:off x="2692400" y="7810500"/>
            <a:ext cx="1244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latin typeface="Arial" panose="020B0604020202020204" pitchFamily="34" charset="0"/>
              </a:rPr>
              <a:t>Approve gated ensemble development; use MTObjects until the gates are validated.</a:t>
            </a:r>
            <a:endParaRPr lang="en-GB" sz="24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246782-1C19-39C0-D804-E087F407E739}"/>
              </a:ext>
            </a:extLst>
          </p:cNvPr>
          <p:cNvSpPr txBox="1"/>
          <p:nvPr/>
        </p:nvSpPr>
        <p:spPr>
          <a:xfrm>
            <a:off x="812800" y="8686800"/>
            <a:ext cx="990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rial" panose="020B0604020202020204" pitchFamily="34" charset="0"/>
              </a:rPr>
              <a:t>MSc Research | Toy-object foreground masking | 16 August 2026</a:t>
            </a:r>
            <a:endParaRPr lang="en-GB" sz="11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119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869</Words>
  <Application>Microsoft Office PowerPoint</Application>
  <PresentationFormat>Custom</PresentationFormat>
  <Paragraphs>157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Gordon Bowser (Student)</dc:creator>
  <cp:lastModifiedBy>Gordon Bowser (Student)</cp:lastModifiedBy>
  <cp:revision>1</cp:revision>
  <dcterms:created xsi:type="dcterms:W3CDTF">2026-08-16T19:00:30Z</dcterms:created>
  <dcterms:modified xsi:type="dcterms:W3CDTF">2026-08-16T19:00:30Z</dcterms:modified>
</cp:coreProperties>
</file>