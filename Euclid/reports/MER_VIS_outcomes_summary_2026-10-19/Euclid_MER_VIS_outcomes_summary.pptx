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d0e7ffb821f4e61" /><Relationship Type="http://schemas.openxmlformats.org/officeDocument/2006/relationships/extended-properties" Target="/docProps/app.xml" Id="R725f615c768a401d" /><Relationship Type="http://schemas.openxmlformats.org/officeDocument/2006/relationships/officeDocument" Target="/ppt/presentation.xml" Id="R15caf38a6e9a4a3c" /></Relationships>
</file>

<file path=ppt/presentation.xml><?xml version="1.0" encoding="utf-8"?>
<p:presentation xmlns:p="http://schemas.openxmlformats.org/presentationml/2006/main">
  <p:sldMasterIdLst>
    <p:sldMasterId xmlns:r="http://schemas.openxmlformats.org/officeDocument/2006/relationships" id="2147483648" r:id="R67667f8a535f4ee2"/>
  </p:sldMasterIdLst>
  <p:notesMasterIdLst>
    <p:notesMasterId xmlns:r="http://schemas.openxmlformats.org/officeDocument/2006/relationships" r:id="R0d05be880ec246b8"/>
  </p:notesMasterIdLst>
  <p:sldIdLst>
    <p:sldId xmlns:r="http://schemas.openxmlformats.org/officeDocument/2006/relationships" id="256" r:id="R40df33ef1d4f4b5e"/>
    <p:sldId xmlns:r="http://schemas.openxmlformats.org/officeDocument/2006/relationships" id="257" r:id="R59d9d4494b094459"/>
    <p:sldId xmlns:r="http://schemas.openxmlformats.org/officeDocument/2006/relationships" id="258" r:id="R6b5d2cab40d24bde"/>
    <p:sldId xmlns:r="http://schemas.openxmlformats.org/officeDocument/2006/relationships" id="259" r:id="R8ce1f518a0ad4bad"/>
    <p:sldId xmlns:r="http://schemas.openxmlformats.org/officeDocument/2006/relationships" id="260" r:id="R3186e7f462a7461e"/>
    <p:sldId xmlns:r="http://schemas.openxmlformats.org/officeDocument/2006/relationships" id="261" r:id="Rcf6669b59ba541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4b9da42b35462a" /><Relationship Type="http://schemas.openxmlformats.org/officeDocument/2006/relationships/slideMaster" Target="/ppt/slideMasters/slideMaster1.xml" Id="R67667f8a535f4ee2" /><Relationship Type="http://schemas.openxmlformats.org/officeDocument/2006/relationships/notesMaster" Target="/ppt/notesMasters/notesMaster1.xml" Id="R0d05be880ec246b8" /><Relationship Type="http://schemas.openxmlformats.org/officeDocument/2006/relationships/presProps" Target="/ppt/presProps.xml" Id="Rdf4eb7ac321e44f3" /><Relationship Type="http://schemas.openxmlformats.org/officeDocument/2006/relationships/tableStyles" Target="/ppt/tableStyles.xml" Id="Rb1d03bd4e05f4f3b" /><Relationship Type="http://schemas.openxmlformats.org/officeDocument/2006/relationships/slide" Target="/ppt/slides/slide1.xml" Id="R40df33ef1d4f4b5e" /><Relationship Type="http://schemas.openxmlformats.org/officeDocument/2006/relationships/slide" Target="/ppt/slides/slide2.xml" Id="R59d9d4494b094459" /><Relationship Type="http://schemas.openxmlformats.org/officeDocument/2006/relationships/slide" Target="/ppt/slides/slide3.xml" Id="R6b5d2cab40d24bde" /><Relationship Type="http://schemas.openxmlformats.org/officeDocument/2006/relationships/slide" Target="/ppt/slides/slide4.xml" Id="R8ce1f518a0ad4bad" /><Relationship Type="http://schemas.openxmlformats.org/officeDocument/2006/relationships/slide" Target="/ppt/slides/slide5.xml" Id="R3186e7f462a7461e" /><Relationship Type="http://schemas.openxmlformats.org/officeDocument/2006/relationships/slide" Target="/ppt/slides/slide6.xml" Id="Rcf6669b59ba541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84d7edd05040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c2a7c4687e43c2" /><Relationship Type="http://schemas.openxmlformats.org/officeDocument/2006/relationships/notesMaster" Target="/ppt/notesMasters/notesMaster1.xml" Id="R3d096ea020a546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5cba5267c94ccb" /><Relationship Type="http://schemas.openxmlformats.org/officeDocument/2006/relationships/notesMaster" Target="/ppt/notesMasters/notesMaster1.xml" Id="R2c1fe8a5530c40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d4e64a0e0f42d6" /><Relationship Type="http://schemas.openxmlformats.org/officeDocument/2006/relationships/notesMaster" Target="/ppt/notesMasters/notesMaster1.xml" Id="R0b2d703cf8e84b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e122ffc938401c" /><Relationship Type="http://schemas.openxmlformats.org/officeDocument/2006/relationships/notesMaster" Target="/ppt/notesMasters/notesMaster1.xml" Id="R096073b25c4043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7ceefac39844d6" /><Relationship Type="http://schemas.openxmlformats.org/officeDocument/2006/relationships/notesMaster" Target="/ppt/notesMasters/notesMaster1.xml" Id="R5c991820c0e940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047ef3383f4fc2" /><Relationship Type="http://schemas.openxmlformats.org/officeDocument/2006/relationships/notesMaster" Target="/ppt/notesMasters/notesMaster1.xml" Id="R0f2e9152848a46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chart policy: remove nearly_face_on_PA_uncertain from all counts, and discard disc_PA_unstable for the 200 nearly-face-on fits. Counts now 0=601,1=963,2=466,3=176,4=1;flagged1606. Original source flags and QI/NoQI review groups remain unchanged. Previous calculation for provenance: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flag display: remove face-on category. Exclude 200 face-on fits from the disc PA eligible population, including 182 with disc_PA_unstable. Remaining disc PA instability609/2007=30.3%. Other flag percentages retain denominator2207. Failure chart unchanged. Previous counts retained here for provenance only.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ef2f9bb66648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aa3155154546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020f7571da45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c6d938c9b645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a1dbfd196d4f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082845e88a4c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C30DFD-36AA-4C93-83BD-456C733320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2B1627-6040-4257-98EC-853567FE05B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81C096-EAAE-4FC0-8192-35AFCD3CC8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D13E34-FFB3-408F-9A3E-9E616CC73C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C7D50F-2626-459E-B72A-677151395C6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FAC617-1D11-4AE5-BF25-769D4352A9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3B01C4-7DF3-45D6-AAC2-76594E6EE2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911BA7-04E9-48AD-8415-F02543FD74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26D08F-AA4C-4EDE-BB78-32C1AD2F29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DD5D30-F4CF-411E-B7C9-CEE0943808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9f2fcdfe194cfd" /><Relationship Type="http://schemas.openxmlformats.org/officeDocument/2006/relationships/slideLayout" Target="/ppt/slideLayouts/slideLayout1.xml" Id="R975ae6e46a6b4090" /><Relationship Type="http://schemas.openxmlformats.org/officeDocument/2006/relationships/slideLayout" Target="/ppt/slideLayouts/slideLayout2.xml" Id="R8a3a6725cd474bd4" /><Relationship Type="http://schemas.openxmlformats.org/officeDocument/2006/relationships/slideLayout" Target="/ppt/slideLayouts/slideLayout3.xml" Id="Rbf9a76b79a91489b" /><Relationship Type="http://schemas.openxmlformats.org/officeDocument/2006/relationships/slideLayout" Target="/ppt/slideLayouts/slideLayout4.xml" Id="R3f5a25f08697416a" /><Relationship Type="http://schemas.openxmlformats.org/officeDocument/2006/relationships/slideLayout" Target="/ppt/slideLayouts/slideLayout5.xml" Id="Rdd76eb2306cd452c" /><Relationship Type="http://schemas.openxmlformats.org/officeDocument/2006/relationships/slideLayout" Target="/ppt/slideLayouts/slideLayout6.xml" Id="R1f328d606eb046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5ae6e46a6b4090"/>
    <p:sldLayoutId xmlns:r="http://schemas.openxmlformats.org/officeDocument/2006/relationships" id="2147483650" r:id="R8a3a6725cd474bd4"/>
    <p:sldLayoutId xmlns:r="http://schemas.openxmlformats.org/officeDocument/2006/relationships" id="2147483651" r:id="Rbf9a76b79a91489b"/>
    <p:sldLayoutId xmlns:r="http://schemas.openxmlformats.org/officeDocument/2006/relationships" id="2147483652" r:id="R3f5a25f08697416a"/>
    <p:sldLayoutId xmlns:r="http://schemas.openxmlformats.org/officeDocument/2006/relationships" id="2147483653" r:id="Rdd76eb2306cd452c"/>
    <p:sldLayoutId xmlns:r="http://schemas.openxmlformats.org/officeDocument/2006/relationships" id="2147483654" r:id="R1f328d606eb046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dde8ae9c984d90" /><Relationship Type="http://schemas.openxmlformats.org/officeDocument/2006/relationships/notesSlide" Target="/ppt/notesSlides/notesSlide1.xml" Id="R98749994c3be47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480e549c634831" /><Relationship Type="http://schemas.openxmlformats.org/officeDocument/2006/relationships/chart" Target="/ppt/slides/charts/chart1.xml" Id="R4311dbe1132240af" /><Relationship Type="http://schemas.openxmlformats.org/officeDocument/2006/relationships/notesSlide" Target="/ppt/notesSlides/notesSlide2.xml" Id="R098dde03247945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a1de93182ba4f1e" /><Relationship Type="http://schemas.openxmlformats.org/officeDocument/2006/relationships/chart" Target="/ppt/slides/charts/chart2.xml" Id="R81053be63d034980" /><Relationship Type="http://schemas.openxmlformats.org/officeDocument/2006/relationships/chart" Target="/ppt/slides/charts/chart3.xml" Id="R6b1c82201a8f41ee" /><Relationship Type="http://schemas.openxmlformats.org/officeDocument/2006/relationships/notesSlide" Target="/ppt/notesSlides/notesSlide3.xml" Id="R9fdb6a4cd4c241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d7799e048f4b68" /><Relationship Type="http://schemas.openxmlformats.org/officeDocument/2006/relationships/notesSlide" Target="/ppt/notesSlides/notesSlide4.xml" Id="R7ae57503469a46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d03f3afcb04929" /><Relationship Type="http://schemas.openxmlformats.org/officeDocument/2006/relationships/image" Target="/ppt/media/image.png" Id="R20169684e0824733" /><Relationship Type="http://schemas.openxmlformats.org/officeDocument/2006/relationships/notesSlide" Target="/ppt/notesSlides/notesSlide5.xml" Id="R49c1965f9a7d4e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2ce3706aaaa49fb" /><Relationship Type="http://schemas.openxmlformats.org/officeDocument/2006/relationships/notesSlide" Target="/ppt/notesSlides/notesSlide6.xml" Id="R932ee4941fcc41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No counted flags</c:v>
          </c:tx>
          <c:spPr>
            <a:solidFill xmlns:a="http://schemas.openxmlformats.org/drawingml/2006/main">
              <a:srgbClr val="367A8C"/>
            </a:solidFill>
          </c:spPr>
          <c:invertIfNegative val="0"/>
          <c:cat>
            <c:strRef>
              <c:f>'Chart Data'!$A$2:$A$4</c:f>
              <c:strCache>
                <c:ptCount val="3"/>
                <c:pt idx="0">
                  <c:v>No counted flags</c:v>
                </c:pt>
                <c:pt idx="1">
                  <c:v>Flagged fit</c:v>
                </c:pt>
                <c:pt idx="2">
                  <c:v>Failed fit</c:v>
                </c:pt>
              </c:strCache>
            </c:strRef>
          </c:cat>
          <c:val>
            <c:numRef>
              <c:f>'Chart Data'!$B$2:$B$4</c:f>
              <c:numCache>
                <c:formatCode>0.0%</c:formatCode>
                <c:ptCount val="3"/>
                <c:pt idx="0">
                  <c:v>0.216421</c:v>
                </c:pt>
                <c:pt idx="1">
                  <c:v>0</c:v>
                </c:pt>
                <c:pt idx="2">
                  <c:v>0</c:v>
                </c:pt>
              </c:numCache>
            </c:numRef>
          </c:val>
        </c:ser>
        <c:ser>
          <c:idx val="1"/>
          <c:order val="1"/>
          <c:tx>
            <c:v>1 flag</c:v>
          </c:tx>
          <c:spPr>
            <a:solidFill xmlns:a="http://schemas.openxmlformats.org/drawingml/2006/main">
              <a:srgbClr val="E5BB66"/>
            </a:solidFill>
          </c:spPr>
          <c:invertIfNegative val="0"/>
          <c:cat>
            <c:strRef>
              <c:f>'Chart Data'!$C$2:$C$4</c:f>
              <c:strCache>
                <c:ptCount val="3"/>
                <c:pt idx="0">
                  <c:v>No counted flags</c:v>
                </c:pt>
                <c:pt idx="1">
                  <c:v>Flagged fit</c:v>
                </c:pt>
                <c:pt idx="2">
                  <c:v>Failed fit</c:v>
                </c:pt>
              </c:strCache>
            </c:strRef>
          </c:cat>
          <c:val>
            <c:numRef>
              <c:f>'Chart Data'!$D$2:$D$4</c:f>
              <c:numCache>
                <c:formatCode>0.0%</c:formatCode>
                <c:ptCount val="3"/>
                <c:pt idx="0">
                  <c:v>0</c:v>
                </c:pt>
                <c:pt idx="1">
                  <c:v>0.346777</c:v>
                </c:pt>
                <c:pt idx="2">
                  <c:v>0</c:v>
                </c:pt>
              </c:numCache>
            </c:numRef>
          </c:val>
        </c:ser>
        <c:ser>
          <c:idx val="2"/>
          <c:order val="2"/>
          <c:tx>
            <c:v>2 flags</c:v>
          </c:tx>
          <c:spPr>
            <a:solidFill xmlns:a="http://schemas.openxmlformats.org/drawingml/2006/main">
              <a:srgbClr val="CC9637"/>
            </a:solidFill>
          </c:spPr>
          <c:invertIfNegative val="0"/>
          <c:cat>
            <c:strRef>
              <c:f>'Chart Data'!$E$2:$E$4</c:f>
              <c:strCache>
                <c:ptCount val="3"/>
                <c:pt idx="0">
                  <c:v>No counted flags</c:v>
                </c:pt>
                <c:pt idx="1">
                  <c:v>Flagged fit</c:v>
                </c:pt>
                <c:pt idx="2">
                  <c:v>Failed fit</c:v>
                </c:pt>
              </c:strCache>
            </c:strRef>
          </c:cat>
          <c:val>
            <c:numRef>
              <c:f>'Chart Data'!$F$2:$F$4</c:f>
              <c:numCache>
                <c:formatCode>0.0%</c:formatCode>
                <c:ptCount val="3"/>
                <c:pt idx="0">
                  <c:v>0</c:v>
                </c:pt>
                <c:pt idx="1">
                  <c:v>0.167807</c:v>
                </c:pt>
                <c:pt idx="2">
                  <c:v>0</c:v>
                </c:pt>
              </c:numCache>
            </c:numRef>
          </c:val>
        </c:ser>
        <c:ser>
          <c:idx val="3"/>
          <c:order val="3"/>
          <c:tx>
            <c:v>3 flags</c:v>
          </c:tx>
          <c:spPr>
            <a:solidFill xmlns:a="http://schemas.openxmlformats.org/drawingml/2006/main">
              <a:srgbClr val="A66B24"/>
            </a:solidFill>
          </c:spPr>
          <c:invertIfNegative val="0"/>
          <c:cat>
            <c:strRef>
              <c:f>'Chart Data'!$G$2:$G$4</c:f>
              <c:strCache>
                <c:ptCount val="3"/>
                <c:pt idx="0">
                  <c:v>No counted flags</c:v>
                </c:pt>
                <c:pt idx="1">
                  <c:v>Flagged fit</c:v>
                </c:pt>
                <c:pt idx="2">
                  <c:v>Failed fit</c:v>
                </c:pt>
              </c:strCache>
            </c:strRef>
          </c:cat>
          <c:val>
            <c:numRef>
              <c:f>'Chart Data'!$H$2:$H$4</c:f>
              <c:numCache>
                <c:formatCode>0.0%</c:formatCode>
                <c:ptCount val="3"/>
                <c:pt idx="0">
                  <c:v>0</c:v>
                </c:pt>
                <c:pt idx="1">
                  <c:v>0.063378</c:v>
                </c:pt>
                <c:pt idx="2">
                  <c:v>0</c:v>
                </c:pt>
              </c:numCache>
            </c:numRef>
          </c:val>
        </c:ser>
        <c:ser>
          <c:idx val="4"/>
          <c:order val="4"/>
          <c:tx>
            <c:v>4 flags</c:v>
          </c:tx>
          <c:spPr>
            <a:solidFill xmlns:a="http://schemas.openxmlformats.org/drawingml/2006/main">
              <a:srgbClr val="72441C"/>
            </a:solidFill>
          </c:spPr>
          <c:invertIfNegative val="0"/>
          <c:cat>
            <c:strRef>
              <c:f>'Chart Data'!$I$2:$I$4</c:f>
              <c:strCache>
                <c:ptCount val="3"/>
                <c:pt idx="0">
                  <c:v>No counted flags</c:v>
                </c:pt>
                <c:pt idx="1">
                  <c:v>Flagged fit</c:v>
                </c:pt>
                <c:pt idx="2">
                  <c:v>Failed fit</c:v>
                </c:pt>
              </c:strCache>
            </c:strRef>
          </c:cat>
          <c:val>
            <c:numRef>
              <c:f>'Chart Data'!$J$2:$J$4</c:f>
              <c:numCache>
                <c:formatCode>0.0%</c:formatCode>
                <c:ptCount val="3"/>
                <c:pt idx="0">
                  <c:v>0</c:v>
                </c:pt>
                <c:pt idx="1">
                  <c:v>0.00036</c:v>
                </c:pt>
                <c:pt idx="2">
                  <c:v>0</c:v>
                </c:pt>
              </c:numCache>
            </c:numRef>
          </c:val>
        </c:ser>
        <c:ser>
          <c:idx val="5"/>
          <c:order val="5"/>
          <c:tx>
            <c:v>Failed</c:v>
          </c:tx>
          <c:spPr>
            <a:solidFill xmlns:a="http://schemas.openxmlformats.org/drawingml/2006/main">
              <a:srgbClr val="AC4B47"/>
            </a:solidFill>
          </c:spPr>
          <c:invertIfNegative val="0"/>
          <c:cat>
            <c:strRef>
              <c:f>'Chart Data'!$K$2:$K$4</c:f>
              <c:strCache>
                <c:ptCount val="3"/>
                <c:pt idx="0">
                  <c:v>No counted flags</c:v>
                </c:pt>
                <c:pt idx="1">
                  <c:v>Flagged fit</c:v>
                </c:pt>
                <c:pt idx="2">
                  <c:v>Failed fit</c:v>
                </c:pt>
              </c:strCache>
            </c:strRef>
          </c:cat>
          <c:val>
            <c:numRef>
              <c:f>'Chart Data'!$L$2:$L$4</c:f>
              <c:numCache>
                <c:formatCode>0.0%</c:formatCode>
                <c:ptCount val="3"/>
                <c:pt idx="0">
                  <c:v>0</c:v>
                </c:pt>
                <c:pt idx="1">
                  <c:v>0</c:v>
                </c:pt>
                <c:pt idx="2">
                  <c:v>0.205258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Ref>
              <c:f>'Chart Data'!$A$2:$A$6</c:f>
              <c:strCache>
                <c:ptCount val="5"/>
                <c:pt idx="0">
                  <c:v>Small bar interval</c:v>
                </c:pt>
                <c:pt idx="1">
                  <c:v>Unstable disc PA*</c:v>
                </c:pt>
                <c:pt idx="2">
                  <c:v>Changing disc shape</c:v>
                </c:pt>
                <c:pt idx="3">
                  <c:v>Unstable bar PA</c:v>
                </c:pt>
                <c:pt idx="4">
                  <c:v>Weak bar signature</c:v>
                </c:pt>
              </c:strCache>
            </c:strRef>
          </c:cat>
          <c:val>
            <c:numRef>
              <c:f>'Chart Data'!$B$2:$B$6</c:f>
              <c:numCache>
                <c:formatCode>0.0%</c:formatCode>
                <c:ptCount val="5"/>
                <c:pt idx="0">
                  <c:v>0.548256</c:v>
                </c:pt>
                <c:pt idx="1">
                  <c:v>0.303438</c:v>
                </c:pt>
                <c:pt idx="2">
                  <c:v>0.259628</c:v>
                </c:pt>
                <c:pt idx="3">
                  <c:v>0.012687</c:v>
                </c:pt>
                <c:pt idx="4">
                  <c:v>0.003172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Ref>
              <c:f>'Chart Data'!$A$2:$A$4</c:f>
              <c:strCache>
                <c:ptCount val="3"/>
                <c:pt idx="0">
                  <c:v>Interval</c:v>
                </c:pt>
                <c:pt idx="1">
                  <c:v>Short profile</c:v>
                </c:pt>
                <c:pt idx="2">
                  <c:v>Centre</c:v>
                </c:pt>
              </c:strCache>
            </c:strRef>
          </c:cat>
          <c:val>
            <c:numRef>
              <c:f>'Chart Data'!$B$2:$B$4</c:f>
              <c:numCache>
                <c:formatCode>0.0%</c:formatCode>
                <c:ptCount val="3"/>
                <c:pt idx="0">
                  <c:v>0.75614</c:v>
                </c:pt>
                <c:pt idx="1">
                  <c:v>0.242105</c:v>
                </c:pt>
                <c:pt idx="2">
                  <c:v>0.001754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7EA208-3969-4A82-89CB-AF9F86BE78F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68A6D20E-7A1D-480B-A1E9-B3DA616C1796}"/>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9993D1A8-ABC1-40FE-918A-BE65DF1B9A3D}"/>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63C8449A-62F6-4C84-A5DB-A4CE55886FA0}"/>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F0FDD749-1BB2-4C5D-9097-AE1AE86FB013}"/>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D794BB09-9044-4936-9282-CFB5F891657E}"/>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18805855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759E381-4437-4BA4-9479-81EC9469C61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3F89CD35-54BD-4C46-B8FA-CF96577DDEE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sp>
        <p:nvSpPr>
          <p:cNvPr id="3" name="">
            <a:extLst xmlns:a="http://schemas.openxmlformats.org/drawingml/2006/main">
              <a:ext uri="{FF2B5EF4-FFF2-40B4-BE49-F238E27FC236}">
                <a16:creationId xmlns:a16="http://schemas.microsoft.com/office/drawing/2014/main" id="{7EA7E4F0-E052-417F-A68C-793F8C1B0AE0}"/>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0B52A7EC-CF4C-427E-8FA8-EEAB66CD0CD2}"/>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4311dbe1132240af"/>
          </a:graphicData>
        </a:graphic>
      </p:graphicFrame>
      <p:sp>
        <p:nvSpPr>
          <p:cNvPr id="5" name="">
            <a:extLst xmlns:a="http://schemas.openxmlformats.org/drawingml/2006/main">
              <a:ext uri="{FF2B5EF4-FFF2-40B4-BE49-F238E27FC236}">
                <a16:creationId xmlns:a16="http://schemas.microsoft.com/office/drawing/2014/main" id="{A8EF0222-099B-483D-825B-ACBA215146B4}"/>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57.8% total</a:t>
            </a:r>
          </a:p>
        </p:txBody>
      </p:sp>
      <p:sp>
        <p:nvSpPr>
          <p:cNvPr id="6" name="">
            <a:extLst xmlns:a="http://schemas.openxmlformats.org/drawingml/2006/main">
              <a:ext uri="{FF2B5EF4-FFF2-40B4-BE49-F238E27FC236}">
                <a16:creationId xmlns:a16="http://schemas.microsoft.com/office/drawing/2014/main" id="{D75DC59B-3742-4CE5-89D8-0D3A2BC1CD40}"/>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963 (34.7%)</a:t>
            </a:r>
          </a:p>
        </p:txBody>
      </p:sp>
      <p:sp>
        <p:nvSpPr>
          <p:cNvPr id="7" name="">
            <a:extLst xmlns:a="http://schemas.openxmlformats.org/drawingml/2006/main">
              <a:ext uri="{FF2B5EF4-FFF2-40B4-BE49-F238E27FC236}">
                <a16:creationId xmlns:a16="http://schemas.microsoft.com/office/drawing/2014/main" id="{DC7AEA67-1506-442F-B8EC-AABC8510AC9E}"/>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466 (16.8%)</a:t>
            </a:r>
          </a:p>
        </p:txBody>
      </p:sp>
      <p:sp>
        <p:nvSpPr>
          <p:cNvPr id="8" name="">
            <a:extLst xmlns:a="http://schemas.openxmlformats.org/drawingml/2006/main">
              <a:ext uri="{FF2B5EF4-FFF2-40B4-BE49-F238E27FC236}">
                <a16:creationId xmlns:a16="http://schemas.microsoft.com/office/drawing/2014/main" id="{47635F23-977D-405E-895C-C99ED94F0AD7}"/>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176 (6.3%)</a:t>
            </a:r>
          </a:p>
        </p:txBody>
      </p:sp>
      <p:sp>
        <p:nvSpPr>
          <p:cNvPr id="9" name="">
            <a:extLst xmlns:a="http://schemas.openxmlformats.org/drawingml/2006/main">
              <a:ext uri="{FF2B5EF4-FFF2-40B4-BE49-F238E27FC236}">
                <a16:creationId xmlns:a16="http://schemas.microsoft.com/office/drawing/2014/main" id="{13B3F3C7-6C93-467D-A8A9-EA294E8AD3E3}"/>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1 (&lt;0.1%)</a:t>
            </a:r>
          </a:p>
        </p:txBody>
      </p:sp>
      <p:sp>
        <p:nvSpPr>
          <p:cNvPr id="10" name="">
            <a:extLst xmlns:a="http://schemas.openxmlformats.org/drawingml/2006/main">
              <a:ext uri="{FF2B5EF4-FFF2-40B4-BE49-F238E27FC236}">
                <a16:creationId xmlns:a16="http://schemas.microsoft.com/office/drawing/2014/main" id="{E6A65826-C347-418A-8FB3-EFE88E8EA568}"/>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counted flags: 21.6% (601)</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2987FDFB-231A-4A7C-80FB-A603C5AE20AF}"/>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Chart excludes face-on flag and disc PA instability for face-on galaxies. Source QI labels unchanged.</a:t>
            </a:r>
          </a:p>
        </p:txBody>
      </p:sp>
    </p:spTree>
    <p:extLst>
      <p:ext uri="{BB962C8B-B14F-4D97-AF65-F5344CB8AC3E}">
        <p14:creationId xmlns:p14="http://schemas.microsoft.com/office/powerpoint/2010/main" val="4643720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3EC662-1DE0-4642-83CB-B5D06612850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805F36EB-AF26-4F81-B08F-23C8EA657DD2}"/>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sp>
        <p:nvSpPr>
          <p:cNvPr id="3" name="">
            <a:extLst xmlns:a="http://schemas.openxmlformats.org/drawingml/2006/main">
              <a:ext uri="{FF2B5EF4-FFF2-40B4-BE49-F238E27FC236}">
                <a16:creationId xmlns:a16="http://schemas.microsoft.com/office/drawing/2014/main" id="{F17B7A0D-0DE0-4C2F-A715-7882C77D1868}"/>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Counted flags among completed fits</a:t>
            </a:r>
          </a:p>
        </p:txBody>
      </p:sp>
      <p:graphicFrame>
        <p:nvGraphicFramePr>
          <p:cNvPr id="4" name="Chart">
            <a:extLst xmlns:a="http://schemas.openxmlformats.org/drawingml/2006/main">
              <a:ext uri="{FF2B5EF4-FFF2-40B4-BE49-F238E27FC236}">
                <a16:creationId xmlns:a16="http://schemas.microsoft.com/office/drawing/2014/main" id="{7967CE12-E1F9-4EE3-A87D-5F2DDAEF57AF}"/>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81053be63d034980"/>
          </a:graphicData>
        </a:graphic>
      </p:graphicFrame>
      <p:sp>
        <p:nvSpPr>
          <p:cNvPr id="5" name="">
            <a:extLst xmlns:a="http://schemas.openxmlformats.org/drawingml/2006/main">
              <a:ext uri="{FF2B5EF4-FFF2-40B4-BE49-F238E27FC236}">
                <a16:creationId xmlns:a16="http://schemas.microsoft.com/office/drawing/2014/main" id="{C27C7A4E-0A26-49AC-BD88-F2987BDBC885}"/>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*Disc PA: 609 / 2,007 non-face-on fits (30.3%).</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Other bars: denominator 2,207. Flags overlap.</a:t>
            </a:r>
          </a:p>
        </p:txBody>
      </p:sp>
      <p:sp>
        <p:nvSpPr>
          <p:cNvPr id="6" name="">
            <a:extLst xmlns:a="http://schemas.openxmlformats.org/drawingml/2006/main">
              <a:ext uri="{FF2B5EF4-FFF2-40B4-BE49-F238E27FC236}">
                <a16:creationId xmlns:a16="http://schemas.microsoft.com/office/drawing/2014/main" id="{7D0DB367-FCD4-448E-965E-7F1EA865B69F}"/>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CBA421CC-C422-4F7F-A9DA-3EE18B51CA30}"/>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6b1c82201a8f41ee"/>
          </a:graphicData>
        </a:graphic>
      </p:graphicFrame>
      <p:sp>
        <p:nvSpPr>
          <p:cNvPr id="8" name="">
            <a:extLst xmlns:a="http://schemas.openxmlformats.org/drawingml/2006/main">
              <a:ext uri="{FF2B5EF4-FFF2-40B4-BE49-F238E27FC236}">
                <a16:creationId xmlns:a16="http://schemas.microsoft.com/office/drawing/2014/main" id="{50D23D54-ED7C-45AA-9CC3-36F7592722CE}"/>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A5CBDC6E-9EA9-4D9E-9881-C5BBA1316F48}"/>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19792225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C2C03E-84AB-42DD-B2E2-021FD03C53B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813FE1E3-B5A4-49D7-B5E4-36D0BC2133F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99063185-FB2C-43AC-A16B-C2EBC0B4B227}"/>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6402E1EA-C411-4B6F-AEFB-D9EA9BBB3813}"/>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AD619FE-2776-407E-9365-CF2051178175}"/>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D6FDD6A2-833F-4842-86B1-745D82811C47}"/>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4136848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62CEE2-1DC1-4D6D-B1A8-3385731F4FA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4D215882-70C3-4A86-97DA-7F91D0428E5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D619FE4D-2BBD-429A-A015-D97182073257}"/>
              </a:ext>
            </a:extLst>
          </p:cNvPr>
          <p:cNvPicPr>
            <a:picLocks xmlns:a="http://schemas.openxmlformats.org/drawingml/2006/main" noChangeAspect="1"/>
          </p:cNvPicPr>
          <p:nvPr/>
        </p:nvPicPr>
        <p:blipFill>
          <a:blip xmlns:r="http://schemas.openxmlformats.org/officeDocument/2006/relationships" xmlns:a="http://schemas.openxmlformats.org/drawingml/2006/main" r:embed="R20169684e0824733"/>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AD0A6A-A54C-4FAC-A039-C8FFBAE0CD07}"/>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B4193638-0701-4C4B-B34C-B2EC7F7A8A7B}"/>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8B1B5343-D8D9-411D-89FA-51EF6F9F3EBB}"/>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CC1221E4-8F40-4A96-90B0-9FEB76C19C60}"/>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02A0E444-7E48-43FD-8A02-D89C9653AD62}"/>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17352003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85FE2D-8DEA-4DF3-9C66-8D60FBDD090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C91CADB7-42FE-4076-AA5C-8485196BF0D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CB548011-CB56-4BCF-966F-7D4AD9B4FDA8}"/>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5DE90E-D91B-4B0B-89A9-6C3F941F8E09}"/>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78769343-44B0-4D69-8705-7E8DCF0F02B5}"/>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47A8EA29-B4A4-488A-B054-E1B8DB0A5E9B}"/>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354565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2026-10-20T13:02:01.9210000Z</dcterms:created>
  <dcterms:modified xsi:type="dcterms:W3CDTF">2026-10-20T13:02:01.9210000Z</dcterms:modified>
</coreProperties>
</file>