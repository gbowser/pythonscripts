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334de4d2b43b1" /><Relationship Type="http://schemas.openxmlformats.org/officeDocument/2006/relationships/extended-properties" Target="/docProps/app.xml" Id="Re65c81bf9edd416d" /><Relationship Type="http://schemas.openxmlformats.org/officeDocument/2006/relationships/officeDocument" Target="/ppt/presentation.xml" Id="R86d2a4fdb3d843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7540df739748a6"/>
  </p:sldMasterIdLst>
  <p:notesMasterIdLst>
    <p:notesMasterId xmlns:r="http://schemas.openxmlformats.org/officeDocument/2006/relationships" r:id="Rc4f1194ceefb49da"/>
  </p:notesMasterIdLst>
  <p:sldIdLst>
    <p:sldId xmlns:r="http://schemas.openxmlformats.org/officeDocument/2006/relationships" id="256" r:id="R689a54dba081462c"/>
    <p:sldId xmlns:r="http://schemas.openxmlformats.org/officeDocument/2006/relationships" id="257" r:id="Rc205a8e737584847"/>
    <p:sldId xmlns:r="http://schemas.openxmlformats.org/officeDocument/2006/relationships" id="258" r:id="R139f7bf591394c3c"/>
    <p:sldId xmlns:r="http://schemas.openxmlformats.org/officeDocument/2006/relationships" id="259" r:id="R2a098752934248f6"/>
    <p:sldId xmlns:r="http://schemas.openxmlformats.org/officeDocument/2006/relationships" id="260" r:id="Rc5b764b7c71c4bb0"/>
    <p:sldId xmlns:r="http://schemas.openxmlformats.org/officeDocument/2006/relationships" id="261" r:id="R9218269d1b674761"/>
    <p:sldId xmlns:r="http://schemas.openxmlformats.org/officeDocument/2006/relationships" id="262" r:id="R3fc44951da73404b"/>
    <p:sldId xmlns:r="http://schemas.openxmlformats.org/officeDocument/2006/relationships" id="263" r:id="R7c396d6797604362"/>
    <p:sldId xmlns:r="http://schemas.openxmlformats.org/officeDocument/2006/relationships" id="264" r:id="R6368c24304524eeb"/>
    <p:sldId xmlns:r="http://schemas.openxmlformats.org/officeDocument/2006/relationships" id="265" r:id="Rf14d8d7c372b4035"/>
    <p:sldId xmlns:r="http://schemas.openxmlformats.org/officeDocument/2006/relationships" id="266" r:id="Re7816e7077504e3c"/>
    <p:sldId xmlns:r="http://schemas.openxmlformats.org/officeDocument/2006/relationships" id="267" r:id="R84ed2b7479b248c8"/>
    <p:sldId xmlns:r="http://schemas.openxmlformats.org/officeDocument/2006/relationships" id="268" r:id="Re8fec994496346b4"/>
    <p:sldId xmlns:r="http://schemas.openxmlformats.org/officeDocument/2006/relationships" id="269" r:id="R7efcd99db69644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93f30572384efe" /><Relationship Type="http://schemas.openxmlformats.org/officeDocument/2006/relationships/slideMaster" Target="/ppt/slideMasters/slideMaster1.xml" Id="Rd07540df739748a6" /><Relationship Type="http://schemas.openxmlformats.org/officeDocument/2006/relationships/notesMaster" Target="/ppt/notesMasters/notesMaster1.xml" Id="Rc4f1194ceefb49da" /><Relationship Type="http://schemas.openxmlformats.org/officeDocument/2006/relationships/presProps" Target="/ppt/presProps.xml" Id="R39f106767ab34d50" /><Relationship Type="http://schemas.openxmlformats.org/officeDocument/2006/relationships/tableStyles" Target="/ppt/tableStyles.xml" Id="R7905b7685a9841a9" /><Relationship Type="http://schemas.openxmlformats.org/officeDocument/2006/relationships/slide" Target="/ppt/slides/slide1.xml" Id="R689a54dba081462c" /><Relationship Type="http://schemas.openxmlformats.org/officeDocument/2006/relationships/slide" Target="/ppt/slides/slide2.xml" Id="Rc205a8e737584847" /><Relationship Type="http://schemas.openxmlformats.org/officeDocument/2006/relationships/slide" Target="/ppt/slides/slide3.xml" Id="R139f7bf591394c3c" /><Relationship Type="http://schemas.openxmlformats.org/officeDocument/2006/relationships/slide" Target="/ppt/slides/slide4.xml" Id="R2a098752934248f6" /><Relationship Type="http://schemas.openxmlformats.org/officeDocument/2006/relationships/slide" Target="/ppt/slides/slide5.xml" Id="Rc5b764b7c71c4bb0" /><Relationship Type="http://schemas.openxmlformats.org/officeDocument/2006/relationships/slide" Target="/ppt/slides/slide6.xml" Id="R9218269d1b674761" /><Relationship Type="http://schemas.openxmlformats.org/officeDocument/2006/relationships/slide" Target="/ppt/slides/slide7.xml" Id="R3fc44951da73404b" /><Relationship Type="http://schemas.openxmlformats.org/officeDocument/2006/relationships/slide" Target="/ppt/slides/slide8.xml" Id="R7c396d6797604362" /><Relationship Type="http://schemas.openxmlformats.org/officeDocument/2006/relationships/slide" Target="/ppt/slides/slide9.xml" Id="R6368c24304524eeb" /><Relationship Type="http://schemas.openxmlformats.org/officeDocument/2006/relationships/slide" Target="/ppt/slides/slide10.xml" Id="Rf14d8d7c372b4035" /><Relationship Type="http://schemas.openxmlformats.org/officeDocument/2006/relationships/slide" Target="/ppt/slides/slide11.xml" Id="Re7816e7077504e3c" /><Relationship Type="http://schemas.openxmlformats.org/officeDocument/2006/relationships/slide" Target="/ppt/slides/slide12.xml" Id="R84ed2b7479b248c8" /><Relationship Type="http://schemas.openxmlformats.org/officeDocument/2006/relationships/slide" Target="/ppt/slides/slide13.xml" Id="Re8fec994496346b4" /><Relationship Type="http://schemas.openxmlformats.org/officeDocument/2006/relationships/slide" Target="/ppt/slides/slide14.xml" Id="R7efcd99db69644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2f0a9a890f45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496e89ec97444c" /><Relationship Type="http://schemas.openxmlformats.org/officeDocument/2006/relationships/notesMaster" Target="/ppt/notesMasters/notesMaster1.xml" Id="R212815ec56fb47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a4657e0de409e" /><Relationship Type="http://schemas.openxmlformats.org/officeDocument/2006/relationships/notesMaster" Target="/ppt/notesMasters/notesMaster1.xml" Id="Re3dc21e919c540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b7742fc8a04f44" /><Relationship Type="http://schemas.openxmlformats.org/officeDocument/2006/relationships/notesMaster" Target="/ppt/notesMasters/notesMaster1.xml" Id="Rce937c97ece24d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d4710f31f345e1" /><Relationship Type="http://schemas.openxmlformats.org/officeDocument/2006/relationships/notesMaster" Target="/ppt/notesMasters/notesMaster1.xml" Id="R89618ca48b784e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e26d281924bc5" /><Relationship Type="http://schemas.openxmlformats.org/officeDocument/2006/relationships/notesMaster" Target="/ppt/notesMasters/notesMaster1.xml" Id="Rcf3b360fc9f249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0efacc0c4e4cd9" /><Relationship Type="http://schemas.openxmlformats.org/officeDocument/2006/relationships/notesMaster" Target="/ppt/notesMasters/notesMaster1.xml" Id="R023b023aca3c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0cfff647124f01" /><Relationship Type="http://schemas.openxmlformats.org/officeDocument/2006/relationships/notesMaster" Target="/ppt/notesMasters/notesMaster1.xml" Id="Rdc7ba09c2c0146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fce09b339f4e6b" /><Relationship Type="http://schemas.openxmlformats.org/officeDocument/2006/relationships/notesMaster" Target="/ppt/notesMasters/notesMaster1.xml" Id="R1fe2d54252f14b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f804547f7b4fbc" /><Relationship Type="http://schemas.openxmlformats.org/officeDocument/2006/relationships/notesMaster" Target="/ppt/notesMasters/notesMaster1.xml" Id="R9f8e5230b29242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25824518ea4f02" /><Relationship Type="http://schemas.openxmlformats.org/officeDocument/2006/relationships/notesMaster" Target="/ppt/notesMasters/notesMaster1.xml" Id="Rcaa68b5266604e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4e1157ecaf4c56" /><Relationship Type="http://schemas.openxmlformats.org/officeDocument/2006/relationships/notesMaster" Target="/ppt/notesMasters/notesMaster1.xml" Id="R19ec3a4ed6df4b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d70510344a45da" /><Relationship Type="http://schemas.openxmlformats.org/officeDocument/2006/relationships/notesMaster" Target="/ppt/notesMasters/notesMaster1.xml" Id="R30709d325c3148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b58da4681a4d9d" /><Relationship Type="http://schemas.openxmlformats.org/officeDocument/2006/relationships/notesMaster" Target="/ppt/notesMasters/notesMaster1.xml" Id="R39d035e929594b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fb8097034d4def" /><Relationship Type="http://schemas.openxmlformats.org/officeDocument/2006/relationships/notesMaster" Target="/ppt/notesMasters/notesMaster1.xml" Id="R82e6b8c8b1ff46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Flags overlap. Chart shows the eleven most frequent issues; the Word report and manifest retain every flag. A no_bar_detected warning does not invalidate the disc estimate. Individual PA scatter is not a formal independent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Supplied fitted-manifest comparison: {"disc":{"n":2773,"median_abs":2.76077815661057,"median_signed":0.021808524369362203,"within10":2169},"bar":{"n":2292,"median_abs":0.4539355276748722,"median_signed":-0.0040814688521066955,"within10":2237},"inclination":{"n":2773,"median_abs":2.3744889759578527,"median_signed":-0.9662639215711621,"within10":2428}}. Supplied inclination uses intrinsic q0=.2; ours remains q0=0. Euclid whole-object shapes are proxies, not independent outer-disc measurements. No Euclid bar PA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Centre example (multiple flags, not an isolated-flag demonstration): {"id":"2700376345666189458","image":"C:\\Users\\gordo\\Documents\\Github\\PythonScripts\\Foreground Masking\\MER_VIS_pipeline_v2\\current_report\\images\\2700376345666189458.png","full_card":"D:\\Dropbox\\Public Documents\\UCLAN\\MSc Research\\Euclid\\MER_VIS_galaxy_reports\\all_2777\\png_QI\\2448_Euclid_2700376345666189458_MER_VIS_geometry_report_QI.png","disc":101.52336049391899,"bar":101.48498053450594,"inc":71.05369315170853,"centre_offset":17.320432011634527,"method":"recentred","flags":["centre_offset_large","disc_axis_ratio_unstable","disc_PA_sparse_sampling"],"bar_status":"detected_A","error":"","n_good":"43","n_disc":"5","n_bar":"4","disc_scatter":0.9310092684915722,"disc_span":0.3545431996625442,"bar_end":19.181222769615243,"information":"","detail_image":"C:\\Users\\gordo\\Documents\\Github\\PythonScripts\\Foreground Masking\\MER_VIS_pipeline_v2\\current_report\\images\\centre_detail.png"}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Isolated example counts (full coverage): {"no_bar_detected":57,"disc_PA_unstable":30,"disc_axis_ratio_unstable":38,"small_bar_sensitive_to_resolution":176,"disc_PA_sparse_sampling":262,"disc_range_fallback":0,"bar_disc_ranges_close":0,"small_disc":0,"weak_ellipse_bar_signature":5,"centre_offset_large":1,"relaxed_fit":0,"iteration_limited_samples":0,"star_mask_removed":0,"neighbour_mask_removed":0,"centre_unstable":0,"short_accepted_profile":0,"high_inclination":0}. Flags without two isolated cases are not represented as single-flag examples. Bar acceptance requires a stable PA 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{"key":"disc_PA_sparse_sampling","title":"Sparse disc sampling","kind":"isolated_flag","examples":[{"id":"-518633776290631360","image":"C:\\Users\\gordo\\Documents\\Github\\PythonScripts\\Foreground Masking\\MER_VIS_pipeline_v2\\current_report\\images\\-518633776290631360.png","full_card":"D:\\Dropbox\\Public Documents\\UCLAN\\MSc Research\\Euclid\\MER_VIS_galaxy_reports\\all_2777\\png_QI\\0005_Euclid_-518633776290631360_MER_VIS_geometry_report_QI.png","disc":113.69021016263804,"bar":113.86950382756103,"inc":49.47781434213959,"centre_offset":0.15091616609311526,"method":"standard","flags":["disc_PA_sparse_sampling"],"bar_status":"detected_A","error":"","n_good":"28","n_disc":"3","n_bar":"11","disc_scatter":17.55097022310975,"disc_span":0.06326608973174502,"bar_end":1.7950070214699363,"information":""},{"id":"-591772188508612550","image":"C:\\Users\\gordo\\Documents\\Github\\PythonScripts\\Foreground Masking\\MER_VIS_pipeline_v2\\current_report\\images\\-591772188508612550.png","full_card":"D:\\Dropbox\\Public Documents\\UCLAN\\MSc Research\\Euclid\\MER_VIS_galaxy_reports\\all_2777\\png_QI\\0052_Euclid_-591772188508612550_MER_VIS_geometry_report_QI.png","disc":86.43656085258868,"bar":164.63490061547776,"inc":35.695330342099226,"centre_offset":0.02832371713181012,"method":"standard","flags":["disc_PA_sparse_sampling"],"bar_status":"detected_A","error":"","n_good":"23","n_disc":"4","n_bar":"7","disc_scatter":5.250885360677478,"disc_span":0.1029346552749289,"bar_end":1.6382758850469108,"information":""}],"available":262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{"key":"small_bar_sensitive_to_resolution","title":"Bar identification uncertain: small interval","kind":"isolated_flag","examples":[{"id":"-518659917291205827","image":"C:\\Users\\gordo\\Documents\\Github\\PythonScripts\\Foreground Masking\\MER_VIS_pipeline_v2\\current_report\\images\\-518659917291205827.png","full_card":"D:\\Dropbox\\Public Documents\\UCLAN\\MSc Research\\Euclid\\MER_VIS_galaxy_reports\\all_2777\\png_QI\\0004_Euclid_-518659917291205827_MER_VIS_geometry_report_QI.png","disc":67.98049109589249,"bar":63.85453266313511,"inc":47.29360925833979,"centre_offset":0.06901554767367604,"method":"standard","flags":["small_bar_sensitive_to_resolution"],"bar_status":"detected_A","error":"","n_good":"31","n_disc":"6","n_bar":"6","disc_scatter":6.536223807890531,"disc_span":0.1305755018371826,"bar_end":1.3365451794213465,"information":""},{"id":"-518003489287870292","image":"C:\\Users\\gordo\\Documents\\Github\\PythonScripts\\Foreground Masking\\MER_VIS_pipeline_v2\\current_report\\images\\-518003489287870292.png","full_card":"D:\\Dropbox\\Public Documents\\UCLAN\\MSc Research\\Euclid\\MER_VIS_galaxy_reports\\all_2777\\png_QI\\0007_Euclid_-518003489287870292_MER_VIS_geometry_report_QI.png","disc":87.46210239608925,"bar":167.22729398125324,"inc":31.574961051993903,"centre_offset":0.043422001129307254,"method":"standard","flags":["small_bar_sensitive_to_resolution"],"bar_status":"detected_A","error":"","n_good":"22","n_disc":"6","n_bar":"4","disc_scatter":5.924727031910115,"disc_span":0.11007119226523457,"bar_end":1.3673627605688643,"information":""}],"available":176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{"key":"disc_PA_unstable","title":"Disc PA varies across radius","kind":"isolated_flag","examples":[{"id":"-601121275504424227","image":"C:\\Users\\gordo\\Documents\\Github\\PythonScripts\\Foreground Masking\\MER_VIS_pipeline_v2\\current_report\\images\\-601121275504424227.png","full_card":"D:\\Dropbox\\Public Documents\\UCLAN\\MSc Research\\Euclid\\MER_VIS_galaxy_reports\\all_2777\\png_QI\\0118_Euclid_-601121275504424227_MER_VIS_geometry_report_QI.png","disc":60.75482419435342,"bar":20.23373226136634,"inc":40.93111225561656,"centre_offset":0.038965526533334946,"method":"standard","flags":["disc_PA_unstable"],"bar_status":"detected_A","error":"","n_good":"33","n_disc":"7","n_bar":"6","disc_scatter":15.878385450188937,"disc_span":0.08169376743863846,"bar_end":1.5289036078363487,"information":""},{"id":"-610687143492806705","image":"C:\\Users\\gordo\\Documents\\Github\\PythonScripts\\Foreground Masking\\MER_VIS_pipeline_v2\\current_report\\images\\-610687143492806705.png","full_card":"D:\\Dropbox\\Public Documents\\UCLAN\\MSc Research\\Euclid\\MER_VIS_galaxy_reports\\all_2777\\png_QI\\0333_Euclid_-610687143492806705_MER_VIS_geometry_report_QI.png","disc":158.36096695742282,"bar":125.22937713244133,"inc":47.29362942331274,"centre_offset":0.2338082376742416,"method":"standard","flags":["disc_PA_unstable"],"bar_status":"detected_A","error":"","n_good":"31","n_disc":"7","n_bar":"4","disc_scatter":25.28294471714209,"disc_span":0.07966992794101968,"bar_end":1.9994762262228183,"information":""}],"available":30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{"key":"disc_axis_ratio_unstable","title":"Changing disc ellipticity","kind":"isolated_flag","examples":[{"id":"-591287408514481131","image":"C:\\Users\\gordo\\Documents\\Github\\PythonScripts\\Foreground Masking\\MER_VIS_pipeline_v2\\current_report\\images\\-591287408514481131.png","full_card":"D:\\Dropbox\\Public Documents\\UCLAN\\MSc Research\\Euclid\\MER_VIS_galaxy_reports\\all_2777\\png_QI\\0034_Euclid_-591287408514481131_MER_VIS_geometry_report_QI.png","disc":17.53323680563758,"bar":22.81336189671468,"inc":36.63266403692604,"centre_offset":0.11119406232473457,"method":"standard","flags":["disc_axis_ratio_unstable"],"bar_status":"detected_A","error":"","n_good":"34","n_disc":"6","n_bar":"4","disc_scatter":7.239400804142461,"disc_span":0.16838843455844482,"bar_end":2.1798696595074465,"information":""},{"id":"-566750185501100067","image":"C:\\Users\\gordo\\Documents\\Github\\PythonScripts\\Foreground Masking\\MER_VIS_pipeline_v2\\current_report\\images\\-566750185501100067.png","full_card":"D:\\Dropbox\\Public Documents\\UCLAN\\MSc Research\\Euclid\\MER_VIS_galaxy_reports\\all_2777\\png_QI\\0159_Euclid_-566750185501100067_MER_VIS_geometry_report_QI.png","disc":102.79246432693091,"bar":96.42893198907605,"inc":52.53634125610519,"centre_offset":0.08662419418159002,"method":"standard","flags":["disc_axis_ratio_unstable"],"bar_status":"detected_A","error":"","n_good":"32","n_disc":"7","n_bar":"6","disc_scatter":3.9332905839691543,"disc_span":0.15097490297862415,"bar_end":1.593205928470762,"information":""}],"available":38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{"key":"weak_ellipse_bar_signature","title":"Weaker accepted bar signature","kind":"isolated_flag","examples":[{"id":"-555209522496440415","image":"C:\\Users\\gordo\\Documents\\Github\\PythonScripts\\Foreground Masking\\MER_VIS_pipeline_v2\\current_report\\images\\-555209522496440415.png","full_card":"D:\\Dropbox\\Public Documents\\UCLAN\\MSc Research\\Euclid\\MER_VIS_galaxy_reports\\all_2777\\png_QI\\0261_Euclid_-555209522496440415_MER_VIS_geometry_report_QI.png","disc":100.26081295628182,"bar":105.11218163316383,"inc":42.90154861988472,"centre_offset":0.0903332976252752,"method":"standard","flags":["weak_ellipse_bar_signature"],"bar_status":"detected_B","error":"","n_good":"37","n_disc":"7","n_bar":"5","disc_scatter":7.517163372934988,"disc_span":0.13826008157628691,"bar_end":1.6744832428633671,"information":""},{"id":"-567651923481293863","image":"C:\\Users\\gordo\\Documents\\Github\\PythonScripts\\Foreground Masking\\MER_VIS_pipeline_v2\\current_report\\images\\-567651923481293863.png","full_card":"D:\\Dropbox\\Public Documents\\UCLAN\\MSc Research\\Euclid\\MER_VIS_galaxy_reports\\all_2777\\png_QI\\0728_Euclid_-567651923481293863_MER_VIS_geometry_report_QI.png","disc":133.5783320289558,"bar":23.001901678884632,"inc":25.238239011239592,"centre_offset":0.17164453119414078,"method":"standard","flags":["weak_ellipse_bar_signature"],"bar_status":"detected_B","error":"","n_good":"28","n_disc":"3","n_bar":"13","disc_scatter":6.795861954450147,"disc_span":0.01434370836758432,"bar_end":3.1004653606061714,"information":"nearly_face_on_disc_PA_uncertain"}],"available":5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{"key":"no_bar_detected","title":"No accepted bar; disc retained","kind":"isolated_flag","examples":[{"id":"2693239635649457485","image":"C:\\Users\\gordo\\Documents\\Github\\PythonScripts\\Foreground Masking\\MER_VIS_pipeline_v2\\current_report\\images\\2693239635649457485.png","full_card":"D:\\Dropbox\\Public Documents\\UCLAN\\MSc Research\\Euclid\\MER_VIS_galaxy_reports\\all_2777\\png_QI\\0030_Euclid_2693239635649457485_MER_VIS_geometry_report_QI.png","disc":115.27426229228769,"bar":null,"inc":57.10822351022106,"centre_offset":0.20803110605860703,"method":"standard","flags":["no_bar_detected"],"bar_status":"no_bar_detected","error":"","n_good":"28","n_disc":"6","n_bar":"","disc_scatter":1.534821119062622,"disc_span":0.07954589557362018,"bar_end":null,"information":""},{"id":"-600909396508240903","image":"C:\\Users\\gordo\\Documents\\Github\\PythonScripts\\Foreground Masking\\MER_VIS_pipeline_v2\\current_report\\images\\-600909396508240903.png","full_card":"D:\\Dropbox\\Public Documents\\UCLAN\\MSc Research\\Euclid\\MER_VIS_galaxy_reports\\all_2777\\png_QI\\0061_Euclid_-600909396508240903_MER_VIS_geometry_report_QI.png","disc":95.78575386450234,"bar":null,"inc":55.30004037390356,"centre_offset":0.11559495870650695,"method":"standard","flags":["no_bar_detected"],"bar_status":"no_bar_detected","error":"","n_good":"25","n_disc":"6","n_bar":"","disc_scatter":9.116555930006143,"disc_span":0.08951454268036535,"bar_end":null,"information":""}],"available":57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failures","kind":"failure","examples":[{"id":"-586374330510251740","image":"C:\\Users\\gordo\\Documents\\Github\\PythonScripts\\Foreground Masking\\MER_VIS_pipeline_v2\\current_report\\images\\-586374330510251740.png","full_card":"D:\\Dropbox\\Public Documents\\UCLAN\\MSc Research\\Euclid\\MER_VIS_galaxy_reports\\all_2777\\png_QI\\0057_Euclid_-586374330510251740_MER_VIS_geometry_report_QI.png","disc":null,"bar":null,"inc":null,"centre_offset":null,"method":"smoothed_relaxed","flags":[],"bar_status":"not_measured","error":"ValueError: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3","n_good":"0","n_disc":"","n_bar":"","disc_scatter":null,"disc_span":null,"bar_end":null,"information":""},{"id":"-524824554283124036","image":"C:\\Users\\gordo\\Documents\\Github\\PythonScripts\\Foreground Masking\\MER_VIS_pipeline_v2\\current_report\\images\\-524824554283124036.png","full_card":"D:\\Dropbox\\Public Documents\\UCLAN\\MSc Research\\Euclid\\MER_VIS_galaxy_reports\\all_2777\\png_QI\\1557_Euclid_-524824554283124036_MER_VIS_geometry_report_QI.png","disc":null,"bar":null,"inc":null,"centre_offset":null,"method":"extended_light_centre_recovery","flags":[],"bar_status":"not_measured","error":"Visual review: broader peak search switched to a saturated foreground star with diffraction spikes; no valid target-disc geometry adopted.","n_good":"0","n_disc":"6","n_bar":"","disc_scatter":null,"disc_span":0.05319752342879874,"bar_end":null,"information":""}],"available":4}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failures","kind":"failure","examples":[{"id":"2645436353651870062","image":"C:\\Users\\gordo\\Documents\\Github\\PythonScripts\\Foreground Masking\\MER_VIS_pipeline_v2\\current_report\\images\\2645436353651870062.png","full_card":"D:\\Dropbox\\Public Documents\\UCLAN\\MSc Research\\Euclid\\MER_VIS_galaxy_reports\\all_2777\\png_QI\\2079_Euclid_2645436353651870062_MER_VIS_geometry_report_QI.png","disc":null,"bar":null,"inc":null,"centre_offset":null,"method":"smoothed_relaxed","flags":[],"bar_status":"not_measured","error":"ValueError: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3","n_good":"0","n_disc":"","n_bar":"","disc_scatter":null,"disc_span":null,"bar_end":null,"information":""},{"id":"2697242050653408730","image":"C:\\Users\\gordo\\Documents\\Github\\PythonScripts\\Foreground Masking\\MER_VIS_pipeline_v2\\current_report\\images\\2697242050653408730.png","full_card":"D:\\Dropbox\\Public Documents\\UCLAN\\MSc Research\\Euclid\\MER_VIS_galaxy_reports\\all_2777\\png_QI\\2221_Euclid_2697242050653408730_MER_VIS_geometry_report_QI.png","disc":null,"bar":null,"inc":null,"centre_offset":null,"method":"extended_light_centre_recovery","flags":[],"bar_status":"not_measured","error":"Visual review: accepted contours cover only the unresolved central region below 0.5 arcsec; no resolved disc geometry adopted.","n_good":"0","n_disc":"7","n_bar":"","disc_scatter":null,"disc_span":0.1968873533678872,"bar_end":null,"information":""}],"available":4}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2f9d8b4d748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8ed48d35449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fa6305d1b4b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3e9cfc71e44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9d35ae3d54a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0564384704b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197CC0-EEBF-4132-BC7E-025D6BDBE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7ABAC0-D7B6-41E5-A688-37E15F0CA1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852CEA-EF00-426C-BEF4-3ABBD5970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D08F51-F4D0-47DF-9848-8809CFE20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35C591-6924-4E5D-9FDD-A1E4888FF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46E361-1741-4797-B179-7FEE0B3F4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626624-35BF-4E60-8263-4C44244772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4586CF-EC49-4425-9F0B-8DD2814F01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B27B2A-F1A4-4116-9CDA-FE3047838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5E9503-F1F8-4C85-9E0D-55F7EE5DF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5256d61af41a3" /><Relationship Type="http://schemas.openxmlformats.org/officeDocument/2006/relationships/slideLayout" Target="/ppt/slideLayouts/slideLayout1.xml" Id="Re5f20a7f1f6e4bad" /><Relationship Type="http://schemas.openxmlformats.org/officeDocument/2006/relationships/slideLayout" Target="/ppt/slideLayouts/slideLayout2.xml" Id="Rb3bada7b0a9743b2" /><Relationship Type="http://schemas.openxmlformats.org/officeDocument/2006/relationships/slideLayout" Target="/ppt/slideLayouts/slideLayout3.xml" Id="Rbd462589b02544cb" /><Relationship Type="http://schemas.openxmlformats.org/officeDocument/2006/relationships/slideLayout" Target="/ppt/slideLayouts/slideLayout4.xml" Id="R07dfd8f2d1944e13" /><Relationship Type="http://schemas.openxmlformats.org/officeDocument/2006/relationships/slideLayout" Target="/ppt/slideLayouts/slideLayout5.xml" Id="R9440c452f701496a" /><Relationship Type="http://schemas.openxmlformats.org/officeDocument/2006/relationships/slideLayout" Target="/ppt/slideLayouts/slideLayout6.xml" Id="Rd872eaadd3254d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20a7f1f6e4bad"/>
    <p:sldLayoutId xmlns:r="http://schemas.openxmlformats.org/officeDocument/2006/relationships" id="2147483650" r:id="Rb3bada7b0a9743b2"/>
    <p:sldLayoutId xmlns:r="http://schemas.openxmlformats.org/officeDocument/2006/relationships" id="2147483651" r:id="Rbd462589b02544cb"/>
    <p:sldLayoutId xmlns:r="http://schemas.openxmlformats.org/officeDocument/2006/relationships" id="2147483652" r:id="R07dfd8f2d1944e13"/>
    <p:sldLayoutId xmlns:r="http://schemas.openxmlformats.org/officeDocument/2006/relationships" id="2147483653" r:id="R9440c452f701496a"/>
    <p:sldLayoutId xmlns:r="http://schemas.openxmlformats.org/officeDocument/2006/relationships" id="2147483654" r:id="Rd872eaadd3254d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7397c9ced4091" /><Relationship Type="http://schemas.openxmlformats.org/officeDocument/2006/relationships/notesSlide" Target="/ppt/notesSlides/notesSlide1.xml" Id="R1feb83ebf18548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103ed2c394fcf" /><Relationship Type="http://schemas.openxmlformats.org/officeDocument/2006/relationships/chart" Target="/ppt/slides/charts/chart1.xml" Id="Rde1b4b8e5f8b43cf" /><Relationship Type="http://schemas.openxmlformats.org/officeDocument/2006/relationships/notesSlide" Target="/ppt/notesSlides/notesSlide2.xml" Id="Re3a9990becd449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8692a401d4f13" /><Relationship Type="http://schemas.openxmlformats.org/officeDocument/2006/relationships/chart" Target="/ppt/slides/charts/chart2.xml" Id="Rf5fb0eac4a104a76" /><Relationship Type="http://schemas.openxmlformats.org/officeDocument/2006/relationships/notesSlide" Target="/ppt/notesSlides/notesSlide3.xml" Id="R2fc9a46afcfa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3ee22aa3345e6" /><Relationship Type="http://schemas.openxmlformats.org/officeDocument/2006/relationships/notesSlide" Target="/ppt/notesSlides/notesSlide4.xml" Id="R6dc3880662e648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56bea9e624153" /><Relationship Type="http://schemas.openxmlformats.org/officeDocument/2006/relationships/image" Target="/ppt/media/image.png" Id="Reb1b291350c44060" /><Relationship Type="http://schemas.openxmlformats.org/officeDocument/2006/relationships/notesSlide" Target="/ppt/notesSlides/notesSlide5.xml" Id="R02084f1e46b74e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b7680998348f8" /><Relationship Type="http://schemas.openxmlformats.org/officeDocument/2006/relationships/notesSlide" Target="/ppt/notesSlides/notesSlide6.xml" Id="Rba4a73c885784c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8532e727a4a79" /><Relationship Type="http://schemas.openxmlformats.org/officeDocument/2006/relationships/image" Target="/ppt/media/image2.png" Id="Rcf9ed94dcb814dda" /><Relationship Type="http://schemas.openxmlformats.org/officeDocument/2006/relationships/image" Target="/ppt/media/image3.png" Id="R0922eb3f61944755" /><Relationship Type="http://schemas.openxmlformats.org/officeDocument/2006/relationships/notesSlide" Target="/ppt/notesSlides/notesSlide7.xml" Id="Rc54fb7796dcb4d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6aa45d1904da7" /><Relationship Type="http://schemas.openxmlformats.org/officeDocument/2006/relationships/image" Target="/ppt/media/image4.png" Id="R8c87cfb0dc13433b" /><Relationship Type="http://schemas.openxmlformats.org/officeDocument/2006/relationships/image" Target="/ppt/media/image5.png" Id="Rb2831cdcb0034c6f" /><Relationship Type="http://schemas.openxmlformats.org/officeDocument/2006/relationships/notesSlide" Target="/ppt/notesSlides/notesSlide8.xml" Id="R376681e2461a4b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050894a444d59" /><Relationship Type="http://schemas.openxmlformats.org/officeDocument/2006/relationships/image" Target="/ppt/media/image6.png" Id="Re3af05f31aa3412b" /><Relationship Type="http://schemas.openxmlformats.org/officeDocument/2006/relationships/image" Target="/ppt/media/image7.png" Id="R7e09006c00db4130" /><Relationship Type="http://schemas.openxmlformats.org/officeDocument/2006/relationships/notesSlide" Target="/ppt/notesSlides/notesSlide9.xml" Id="Rd8978360371944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efc3c98ca45b2" /><Relationship Type="http://schemas.openxmlformats.org/officeDocument/2006/relationships/image" Target="/ppt/media/image8.png" Id="R62a9cdddee554b8c" /><Relationship Type="http://schemas.openxmlformats.org/officeDocument/2006/relationships/image" Target="/ppt/media/image9.png" Id="Raf6f9f6d96ac4c49" /><Relationship Type="http://schemas.openxmlformats.org/officeDocument/2006/relationships/notesSlide" Target="/ppt/notesSlides/notesSlide10.xml" Id="R87b27b1aac3449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4d304897c4c69" /><Relationship Type="http://schemas.openxmlformats.org/officeDocument/2006/relationships/image" Target="/ppt/media/image10.png" Id="R28691017c925480b" /><Relationship Type="http://schemas.openxmlformats.org/officeDocument/2006/relationships/image" Target="/ppt/media/image11.png" Id="Rce958c7fc3cd4b2a" /><Relationship Type="http://schemas.openxmlformats.org/officeDocument/2006/relationships/notesSlide" Target="/ppt/notesSlides/notesSlide11.xml" Id="Rbce61955c96642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eb2d044354ba5" /><Relationship Type="http://schemas.openxmlformats.org/officeDocument/2006/relationships/image" Target="/ppt/media/image12.png" Id="R21d30bdee267481f" /><Relationship Type="http://schemas.openxmlformats.org/officeDocument/2006/relationships/image" Target="/ppt/media/image13.png" Id="R3900dcd296ef43b5" /><Relationship Type="http://schemas.openxmlformats.org/officeDocument/2006/relationships/notesSlide" Target="/ppt/notesSlides/notesSlide12.xml" Id="R71b07ced3f6746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3e3eccc344661" /><Relationship Type="http://schemas.openxmlformats.org/officeDocument/2006/relationships/image" Target="/ppt/media/image14.png" Id="R97b6225470dd4316" /><Relationship Type="http://schemas.openxmlformats.org/officeDocument/2006/relationships/image" Target="/ppt/media/image15.png" Id="R958cf8ed0b9b45de" /><Relationship Type="http://schemas.openxmlformats.org/officeDocument/2006/relationships/notesSlide" Target="/ppt/notesSlides/notesSlide13.xml" Id="Rd46facad858944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52f5fbbbe4959" /><Relationship Type="http://schemas.openxmlformats.org/officeDocument/2006/relationships/image" Target="/ppt/media/image16.png" Id="R2d79953254194b6f" /><Relationship Type="http://schemas.openxmlformats.org/officeDocument/2006/relationships/image" Target="/ppt/media/image17.png" Id="R1d6c2b3dbefa43ea" /><Relationship Type="http://schemas.openxmlformats.org/officeDocument/2006/relationships/notesSlide" Target="/ppt/notesSlides/notesSlide14.xml" Id="Rc4c2f6e8fa444b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No flags</c:v>
          </c:tx>
          <c:spPr>
            <a:solidFill xmlns:a="http://schemas.openxmlformats.org/drawingml/2006/main">
              <a:srgbClr val="367A8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0.033489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1 flags</c:v>
          </c:tx>
          <c:spPr>
            <a:solidFill xmlns:a="http://schemas.openxmlformats.org/drawingml/2006/main">
              <a:srgbClr val="E5BB6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</c:v>
                </c:pt>
                <c:pt idx="1">
                  <c:v>0.21282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2 flags</c:v>
          </c:tx>
          <c:spPr>
            <a:solidFill xmlns:a="http://schemas.openxmlformats.org/drawingml/2006/main">
              <a:srgbClr val="CC9637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</c:v>
                </c:pt>
                <c:pt idx="1">
                  <c:v>0.335254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v>3 flags</c:v>
          </c:tx>
          <c:spPr>
            <a:solidFill xmlns:a="http://schemas.openxmlformats.org/drawingml/2006/main">
              <a:srgbClr val="A66B24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Data'!$H$2:$H$4</c:f>
              <c:numCache>
                <c:formatCode>0%</c:formatCode>
                <c:ptCount val="3"/>
                <c:pt idx="0">
                  <c:v>0</c:v>
                </c:pt>
                <c:pt idx="1">
                  <c:v>0.269355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v>4 flags</c:v>
          </c:tx>
          <c:spPr>
            <a:solidFill xmlns:a="http://schemas.openxmlformats.org/drawingml/2006/main">
              <a:srgbClr val="72441C"/>
            </a:solidFill>
          </c:spPr>
          <c:invertIfNegative val="0"/>
          <c:cat>
            <c:strRef>
              <c:f>'Chart Data'!$I$2:$I$4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Data'!$J$2:$J$4</c:f>
              <c:numCache>
                <c:formatCode>0%</c:formatCode>
                <c:ptCount val="3"/>
                <c:pt idx="0">
                  <c:v>0</c:v>
                </c:pt>
                <c:pt idx="1">
                  <c:v>0.10695</c:v>
                </c:pt>
                <c:pt idx="2">
                  <c:v>0</c:v>
                </c:pt>
              </c:numCache>
            </c:numRef>
          </c:val>
        </c:ser>
        <c:ser>
          <c:idx val="5"/>
          <c:order val="5"/>
          <c:tx>
            <c:v>5 flags</c:v>
          </c:tx>
          <c:spPr>
            <a:solidFill xmlns:a="http://schemas.openxmlformats.org/drawingml/2006/main">
              <a:srgbClr val="754E79"/>
            </a:solidFill>
          </c:spPr>
          <c:invertIfNegative val="0"/>
          <c:cat>
            <c:strRef>
              <c:f>'Chart Data'!$K$2:$K$4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Data'!$L$2:$L$4</c:f>
              <c:numCache>
                <c:formatCode>0%</c:formatCode>
                <c:ptCount val="3"/>
                <c:pt idx="0">
                  <c:v>0</c:v>
                </c:pt>
                <c:pt idx="1">
                  <c:v>0.024127</c:v>
                </c:pt>
                <c:pt idx="2">
                  <c:v>0</c:v>
                </c:pt>
              </c:numCache>
            </c:numRef>
          </c:val>
        </c:ser>
        <c:ser>
          <c:idx val="6"/>
          <c:order val="6"/>
          <c:tx>
            <c:v>6 flags</c:v>
          </c:tx>
          <c:spPr>
            <a:solidFill xmlns:a="http://schemas.openxmlformats.org/drawingml/2006/main">
              <a:srgbClr val="563B60"/>
            </a:solidFill>
          </c:spPr>
          <c:invertIfNegative val="0"/>
          <c:cat>
            <c:strRef>
              <c:f>'Chart Data'!$M$2:$M$4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Data'!$N$2:$N$4</c:f>
              <c:numCache>
                <c:formatCode>0%</c:formatCode>
                <c:ptCount val="3"/>
                <c:pt idx="0">
                  <c:v>0</c:v>
                </c:pt>
                <c:pt idx="1">
                  <c:v>0.014044</c:v>
                </c:pt>
                <c:pt idx="2">
                  <c:v>0</c:v>
                </c:pt>
              </c:numCache>
            </c:numRef>
          </c:val>
        </c:ser>
        <c:ser>
          <c:idx val="7"/>
          <c:order val="7"/>
          <c:tx>
            <c:v>7 flags</c:v>
          </c:tx>
          <c:spPr>
            <a:solidFill xmlns:a="http://schemas.openxmlformats.org/drawingml/2006/main">
              <a:srgbClr val="4A587A"/>
            </a:solidFill>
          </c:spPr>
          <c:invertIfNegative val="0"/>
          <c:cat>
            <c:strRef>
              <c:f>'Chart Data'!$O$2:$O$4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Data'!$P$2:$P$4</c:f>
              <c:numCache>
                <c:formatCode>0%</c:formatCode>
                <c:ptCount val="3"/>
                <c:pt idx="0">
                  <c:v>0</c:v>
                </c:pt>
                <c:pt idx="1">
                  <c:v>0.002161</c:v>
                </c:pt>
                <c:pt idx="2">
                  <c:v>0</c:v>
                </c:pt>
              </c:numCache>
            </c:numRef>
          </c:val>
        </c:ser>
        <c:ser>
          <c:idx val="8"/>
          <c:order val="8"/>
          <c:tx>
            <c:v>9 flags</c:v>
          </c:tx>
          <c:spPr>
            <a:solidFill xmlns:a="http://schemas.openxmlformats.org/drawingml/2006/main">
              <a:srgbClr val="A85050"/>
            </a:solidFill>
          </c:spPr>
          <c:invertIfNegative val="0"/>
          <c:cat>
            <c:strRef>
              <c:f>'Chart Data'!$Q$2:$Q$4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Data'!$R$2:$R$4</c:f>
              <c:numCache>
                <c:formatCode>0%</c:formatCode>
                <c:ptCount val="3"/>
                <c:pt idx="0">
                  <c:v>0</c:v>
                </c:pt>
                <c:pt idx="1">
                  <c:v>0.00036</c:v>
                </c:pt>
                <c:pt idx="2">
                  <c:v>0</c:v>
                </c:pt>
              </c:numCache>
            </c:numRef>
          </c:val>
        </c:ser>
        <c:ser>
          <c:idx val="9"/>
          <c:order val="9"/>
          <c:tx>
            <c:v>Failed</c:v>
          </c:tx>
          <c:spPr>
            <a:solidFill xmlns:a="http://schemas.openxmlformats.org/drawingml/2006/main">
              <a:srgbClr val="AC4B47"/>
            </a:solidFill>
          </c:spPr>
          <c:invertIfNegative val="0"/>
          <c:cat>
            <c:strRef>
              <c:f>'Chart Data'!$S$2:$S$4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Data'!$T$2:$T$4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0.00144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Galaxies</c:v>
          </c:tx>
          <c:spPr>
            <a:solidFill xmlns:a="http://schemas.openxmlformats.org/drawingml/2006/main">
              <a:srgbClr val="C18B28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Sparse disc sampling</c:v>
                </c:pt>
                <c:pt idx="1">
                  <c:v>Bar identification uncertain: small interval</c:v>
                </c:pt>
                <c:pt idx="2">
                  <c:v>Changing disc ellipticity</c:v>
                </c:pt>
                <c:pt idx="3">
                  <c:v>Disc PA varies across radius</c:v>
                </c:pt>
                <c:pt idx="4">
                  <c:v>No accepted bar; disc retained</c:v>
                </c:pt>
                <c:pt idx="5">
                  <c:v>Small disc</c:v>
                </c:pt>
                <c:pt idx="6">
                  <c:v>Disc interval fallback</c:v>
                </c:pt>
                <c:pt idx="7">
                  <c:v>Weaker accepted bar signature</c:v>
                </c:pt>
                <c:pt idx="8">
                  <c:v>Bar and disc intervals close</c:v>
                </c:pt>
                <c:pt idx="9">
                  <c:v>Large centre offset</c:v>
                </c:pt>
                <c:pt idx="10">
                  <c:v>Star mask removed in retry</c:v>
                </c:pt>
              </c:strCache>
            </c:strRef>
          </c:cat>
          <c:val>
            <c:numRef>
              <c:f>'Chart Data'!$B$2:$B$12</c:f>
              <c:numCache>
                <c:formatCode>0</c:formatCode>
                <c:ptCount val="11"/>
                <c:pt idx="0">
                  <c:v>1669</c:v>
                </c:pt>
                <c:pt idx="1">
                  <c:v>1447</c:v>
                </c:pt>
                <c:pt idx="2">
                  <c:v>1355</c:v>
                </c:pt>
                <c:pt idx="3">
                  <c:v>476</c:v>
                </c:pt>
                <c:pt idx="4">
                  <c:v>453</c:v>
                </c:pt>
                <c:pt idx="5">
                  <c:v>298</c:v>
                </c:pt>
                <c:pt idx="6">
                  <c:v>269</c:v>
                </c:pt>
                <c:pt idx="7">
                  <c:v>231</c:v>
                </c:pt>
                <c:pt idx="8">
                  <c:v>211</c:v>
                </c:pt>
                <c:pt idx="9">
                  <c:v>44</c:v>
                </c:pt>
                <c:pt idx="10">
                  <c:v>18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1544F-C3BC-4028-8103-6EB0A115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Euclid MER VIS adaptive geometry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A5213-4AE9-4115-8692-4948D79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4EE2F-9C88-4136-961E-29F79FC3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2,777 galaxy cutouts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5D400-E675-4671-B194-BFE581F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2773 disc measurements; 4 failures or exclusions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5DAAB-7F81-4226-BB7B-26AA52C3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2320 accepted candidate bar measurements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F0221-1FA2-4624-99DF-63C665C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Centres checked from the images. Disc and bar outcomes reported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C3F67-3AE4-4E21-95C6-1C48B415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Current run 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371177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1CB6A-3814-4A34-8C26-2220F61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Fitting outcomes by counted quality flags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1851F-3067-4432-85B1-1C4CE2F3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48BBF-658C-44AC-8862-CA6D2D5F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Percentage of all 2,777 galaxies. Face-on is informational.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F9A9EB5-6531-4176-9970-AEEB98A0EE75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1b4b8e5f8b43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EEF89-0C36-48E4-B8FC-06194E90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No flags: 93 (3.3%)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CD21F-069A-466A-8881-0BE55AA2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BB66"/>
                </a:solidFill>
                <a:latin typeface="Arial"/>
                <a:ea typeface="Arial"/>
                <a:cs typeface="Arial"/>
              </a:rPr>
              <a:t>1 flag: 591 (21.3%)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2BF08-F994-41EF-A5D8-86603AF2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9637"/>
                </a:solidFill>
                <a:latin typeface="Arial"/>
                <a:ea typeface="Arial"/>
                <a:cs typeface="Arial"/>
              </a:rPr>
              <a:t>2 flags: 931 (33.5%)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95675-7A54-4E0B-B40F-02AB72C6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6B24"/>
                </a:solidFill>
                <a:latin typeface="Arial"/>
                <a:ea typeface="Arial"/>
                <a:cs typeface="Arial"/>
              </a:rPr>
              <a:t>3 flags: 748 (26.9%)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2AF64-6B06-4001-86FC-78ED5C4A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2441C"/>
                </a:solidFill>
                <a:latin typeface="Arial"/>
                <a:ea typeface="Arial"/>
                <a:cs typeface="Arial"/>
              </a:rPr>
              <a:t>4 flags: 297 (10.7%)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0B0BC-2E8E-476C-857D-D186A01F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4E79"/>
                </a:solidFill>
                <a:latin typeface="Arial"/>
                <a:ea typeface="Arial"/>
                <a:cs typeface="Arial"/>
              </a:rPr>
              <a:t>5 flags: 67 (2.4%)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49D2C-17D2-49AC-B718-3AB45E76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3B60"/>
                </a:solidFill>
                <a:latin typeface="Arial"/>
                <a:ea typeface="Arial"/>
                <a:cs typeface="Arial"/>
              </a:rPr>
              <a:t>6 flags: 39 (1.4%)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69E3E-0D45-4FAE-8C76-245383E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A587A"/>
                </a:solidFill>
                <a:latin typeface="Arial"/>
                <a:ea typeface="Arial"/>
                <a:cs typeface="Arial"/>
              </a:rPr>
              <a:t>7 flags: 6 (0.2%)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5085C-76EE-410B-815D-1484579B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5050"/>
                </a:solidFill>
                <a:latin typeface="Arial"/>
                <a:ea typeface="Arial"/>
                <a:cs typeface="Arial"/>
              </a:rPr>
              <a:t>9 flags: 1 (&lt;0.1%)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98AF4-A55A-4F68-9291-D578A8B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3C38"/>
                </a:solidFill>
                <a:latin typeface="Arial"/>
                <a:ea typeface="Arial"/>
                <a:cs typeface="Arial"/>
              </a:rPr>
              <a:t>Failed: 4 (0.1%)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9AA5F-C76E-4F0C-A186-0FC2F18C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Recovery and missing-bar warnings are counted. QI also includes partial cutout coverage.</a:t>
            </a:r>
          </a:p>
        </p:txBody>
      </p:sp>
    </p:spTree>
    <p:extLst>
      <p:ext uri="{BB962C8B-B14F-4D97-AF65-F5344CB8AC3E}">
        <p14:creationId xmlns:p14="http://schemas.microsoft.com/office/powerpoint/2010/main" val="2038666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803FC-C854-440C-9ED7-CEF0A215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Current quality issues and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4D1AF-FB9B-45E0-816A-014730CD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 / 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695EC1D-28FE-4065-A250-B379B12AEC19}"/>
              </a:ext>
            </a:extLst>
          </p:cNvPr>
          <p:cNvGraphicFramePr/>
          <p:nvPr/>
        </p:nvGraphicFramePr>
        <p:xfrm>
          <a:off xmlns:a="http://schemas.openxmlformats.org/drawingml/2006/main" x="457200" y="166687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fb0eac4a104a7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3E4EE-E7CF-433B-A12F-BEE2B7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59 nearly face-on fits: informational, not a defect. Disc PA instability is ignored for them.</a:t>
            </a:r>
          </a:p>
        </p:txBody>
      </p:sp>
    </p:spTree>
    <p:extLst>
      <p:ext uri="{BB962C8B-B14F-4D97-AF65-F5344CB8AC3E}">
        <p14:creationId xmlns:p14="http://schemas.microsoft.com/office/powerpoint/2010/main" val="1058647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9A4BB-D4D9-4906-B377-8503A62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Comparison with Euclid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8B77A-699E-4AB1-82D3-5DCA1920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4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889FD-6730-44CF-92B1-357466FF4BA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Median absolute difference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Current run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Adjusted Euclid detection PA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8.05°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Detection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6.52°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Sérsic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5.50°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DA0B2-0A99-4E7F-BC60-F8791E57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Codex PA: North towards East. N = 0°, E = 90°, modulo 180°.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6DCCD-A508-4E1C-A06F-1BEF835C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Counterclockwise on a North-up, East-left image. WCS handles local orientation.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672ED-5F06-4761-8AF6-D2B2D67A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Euclid comparison retains the adopted additional +90° after WCS conversion. A detection-image y-axis reference is plausible but unconfirmed.</a:t>
            </a:r>
          </a:p>
        </p:txBody>
      </p:sp>
    </p:spTree>
    <p:extLst>
      <p:ext uri="{BB962C8B-B14F-4D97-AF65-F5344CB8AC3E}">
        <p14:creationId xmlns:p14="http://schemas.microsoft.com/office/powerpoint/2010/main" val="1496958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A50A1-65E8-4815-957B-4BE58387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centres are measured and checked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D4287-9FE4-451A-A1A4-2EA19079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59714-2A8B-4889-A3C1-D2AFB72A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 catalogue position can lie on off-centre light rather than the galaxy centre.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769A0-19A7-4AE6-8E62-E9076875D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b291350c44060"/>
          <a:stretch xmlns:a="http://schemas.openxmlformats.org/drawingml/2006/main"/>
        </p:blipFill>
        <p:spPr>
          <a:xfrm xmlns:a="http://schemas.openxmlformats.org/drawingml/2006/main">
            <a:off x="1231167" y="1952625"/>
            <a:ext cx="4567115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23D04-D04A-4A68-B020-68A27736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White x: catalogue position.</a:t>
            </a:r>
          </a:p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Red +: fitted disc centre.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5246E-E106-4CA6-8538-9A464E7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This example: 17.32 arcsec shift.</a:t>
            </a:r>
          </a:p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Sample median: 0.083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64A92-BE27-41C1-9BB7-3A02D2CF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Large offsets and centre changes across radius remain flagged for review. The catalogue and fitted positions are both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D26DA-F7A6-49D5-871A-9F8DED0A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Synthetic check recovered the known centre within 0.01 pixel and PA/inclination within 0.01°.</a:t>
            </a:r>
          </a:p>
        </p:txBody>
      </p:sp>
    </p:spTree>
    <p:extLst>
      <p:ext uri="{BB962C8B-B14F-4D97-AF65-F5344CB8AC3E}">
        <p14:creationId xmlns:p14="http://schemas.microsoft.com/office/powerpoint/2010/main" val="354694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28DCA-011B-4662-9B3F-0868590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review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4417F-7F80-4455-891A-8D7D2BC9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6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C855E-8764-4E59-BA54-67530B226C4B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47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Review group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PNG reports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2694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NoQI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2777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018B5-4CE0-4CC7-A5D2-B41EC9F0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47 PDFs; 463 pages; six galaxies per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0F205-8F28-4F39-9282-5AF5C138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Each card includes selected ellipses, profiles, angles, Euclid deltas, centre offset and recovery method. No accepted bar leaves bar PA blank.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BF3CD-660E-49B3-90D0-BEC94BB2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Examples show individual review issues. Isolated examples are used where available.</a:t>
            </a:r>
          </a:p>
        </p:txBody>
      </p:sp>
    </p:spTree>
    <p:extLst>
      <p:ext uri="{BB962C8B-B14F-4D97-AF65-F5344CB8AC3E}">
        <p14:creationId xmlns:p14="http://schemas.microsoft.com/office/powerpoint/2010/main" val="43003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20850-279E-43A9-AE1B-00A2B99E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Sparse disc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377AC-65C6-4248-8D08-C5A7545E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7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E31CB-EFCA-4917-8685-32E16970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DC8BD-33F3-4CE5-90FF-E8F3B771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-518633776290631360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2DF3B-6884-4BB8-B4FD-221652DFD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ed94dcb814dda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5D0FF-27D8-40C2-8261-5CE57E1E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113.69°; bar 113.87°; i 49.48°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0.15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F365B-FDC4-4A2F-8CBB-3B20238A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-591772188508612550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234A3-7EE3-4BED-B9CB-2DF9D5C98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2eb3f61944755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F442E-8F23-4864-8FF8-422AD14A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86.44°; bar 164.63°; i 35.70°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4 accepted disc ellipses; centre shift 0.03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FC807-E6A5-41CF-BABB-A1F9C88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Too few accepted disc samples (&lt;6), or a radial gap &gt;50% of span. PA scatter is retained, but no instability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269740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FBC8A-3EA9-459F-BD96-47312D88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Bar identification uncertain: small interval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7E240-B11D-4A37-B892-E2B52FD4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8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76EF4-F24A-4E55-807B-BCBFAC2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8C16B-BBBF-41DA-ADDD-F75A760B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-518659917291205827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C1286-A5D7-455F-A13A-B1E6B0C77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7cfb0dc13433b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5216C-61DC-45A5-A2F1-FAFF912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67.98°; bar 63.85°;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0.07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6EAB9-3717-47FF-A117-A16BD1FD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-518003489287870292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EB342-B1F9-48FB-8A77-BE0EAE4D0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31cdcb0034c6f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B83D9-8606-46D1-AE70-6852EEF3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87.46°; bar 167.23°; i 31.57°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0.04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4CCDD-ACBE-4232-B60D-79C7966A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Candidate interval ends below 1.5 arcsec. This may be an unresolved bar or a different structure; bar identification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300696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FA45B-72A7-429C-A2B1-9E50BFBB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PA varies across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4E16D-B3F7-4804-8E1E-72B54EE5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9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BF411-91FC-41E4-B608-0B624CB3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180B0-A030-4A02-AB1A-D8C911F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-601121275504424227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BA41A-9DBF-44E1-AEDD-6F4B7910C8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f05f31aa3412b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0B05B-9000-4C26-854F-79E3AE9B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60.75°; bar 20.23°; i 40.93°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0.04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3ADCA-3B1D-4E78-B016-8BACED7E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-610687143492806705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871F-052A-4416-A734-CD58B8D139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9006c00db4130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433D0-90E9-4CAF-8088-F251936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158.36°; bar 125.23°;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0.23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AE601-BCED-4E1A-BE76-51414449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At least 6 accepted disc ellipses, no radial gap &gt;50% of span, and PA scatter &gt;10°. Correlated samples: a review screen, not a confidence test.</a:t>
            </a:r>
          </a:p>
        </p:txBody>
      </p:sp>
    </p:spTree>
    <p:extLst>
      <p:ext uri="{BB962C8B-B14F-4D97-AF65-F5344CB8AC3E}">
        <p14:creationId xmlns:p14="http://schemas.microsoft.com/office/powerpoint/2010/main" val="2132722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1A76B-AF31-43C3-8ADA-B444BD0F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Changing disc ellipticity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A83E4-E3ED-4BC5-97C9-CA834098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FEC1-EAA3-44DB-8B2C-B9AFE946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363AF-FD3F-4556-98F7-97E97B08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-591287408514481131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63BBF-396F-43C9-9B26-69465A1E2D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9cdddee554b8c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B50AB-4F77-4B1C-A030-5922B57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17.53°; bar 22.81°; i 36.63°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1FE07-B8DC-4ACD-982C-8D917730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-566750185501100067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BCF3D-50B2-4241-81C0-DBDC44EC6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f9f6d96ac4c49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94332-040A-483F-B0F0-D7DC1B9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102.79°; bar 96.43°; i 52.54°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26CFF-2F78-41D1-8222-16358FD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38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77993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D733A-AB7E-4F36-AE78-88751DD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Weaker accepted bar signature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BD90B-78FA-4A9D-8428-C6352E5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C6DDD-EF02-479E-8784-7656D5C9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BCC83-F27C-4000-A39C-9D221517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-555209522496440415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9B0EE-9B3B-4A7A-A21C-87946DC68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91017c925480b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F7B24-79A5-4F7F-B655-DA136A20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100.26°; bar 105.11°; i 42.90°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AFA4C-4576-49B0-AFC1-D8241707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-567651923481293863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604F9-9FF5-488A-A647-589BC3F911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58c7fc3cd4b2a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C057D-354F-4F5D-8178-784E4419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133.58°; bar 23.00°; i 25.24°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0.17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00C95-86AC-4FB7-8767-764A656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Class A: peak ellipticity ≥0.30, drop ≥0.10, PA scatter ≤5°. Class B passes the broader test but misses ≥1 A threshold. Neither confirms a bar.</a:t>
            </a:r>
          </a:p>
        </p:txBody>
      </p:sp>
    </p:spTree>
    <p:extLst>
      <p:ext uri="{BB962C8B-B14F-4D97-AF65-F5344CB8AC3E}">
        <p14:creationId xmlns:p14="http://schemas.microsoft.com/office/powerpoint/2010/main" val="6845862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0CAD8-E28D-4C4D-9826-892D7BAC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bar; disc retained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B0090-59E1-4E15-A72E-F4EB6F0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B3DE3-EFBA-45FE-9BDB-FBA5C8E4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C3635-C8F2-4BDA-BE3C-447B12FD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2693239635649457485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8FB04-AC76-4DEE-9DCB-355933564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30bdee267481f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DB058-2AF7-487D-AAA8-6A526CB2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115.27°; bar unavailable; i 57.11°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0.21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00A5E-7ECD-4FE5-9E27-9081CD91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-600909396508240903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B2BF1-B769-49DC-BA1E-59A3B83D8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0dcd296ef43b5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8D855-05AD-4F2C-A7E2-3C6FF63D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95.79°; bar unavailable; i 55.30°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0.12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5FD36-1D0C-47E6-A11C-E386EB20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57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19163778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A4C4B-6BCD-4604-92AF-7F273A8B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7500E-52AF-4C64-9123-9C5AA90E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F229B-A760-4520-93F2-A0754EC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No adopted geometry. Fallback centres and rejected ellipses are omitted.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6CDA5-1DD3-49F7-BB99-EAB28C5B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-586374330510251740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663B8-6C7C-4C54-AD3E-3994AA2E64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6225470dd4316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C185-EF7B-4F60-8D65-A58EFD4C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12EF3-1CFD-4F04-892D-4411C1C9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-524824554283124036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54050-C472-4C12-8307-BFA6B028C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cf8ed0b9b45de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BD3CD-9D8A-42CC-94C2-E6386BC2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Rejected trial centred on a foreground star.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543E7-03D1-41F6-8FB3-1DCFACE4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19446889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6C128-90E5-436B-B4DB-CDBE3FF2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F9359-0DA5-421B-A1D9-74E541FE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19C3F-3D8D-48F3-A195-6CE12FAF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No adopted geometry. Fallback centres and rejected ellipses are omitted.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0A14B-58BB-4BCC-8B30-6BB7F0AD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2645436353651870062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F49B7-7077-4343-908C-26B1F583E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9953254194b6f"/>
          <a:stretch xmlns:a="http://schemas.openxmlformats.org/drawingml/2006/main"/>
        </p:blipFill>
        <p:spPr>
          <a:xfrm xmlns:a="http://schemas.openxmlformats.org/drawingml/2006/main">
            <a:off x="6763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75B91-1418-4724-AAF2-0BD4803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93D2D-61F2-4035-8FD1-7B60DC0B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2697242050653408730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055E8-75F2-4A2C-A41E-D6293D5B9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c2b3dbefa43ea"/>
          <a:stretch xmlns:a="http://schemas.openxmlformats.org/drawingml/2006/main"/>
        </p:blipFill>
        <p:spPr>
          <a:xfrm xmlns:a="http://schemas.openxmlformats.org/drawingml/2006/main">
            <a:off x="6238984" y="2333625"/>
            <a:ext cx="520043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C489D-4A1D-4BED-8568-A379708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Only an unresolved core was fitted.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A42CC-91D2-40B6-887A-5318200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1225154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2026-10-20T17:12:34.4300000Z</dcterms:created>
  <dcterms:modified xsi:type="dcterms:W3CDTF">2026-10-20T17:12:34.4300000Z</dcterms:modified>
</coreProperties>
</file>